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1pPr>
    <a:lvl2pPr marL="0" marR="0" indent="4572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2pPr>
    <a:lvl3pPr marL="0" marR="0" indent="9144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3pPr>
    <a:lvl4pPr marL="0" marR="0" indent="13716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4pPr>
    <a:lvl5pPr marL="0" marR="0" indent="18288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5pPr>
    <a:lvl6pPr marL="0" marR="0" indent="22860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6pPr>
    <a:lvl7pPr marL="0" marR="0" indent="27432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7pPr>
    <a:lvl8pPr marL="0" marR="0" indent="32004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8pPr>
    <a:lvl9pPr marL="0" marR="0" indent="36576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
          <a:latin typeface="Calibri"/>
          <a:ea typeface="Calibri"/>
          <a:cs typeface="Calibri"/>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
          <a:latin typeface="Calibri"/>
          <a:ea typeface="Calibri"/>
          <a:cs typeface="Calibri"/>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Calibri"/>
          <a:ea typeface="Calibri"/>
          <a:cs typeface="Calibri"/>
        </a:font>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
          <a:latin typeface="Calibri"/>
          <a:ea typeface="Calibri"/>
          <a:cs typeface="Calibri"/>
        </a:font>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91" name="Shape 91"/>
          <p:cNvSpPr/>
          <p:nvPr>
            <p:ph type="sldImg"/>
          </p:nvPr>
        </p:nvSpPr>
        <p:spPr>
          <a:xfrm>
            <a:off x="1143000" y="685800"/>
            <a:ext cx="4572000" cy="3429000"/>
          </a:xfrm>
          <a:prstGeom prst="rect">
            <a:avLst/>
          </a:prstGeom>
        </p:spPr>
        <p:txBody>
          <a:bodyPr/>
          <a:lstStyle/>
          <a:p>
            <a:pPr/>
          </a:p>
        </p:txBody>
      </p:sp>
      <p:sp>
        <p:nvSpPr>
          <p:cNvPr id="92" name="Shape 92"/>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等线"/>
      </a:defRPr>
    </a:lvl1pPr>
    <a:lvl2pPr indent="228600" latinLnBrk="0">
      <a:defRPr sz="1200">
        <a:latin typeface="+mn-lt"/>
        <a:ea typeface="+mn-ea"/>
        <a:cs typeface="+mn-cs"/>
        <a:sym typeface="等线"/>
      </a:defRPr>
    </a:lvl2pPr>
    <a:lvl3pPr indent="457200" latinLnBrk="0">
      <a:defRPr sz="1200">
        <a:latin typeface="+mn-lt"/>
        <a:ea typeface="+mn-ea"/>
        <a:cs typeface="+mn-cs"/>
        <a:sym typeface="等线"/>
      </a:defRPr>
    </a:lvl3pPr>
    <a:lvl4pPr indent="685800" latinLnBrk="0">
      <a:defRPr sz="1200">
        <a:latin typeface="+mn-lt"/>
        <a:ea typeface="+mn-ea"/>
        <a:cs typeface="+mn-cs"/>
        <a:sym typeface="等线"/>
      </a:defRPr>
    </a:lvl4pPr>
    <a:lvl5pPr indent="914400" latinLnBrk="0">
      <a:defRPr sz="1200">
        <a:latin typeface="+mn-lt"/>
        <a:ea typeface="+mn-ea"/>
        <a:cs typeface="+mn-cs"/>
        <a:sym typeface="等线"/>
      </a:defRPr>
    </a:lvl5pPr>
    <a:lvl6pPr indent="1143000" latinLnBrk="0">
      <a:defRPr sz="1200">
        <a:latin typeface="+mn-lt"/>
        <a:ea typeface="+mn-ea"/>
        <a:cs typeface="+mn-cs"/>
        <a:sym typeface="等线"/>
      </a:defRPr>
    </a:lvl6pPr>
    <a:lvl7pPr indent="1371600" latinLnBrk="0">
      <a:defRPr sz="1200">
        <a:latin typeface="+mn-lt"/>
        <a:ea typeface="+mn-ea"/>
        <a:cs typeface="+mn-cs"/>
        <a:sym typeface="等线"/>
      </a:defRPr>
    </a:lvl7pPr>
    <a:lvl8pPr indent="1600200" latinLnBrk="0">
      <a:defRPr sz="1200">
        <a:latin typeface="+mn-lt"/>
        <a:ea typeface="+mn-ea"/>
        <a:cs typeface="+mn-cs"/>
        <a:sym typeface="等线"/>
      </a:defRPr>
    </a:lvl8pPr>
    <a:lvl9pPr indent="1828800" latinLnBrk="0">
      <a:defRPr sz="1200">
        <a:latin typeface="+mn-lt"/>
        <a:ea typeface="+mn-ea"/>
        <a:cs typeface="+mn-cs"/>
        <a:sym typeface="等线"/>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 Id="rId3" Type="http://schemas.openxmlformats.org/officeDocument/2006/relationships/hyperlink" Target="https://baike.sogou.com/lemma/ShowInnerLink.htm?lemmaId=400453&amp;ss_c=ssc.citiao.link" TargetMode="External"/></Relationships>

</file>

<file path=ppt/notesSlides/_rels/notesSlide6.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11.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 Id="rId3" Type="http://schemas.openxmlformats.org/officeDocument/2006/relationships/hyperlink" Target="https://php.net/" TargetMode="External"/><Relationship Id="rId4" Type="http://schemas.openxmlformats.org/officeDocument/2006/relationships/hyperlink" Target="https://www.mysql.com/" TargetMode="External"/></Relationships>

</file>

<file path=ppt/notesSlides/_rels/notesSlide12.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1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1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_rels/notesSlide1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Relationships>

</file>

<file path=ppt/notesSlides/_rels/notesSlide1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Relationships>

</file>

<file path=ppt/notesSlides/_rels/notesSlide1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Relationships>

</file>

<file path=ppt/notesSlides/_rels/notesSlide1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Relationships>

</file>

<file path=ppt/notesSlides/_rels/notesSlide1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Relationships>

</file>

<file path=ppt/notesSlides/_rels/notesSlide20.xml.rels><?xml version="1.0" encoding="UTF-8"?>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Relationships>

</file>

<file path=ppt/notesSlides/_rels/notesSlide21.xml.rels><?xml version="1.0" encoding="UTF-8"?>
<Relationships xmlns="http://schemas.openxmlformats.org/package/2006/relationships"><Relationship Id="rId1" Type="http://schemas.openxmlformats.org/officeDocument/2006/relationships/slide" Target="../slides/slide43.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8" name="Shape 108"/>
          <p:cNvSpPr/>
          <p:nvPr>
            <p:ph type="sldImg"/>
          </p:nvPr>
        </p:nvSpPr>
        <p:spPr>
          <a:prstGeom prst="rect">
            <a:avLst/>
          </a:prstGeom>
        </p:spPr>
        <p:txBody>
          <a:bodyPr/>
          <a:lstStyle/>
          <a:p>
            <a:pPr/>
          </a:p>
        </p:txBody>
      </p:sp>
      <p:sp>
        <p:nvSpPr>
          <p:cNvPr id="109" name="Shape 109"/>
          <p:cNvSpPr/>
          <p:nvPr>
            <p:ph type="body" sz="quarter" idx="1"/>
          </p:nvPr>
        </p:nvSpPr>
        <p:spPr>
          <a:prstGeom prst="rect">
            <a:avLst/>
          </a:prstGeom>
        </p:spPr>
        <p:txBody>
          <a:bodyPr/>
          <a:lstStyle/>
          <a:p>
            <a:pPr/>
            <a:r>
              <a:t>我们这学期数据库实验有</a:t>
            </a:r>
            <a:r>
              <a:t>7</a:t>
            </a:r>
            <a:r>
              <a:t>个，除去第</a:t>
            </a:r>
            <a:r>
              <a:t>0</a:t>
            </a:r>
            <a:r>
              <a:t>个也就是本次实验的</a:t>
            </a:r>
            <a:r>
              <a:rPr b="1">
                <a:solidFill>
                  <a:srgbClr val="C00000"/>
                </a:solidFill>
                <a:latin typeface="Times New Roman"/>
                <a:ea typeface="Times New Roman"/>
                <a:cs typeface="Times New Roman"/>
                <a:sym typeface="Times New Roman"/>
              </a:rPr>
              <a:t>Preparation</a:t>
            </a:r>
            <a:r>
              <a:t>给大家简要介绍一下实验的主要要求和背景以外，你们要做的实验是下面</a:t>
            </a:r>
            <a:r>
              <a:t>6</a:t>
            </a:r>
            <a:r>
              <a:t>个。</a:t>
            </a:r>
          </a:p>
          <a:p>
            <a:pPr/>
            <a:r>
              <a:t>然后每两个实验发布间隔一般是</a:t>
            </a:r>
            <a:r>
              <a:t>2</a:t>
            </a:r>
            <a:r>
              <a:t>个星期，也就是每两次课会有一次实验。</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2" name="Shape 122"/>
          <p:cNvSpPr/>
          <p:nvPr>
            <p:ph type="sldImg"/>
          </p:nvPr>
        </p:nvSpPr>
        <p:spPr>
          <a:prstGeom prst="rect">
            <a:avLst/>
          </a:prstGeom>
        </p:spPr>
        <p:txBody>
          <a:bodyPr/>
          <a:lstStyle/>
          <a:p>
            <a:pPr/>
          </a:p>
        </p:txBody>
      </p:sp>
      <p:sp>
        <p:nvSpPr>
          <p:cNvPr id="123" name="Shape 123"/>
          <p:cNvSpPr/>
          <p:nvPr>
            <p:ph type="body" sz="quarter" idx="1"/>
          </p:nvPr>
        </p:nvSpPr>
        <p:spPr>
          <a:prstGeom prst="rect">
            <a:avLst/>
          </a:prstGeom>
        </p:spPr>
        <p:txBody>
          <a:bodyPr/>
          <a:lstStyle/>
          <a:p>
            <a:pPr/>
            <a:r>
              <a:t>也就是下周日（包括下周日这一天）之前提交，下一周的周一（</a:t>
            </a:r>
            <a:r>
              <a:t>0</a:t>
            </a:r>
            <a:r>
              <a:t>：</a:t>
            </a:r>
            <a:r>
              <a:t>00</a:t>
            </a:r>
            <a:r>
              <a:t>）之前</a:t>
            </a:r>
          </a:p>
          <a:p>
            <a:pPr/>
            <a:r>
              <a:t>给大家完成实验的时间是两个周末。</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8" name="Shape 128"/>
          <p:cNvSpPr/>
          <p:nvPr>
            <p:ph type="sldImg"/>
          </p:nvPr>
        </p:nvSpPr>
        <p:spPr>
          <a:prstGeom prst="rect">
            <a:avLst/>
          </a:prstGeom>
        </p:spPr>
        <p:txBody>
          <a:bodyPr/>
          <a:lstStyle/>
          <a:p>
            <a:pPr/>
          </a:p>
        </p:txBody>
      </p:sp>
      <p:sp>
        <p:nvSpPr>
          <p:cNvPr id="129" name="Shape 129"/>
          <p:cNvSpPr/>
          <p:nvPr>
            <p:ph type="body" sz="quarter" idx="1"/>
          </p:nvPr>
        </p:nvSpPr>
        <p:spPr>
          <a:prstGeom prst="rect">
            <a:avLst/>
          </a:prstGeom>
        </p:spPr>
        <p:txBody>
          <a:bodyPr/>
          <a:lstStyle/>
          <a:p>
            <a:pPr/>
            <a:r>
              <a:t>困难、身体问题、生病</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4" name="Shape 134"/>
          <p:cNvSpPr/>
          <p:nvPr>
            <p:ph type="sldImg"/>
          </p:nvPr>
        </p:nvSpPr>
        <p:spPr>
          <a:prstGeom prst="rect">
            <a:avLst/>
          </a:prstGeom>
        </p:spPr>
        <p:txBody>
          <a:bodyPr/>
          <a:lstStyle/>
          <a:p>
            <a:pPr/>
          </a:p>
        </p:txBody>
      </p:sp>
      <p:sp>
        <p:nvSpPr>
          <p:cNvPr id="135" name="Shape 135"/>
          <p:cNvSpPr/>
          <p:nvPr>
            <p:ph type="body" sz="quarter" idx="1"/>
          </p:nvPr>
        </p:nvSpPr>
        <p:spPr>
          <a:prstGeom prst="rect">
            <a:avLst/>
          </a:prstGeom>
        </p:spPr>
        <p:txBody>
          <a:bodyPr/>
          <a:lstStyle/>
          <a:p>
            <a:pPr/>
            <a:r>
              <a:t>具体实验报告的模板会在群里发布，不一定要根据实验报告模板</a:t>
            </a:r>
          </a:p>
          <a:p>
            <a:pPr/>
            <a:r>
              <a:t>双语、英语撰写，对英语水平不作要求，表达清楚、逻辑清晰、图文并茂</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7" name="Shape 147"/>
          <p:cNvSpPr/>
          <p:nvPr>
            <p:ph type="sldImg"/>
          </p:nvPr>
        </p:nvSpPr>
        <p:spPr>
          <a:prstGeom prst="rect">
            <a:avLst/>
          </a:prstGeom>
        </p:spPr>
        <p:txBody>
          <a:bodyPr/>
          <a:lstStyle/>
          <a:p>
            <a:pPr/>
          </a:p>
        </p:txBody>
      </p:sp>
      <p:sp>
        <p:nvSpPr>
          <p:cNvPr id="148" name="Shape 148"/>
          <p:cNvSpPr/>
          <p:nvPr>
            <p:ph type="body" sz="quarter" idx="1"/>
          </p:nvPr>
        </p:nvSpPr>
        <p:spPr>
          <a:prstGeom prst="rect">
            <a:avLst/>
          </a:prstGeom>
        </p:spPr>
        <p:txBody>
          <a:bodyPr/>
          <a:lstStyle/>
          <a:p>
            <a:pPr/>
            <a:r>
              <a:t>ACCESS</a:t>
            </a:r>
            <a:r>
              <a:t>是由微软发布的</a:t>
            </a:r>
            <a:r>
              <a:rPr u="sng">
                <a:solidFill>
                  <a:srgbClr val="0563C1"/>
                </a:solidFill>
                <a:uFill>
                  <a:solidFill>
                    <a:srgbClr val="0563C1"/>
                  </a:solidFill>
                </a:uFill>
                <a:hlinkClick r:id="rId3" invalidUrl="" action="" tgtFrame="" tooltip="" history="1" highlightClick="0" endSnd="0"/>
              </a:rPr>
              <a:t>关系数据库管理系统</a:t>
            </a:r>
            <a:r>
              <a:t>，本课程实验主要使用这个工具完成。</a:t>
            </a:r>
          </a:p>
          <a:p>
            <a:pPr>
              <a:defRPr>
                <a:solidFill>
                  <a:srgbClr val="202122"/>
                </a:solidFill>
                <a:latin typeface="Arial"/>
                <a:ea typeface="Arial"/>
                <a:cs typeface="Arial"/>
                <a:sym typeface="Arial"/>
              </a:defRPr>
            </a:pPr>
            <a:r>
              <a:rPr>
                <a:latin typeface="+mj-lt"/>
                <a:ea typeface="+mj-ea"/>
                <a:cs typeface="+mj-cs"/>
                <a:sym typeface="Helvetica"/>
              </a:rPr>
              <a:t>它是 </a:t>
            </a:r>
            <a:r>
              <a:rPr>
                <a:solidFill>
                  <a:srgbClr val="000000"/>
                </a:solidFill>
                <a:latin typeface="Times New Roman"/>
                <a:ea typeface="Times New Roman"/>
                <a:cs typeface="Times New Roman"/>
                <a:sym typeface="Times New Roman"/>
              </a:rPr>
              <a:t>Microsoft Office  </a:t>
            </a:r>
            <a:r>
              <a:rPr>
                <a:solidFill>
                  <a:srgbClr val="000000"/>
                </a:solidFill>
                <a:latin typeface="+mn-lt"/>
                <a:ea typeface="+mn-ea"/>
                <a:cs typeface="+mn-cs"/>
                <a:sym typeface="等线"/>
              </a:rPr>
              <a:t>和</a:t>
            </a:r>
            <a:r>
              <a:t>Microsoft 365 </a:t>
            </a:r>
            <a:r>
              <a:rPr>
                <a:latin typeface="+mj-lt"/>
                <a:ea typeface="+mj-ea"/>
                <a:cs typeface="+mj-cs"/>
                <a:sym typeface="Helvetica"/>
              </a:rPr>
              <a:t>应用程序套件的成员。所以和大多数</a:t>
            </a:r>
            <a:r>
              <a:t>office</a:t>
            </a:r>
            <a:r>
              <a:rPr>
                <a:latin typeface="+mj-lt"/>
                <a:ea typeface="+mj-ea"/>
                <a:cs typeface="+mj-cs"/>
                <a:sym typeface="Helvetica"/>
              </a:rPr>
              <a:t>软件一样需要付费激活。</a:t>
            </a:r>
          </a:p>
          <a:p>
            <a:pPr>
              <a:defRPr>
                <a:solidFill>
                  <a:srgbClr val="202122"/>
                </a:solidFill>
                <a:latin typeface="Arial"/>
                <a:ea typeface="Arial"/>
                <a:cs typeface="Arial"/>
                <a:sym typeface="Arial"/>
              </a:defRPr>
            </a:pPr>
            <a:r>
              <a:rPr>
                <a:latin typeface="+mj-lt"/>
                <a:ea typeface="+mj-ea"/>
                <a:cs typeface="+mj-cs"/>
                <a:sym typeface="Helvetica"/>
              </a:rPr>
              <a:t>下载过</a:t>
            </a:r>
            <a:r>
              <a:t>Offiice</a:t>
            </a:r>
            <a:r>
              <a:rPr>
                <a:latin typeface="+mj-lt"/>
                <a:ea typeface="+mj-ea"/>
                <a:cs typeface="+mj-cs"/>
                <a:sym typeface="Helvetica"/>
              </a:rPr>
              <a:t>全家桶的话不需要再下载。</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8" name="Shape 198"/>
          <p:cNvSpPr/>
          <p:nvPr>
            <p:ph type="sldImg"/>
          </p:nvPr>
        </p:nvSpPr>
        <p:spPr>
          <a:prstGeom prst="rect">
            <a:avLst/>
          </a:prstGeom>
        </p:spPr>
        <p:txBody>
          <a:bodyPr/>
          <a:lstStyle/>
          <a:p>
            <a:pPr/>
          </a:p>
        </p:txBody>
      </p:sp>
      <p:sp>
        <p:nvSpPr>
          <p:cNvPr id="199" name="Shape 199"/>
          <p:cNvSpPr/>
          <p:nvPr>
            <p:ph type="body" sz="quarter" idx="1"/>
          </p:nvPr>
        </p:nvSpPr>
        <p:spPr>
          <a:prstGeom prst="rect">
            <a:avLst/>
          </a:prstGeom>
        </p:spPr>
        <p:txBody>
          <a:bodyPr/>
          <a:lstStyle/>
          <a:p>
            <a:pPr/>
            <a:r>
              <a:t>高速的数据处理以及触发器的使用提高了工作效率</a:t>
            </a:r>
          </a:p>
          <a:p>
            <a:pPr/>
            <a:r>
              <a:t>回滚和</a:t>
            </a:r>
            <a:r>
              <a:t>commit</a:t>
            </a:r>
            <a:r>
              <a:t>进行数据恢复。</a:t>
            </a:r>
          </a:p>
          <a:p>
            <a:pPr/>
            <a:r>
              <a:t>LAMP</a:t>
            </a:r>
            <a:r>
              <a:t>是指一组通常一起使用来运行动态网站或者服务器的自由软件名称首字母缩写。这种方式不用花一分钱（除开人工成本）就可以建立起一个稳定、免费的网站系统。</a:t>
            </a:r>
          </a:p>
          <a:p>
            <a:pPr/>
            <a:r>
              <a:t>Linux</a:t>
            </a:r>
            <a:r>
              <a:t>作为操作系统，</a:t>
            </a:r>
            <a:r>
              <a:t>Apache </a:t>
            </a:r>
            <a:r>
              <a:t>作为 </a:t>
            </a:r>
            <a:r>
              <a:t>Web </a:t>
            </a:r>
            <a:r>
              <a:t>服务器，</a:t>
            </a:r>
            <a:r>
              <a:t>MySQL </a:t>
            </a:r>
            <a:r>
              <a:t>作为数据库，</a:t>
            </a:r>
            <a:r>
              <a:t>PHP/Perl/Python</a:t>
            </a:r>
            <a:r>
              <a:t>作为服务器端脚本解释器。</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4" name="Shape 204"/>
          <p:cNvSpPr/>
          <p:nvPr>
            <p:ph type="sldImg"/>
          </p:nvPr>
        </p:nvSpPr>
        <p:spPr>
          <a:prstGeom prst="rect">
            <a:avLst/>
          </a:prstGeom>
        </p:spPr>
        <p:txBody>
          <a:bodyPr/>
          <a:lstStyle/>
          <a:p>
            <a:pPr/>
          </a:p>
        </p:txBody>
      </p:sp>
      <p:sp>
        <p:nvSpPr>
          <p:cNvPr id="205" name="Shape 205"/>
          <p:cNvSpPr/>
          <p:nvPr>
            <p:ph type="body" sz="quarter" idx="1"/>
          </p:nvPr>
        </p:nvSpPr>
        <p:spPr>
          <a:prstGeom prst="rect">
            <a:avLst/>
          </a:prstGeom>
        </p:spPr>
        <p:txBody>
          <a:bodyPr/>
          <a:lstStyle/>
          <a:p>
            <a:pPr/>
            <a:r>
              <a:t>SQLite </a:t>
            </a:r>
            <a:r>
              <a:t>是一个 </a:t>
            </a:r>
            <a:r>
              <a:t>C </a:t>
            </a:r>
            <a:r>
              <a:t>语言库，它实现了一个小型、快速、自包含、高可靠性、全功能的 </a:t>
            </a:r>
            <a:r>
              <a:t>SQL </a:t>
            </a:r>
            <a:r>
              <a:t>数据库引擎。</a:t>
            </a:r>
          </a:p>
          <a:p>
            <a:pPr/>
            <a:r>
              <a:t>SQLite </a:t>
            </a:r>
            <a:r>
              <a:t>内置于所有手机和大多数计算机中，并捆绑在人们每天使用的无数其他应用程序中。</a:t>
            </a:r>
          </a:p>
          <a:p>
            <a:pPr>
              <a:defRPr>
                <a:solidFill>
                  <a:srgbClr val="333333"/>
                </a:solidFill>
                <a:latin typeface="Open Sans"/>
                <a:ea typeface="Open Sans"/>
                <a:cs typeface="Open Sans"/>
                <a:sym typeface="Open Sans"/>
              </a:defRPr>
            </a:pPr>
            <a:r>
              <a:t>SQLITE</a:t>
            </a:r>
            <a:r>
              <a:t>功能简约，小型化，</a:t>
            </a:r>
            <a:r>
              <a:rPr>
                <a:solidFill>
                  <a:srgbClr val="000000"/>
                </a:solidFill>
              </a:rPr>
              <a:t>不需要太多的空间，因此，它可以用于存储小型到中型网站。</a:t>
            </a:r>
          </a:p>
          <a:p>
            <a:pPr/>
            <a:r>
              <a:t>同时它免设置和部署，能快速上手使用</a:t>
            </a:r>
          </a:p>
          <a:p>
            <a:pPr>
              <a:defRPr>
                <a:solidFill>
                  <a:srgbClr val="333333"/>
                </a:solidFill>
                <a:latin typeface="Open Sans"/>
                <a:ea typeface="Open Sans"/>
                <a:cs typeface="Open Sans"/>
                <a:sym typeface="Open Sans"/>
              </a:defRPr>
            </a:pPr>
            <a:r>
              <a:t>和</a:t>
            </a:r>
            <a:r>
              <a:t>MYSQL</a:t>
            </a:r>
            <a:r>
              <a:t>相比，功能全面，综合化，追求最大并发效率。而</a:t>
            </a:r>
            <a:r>
              <a:t>SQLite</a:t>
            </a:r>
            <a:r>
              <a:t>追求最大磁盘效率</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0" name="Shape 210"/>
          <p:cNvSpPr/>
          <p:nvPr>
            <p:ph type="sldImg"/>
          </p:nvPr>
        </p:nvSpPr>
        <p:spPr>
          <a:prstGeom prst="rect">
            <a:avLst/>
          </a:prstGeom>
        </p:spPr>
        <p:txBody>
          <a:bodyPr/>
          <a:lstStyle/>
          <a:p>
            <a:pPr/>
          </a:p>
        </p:txBody>
      </p:sp>
      <p:sp>
        <p:nvSpPr>
          <p:cNvPr id="211" name="Shape 211"/>
          <p:cNvSpPr/>
          <p:nvPr>
            <p:ph type="body" sz="quarter" idx="1"/>
          </p:nvPr>
        </p:nvSpPr>
        <p:spPr>
          <a:prstGeom prst="rect">
            <a:avLst/>
          </a:prstGeom>
        </p:spPr>
        <p:txBody>
          <a:bodyPr/>
          <a:lstStyle/>
          <a:p>
            <a:pPr>
              <a:defRPr>
                <a:solidFill>
                  <a:srgbClr val="333333"/>
                </a:solidFill>
                <a:latin typeface="Verdana"/>
                <a:ea typeface="Verdana"/>
                <a:cs typeface="Verdana"/>
                <a:sym typeface="Verdana"/>
              </a:defRPr>
            </a:pPr>
            <a:r>
              <a:t>Redis</a:t>
            </a:r>
            <a:r>
              <a:rPr>
                <a:latin typeface="+mj-lt"/>
                <a:ea typeface="+mj-ea"/>
                <a:cs typeface="+mj-cs"/>
                <a:sym typeface="Helvetica"/>
              </a:rPr>
              <a:t>是现在最受欢迎的</a:t>
            </a:r>
            <a:r>
              <a:t>NoSQL</a:t>
            </a:r>
            <a:r>
              <a:rPr>
                <a:latin typeface="+mj-lt"/>
                <a:ea typeface="+mj-ea"/>
                <a:cs typeface="+mj-cs"/>
                <a:sym typeface="Helvetica"/>
              </a:rPr>
              <a:t>数据库之一</a:t>
            </a:r>
          </a:p>
          <a:p>
            <a:pPr>
              <a:defRPr>
                <a:solidFill>
                  <a:srgbClr val="333333"/>
                </a:solidFill>
                <a:latin typeface="Verdana"/>
                <a:ea typeface="Verdana"/>
                <a:cs typeface="Verdana"/>
                <a:sym typeface="Verdana"/>
              </a:defRPr>
            </a:pPr>
            <a:r>
              <a:rPr>
                <a:latin typeface="+mj-lt"/>
                <a:ea typeface="+mj-ea"/>
                <a:cs typeface="+mj-cs"/>
                <a:sym typeface="Helvetica"/>
              </a:rPr>
              <a:t>因为是</a:t>
            </a:r>
            <a:r>
              <a:rPr>
                <a:solidFill>
                  <a:srgbClr val="000000"/>
                </a:solidFill>
                <a:latin typeface="等线 Light"/>
                <a:ea typeface="等线 Light"/>
                <a:cs typeface="等线 Light"/>
                <a:sym typeface="等线 Light"/>
              </a:rPr>
              <a:t>NoSQL </a:t>
            </a:r>
            <a:r>
              <a:rPr>
                <a:solidFill>
                  <a:srgbClr val="000000"/>
                </a:solidFill>
                <a:latin typeface="+mn-lt"/>
                <a:ea typeface="+mn-ea"/>
                <a:cs typeface="+mn-cs"/>
                <a:sym typeface="等线"/>
              </a:rPr>
              <a:t>，</a:t>
            </a:r>
            <a:r>
              <a:rPr>
                <a:latin typeface="+mj-lt"/>
                <a:ea typeface="+mj-ea"/>
                <a:cs typeface="+mj-cs"/>
                <a:sym typeface="Helvetica"/>
              </a:rPr>
              <a:t>支持分布式，并发处理的效率很高</a:t>
            </a:r>
          </a:p>
          <a:p>
            <a:pPr/>
            <a:r>
              <a:t>使用了</a:t>
            </a:r>
            <a:r>
              <a:t>key-value</a:t>
            </a:r>
            <a:r>
              <a:t>这种键值对数据存储，而关系型数据库使用表格结构。</a:t>
            </a:r>
          </a:p>
          <a:p>
            <a:pPr/>
            <a:r>
              <a:t>它的数据库速度非常快，将数据存储在内存中。</a:t>
            </a:r>
            <a:r>
              <a:rPr>
                <a:solidFill>
                  <a:srgbClr val="4D4D4D"/>
                </a:solidFill>
              </a:rPr>
              <a:t>由于内存的读写速度远快于硬盘，因此</a:t>
            </a:r>
            <a:r>
              <a:rPr>
                <a:solidFill>
                  <a:srgbClr val="4D4D4D"/>
                </a:solidFill>
                <a:latin typeface="-apple-system"/>
                <a:ea typeface="-apple-system"/>
                <a:cs typeface="-apple-system"/>
                <a:sym typeface="-apple-system"/>
              </a:rPr>
              <a:t>Redis</a:t>
            </a:r>
            <a:r>
              <a:rPr>
                <a:solidFill>
                  <a:srgbClr val="4D4D4D"/>
                </a:solidFill>
              </a:rPr>
              <a:t>在性能上对比其他基于硬盘存储的数据库有非常明显的优势。</a:t>
            </a:r>
            <a:endParaRPr>
              <a:latin typeface="Roboto"/>
              <a:ea typeface="Roboto"/>
              <a:cs typeface="Roboto"/>
              <a:sym typeface="Roboto"/>
            </a:endParaRPr>
          </a:p>
          <a:p>
            <a:pPr/>
            <a:r>
              <a:t>还支持哈希和字符串等数据类型，查询的性能也很高</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6" name="Shape 216"/>
          <p:cNvSpPr/>
          <p:nvPr>
            <p:ph type="sldImg"/>
          </p:nvPr>
        </p:nvSpPr>
        <p:spPr>
          <a:prstGeom prst="rect">
            <a:avLst/>
          </a:prstGeom>
        </p:spPr>
        <p:txBody>
          <a:bodyPr/>
          <a:lstStyle/>
          <a:p>
            <a:pPr/>
          </a:p>
        </p:txBody>
      </p:sp>
      <p:sp>
        <p:nvSpPr>
          <p:cNvPr id="217" name="Shape 217"/>
          <p:cNvSpPr/>
          <p:nvPr>
            <p:ph type="body" sz="quarter" idx="1"/>
          </p:nvPr>
        </p:nvSpPr>
        <p:spPr>
          <a:prstGeom prst="rect">
            <a:avLst/>
          </a:prstGeom>
        </p:spPr>
        <p:txBody>
          <a:bodyPr/>
          <a:lstStyle/>
          <a:p>
            <a:pPr/>
            <a:r>
              <a:t>图数据库</a:t>
            </a:r>
            <a:r>
              <a:t>(Graph database)</a:t>
            </a:r>
            <a:r>
              <a:t>指的是</a:t>
            </a:r>
            <a:r>
              <a:rPr b="1"/>
              <a:t>以图数据结构的形式来存储和查询数据</a:t>
            </a:r>
            <a:r>
              <a:t>的数据库，有大容量服务器</a:t>
            </a:r>
          </a:p>
          <a:p>
            <a:pPr>
              <a:defRPr>
                <a:solidFill>
                  <a:srgbClr val="2D3748"/>
                </a:solidFill>
                <a:latin typeface="Nunito Sans"/>
                <a:ea typeface="Nunito Sans"/>
                <a:cs typeface="Nunito Sans"/>
                <a:sym typeface="Nunito Sans"/>
              </a:defRPr>
            </a:pPr>
            <a:r>
              <a:t>图形数据库存储节点和关系而不是表或文档。</a:t>
            </a:r>
          </a:p>
          <a:p>
            <a:pPr>
              <a:defRPr>
                <a:solidFill>
                  <a:srgbClr val="2D3748"/>
                </a:solidFill>
                <a:latin typeface="Nunito Sans"/>
                <a:ea typeface="Nunito Sans"/>
                <a:cs typeface="Nunito Sans"/>
                <a:sym typeface="Nunito Sans"/>
              </a:defRPr>
            </a:pPr>
            <a:r>
              <a:t>Neo4j</a:t>
            </a:r>
            <a:r>
              <a:t>使用了它自己的</a:t>
            </a:r>
            <a:r>
              <a:t> CQL</a:t>
            </a:r>
            <a:r>
              <a:t> 图形查询语言，允许用户从图形数据库存储和检索数据。</a:t>
            </a:r>
          </a:p>
          <a:p>
            <a:pPr>
              <a:defRPr>
                <a:solidFill>
                  <a:srgbClr val="2D3748"/>
                </a:solidFill>
                <a:latin typeface="Nunito Sans"/>
                <a:ea typeface="Nunito Sans"/>
                <a:cs typeface="Nunito Sans"/>
                <a:sym typeface="Nunito Sans"/>
              </a:defRPr>
            </a:pPr>
            <a:r>
              <a:t>容易表示连接关系的数据</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2" name="Shape 222"/>
          <p:cNvSpPr/>
          <p:nvPr>
            <p:ph type="sldImg"/>
          </p:nvPr>
        </p:nvSpPr>
        <p:spPr>
          <a:prstGeom prst="rect">
            <a:avLst/>
          </a:prstGeom>
        </p:spPr>
        <p:txBody>
          <a:bodyPr/>
          <a:lstStyle/>
          <a:p>
            <a:pPr/>
          </a:p>
        </p:txBody>
      </p:sp>
      <p:sp>
        <p:nvSpPr>
          <p:cNvPr id="223" name="Shape 223"/>
          <p:cNvSpPr/>
          <p:nvPr>
            <p:ph type="body" sz="quarter" idx="1"/>
          </p:nvPr>
        </p:nvSpPr>
        <p:spPr>
          <a:prstGeom prst="rect">
            <a:avLst/>
          </a:prstGeom>
        </p:spPr>
        <p:txBody>
          <a:bodyPr/>
          <a:lstStyle/>
          <a:p>
            <a:pPr>
              <a:defRPr>
                <a:solidFill>
                  <a:srgbClr val="333333"/>
                </a:solidFill>
                <a:latin typeface="Helvetica Neue"/>
                <a:ea typeface="Helvetica Neue"/>
                <a:cs typeface="Helvetica Neue"/>
                <a:sym typeface="Helvetica Neue"/>
              </a:defRPr>
            </a:pPr>
            <a:r>
              <a:t>OrientDB </a:t>
            </a:r>
            <a:r>
              <a:rPr>
                <a:latin typeface="+mj-lt"/>
                <a:ea typeface="+mj-ea"/>
                <a:cs typeface="+mj-cs"/>
                <a:sym typeface="Helvetica"/>
              </a:rPr>
              <a:t>是一个多模型开源 </a:t>
            </a:r>
            <a:r>
              <a:t>NoSQL DBMS</a:t>
            </a:r>
            <a:r>
              <a:rPr>
                <a:latin typeface="+mj-lt"/>
                <a:ea typeface="+mj-ea"/>
                <a:cs typeface="+mj-cs"/>
                <a:sym typeface="Helvetica"/>
              </a:rPr>
              <a:t>，它将图形的强大功能和文档的灵活性结合到一个可扩展的高性能操作数据库中。</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8" name="Shape 228"/>
          <p:cNvSpPr/>
          <p:nvPr>
            <p:ph type="sldImg"/>
          </p:nvPr>
        </p:nvSpPr>
        <p:spPr>
          <a:prstGeom prst="rect">
            <a:avLst/>
          </a:prstGeom>
        </p:spPr>
        <p:txBody>
          <a:bodyPr/>
          <a:lstStyle/>
          <a:p>
            <a:pPr/>
          </a:p>
        </p:txBody>
      </p:sp>
      <p:sp>
        <p:nvSpPr>
          <p:cNvPr id="229" name="Shape 229"/>
          <p:cNvSpPr/>
          <p:nvPr>
            <p:ph type="body" sz="quarter" idx="1"/>
          </p:nvPr>
        </p:nvSpPr>
        <p:spPr>
          <a:prstGeom prst="rect">
            <a:avLst/>
          </a:prstGeom>
        </p:spPr>
        <p:txBody>
          <a:bodyPr/>
          <a:lstStyle/>
          <a:p>
            <a:pPr>
              <a:defRPr>
                <a:solidFill>
                  <a:srgbClr val="212529"/>
                </a:solidFill>
                <a:latin typeface="-apple-system"/>
                <a:ea typeface="-apple-system"/>
                <a:cs typeface="-apple-system"/>
                <a:sym typeface="-apple-system"/>
              </a:defRPr>
            </a:pPr>
            <a:r>
              <a:t>phpMyAdmin </a:t>
            </a:r>
            <a:r>
              <a:t>是一个用</a:t>
            </a:r>
            <a:r>
              <a:rPr u="sng">
                <a:solidFill>
                  <a:srgbClr val="0563C1"/>
                </a:solidFill>
                <a:uFill>
                  <a:solidFill>
                    <a:srgbClr val="0563C1"/>
                  </a:solidFill>
                </a:uFill>
                <a:hlinkClick r:id="rId3" invalidUrl="" action="" tgtFrame="" tooltip="" history="1" highlightClick="0" endSnd="0"/>
              </a:rPr>
              <a:t>PHP</a:t>
            </a:r>
            <a:r>
              <a:t>编写的免费软件工具，旨在 通过 </a:t>
            </a:r>
            <a:r>
              <a:t>Web</a:t>
            </a:r>
            <a:r>
              <a:t>处理</a:t>
            </a:r>
            <a:r>
              <a:rPr u="sng">
                <a:solidFill>
                  <a:srgbClr val="0563C1"/>
                </a:solidFill>
                <a:uFill>
                  <a:solidFill>
                    <a:srgbClr val="0563C1"/>
                  </a:solidFill>
                </a:uFill>
                <a:hlinkClick r:id="rId4" invalidUrl="" action="" tgtFrame="" tooltip="" history="1" highlightClick="0" endSnd="0"/>
              </a:rPr>
              <a:t>MySQL</a:t>
            </a:r>
            <a:r>
              <a:rPr u="sng">
                <a:solidFill>
                  <a:srgbClr val="0563C1"/>
                </a:solidFill>
                <a:uFill>
                  <a:solidFill>
                    <a:srgbClr val="0563C1"/>
                  </a:solidFill>
                </a:uFill>
                <a:hlinkClick r:id="rId4" invalidUrl="" action="" tgtFrame="" tooltip="" history="1" highlightClick="0" endSnd="0"/>
              </a:rPr>
              <a:t>的管理。</a:t>
            </a:r>
            <a:r>
              <a:t>phpMyAdmin </a:t>
            </a:r>
            <a:r>
              <a:t>支持对 </a:t>
            </a:r>
            <a:r>
              <a:t>MySQL </a:t>
            </a:r>
            <a:r>
              <a:t>和 </a:t>
            </a:r>
            <a:r>
              <a:t>MariaDB </a:t>
            </a:r>
            <a:r>
              <a:t>的广泛操作</a:t>
            </a:r>
            <a:r>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4" name="Shape 234"/>
          <p:cNvSpPr/>
          <p:nvPr>
            <p:ph type="sldImg"/>
          </p:nvPr>
        </p:nvSpPr>
        <p:spPr>
          <a:prstGeom prst="rect">
            <a:avLst/>
          </a:prstGeom>
        </p:spPr>
        <p:txBody>
          <a:bodyPr/>
          <a:lstStyle/>
          <a:p>
            <a:pPr/>
          </a:p>
        </p:txBody>
      </p:sp>
      <p:sp>
        <p:nvSpPr>
          <p:cNvPr id="235" name="Shape 235"/>
          <p:cNvSpPr/>
          <p:nvPr>
            <p:ph type="body" sz="quarter" idx="1"/>
          </p:nvPr>
        </p:nvSpPr>
        <p:spPr>
          <a:prstGeom prst="rect">
            <a:avLst/>
          </a:prstGeom>
        </p:spPr>
        <p:txBody>
          <a:bodyPr/>
          <a:lstStyle/>
          <a:p>
            <a:pPr>
              <a:defRPr>
                <a:solidFill>
                  <a:srgbClr val="161513"/>
                </a:solidFill>
                <a:latin typeface="OracleSansVF"/>
                <a:ea typeface="OracleSansVF"/>
                <a:cs typeface="OracleSansVF"/>
                <a:sym typeface="OracleSansVF"/>
              </a:defRPr>
            </a:pPr>
            <a:r>
              <a:t>Oracle SQL Developer </a:t>
            </a:r>
            <a:r>
              <a:t>有简洁明了的图形化界面。</a:t>
            </a:r>
          </a:p>
          <a:p>
            <a:pPr/>
            <a:r>
              <a:t>查询所需的执行时间更短。</a:t>
            </a:r>
          </a:p>
          <a:p>
            <a:pPr/>
            <a:r>
              <a:t>查询可以以多种格式运行和生成，如</a:t>
            </a:r>
            <a:r>
              <a:t>HTML</a:t>
            </a:r>
            <a:r>
              <a:t>、</a:t>
            </a:r>
            <a:r>
              <a:t>PDF</a:t>
            </a:r>
            <a:r>
              <a:t>、</a:t>
            </a:r>
            <a:r>
              <a:t>XML</a:t>
            </a:r>
            <a:r>
              <a:t>和</a:t>
            </a:r>
            <a:r>
              <a:t>Excel</a:t>
            </a:r>
            <a:r>
              <a:t>。</a:t>
            </a:r>
          </a:p>
          <a:p>
            <a:p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8" name="Shape 248"/>
          <p:cNvSpPr/>
          <p:nvPr>
            <p:ph type="sldImg"/>
          </p:nvPr>
        </p:nvSpPr>
        <p:spPr>
          <a:prstGeom prst="rect">
            <a:avLst/>
          </a:prstGeom>
        </p:spPr>
        <p:txBody>
          <a:bodyPr/>
          <a:lstStyle/>
          <a:p>
            <a:pPr/>
          </a:p>
        </p:txBody>
      </p:sp>
      <p:sp>
        <p:nvSpPr>
          <p:cNvPr id="249" name="Shape 249"/>
          <p:cNvSpPr/>
          <p:nvPr>
            <p:ph type="body" sz="quarter" idx="1"/>
          </p:nvPr>
        </p:nvSpPr>
        <p:spPr>
          <a:prstGeom prst="rect">
            <a:avLst/>
          </a:prstGeom>
        </p:spPr>
        <p:txBody>
          <a:bodyPr/>
          <a:lstStyle/>
          <a:p>
            <a:pPr/>
            <a:r>
              <a:t>3-4</a:t>
            </a:r>
            <a:r>
              <a:t>人组队，提前组队，确定好分工</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4" name="Shape 254"/>
          <p:cNvSpPr/>
          <p:nvPr>
            <p:ph type="sldImg"/>
          </p:nvPr>
        </p:nvSpPr>
        <p:spPr>
          <a:prstGeom prst="rect">
            <a:avLst/>
          </a:prstGeom>
        </p:spPr>
        <p:txBody>
          <a:bodyPr/>
          <a:lstStyle/>
          <a:p>
            <a:pPr/>
          </a:p>
        </p:txBody>
      </p:sp>
      <p:sp>
        <p:nvSpPr>
          <p:cNvPr id="255" name="Shape 255"/>
          <p:cNvSpPr/>
          <p:nvPr>
            <p:ph type="body" sz="quarter" idx="1"/>
          </p:nvPr>
        </p:nvSpPr>
        <p:spPr>
          <a:prstGeom prst="rect">
            <a:avLst/>
          </a:prstGeom>
        </p:spPr>
        <p:txBody>
          <a:bodyPr/>
          <a:lstStyle/>
          <a:p>
            <a:pPr/>
            <a:r>
              <a:t>3-4</a:t>
            </a:r>
            <a:r>
              <a:t>人组队，提前组队，确定好分工</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9" name="Shape 259"/>
          <p:cNvSpPr/>
          <p:nvPr>
            <p:ph type="sldImg"/>
          </p:nvPr>
        </p:nvSpPr>
        <p:spPr>
          <a:prstGeom prst="rect">
            <a:avLst/>
          </a:prstGeom>
        </p:spPr>
        <p:txBody>
          <a:bodyPr/>
          <a:lstStyle/>
          <a:p>
            <a:pPr/>
          </a:p>
        </p:txBody>
      </p:sp>
      <p:sp>
        <p:nvSpPr>
          <p:cNvPr id="260" name="Shape 260"/>
          <p:cNvSpPr/>
          <p:nvPr>
            <p:ph type="body" sz="quarter" idx="1"/>
          </p:nvPr>
        </p:nvSpPr>
        <p:spPr>
          <a:prstGeom prst="rect">
            <a:avLst/>
          </a:prstGeom>
        </p:spPr>
        <p:txBody>
          <a:bodyPr/>
          <a:lstStyle/>
          <a:p>
            <a:pPr/>
            <a:r>
              <a:t>HTML: </a:t>
            </a:r>
            <a:r>
              <a:t>代表超文本标记语言，是浏览器显示内容的代码结构。更具体地说是内容的载体。然后通过</a:t>
            </a:r>
            <a:r>
              <a:t>CSS</a:t>
            </a:r>
            <a:r>
              <a:t>和</a:t>
            </a:r>
            <a:r>
              <a:t>JavaScript</a:t>
            </a:r>
            <a:r>
              <a:t>等技术进行了增强和修改网页结构。</a:t>
            </a:r>
          </a:p>
          <a:p>
            <a:pPr/>
            <a:r>
              <a:t>CSS</a:t>
            </a:r>
            <a:r>
              <a:t>：是表现，相当于网页的外衣。用于控制</a:t>
            </a:r>
            <a:r>
              <a:t>html</a:t>
            </a:r>
            <a:r>
              <a:t>内容的样式和布局。比如字体大小、颜色变化、标题加入花里胡哨的背景和边框。</a:t>
            </a:r>
          </a:p>
          <a:p>
            <a:pPr/>
          </a:p>
          <a:p>
            <a:pPr/>
            <a:r>
              <a:t>JavaScript</a:t>
            </a:r>
            <a:r>
              <a:t>：用于控制不同元素的行为。</a:t>
            </a:r>
            <a:r>
              <a:t>Javascript</a:t>
            </a:r>
            <a:r>
              <a:t>处理网页设计和开发的逻辑。比如按钮被点击后执行什么工作（进入新页面？退出页面）、鼠标滑过弹出菜单、动画等交互。</a:t>
            </a:r>
          </a:p>
          <a:p>
            <a:pPr/>
            <a:r>
              <a:t>JavaScript </a:t>
            </a:r>
            <a:r>
              <a:t>和</a:t>
            </a:r>
            <a:r>
              <a:t>Java</a:t>
            </a:r>
            <a:r>
              <a:t>没有关系，</a:t>
            </a:r>
            <a:r>
              <a:rPr>
                <a:solidFill>
                  <a:srgbClr val="121212"/>
                </a:solidFill>
                <a:latin typeface="-apple-system"/>
                <a:ea typeface="-apple-system"/>
                <a:cs typeface="-apple-system"/>
                <a:sym typeface="-apple-system"/>
              </a:rPr>
              <a:t>Java</a:t>
            </a:r>
            <a:r>
              <a:rPr>
                <a:solidFill>
                  <a:srgbClr val="121212"/>
                </a:solidFill>
              </a:rPr>
              <a:t>是一种程序设计语言，</a:t>
            </a:r>
            <a:r>
              <a:rPr>
                <a:solidFill>
                  <a:srgbClr val="121212"/>
                </a:solidFill>
                <a:latin typeface="-apple-system"/>
                <a:ea typeface="-apple-system"/>
                <a:cs typeface="-apple-system"/>
                <a:sym typeface="-apple-system"/>
              </a:rPr>
              <a:t>JavaScript</a:t>
            </a:r>
            <a:r>
              <a:rPr>
                <a:solidFill>
                  <a:srgbClr val="121212"/>
                </a:solidFill>
              </a:rPr>
              <a:t>是客户端的脚本语言。</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9" name="Shape 269"/>
          <p:cNvSpPr/>
          <p:nvPr>
            <p:ph type="sldImg"/>
          </p:nvPr>
        </p:nvSpPr>
        <p:spPr>
          <a:prstGeom prst="rect">
            <a:avLst/>
          </a:prstGeom>
        </p:spPr>
        <p:txBody>
          <a:bodyPr/>
          <a:lstStyle/>
          <a:p>
            <a:pPr/>
          </a:p>
        </p:txBody>
      </p:sp>
      <p:sp>
        <p:nvSpPr>
          <p:cNvPr id="270" name="Shape 270"/>
          <p:cNvSpPr/>
          <p:nvPr>
            <p:ph type="body" sz="quarter" idx="1"/>
          </p:nvPr>
        </p:nvSpPr>
        <p:spPr>
          <a:prstGeom prst="rect">
            <a:avLst/>
          </a:prstGeom>
        </p:spPr>
        <p:txBody>
          <a:bodyPr/>
          <a:lstStyle/>
          <a:p>
            <a:pPr/>
            <a:r>
              <a:t>很经典的例子是说</a:t>
            </a:r>
            <a:r>
              <a:t>HTML</a:t>
            </a:r>
            <a:r>
              <a:t>就像 一个人的骨骼、器官，而</a:t>
            </a:r>
            <a:r>
              <a:t>CSS</a:t>
            </a:r>
            <a:r>
              <a:t>就是人的皮肤，有了这两样也就构成了一个植物人了，加上</a:t>
            </a:r>
            <a:r>
              <a:t>javascript</a:t>
            </a:r>
            <a:r>
              <a:t>这个植物人就可以对外界刺激做出反应，可以思考、运动。</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5" name="Shape 275"/>
          <p:cNvSpPr/>
          <p:nvPr>
            <p:ph type="sldImg"/>
          </p:nvPr>
        </p:nvSpPr>
        <p:spPr>
          <a:prstGeom prst="rect">
            <a:avLst/>
          </a:prstGeom>
        </p:spPr>
        <p:txBody>
          <a:bodyPr/>
          <a:lstStyle/>
          <a:p>
            <a:pPr/>
          </a:p>
        </p:txBody>
      </p:sp>
      <p:sp>
        <p:nvSpPr>
          <p:cNvPr id="276" name="Shape 276"/>
          <p:cNvSpPr/>
          <p:nvPr>
            <p:ph type="body" sz="quarter" idx="1"/>
          </p:nvPr>
        </p:nvSpPr>
        <p:spPr>
          <a:prstGeom prst="rect">
            <a:avLst/>
          </a:prstGeom>
        </p:spPr>
        <p:txBody>
          <a:bodyPr/>
          <a:lstStyle/>
          <a:p>
            <a:pPr/>
            <a:r>
              <a:t>React:</a:t>
            </a:r>
            <a:r>
              <a:t>的可重用组件确保了开发人员不必一遍又一遍地重写相同的代码。由于它的受欢迎程度，在网上有大量来自同行开发者的免费帮助。</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1" name="Shape 281"/>
          <p:cNvSpPr/>
          <p:nvPr>
            <p:ph type="sldImg"/>
          </p:nvPr>
        </p:nvSpPr>
        <p:spPr>
          <a:prstGeom prst="rect">
            <a:avLst/>
          </a:prstGeom>
        </p:spPr>
        <p:txBody>
          <a:bodyPr/>
          <a:lstStyle/>
          <a:p>
            <a:pPr/>
          </a:p>
        </p:txBody>
      </p:sp>
      <p:sp>
        <p:nvSpPr>
          <p:cNvPr id="282" name="Shape 282"/>
          <p:cNvSpPr/>
          <p:nvPr>
            <p:ph type="body" sz="quarter" idx="1"/>
          </p:nvPr>
        </p:nvSpPr>
        <p:spPr>
          <a:prstGeom prst="rect">
            <a:avLst/>
          </a:prstGeom>
        </p:spPr>
        <p:txBody>
          <a:bodyPr/>
          <a:lstStyle/>
          <a:p>
            <a:pPr/>
            <a:r>
              <a:t>Vue:</a:t>
            </a:r>
            <a:r>
              <a:t>优秀的文档，适合初学者和经验丰富的开发人员。多年来发展起来的庞大工具生态系统。框架体积小，易学。</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7" name="Shape 287"/>
          <p:cNvSpPr/>
          <p:nvPr>
            <p:ph type="sldImg"/>
          </p:nvPr>
        </p:nvSpPr>
        <p:spPr>
          <a:prstGeom prst="rect">
            <a:avLst/>
          </a:prstGeom>
        </p:spPr>
        <p:txBody>
          <a:bodyPr/>
          <a:lstStyle/>
          <a:p>
            <a:pPr/>
          </a:p>
        </p:txBody>
      </p:sp>
      <p:sp>
        <p:nvSpPr>
          <p:cNvPr id="288" name="Shape 288"/>
          <p:cNvSpPr/>
          <p:nvPr>
            <p:ph type="body" sz="quarter" idx="1"/>
          </p:nvPr>
        </p:nvSpPr>
        <p:spPr>
          <a:prstGeom prst="rect">
            <a:avLst/>
          </a:prstGeom>
        </p:spPr>
        <p:txBody>
          <a:bodyPr/>
          <a:lstStyle/>
          <a:p>
            <a:pPr/>
            <a:r>
              <a:t>Angular:</a:t>
            </a:r>
            <a:r>
              <a:t>极其复杂的</a:t>
            </a:r>
            <a:r>
              <a:t>web</a:t>
            </a:r>
            <a:r>
              <a:t>应用程序可以在企业规模上开发，可以与基于桌面的应用程序相匹敌。谷歌保证了对这个开源项目的长期支持，开发人员可以放心，它不会很快被放弃。</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1" name="Shape 351"/>
          <p:cNvSpPr/>
          <p:nvPr>
            <p:ph type="sldImg"/>
          </p:nvPr>
        </p:nvSpPr>
        <p:spPr>
          <a:prstGeom prst="rect">
            <a:avLst/>
          </a:prstGeom>
        </p:spPr>
        <p:txBody>
          <a:bodyPr/>
          <a:lstStyle/>
          <a:p>
            <a:pPr/>
          </a:p>
        </p:txBody>
      </p:sp>
      <p:sp>
        <p:nvSpPr>
          <p:cNvPr id="352" name="Shape 352"/>
          <p:cNvSpPr/>
          <p:nvPr>
            <p:ph type="body" sz="quarter" idx="1"/>
          </p:nvPr>
        </p:nvSpPr>
        <p:spPr>
          <a:prstGeom prst="rect">
            <a:avLst/>
          </a:prstGeom>
        </p:spPr>
        <p:txBody>
          <a:bodyPr/>
          <a:lstStyle/>
          <a:p>
            <a:pPr/>
            <a:r>
              <a:t>设计视图是 </a:t>
            </a:r>
            <a:r>
              <a:t>Access </a:t>
            </a:r>
            <a:r>
              <a:t>中用于创建和修改表结构的专业界面，它比直接在数据表视图中工作提供了更精细的控制。通过设计视图，你可以：</a:t>
            </a:r>
          </a:p>
          <a:p>
            <a:pPr/>
            <a:r>
              <a:t>定义每个字段的精确数据类型、设置详细的字段属性、指定主键和索引、添加字段说明文档、控制数据验证规则</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97" name="Shape 397"/>
          <p:cNvSpPr/>
          <p:nvPr>
            <p:ph type="sldImg"/>
          </p:nvPr>
        </p:nvSpPr>
        <p:spPr>
          <a:prstGeom prst="rect">
            <a:avLst/>
          </a:prstGeom>
        </p:spPr>
        <p:txBody>
          <a:bodyPr/>
          <a:lstStyle/>
          <a:p>
            <a:pPr/>
          </a:p>
        </p:txBody>
      </p:sp>
      <p:sp>
        <p:nvSpPr>
          <p:cNvPr id="398" name="Shape 398"/>
          <p:cNvSpPr/>
          <p:nvPr>
            <p:ph type="body" sz="quarter" idx="1"/>
          </p:nvPr>
        </p:nvSpPr>
        <p:spPr>
          <a:prstGeom prst="rect">
            <a:avLst/>
          </a:prstGeom>
        </p:spPr>
        <p:txBody>
          <a:bodyPr/>
          <a:lstStyle/>
          <a:p>
            <a:pPr/>
            <a:r>
              <a:t>随机生成元组，并用</a:t>
            </a:r>
            <a:r>
              <a:t>sql</a:t>
            </a:r>
            <a:r>
              <a:t>插入到数据库中</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标题幻灯片">
    <p:spTree>
      <p:nvGrpSpPr>
        <p:cNvPr id="1" name=""/>
        <p:cNvGrpSpPr/>
        <p:nvPr/>
      </p:nvGrpSpPr>
      <p:grpSpPr>
        <a:xfrm>
          <a:off x="0" y="0"/>
          <a:ext cx="0" cy="0"/>
          <a:chOff x="0" y="0"/>
          <a:chExt cx="0" cy="0"/>
        </a:xfrm>
      </p:grpSpPr>
      <p:sp>
        <p:nvSpPr>
          <p:cNvPr id="11" name="标题文本"/>
          <p:cNvSpPr txBox="1"/>
          <p:nvPr>
            <p:ph type="title"/>
          </p:nvPr>
        </p:nvSpPr>
        <p:spPr>
          <a:xfrm>
            <a:off x="914400" y="1122362"/>
            <a:ext cx="10363200" cy="2387601"/>
          </a:xfrm>
          <a:prstGeom prst="rect">
            <a:avLst/>
          </a:prstGeom>
        </p:spPr>
        <p:txBody>
          <a:bodyPr anchor="b"/>
          <a:lstStyle>
            <a:lvl1pPr algn="ctr">
              <a:defRPr sz="6000"/>
            </a:lvl1pPr>
          </a:lstStyle>
          <a:p>
            <a:pPr/>
            <a:r>
              <a:t>标题文本</a:t>
            </a:r>
          </a:p>
        </p:txBody>
      </p:sp>
      <p:sp>
        <p:nvSpPr>
          <p:cNvPr id="12" name="正文级别 1…"/>
          <p:cNvSpPr txBox="1"/>
          <p:nvPr>
            <p:ph type="body" sz="quarter" idx="1"/>
          </p:nvPr>
        </p:nvSpPr>
        <p:spPr>
          <a:xfrm>
            <a:off x="1524000" y="3602037"/>
            <a:ext cx="9144000" cy="1655763"/>
          </a:xfrm>
          <a:prstGeom prst="rect">
            <a:avLst/>
          </a:prstGeom>
        </p:spPr>
        <p:txBody>
          <a:bodyPr/>
          <a:lstStyle>
            <a:lvl1pPr marL="0" indent="0" algn="ctr">
              <a:buSzTx/>
              <a:buFontTx/>
              <a:buNone/>
              <a:defRPr sz="2400"/>
            </a:lvl1pPr>
            <a:lvl2pPr marL="0" indent="457200" algn="ctr">
              <a:buSzTx/>
              <a:buFontTx/>
              <a:buNone/>
              <a:defRPr sz="2400"/>
            </a:lvl2pPr>
            <a:lvl3pPr marL="0" indent="914400" algn="ctr">
              <a:buSzTx/>
              <a:buFontTx/>
              <a:buNone/>
              <a:defRPr sz="2400"/>
            </a:lvl3pPr>
            <a:lvl4pPr marL="0" indent="1371600" algn="ctr">
              <a:buSzTx/>
              <a:buFontTx/>
              <a:buNone/>
              <a:defRPr sz="2400"/>
            </a:lvl4pPr>
            <a:lvl5pPr marL="0" indent="1828800" algn="ctr">
              <a:buSzTx/>
              <a:buFontTx/>
              <a:buNone/>
              <a:defRPr sz="2400"/>
            </a:lvl5pPr>
          </a:lstStyle>
          <a:p>
            <a:pPr/>
            <a:r>
              <a:t>正文级别 1</a:t>
            </a:r>
          </a:p>
          <a:p>
            <a:pPr lvl="1"/>
            <a:r>
              <a:t>正文级别 2</a:t>
            </a:r>
          </a:p>
          <a:p>
            <a:pPr lvl="2"/>
            <a:r>
              <a:t>正文级别 3</a:t>
            </a:r>
          </a:p>
          <a:p>
            <a:pPr lvl="3"/>
            <a:r>
              <a:t>正文级别 4</a:t>
            </a:r>
          </a:p>
          <a:p>
            <a:pPr lvl="4"/>
            <a:r>
              <a:t>正文级别 5</a:t>
            </a:r>
          </a:p>
        </p:txBody>
      </p:sp>
      <p:sp>
        <p:nvSpPr>
          <p:cNvPr id="13" name="幻灯片编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标题和内容">
    <p:spTree>
      <p:nvGrpSpPr>
        <p:cNvPr id="1" name=""/>
        <p:cNvGrpSpPr/>
        <p:nvPr/>
      </p:nvGrpSpPr>
      <p:grpSpPr>
        <a:xfrm>
          <a:off x="0" y="0"/>
          <a:ext cx="0" cy="0"/>
          <a:chOff x="0" y="0"/>
          <a:chExt cx="0" cy="0"/>
        </a:xfrm>
      </p:grpSpPr>
      <p:sp>
        <p:nvSpPr>
          <p:cNvPr id="20" name="标题文本"/>
          <p:cNvSpPr txBox="1"/>
          <p:nvPr>
            <p:ph type="title"/>
          </p:nvPr>
        </p:nvSpPr>
        <p:spPr>
          <a:prstGeom prst="rect">
            <a:avLst/>
          </a:prstGeom>
        </p:spPr>
        <p:txBody>
          <a:bodyPr/>
          <a:lstStyle/>
          <a:p>
            <a:pPr/>
            <a:r>
              <a:t>标题文本</a:t>
            </a:r>
          </a:p>
        </p:txBody>
      </p:sp>
      <p:sp>
        <p:nvSpPr>
          <p:cNvPr id="21" name="正文级别 1…"/>
          <p:cNvSpPr txBox="1"/>
          <p:nvPr>
            <p:ph type="body" idx="1"/>
          </p:nvPr>
        </p:nvSpPr>
        <p:spPr>
          <a:prstGeom prst="rect">
            <a:avLst/>
          </a:prstGeom>
        </p:spPr>
        <p:txBody>
          <a:bodyPr/>
          <a:lstStyle/>
          <a:p>
            <a:pPr/>
            <a:r>
              <a:t>正文级别 1</a:t>
            </a:r>
          </a:p>
          <a:p>
            <a:pPr lvl="1"/>
            <a:r>
              <a:t>正文级别 2</a:t>
            </a:r>
          </a:p>
          <a:p>
            <a:pPr lvl="2"/>
            <a:r>
              <a:t>正文级别 3</a:t>
            </a:r>
          </a:p>
          <a:p>
            <a:pPr lvl="3"/>
            <a:r>
              <a:t>正文级别 4</a:t>
            </a:r>
          </a:p>
          <a:p>
            <a:pPr lvl="4"/>
            <a:r>
              <a:t>正文级别 5</a:t>
            </a:r>
          </a:p>
        </p:txBody>
      </p:sp>
      <p:sp>
        <p:nvSpPr>
          <p:cNvPr id="22" name="幻灯片编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节标题">
    <p:spTree>
      <p:nvGrpSpPr>
        <p:cNvPr id="1" name=""/>
        <p:cNvGrpSpPr/>
        <p:nvPr/>
      </p:nvGrpSpPr>
      <p:grpSpPr>
        <a:xfrm>
          <a:off x="0" y="0"/>
          <a:ext cx="0" cy="0"/>
          <a:chOff x="0" y="0"/>
          <a:chExt cx="0" cy="0"/>
        </a:xfrm>
      </p:grpSpPr>
      <p:sp>
        <p:nvSpPr>
          <p:cNvPr id="29" name="标题文本"/>
          <p:cNvSpPr txBox="1"/>
          <p:nvPr>
            <p:ph type="title"/>
          </p:nvPr>
        </p:nvSpPr>
        <p:spPr>
          <a:xfrm>
            <a:off x="831850" y="1709740"/>
            <a:ext cx="10515601" cy="2852737"/>
          </a:xfrm>
          <a:prstGeom prst="rect">
            <a:avLst/>
          </a:prstGeom>
        </p:spPr>
        <p:txBody>
          <a:bodyPr anchor="b"/>
          <a:lstStyle>
            <a:lvl1pPr>
              <a:defRPr sz="6000"/>
            </a:lvl1pPr>
          </a:lstStyle>
          <a:p>
            <a:pPr/>
            <a:r>
              <a:t>标题文本</a:t>
            </a:r>
          </a:p>
        </p:txBody>
      </p:sp>
      <p:sp>
        <p:nvSpPr>
          <p:cNvPr id="30" name="正文级别 1…"/>
          <p:cNvSpPr txBox="1"/>
          <p:nvPr>
            <p:ph type="body" sz="quarter" idx="1"/>
          </p:nvPr>
        </p:nvSpPr>
        <p:spPr>
          <a:xfrm>
            <a:off x="831850" y="4589464"/>
            <a:ext cx="10515601" cy="1500188"/>
          </a:xfrm>
          <a:prstGeom prst="rect">
            <a:avLst/>
          </a:prstGeom>
        </p:spPr>
        <p:txBody>
          <a:bodyPr/>
          <a:lstStyle>
            <a:lvl1pPr marL="0" indent="0">
              <a:buSzTx/>
              <a:buFontTx/>
              <a:buNone/>
              <a:defRPr sz="2400"/>
            </a:lvl1pPr>
            <a:lvl2pPr marL="0" indent="457200">
              <a:buSzTx/>
              <a:buFontTx/>
              <a:buNone/>
              <a:defRPr sz="2400"/>
            </a:lvl2pPr>
            <a:lvl3pPr marL="0" indent="914400">
              <a:buSzTx/>
              <a:buFontTx/>
              <a:buNone/>
              <a:defRPr sz="2400"/>
            </a:lvl3pPr>
            <a:lvl4pPr marL="0" indent="1371600">
              <a:buSzTx/>
              <a:buFontTx/>
              <a:buNone/>
              <a:defRPr sz="2400"/>
            </a:lvl4pPr>
            <a:lvl5pPr marL="0" indent="1828800">
              <a:buSzTx/>
              <a:buFontTx/>
              <a:buNone/>
              <a:defRPr sz="2400"/>
            </a:lvl5pPr>
          </a:lstStyle>
          <a:p>
            <a:pPr/>
            <a:r>
              <a:t>正文级别 1</a:t>
            </a:r>
          </a:p>
          <a:p>
            <a:pPr lvl="1"/>
            <a:r>
              <a:t>正文级别 2</a:t>
            </a:r>
          </a:p>
          <a:p>
            <a:pPr lvl="2"/>
            <a:r>
              <a:t>正文级别 3</a:t>
            </a:r>
          </a:p>
          <a:p>
            <a:pPr lvl="3"/>
            <a:r>
              <a:t>正文级别 4</a:t>
            </a:r>
          </a:p>
          <a:p>
            <a:pPr lvl="4"/>
            <a:r>
              <a:t>正文级别 5</a:t>
            </a:r>
          </a:p>
        </p:txBody>
      </p:sp>
      <p:sp>
        <p:nvSpPr>
          <p:cNvPr id="31" name="幻灯片编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两栏内容">
    <p:spTree>
      <p:nvGrpSpPr>
        <p:cNvPr id="1" name=""/>
        <p:cNvGrpSpPr/>
        <p:nvPr/>
      </p:nvGrpSpPr>
      <p:grpSpPr>
        <a:xfrm>
          <a:off x="0" y="0"/>
          <a:ext cx="0" cy="0"/>
          <a:chOff x="0" y="0"/>
          <a:chExt cx="0" cy="0"/>
        </a:xfrm>
      </p:grpSpPr>
      <p:sp>
        <p:nvSpPr>
          <p:cNvPr id="38" name="标题文本"/>
          <p:cNvSpPr txBox="1"/>
          <p:nvPr>
            <p:ph type="title"/>
          </p:nvPr>
        </p:nvSpPr>
        <p:spPr>
          <a:prstGeom prst="rect">
            <a:avLst/>
          </a:prstGeom>
        </p:spPr>
        <p:txBody>
          <a:bodyPr/>
          <a:lstStyle/>
          <a:p>
            <a:pPr/>
            <a:r>
              <a:t>标题文本</a:t>
            </a:r>
          </a:p>
        </p:txBody>
      </p:sp>
      <p:sp>
        <p:nvSpPr>
          <p:cNvPr id="39" name="正文级别 1…"/>
          <p:cNvSpPr txBox="1"/>
          <p:nvPr>
            <p:ph type="body" sz="half" idx="1"/>
          </p:nvPr>
        </p:nvSpPr>
        <p:spPr>
          <a:xfrm>
            <a:off x="838200" y="1825625"/>
            <a:ext cx="5181600" cy="4351338"/>
          </a:xfrm>
          <a:prstGeom prst="rect">
            <a:avLst/>
          </a:prstGeom>
        </p:spPr>
        <p:txBody>
          <a:bodyPr/>
          <a:lstStyle/>
          <a:p>
            <a:pPr/>
            <a:r>
              <a:t>正文级别 1</a:t>
            </a:r>
          </a:p>
          <a:p>
            <a:pPr lvl="1"/>
            <a:r>
              <a:t>正文级别 2</a:t>
            </a:r>
          </a:p>
          <a:p>
            <a:pPr lvl="2"/>
            <a:r>
              <a:t>正文级别 3</a:t>
            </a:r>
          </a:p>
          <a:p>
            <a:pPr lvl="3"/>
            <a:r>
              <a:t>正文级别 4</a:t>
            </a:r>
          </a:p>
          <a:p>
            <a:pPr lvl="4"/>
            <a:r>
              <a:t>正文级别 5</a:t>
            </a:r>
          </a:p>
        </p:txBody>
      </p:sp>
      <p:sp>
        <p:nvSpPr>
          <p:cNvPr id="40" name="幻灯片编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比较">
    <p:spTree>
      <p:nvGrpSpPr>
        <p:cNvPr id="1" name=""/>
        <p:cNvGrpSpPr/>
        <p:nvPr/>
      </p:nvGrpSpPr>
      <p:grpSpPr>
        <a:xfrm>
          <a:off x="0" y="0"/>
          <a:ext cx="0" cy="0"/>
          <a:chOff x="0" y="0"/>
          <a:chExt cx="0" cy="0"/>
        </a:xfrm>
      </p:grpSpPr>
      <p:sp>
        <p:nvSpPr>
          <p:cNvPr id="47" name="标题文本"/>
          <p:cNvSpPr txBox="1"/>
          <p:nvPr>
            <p:ph type="title"/>
          </p:nvPr>
        </p:nvSpPr>
        <p:spPr>
          <a:xfrm>
            <a:off x="839787" y="365127"/>
            <a:ext cx="10515601" cy="1325563"/>
          </a:xfrm>
          <a:prstGeom prst="rect">
            <a:avLst/>
          </a:prstGeom>
        </p:spPr>
        <p:txBody>
          <a:bodyPr/>
          <a:lstStyle/>
          <a:p>
            <a:pPr/>
            <a:r>
              <a:t>标题文本</a:t>
            </a:r>
          </a:p>
        </p:txBody>
      </p:sp>
      <p:sp>
        <p:nvSpPr>
          <p:cNvPr id="48" name="正文级别 1…"/>
          <p:cNvSpPr txBox="1"/>
          <p:nvPr>
            <p:ph type="body" sz="quarter" idx="1"/>
          </p:nvPr>
        </p:nvSpPr>
        <p:spPr>
          <a:xfrm>
            <a:off x="839788" y="1681163"/>
            <a:ext cx="5157789" cy="823913"/>
          </a:xfrm>
          <a:prstGeom prst="rect">
            <a:avLst/>
          </a:prstGeom>
        </p:spPr>
        <p:txBody>
          <a:bodyPr anchor="b"/>
          <a:lstStyle>
            <a:lvl1pPr marL="0" indent="0">
              <a:buSzTx/>
              <a:buFontTx/>
              <a:buNone/>
              <a:defRPr b="1" sz="2400"/>
            </a:lvl1pPr>
            <a:lvl2pPr marL="0" indent="457200">
              <a:buSzTx/>
              <a:buFontTx/>
              <a:buNone/>
              <a:defRPr b="1" sz="2400"/>
            </a:lvl2pPr>
            <a:lvl3pPr marL="0" indent="914400">
              <a:buSzTx/>
              <a:buFontTx/>
              <a:buNone/>
              <a:defRPr b="1" sz="2400"/>
            </a:lvl3pPr>
            <a:lvl4pPr marL="0" indent="1371600">
              <a:buSzTx/>
              <a:buFontTx/>
              <a:buNone/>
              <a:defRPr b="1" sz="2400"/>
            </a:lvl4pPr>
            <a:lvl5pPr marL="0" indent="1828800">
              <a:buSzTx/>
              <a:buFontTx/>
              <a:buNone/>
              <a:defRPr b="1" sz="2400"/>
            </a:lvl5pPr>
          </a:lstStyle>
          <a:p>
            <a:pPr/>
            <a:r>
              <a:t>正文级别 1</a:t>
            </a:r>
          </a:p>
          <a:p>
            <a:pPr lvl="1"/>
            <a:r>
              <a:t>正文级别 2</a:t>
            </a:r>
          </a:p>
          <a:p>
            <a:pPr lvl="2"/>
            <a:r>
              <a:t>正文级别 3</a:t>
            </a:r>
          </a:p>
          <a:p>
            <a:pPr lvl="3"/>
            <a:r>
              <a:t>正文级别 4</a:t>
            </a:r>
          </a:p>
          <a:p>
            <a:pPr lvl="4"/>
            <a:r>
              <a:t>正文级别 5</a:t>
            </a:r>
          </a:p>
        </p:txBody>
      </p:sp>
      <p:sp>
        <p:nvSpPr>
          <p:cNvPr id="49" name="Text Placeholder 4"/>
          <p:cNvSpPr/>
          <p:nvPr>
            <p:ph type="body" sz="quarter" idx="21"/>
          </p:nvPr>
        </p:nvSpPr>
        <p:spPr>
          <a:xfrm>
            <a:off x="6172201" y="1681163"/>
            <a:ext cx="5183189" cy="823913"/>
          </a:xfrm>
          <a:prstGeom prst="rect">
            <a:avLst/>
          </a:prstGeom>
        </p:spPr>
        <p:txBody>
          <a:bodyPr anchor="b"/>
          <a:lstStyle/>
          <a:p>
            <a:pPr marL="0" indent="0">
              <a:buSzTx/>
              <a:buFontTx/>
              <a:buNone/>
              <a:defRPr b="1" sz="2400"/>
            </a:pPr>
          </a:p>
        </p:txBody>
      </p:sp>
      <p:sp>
        <p:nvSpPr>
          <p:cNvPr id="50" name="幻灯片编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仅标题">
    <p:spTree>
      <p:nvGrpSpPr>
        <p:cNvPr id="1" name=""/>
        <p:cNvGrpSpPr/>
        <p:nvPr/>
      </p:nvGrpSpPr>
      <p:grpSpPr>
        <a:xfrm>
          <a:off x="0" y="0"/>
          <a:ext cx="0" cy="0"/>
          <a:chOff x="0" y="0"/>
          <a:chExt cx="0" cy="0"/>
        </a:xfrm>
      </p:grpSpPr>
      <p:sp>
        <p:nvSpPr>
          <p:cNvPr id="57" name="标题文本"/>
          <p:cNvSpPr txBox="1"/>
          <p:nvPr>
            <p:ph type="title"/>
          </p:nvPr>
        </p:nvSpPr>
        <p:spPr>
          <a:prstGeom prst="rect">
            <a:avLst/>
          </a:prstGeom>
        </p:spPr>
        <p:txBody>
          <a:bodyPr/>
          <a:lstStyle/>
          <a:p>
            <a:pPr/>
            <a:r>
              <a:t>标题文本</a:t>
            </a:r>
          </a:p>
        </p:txBody>
      </p:sp>
      <p:sp>
        <p:nvSpPr>
          <p:cNvPr id="58" name="幻灯片编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空白">
    <p:spTree>
      <p:nvGrpSpPr>
        <p:cNvPr id="1" name=""/>
        <p:cNvGrpSpPr/>
        <p:nvPr/>
      </p:nvGrpSpPr>
      <p:grpSpPr>
        <a:xfrm>
          <a:off x="0" y="0"/>
          <a:ext cx="0" cy="0"/>
          <a:chOff x="0" y="0"/>
          <a:chExt cx="0" cy="0"/>
        </a:xfrm>
      </p:grpSpPr>
      <p:sp>
        <p:nvSpPr>
          <p:cNvPr id="65" name="幻灯片编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内容与标题">
    <p:spTree>
      <p:nvGrpSpPr>
        <p:cNvPr id="1" name=""/>
        <p:cNvGrpSpPr/>
        <p:nvPr/>
      </p:nvGrpSpPr>
      <p:grpSpPr>
        <a:xfrm>
          <a:off x="0" y="0"/>
          <a:ext cx="0" cy="0"/>
          <a:chOff x="0" y="0"/>
          <a:chExt cx="0" cy="0"/>
        </a:xfrm>
      </p:grpSpPr>
      <p:sp>
        <p:nvSpPr>
          <p:cNvPr id="72" name="标题文本"/>
          <p:cNvSpPr txBox="1"/>
          <p:nvPr>
            <p:ph type="title"/>
          </p:nvPr>
        </p:nvSpPr>
        <p:spPr>
          <a:xfrm>
            <a:off x="839787" y="457200"/>
            <a:ext cx="3932239" cy="1600200"/>
          </a:xfrm>
          <a:prstGeom prst="rect">
            <a:avLst/>
          </a:prstGeom>
        </p:spPr>
        <p:txBody>
          <a:bodyPr anchor="b"/>
          <a:lstStyle>
            <a:lvl1pPr>
              <a:defRPr sz="3200"/>
            </a:lvl1pPr>
          </a:lstStyle>
          <a:p>
            <a:pPr/>
            <a:r>
              <a:t>标题文本</a:t>
            </a:r>
          </a:p>
        </p:txBody>
      </p:sp>
      <p:sp>
        <p:nvSpPr>
          <p:cNvPr id="73" name="正文级别 1…"/>
          <p:cNvSpPr txBox="1"/>
          <p:nvPr>
            <p:ph type="body" sz="half" idx="1"/>
          </p:nvPr>
        </p:nvSpPr>
        <p:spPr>
          <a:xfrm>
            <a:off x="5183187" y="987427"/>
            <a:ext cx="6172201" cy="4873626"/>
          </a:xfrm>
          <a:prstGeom prst="rect">
            <a:avLst/>
          </a:prstGeom>
        </p:spPr>
        <p:txBody>
          <a:bodyPr/>
          <a:lstStyle>
            <a:lvl1pPr>
              <a:defRPr sz="3200"/>
            </a:lvl1pPr>
            <a:lvl2pPr marL="718457" indent="-261257">
              <a:defRPr sz="3200"/>
            </a:lvl2pPr>
            <a:lvl3pPr marL="1219200" indent="-304800">
              <a:defRPr sz="3200"/>
            </a:lvl3pPr>
            <a:lvl4pPr marL="1737360" indent="-365760">
              <a:defRPr sz="3200"/>
            </a:lvl4pPr>
            <a:lvl5pPr marL="2194560" indent="-365760">
              <a:defRPr sz="3200"/>
            </a:lvl5pPr>
          </a:lstStyle>
          <a:p>
            <a:pPr/>
            <a:r>
              <a:t>正文级别 1</a:t>
            </a:r>
          </a:p>
          <a:p>
            <a:pPr lvl="1"/>
            <a:r>
              <a:t>正文级别 2</a:t>
            </a:r>
          </a:p>
          <a:p>
            <a:pPr lvl="2"/>
            <a:r>
              <a:t>正文级别 3</a:t>
            </a:r>
          </a:p>
          <a:p>
            <a:pPr lvl="3"/>
            <a:r>
              <a:t>正文级别 4</a:t>
            </a:r>
          </a:p>
          <a:p>
            <a:pPr lvl="4"/>
            <a:r>
              <a:t>正文级别 5</a:t>
            </a:r>
          </a:p>
        </p:txBody>
      </p:sp>
      <p:sp>
        <p:nvSpPr>
          <p:cNvPr id="74" name="Text Placeholder 3"/>
          <p:cNvSpPr/>
          <p:nvPr>
            <p:ph type="body" sz="quarter" idx="21"/>
          </p:nvPr>
        </p:nvSpPr>
        <p:spPr>
          <a:xfrm>
            <a:off x="839787" y="2057400"/>
            <a:ext cx="3932238" cy="3811588"/>
          </a:xfrm>
          <a:prstGeom prst="rect">
            <a:avLst/>
          </a:prstGeom>
        </p:spPr>
        <p:txBody>
          <a:bodyPr/>
          <a:lstStyle/>
          <a:p>
            <a:pPr marL="0" indent="0">
              <a:buSzTx/>
              <a:buFontTx/>
              <a:buNone/>
              <a:defRPr sz="1600"/>
            </a:pPr>
          </a:p>
        </p:txBody>
      </p:sp>
      <p:sp>
        <p:nvSpPr>
          <p:cNvPr id="75" name="幻灯片编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图片与标题">
    <p:spTree>
      <p:nvGrpSpPr>
        <p:cNvPr id="1" name=""/>
        <p:cNvGrpSpPr/>
        <p:nvPr/>
      </p:nvGrpSpPr>
      <p:grpSpPr>
        <a:xfrm>
          <a:off x="0" y="0"/>
          <a:ext cx="0" cy="0"/>
          <a:chOff x="0" y="0"/>
          <a:chExt cx="0" cy="0"/>
        </a:xfrm>
      </p:grpSpPr>
      <p:sp>
        <p:nvSpPr>
          <p:cNvPr id="82" name="标题文本"/>
          <p:cNvSpPr txBox="1"/>
          <p:nvPr>
            <p:ph type="title"/>
          </p:nvPr>
        </p:nvSpPr>
        <p:spPr>
          <a:xfrm>
            <a:off x="839787" y="457200"/>
            <a:ext cx="3932239" cy="1600200"/>
          </a:xfrm>
          <a:prstGeom prst="rect">
            <a:avLst/>
          </a:prstGeom>
        </p:spPr>
        <p:txBody>
          <a:bodyPr anchor="b"/>
          <a:lstStyle>
            <a:lvl1pPr>
              <a:defRPr sz="3200"/>
            </a:lvl1pPr>
          </a:lstStyle>
          <a:p>
            <a:pPr/>
            <a:r>
              <a:t>标题文本</a:t>
            </a:r>
          </a:p>
        </p:txBody>
      </p:sp>
      <p:sp>
        <p:nvSpPr>
          <p:cNvPr id="83" name="Picture Placeholder 2"/>
          <p:cNvSpPr/>
          <p:nvPr>
            <p:ph type="pic" sz="half" idx="21"/>
          </p:nvPr>
        </p:nvSpPr>
        <p:spPr>
          <a:xfrm>
            <a:off x="5183187" y="987427"/>
            <a:ext cx="6172201" cy="4873626"/>
          </a:xfrm>
          <a:prstGeom prst="rect">
            <a:avLst/>
          </a:prstGeom>
        </p:spPr>
        <p:txBody>
          <a:bodyPr lIns="91439" rIns="91439">
            <a:noAutofit/>
          </a:bodyPr>
          <a:lstStyle/>
          <a:p>
            <a:pPr/>
          </a:p>
        </p:txBody>
      </p:sp>
      <p:sp>
        <p:nvSpPr>
          <p:cNvPr id="84" name="正文级别 1…"/>
          <p:cNvSpPr txBox="1"/>
          <p:nvPr>
            <p:ph type="body" sz="quarter" idx="1"/>
          </p:nvPr>
        </p:nvSpPr>
        <p:spPr>
          <a:xfrm>
            <a:off x="839787" y="2057400"/>
            <a:ext cx="3932239" cy="3811588"/>
          </a:xfrm>
          <a:prstGeom prst="rect">
            <a:avLst/>
          </a:prstGeom>
        </p:spPr>
        <p:txBody>
          <a:bodyPr/>
          <a:lstStyle>
            <a:lvl1pPr marL="0" indent="0">
              <a:buSzTx/>
              <a:buFontTx/>
              <a:buNone/>
              <a:defRPr sz="1600"/>
            </a:lvl1pPr>
            <a:lvl2pPr marL="0" indent="457200">
              <a:buSzTx/>
              <a:buFontTx/>
              <a:buNone/>
              <a:defRPr sz="1600"/>
            </a:lvl2pPr>
            <a:lvl3pPr marL="0" indent="914400">
              <a:buSzTx/>
              <a:buFontTx/>
              <a:buNone/>
              <a:defRPr sz="1600"/>
            </a:lvl3pPr>
            <a:lvl4pPr marL="0" indent="1371600">
              <a:buSzTx/>
              <a:buFontTx/>
              <a:buNone/>
              <a:defRPr sz="1600"/>
            </a:lvl4pPr>
            <a:lvl5pPr marL="0" indent="1828800">
              <a:buSzTx/>
              <a:buFontTx/>
              <a:buNone/>
              <a:defRPr sz="1600"/>
            </a:lvl5pPr>
          </a:lstStyle>
          <a:p>
            <a:pPr/>
            <a:r>
              <a:t>正文级别 1</a:t>
            </a:r>
          </a:p>
          <a:p>
            <a:pPr lvl="1"/>
            <a:r>
              <a:t>正文级别 2</a:t>
            </a:r>
          </a:p>
          <a:p>
            <a:pPr lvl="2"/>
            <a:r>
              <a:t>正文级别 3</a:t>
            </a:r>
          </a:p>
          <a:p>
            <a:pPr lvl="3"/>
            <a:r>
              <a:t>正文级别 4</a:t>
            </a:r>
          </a:p>
          <a:p>
            <a:pPr lvl="4"/>
            <a:r>
              <a:t>正文级别 5</a:t>
            </a:r>
          </a:p>
        </p:txBody>
      </p:sp>
      <p:sp>
        <p:nvSpPr>
          <p:cNvPr id="85" name="幻灯片编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标题文本"/>
          <p:cNvSpPr txBox="1"/>
          <p:nvPr>
            <p:ph type="title"/>
          </p:nvPr>
        </p:nvSpPr>
        <p:spPr>
          <a:xfrm>
            <a:off x="838200" y="365127"/>
            <a:ext cx="10515600" cy="1325563"/>
          </a:xfrm>
          <a:prstGeom prst="rect">
            <a:avLst/>
          </a:prstGeom>
          <a:ln w="12700">
            <a:miter lim="400000"/>
          </a:ln>
          <a:extLst>
            <a:ext uri="{C572A759-6A51-4108-AA02-DFA0A04FC94B}">
              <ma14:wrappingTextBoxFlag xmlns:ma14="http://schemas.microsoft.com/office/mac/drawingml/2011/main" val="1"/>
            </a:ext>
          </a:extLst>
        </p:spPr>
        <p:txBody>
          <a:bodyPr lIns="45719" rIns="45719" anchor="ctr">
            <a:normAutofit fontScale="100000" lnSpcReduction="0"/>
          </a:bodyPr>
          <a:lstStyle/>
          <a:p>
            <a:pPr/>
            <a:r>
              <a:t>标题文本</a:t>
            </a:r>
          </a:p>
        </p:txBody>
      </p:sp>
      <p:sp>
        <p:nvSpPr>
          <p:cNvPr id="3" name="正文级别 1…"/>
          <p:cNvSpPr txBox="1"/>
          <p:nvPr>
            <p:ph type="body" idx="1"/>
          </p:nvPr>
        </p:nvSpPr>
        <p:spPr>
          <a:xfrm>
            <a:off x="838200" y="1825625"/>
            <a:ext cx="10515600" cy="4351338"/>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a:r>
              <a:t>正文级别 1</a:t>
            </a:r>
          </a:p>
          <a:p>
            <a:pPr lvl="1"/>
            <a:r>
              <a:t>正文级别 2</a:t>
            </a:r>
          </a:p>
          <a:p>
            <a:pPr lvl="2"/>
            <a:r>
              <a:t>正文级别 3</a:t>
            </a:r>
          </a:p>
          <a:p>
            <a:pPr lvl="3"/>
            <a:r>
              <a:t>正文级别 4</a:t>
            </a:r>
          </a:p>
          <a:p>
            <a:pPr lvl="4"/>
            <a:r>
              <a:t>正文级别 5</a:t>
            </a:r>
          </a:p>
        </p:txBody>
      </p:sp>
      <p:sp>
        <p:nvSpPr>
          <p:cNvPr id="4" name="幻灯片编号"/>
          <p:cNvSpPr txBox="1"/>
          <p:nvPr>
            <p:ph type="sldNum" sz="quarter" idx="2"/>
          </p:nvPr>
        </p:nvSpPr>
        <p:spPr>
          <a:xfrm>
            <a:off x="11095176" y="6414761"/>
            <a:ext cx="258624" cy="248306"/>
          </a:xfrm>
          <a:prstGeom prst="rect">
            <a:avLst/>
          </a:prstGeom>
          <a:ln w="12700">
            <a:miter lim="400000"/>
          </a:ln>
        </p:spPr>
        <p:txBody>
          <a:bodyPr wrap="none" lIns="45719" rIns="45719" anchor="ctr">
            <a:spAutoFit/>
          </a:bodyPr>
          <a:lstStyle>
            <a:lvl1pPr algn="r">
              <a:defRPr sz="1200">
                <a:solidFill>
                  <a:srgbClr val="888888"/>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transition xmlns:p14="http://schemas.microsoft.com/office/powerpoint/2010/main" spd="med" advClick="1"/>
  <p:txStyles>
    <p:titleStyle>
      <a:lvl1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228600" marR="0" indent="-228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Calibri"/>
          <a:ea typeface="Calibri"/>
          <a:cs typeface="Calibri"/>
          <a:sym typeface="Calibri"/>
        </a:defRPr>
      </a:lvl1pPr>
      <a:lvl2pPr marL="723900" marR="0" indent="-2667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Calibri"/>
          <a:ea typeface="Calibri"/>
          <a:cs typeface="Calibri"/>
          <a:sym typeface="Calibri"/>
        </a:defRPr>
      </a:lvl2pPr>
      <a:lvl3pPr marL="1234439" marR="0" indent="-320039"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Calibri"/>
          <a:ea typeface="Calibri"/>
          <a:cs typeface="Calibri"/>
          <a:sym typeface="Calibri"/>
        </a:defRPr>
      </a:lvl3pPr>
      <a:lvl4pPr marL="17272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Calibri"/>
          <a:ea typeface="Calibri"/>
          <a:cs typeface="Calibri"/>
          <a:sym typeface="Calibri"/>
        </a:defRPr>
      </a:lvl4pPr>
      <a:lvl5pPr marL="21844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Calibri"/>
          <a:ea typeface="Calibri"/>
          <a:cs typeface="Calibri"/>
          <a:sym typeface="Calibri"/>
        </a:defRPr>
      </a:lvl5pPr>
      <a:lvl6pPr marL="26416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Calibri"/>
          <a:ea typeface="Calibri"/>
          <a:cs typeface="Calibri"/>
          <a:sym typeface="Calibri"/>
        </a:defRPr>
      </a:lvl6pPr>
      <a:lvl7pPr marL="30988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Calibri"/>
          <a:ea typeface="Calibri"/>
          <a:cs typeface="Calibri"/>
          <a:sym typeface="Calibri"/>
        </a:defRPr>
      </a:lvl7pPr>
      <a:lvl8pPr marL="35560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Calibri"/>
          <a:ea typeface="Calibri"/>
          <a:cs typeface="Calibri"/>
          <a:sym typeface="Calibri"/>
        </a:defRPr>
      </a:lvl8pPr>
      <a:lvl9pPr marL="40132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Calibri"/>
          <a:ea typeface="Calibri"/>
          <a:cs typeface="Calibri"/>
          <a:sym typeface="Calibri"/>
        </a:defRPr>
      </a:lvl9pPr>
    </p:bodyStyle>
    <p:otherStyle>
      <a:lvl1pPr marL="0" marR="0" indent="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hyperlink" Target="https://nic.seu.edu.cn/fwzn/rjzbh/wrzbh1.htm" TargetMode="External"/></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 Id="rId3" Type="http://schemas.openxmlformats.org/officeDocument/2006/relationships/image" Target="../media/image11.png"/></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hyperlink" Target="https://nic.seu.edu.cn/fwzn/rjzbh/wrzbh1/jhjjfa.htm" TargetMode="External"/><Relationship Id="rId5" Type="http://schemas.openxmlformats.org/officeDocument/2006/relationships/image" Target="../media/image14.png"/><Relationship Id="rId6" Type="http://schemas.openxmlformats.org/officeDocument/2006/relationships/image" Target="../media/image15.png"/></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hyperlink" Target="https://www.mysql.com/" TargetMode="External"/><Relationship Id="rId4" Type="http://schemas.openxmlformats.org/officeDocument/2006/relationships/image" Target="../media/image16.png"/></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hyperlink" Target="https://sqlite.org/index.html" TargetMode="External"/><Relationship Id="rId4" Type="http://schemas.openxmlformats.org/officeDocument/2006/relationships/image" Target="../media/image17.png"/></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hyperlink" Target="https://redis.io/" TargetMode="External"/><Relationship Id="rId4" Type="http://schemas.openxmlformats.org/officeDocument/2006/relationships/image" Target="../media/image18.png"/></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hyperlink" Target="https://neo4j.com/" TargetMode="External"/><Relationship Id="rId4" Type="http://schemas.openxmlformats.org/officeDocument/2006/relationships/image" Target="../media/image19.png"/></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hyperlink" Target="https://orientdb.com/" TargetMode="External"/><Relationship Id="rId4" Type="http://schemas.openxmlformats.org/officeDocument/2006/relationships/image" Target="../media/image20.png"/></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hyperlink" Target="https://www.phpmyadmin.net/" TargetMode="External"/><Relationship Id="rId4" Type="http://schemas.openxmlformats.org/officeDocument/2006/relationships/image" Target="../media/image21.png"/></Relationships>

</file>

<file path=ppt/slides/_rels/slide2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hyperlink" Target="https://www.oracle.com/database/technologies/appdev/sqldeveloper-landing.html" TargetMode="External"/><Relationship Id="rId4" Type="http://schemas.openxmlformats.org/officeDocument/2006/relationships/image" Target="../media/image22.png"/></Relationships>

</file>

<file path=ppt/slides/_rels/slide22.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s>

</file>

<file path=ppt/slides/_rels/slide2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6.png"/></Relationships>

</file>

<file path=ppt/slides/_rels/slide2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2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1.gif"/></Relationships>

</file>

<file path=ppt/slides/_rels/slide2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9.png"/></Relationships>

</file>

<file path=ppt/slides/_rels/slide2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30.png"/></Relationships>

</file>

<file path=ppt/slides/_rels/slide2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31.png"/></Relationships>

</file>

<file path=ppt/slides/_rels/slide30.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2.png"/></Relationships>

</file>

<file path=ppt/slides/_rels/slide35.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3.png"/><Relationship Id="rId3" Type="http://schemas.openxmlformats.org/officeDocument/2006/relationships/image" Target="../media/image34.png"/><Relationship Id="rId4" Type="http://schemas.openxmlformats.org/officeDocument/2006/relationships/image" Target="../media/image35.png"/><Relationship Id="rId5" Type="http://schemas.openxmlformats.org/officeDocument/2006/relationships/hyperlink" Target="https://www.quackit.com/microsoft_access/microsoft_access_2016/tutorial/" TargetMode="External"/></Relationships>

</file>

<file path=ppt/slides/_rels/slide3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6.png"/></Relationships>

</file>

<file path=ppt/slides/_rels/slide3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37.png"/></Relationships>

</file>

<file path=ppt/slides/_rels/slide3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8.png"/></Relationships>

</file>

<file path=ppt/slides/_rels/slide4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9.png"/><Relationship Id="rId3" Type="http://schemas.openxmlformats.org/officeDocument/2006/relationships/image" Target="../media/image40.png"/><Relationship Id="rId4" Type="http://schemas.openxmlformats.org/officeDocument/2006/relationships/image" Target="../media/image41.png"/><Relationship Id="rId5" Type="http://schemas.openxmlformats.org/officeDocument/2006/relationships/image" Target="../media/image42.png"/><Relationship Id="rId6" Type="http://schemas.openxmlformats.org/officeDocument/2006/relationships/image" Target="../media/image43.png"/></Relationships>

</file>

<file path=ppt/slides/_rels/slide4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4.png"/></Relationships>

</file>

<file path=ppt/slides/_rels/slide42.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4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5.png"/></Relationships>

</file>

<file path=ppt/slides/_rels/slide45.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4" name="Rectangle 9"/>
          <p:cNvSpPr txBox="1"/>
          <p:nvPr/>
        </p:nvSpPr>
        <p:spPr>
          <a:xfrm>
            <a:off x="1394460" y="2111998"/>
            <a:ext cx="9403080" cy="93537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6000">
                <a:solidFill>
                  <a:srgbClr val="33339B"/>
                </a:solidFill>
                <a:latin typeface="Times New Roman"/>
                <a:ea typeface="Times New Roman"/>
                <a:cs typeface="Times New Roman"/>
                <a:sym typeface="Times New Roman"/>
              </a:defRPr>
            </a:lvl1pPr>
          </a:lstStyle>
          <a:p>
            <a:pPr/>
            <a:r>
              <a:t>Projects of DataBase System </a:t>
            </a:r>
          </a:p>
        </p:txBody>
      </p:sp>
      <p:sp>
        <p:nvSpPr>
          <p:cNvPr id="95" name="文本框 10"/>
          <p:cNvSpPr txBox="1"/>
          <p:nvPr/>
        </p:nvSpPr>
        <p:spPr>
          <a:xfrm>
            <a:off x="4176452" y="4571381"/>
            <a:ext cx="3537757" cy="66676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4000">
                <a:latin typeface="Times New Roman"/>
                <a:ea typeface="Times New Roman"/>
                <a:cs typeface="Times New Roman"/>
                <a:sym typeface="Times New Roman"/>
              </a:defRPr>
            </a:lvl1pPr>
          </a:lstStyle>
          <a:p>
            <a:pPr/>
            <a:r>
              <a:t>TA: Hao Gong</a:t>
            </a:r>
          </a:p>
        </p:txBody>
      </p:sp>
      <p:sp>
        <p:nvSpPr>
          <p:cNvPr id="96" name="文本框 3"/>
          <p:cNvSpPr txBox="1"/>
          <p:nvPr/>
        </p:nvSpPr>
        <p:spPr>
          <a:xfrm>
            <a:off x="3440081" y="3495578"/>
            <a:ext cx="5263344" cy="66676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4000">
                <a:latin typeface="Times New Roman"/>
                <a:ea typeface="Times New Roman"/>
                <a:cs typeface="Times New Roman"/>
                <a:sym typeface="Times New Roman"/>
              </a:defRPr>
            </a:lvl1pPr>
          </a:lstStyle>
          <a:p>
            <a:pPr/>
            <a:r>
              <a:t>Lecturer: Shuai Wang</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8" name="灯片编号占位符 1"/>
          <p:cNvSpPr txBox="1"/>
          <p:nvPr>
            <p:ph type="sldNum" sz="quarter" idx="2"/>
          </p:nvPr>
        </p:nvSpPr>
        <p:spPr>
          <a:xfrm>
            <a:off x="10190101" y="6093659"/>
            <a:ext cx="174946" cy="225709"/>
          </a:xfrm>
          <a:prstGeom prst="rect">
            <a:avLst/>
          </a:prstGeom>
          <a:extLst>
            <a:ext uri="{C572A759-6A51-4108-AA02-DFA0A04FC94B}">
              <ma14:wrappingTextBoxFlag xmlns:ma14="http://schemas.microsoft.com/office/mac/drawingml/2011/main" val="1"/>
            </a:ext>
          </a:extLst>
        </p:spPr>
        <p:txBody>
          <a:bodyPr/>
          <a:lstStyle>
            <a:lvl1pPr algn="l">
              <a:defRPr sz="1100"/>
            </a:lvl1pPr>
          </a:lstStyle>
          <a:p>
            <a:pPr/>
            <a:fld id="{86CB4B4D-7CA3-9044-876B-883B54F8677D}" type="slidenum"/>
          </a:p>
        </p:txBody>
      </p:sp>
      <p:sp>
        <p:nvSpPr>
          <p:cNvPr id="99" name="Rectangle 9"/>
          <p:cNvSpPr txBox="1"/>
          <p:nvPr/>
        </p:nvSpPr>
        <p:spPr>
          <a:xfrm>
            <a:off x="1289737" y="1366496"/>
            <a:ext cx="7212878" cy="849707"/>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5400">
                <a:solidFill>
                  <a:srgbClr val="C00000"/>
                </a:solidFill>
                <a:latin typeface="Times New Roman"/>
                <a:ea typeface="Times New Roman"/>
                <a:cs typeface="Times New Roman"/>
                <a:sym typeface="Times New Roman"/>
              </a:defRPr>
            </a:lvl1pPr>
          </a:lstStyle>
          <a:p>
            <a:pPr/>
            <a:r>
              <a:t>0 - Project Preparation</a:t>
            </a:r>
          </a:p>
        </p:txBody>
      </p:sp>
      <p:sp>
        <p:nvSpPr>
          <p:cNvPr id="100" name="Rectangle 9"/>
          <p:cNvSpPr txBox="1"/>
          <p:nvPr/>
        </p:nvSpPr>
        <p:spPr>
          <a:xfrm>
            <a:off x="1289737" y="2039416"/>
            <a:ext cx="7212878" cy="84970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5400">
                <a:solidFill>
                  <a:schemeClr val="accent3"/>
                </a:solidFill>
                <a:latin typeface="Times New Roman"/>
                <a:ea typeface="Times New Roman"/>
                <a:cs typeface="Times New Roman"/>
                <a:sym typeface="Times New Roman"/>
              </a:defRPr>
            </a:lvl1pPr>
          </a:lstStyle>
          <a:p>
            <a:pPr/>
            <a:r>
              <a:t>1 - Project One</a:t>
            </a:r>
          </a:p>
        </p:txBody>
      </p:sp>
      <p:sp>
        <p:nvSpPr>
          <p:cNvPr id="101" name="Rectangle 9"/>
          <p:cNvSpPr txBox="1"/>
          <p:nvPr/>
        </p:nvSpPr>
        <p:spPr>
          <a:xfrm>
            <a:off x="1289737" y="2712337"/>
            <a:ext cx="7212878" cy="84970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5400">
                <a:solidFill>
                  <a:schemeClr val="accent3"/>
                </a:solidFill>
                <a:latin typeface="Times New Roman"/>
                <a:ea typeface="Times New Roman"/>
                <a:cs typeface="Times New Roman"/>
                <a:sym typeface="Times New Roman"/>
              </a:defRPr>
            </a:lvl1pPr>
          </a:lstStyle>
          <a:p>
            <a:pPr/>
            <a:r>
              <a:t>2 - Project Two</a:t>
            </a:r>
          </a:p>
        </p:txBody>
      </p:sp>
      <p:sp>
        <p:nvSpPr>
          <p:cNvPr id="102" name="Rectangle 9"/>
          <p:cNvSpPr txBox="1"/>
          <p:nvPr/>
        </p:nvSpPr>
        <p:spPr>
          <a:xfrm>
            <a:off x="1289737" y="3385258"/>
            <a:ext cx="7212878" cy="84970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5400">
                <a:solidFill>
                  <a:schemeClr val="accent3"/>
                </a:solidFill>
                <a:latin typeface="Times New Roman"/>
                <a:ea typeface="Times New Roman"/>
                <a:cs typeface="Times New Roman"/>
                <a:sym typeface="Times New Roman"/>
              </a:defRPr>
            </a:lvl1pPr>
          </a:lstStyle>
          <a:p>
            <a:pPr/>
            <a:r>
              <a:t>3 - Project Three</a:t>
            </a:r>
          </a:p>
        </p:txBody>
      </p:sp>
      <p:sp>
        <p:nvSpPr>
          <p:cNvPr id="103" name="Rectangle 9"/>
          <p:cNvSpPr txBox="1"/>
          <p:nvPr/>
        </p:nvSpPr>
        <p:spPr>
          <a:xfrm>
            <a:off x="1289737" y="4058179"/>
            <a:ext cx="7212878" cy="84970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5400">
                <a:solidFill>
                  <a:schemeClr val="accent3"/>
                </a:solidFill>
                <a:latin typeface="Times New Roman"/>
                <a:ea typeface="Times New Roman"/>
                <a:cs typeface="Times New Roman"/>
                <a:sym typeface="Times New Roman"/>
              </a:defRPr>
            </a:lvl1pPr>
          </a:lstStyle>
          <a:p>
            <a:pPr/>
            <a:r>
              <a:t>4 - Project Four</a:t>
            </a:r>
          </a:p>
        </p:txBody>
      </p:sp>
      <p:sp>
        <p:nvSpPr>
          <p:cNvPr id="104" name="Rectangle 9"/>
          <p:cNvSpPr txBox="1"/>
          <p:nvPr/>
        </p:nvSpPr>
        <p:spPr>
          <a:xfrm>
            <a:off x="1289737" y="4731101"/>
            <a:ext cx="7212878" cy="84970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5400">
                <a:solidFill>
                  <a:schemeClr val="accent3"/>
                </a:solidFill>
                <a:latin typeface="Times New Roman"/>
                <a:ea typeface="Times New Roman"/>
                <a:cs typeface="Times New Roman"/>
                <a:sym typeface="Times New Roman"/>
              </a:defRPr>
            </a:lvl1pPr>
          </a:lstStyle>
          <a:p>
            <a:pPr/>
            <a:r>
              <a:t>5 - Project Five</a:t>
            </a:r>
          </a:p>
        </p:txBody>
      </p:sp>
      <p:sp>
        <p:nvSpPr>
          <p:cNvPr id="105" name="Rectangle 9"/>
          <p:cNvSpPr/>
          <p:nvPr/>
        </p:nvSpPr>
        <p:spPr>
          <a:xfrm>
            <a:off x="7254593" y="3587408"/>
            <a:ext cx="4144234" cy="743978"/>
          </a:xfrm>
          <a:prstGeom prst="rect">
            <a:avLst/>
          </a:prstGeom>
          <a:ln w="28575">
            <a:solidFill>
              <a:srgbClr val="000000"/>
            </a:solidFill>
          </a:ln>
          <a:effectLst>
            <a:outerShdw sx="100000" sy="100000" kx="0" ky="0" algn="b" rotWithShape="0" blurRad="50800" dist="38100" dir="2700000">
              <a:srgbClr val="000000">
                <a:alpha val="40000"/>
              </a:srgbClr>
            </a:outerShdw>
          </a:effectLst>
          <a:extLst>
            <a:ext uri="{C572A759-6A51-4108-AA02-DFA0A04FC94B}">
              <ma14:wrappingTextBoxFlag xmlns:ma14="http://schemas.microsoft.com/office/mac/drawingml/2011/main" val="1"/>
            </a:ext>
          </a:extLst>
        </p:spPr>
        <p:txBody>
          <a:bodyPr lIns="45719" rIns="45719">
            <a:spAutoFit/>
          </a:bodyPr>
          <a:lstStyle>
            <a:lvl1pPr algn="ctr">
              <a:defRPr b="1" sz="4400">
                <a:latin typeface="Times New Roman"/>
                <a:ea typeface="Times New Roman"/>
                <a:cs typeface="Times New Roman"/>
                <a:sym typeface="Times New Roman"/>
              </a:defRPr>
            </a:lvl1pPr>
          </a:lstStyle>
          <a:p>
            <a:pPr/>
            <a:r>
              <a:t>Every 2 Week</a:t>
            </a:r>
          </a:p>
        </p:txBody>
      </p:sp>
      <p:sp>
        <p:nvSpPr>
          <p:cNvPr id="106" name="Rectangle 9"/>
          <p:cNvSpPr txBox="1"/>
          <p:nvPr/>
        </p:nvSpPr>
        <p:spPr>
          <a:xfrm>
            <a:off x="531892" y="205503"/>
            <a:ext cx="5941500" cy="93537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6000">
                <a:solidFill>
                  <a:srgbClr val="33339B"/>
                </a:solidFill>
                <a:latin typeface="Times New Roman"/>
                <a:ea typeface="Times New Roman"/>
                <a:cs typeface="Times New Roman"/>
                <a:sym typeface="Times New Roman"/>
              </a:defRPr>
            </a:lvl1pPr>
          </a:lstStyle>
          <a:p>
            <a:pPr/>
            <a:r>
              <a:t>Projects Outline</a:t>
            </a:r>
          </a:p>
        </p:txBody>
      </p:sp>
      <p:sp>
        <p:nvSpPr>
          <p:cNvPr id="107" name="Rectangle 9"/>
          <p:cNvSpPr txBox="1"/>
          <p:nvPr/>
        </p:nvSpPr>
        <p:spPr>
          <a:xfrm>
            <a:off x="1289737" y="5491503"/>
            <a:ext cx="7212878" cy="84970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5400">
                <a:solidFill>
                  <a:schemeClr val="accent3"/>
                </a:solidFill>
                <a:latin typeface="Times New Roman"/>
                <a:ea typeface="Times New Roman"/>
                <a:cs typeface="Times New Roman"/>
                <a:sym typeface="Times New Roman"/>
              </a:defRPr>
            </a:lvl1pPr>
          </a:lstStyle>
          <a:p>
            <a:pPr/>
            <a:r>
              <a:t>6 - Project Six</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1" name="灯片编号占位符 1"/>
          <p:cNvSpPr txBox="1"/>
          <p:nvPr>
            <p:ph type="sldNum" sz="quarter" idx="2"/>
          </p:nvPr>
        </p:nvSpPr>
        <p:spPr>
          <a:xfrm>
            <a:off x="8610600" y="6199592"/>
            <a:ext cx="181382" cy="248306"/>
          </a:xfrm>
          <a:prstGeom prst="rect">
            <a:avLst/>
          </a:prstGeom>
          <a:extLst>
            <a:ext uri="{C572A759-6A51-4108-AA02-DFA0A04FC94B}">
              <ma14:wrappingTextBoxFlag xmlns:ma14="http://schemas.microsoft.com/office/mac/drawingml/2011/main" val="1"/>
            </a:ext>
          </a:extLst>
        </p:spPr>
        <p:txBody>
          <a:bodyPr/>
          <a:lstStyle>
            <a:lvl1pPr algn="l"/>
          </a:lstStyle>
          <a:p>
            <a:pPr/>
            <a:fld id="{86CB4B4D-7CA3-9044-876B-883B54F8677D}" type="slidenum"/>
          </a:p>
        </p:txBody>
      </p:sp>
      <p:sp>
        <p:nvSpPr>
          <p:cNvPr id="112" name="Rectangle 9"/>
          <p:cNvSpPr txBox="1"/>
          <p:nvPr/>
        </p:nvSpPr>
        <p:spPr>
          <a:xfrm>
            <a:off x="883919" y="1432200"/>
            <a:ext cx="9469612" cy="455876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1028700" indent="-1028700">
              <a:buSzPct val="100000"/>
              <a:buAutoNum type="romanUcPeriod" startAt="1"/>
              <a:defRPr sz="6000" u="sng">
                <a:solidFill>
                  <a:srgbClr val="181717"/>
                </a:solidFill>
                <a:effectLst>
                  <a:outerShdw sx="100000" sy="100000" kx="0" ky="0" algn="b" rotWithShape="0" blurRad="38100" dist="38100" dir="2700000">
                    <a:srgbClr val="000000">
                      <a:alpha val="43137"/>
                    </a:srgbClr>
                  </a:outerShdw>
                </a:effectLst>
                <a:latin typeface="Calibri Light"/>
                <a:ea typeface="Calibri Light"/>
                <a:cs typeface="Calibri Light"/>
                <a:sym typeface="Calibri Light"/>
              </a:defRPr>
            </a:pPr>
            <a:r>
              <a:t>Project Rules</a:t>
            </a:r>
          </a:p>
          <a:p>
            <a:pPr marL="1028700" indent="-1028700">
              <a:buSzPct val="100000"/>
              <a:buAutoNum type="romanUcPeriod" startAt="1"/>
              <a:defRPr sz="6000">
                <a:solidFill>
                  <a:srgbClr val="808080"/>
                </a:solidFill>
                <a:latin typeface="Calibri Light"/>
                <a:ea typeface="Calibri Light"/>
                <a:cs typeface="Calibri Light"/>
                <a:sym typeface="Calibri Light"/>
              </a:defRPr>
            </a:pPr>
            <a:r>
              <a:t>Software Preparation</a:t>
            </a:r>
          </a:p>
          <a:p>
            <a:pPr marL="1028700" indent="-1028700">
              <a:buSzPct val="100000"/>
              <a:buAutoNum type="romanUcPeriod" startAt="1"/>
              <a:defRPr sz="6000">
                <a:solidFill>
                  <a:srgbClr val="808080"/>
                </a:solidFill>
                <a:latin typeface="Calibri Light"/>
                <a:ea typeface="Calibri Light"/>
                <a:cs typeface="Calibri Light"/>
                <a:sym typeface="Calibri Light"/>
              </a:defRPr>
            </a:pPr>
            <a:r>
              <a:t>Some Common DBMS</a:t>
            </a:r>
          </a:p>
          <a:p>
            <a:pPr marL="1028700" indent="-1028700">
              <a:buSzPct val="100000"/>
              <a:buAutoNum type="romanUcPeriod" startAt="1"/>
              <a:defRPr sz="6000">
                <a:solidFill>
                  <a:srgbClr val="808080"/>
                </a:solidFill>
                <a:latin typeface="Calibri Light"/>
                <a:ea typeface="Calibri Light"/>
                <a:cs typeface="Calibri Light"/>
                <a:sym typeface="Calibri Light"/>
              </a:defRPr>
            </a:pPr>
            <a:r>
              <a:t>Frontend Technology</a:t>
            </a:r>
          </a:p>
          <a:p>
            <a:pPr marL="1028700" indent="-1028700">
              <a:buSzPct val="100000"/>
              <a:buAutoNum type="romanUcPeriod" startAt="1"/>
              <a:defRPr sz="6000">
                <a:solidFill>
                  <a:srgbClr val="808080"/>
                </a:solidFill>
                <a:latin typeface="Calibri Light"/>
                <a:ea typeface="Calibri Light"/>
                <a:cs typeface="Calibri Light"/>
                <a:sym typeface="Calibri Light"/>
              </a:defRPr>
            </a:pPr>
            <a:r>
              <a:t>Project One Preview</a:t>
            </a:r>
          </a:p>
        </p:txBody>
      </p:sp>
      <p:sp>
        <p:nvSpPr>
          <p:cNvPr id="113" name="Rectangle 9"/>
          <p:cNvSpPr txBox="1"/>
          <p:nvPr/>
        </p:nvSpPr>
        <p:spPr>
          <a:xfrm>
            <a:off x="2080891" y="161150"/>
            <a:ext cx="8866973" cy="1021034"/>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6600">
                <a:solidFill>
                  <a:srgbClr val="C00000"/>
                </a:solidFill>
                <a:latin typeface="Times New Roman"/>
                <a:ea typeface="Times New Roman"/>
                <a:cs typeface="Times New Roman"/>
                <a:sym typeface="Times New Roman"/>
              </a:defRPr>
            </a:lvl1pPr>
          </a:lstStyle>
          <a:p>
            <a:pPr/>
            <a:r>
              <a:t>0 - Project Preparation</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5" name="Rectangle 4"/>
          <p:cNvSpPr txBox="1"/>
          <p:nvPr/>
        </p:nvSpPr>
        <p:spPr>
          <a:xfrm>
            <a:off x="309842" y="1736167"/>
            <a:ext cx="9912824" cy="726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3600">
                <a:latin typeface="Times New Roman"/>
                <a:ea typeface="Times New Roman"/>
                <a:cs typeface="Times New Roman"/>
                <a:sym typeface="Times New Roman"/>
              </a:defRPr>
            </a:pPr>
            <a:r>
              <a:rPr>
                <a:latin typeface="DengXian"/>
                <a:ea typeface="DengXian"/>
                <a:cs typeface="DengXian"/>
                <a:sym typeface="DengXian"/>
              </a:rPr>
              <a:t>【</a:t>
            </a:r>
            <a:r>
              <a:t>Grading Criteria</a:t>
            </a:r>
            <a:r>
              <a:rPr>
                <a:latin typeface="DengXian"/>
                <a:ea typeface="DengXian"/>
                <a:cs typeface="DengXian"/>
                <a:sym typeface="DengXian"/>
              </a:rPr>
              <a:t>】</a:t>
            </a:r>
          </a:p>
        </p:txBody>
      </p:sp>
      <p:sp>
        <p:nvSpPr>
          <p:cNvPr id="116" name="Rectangle 9"/>
          <p:cNvSpPr txBox="1"/>
          <p:nvPr/>
        </p:nvSpPr>
        <p:spPr>
          <a:xfrm>
            <a:off x="531892" y="205503"/>
            <a:ext cx="5941500" cy="93537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6000">
                <a:solidFill>
                  <a:srgbClr val="33339B"/>
                </a:solidFill>
                <a:latin typeface="Times New Roman"/>
                <a:ea typeface="Times New Roman"/>
                <a:cs typeface="Times New Roman"/>
                <a:sym typeface="Times New Roman"/>
              </a:defRPr>
            </a:lvl1pPr>
          </a:lstStyle>
          <a:p>
            <a:pPr/>
            <a:r>
              <a:t>Project Rules</a:t>
            </a:r>
          </a:p>
        </p:txBody>
      </p:sp>
      <p:sp>
        <p:nvSpPr>
          <p:cNvPr id="117" name="文本框 5"/>
          <p:cNvSpPr txBox="1"/>
          <p:nvPr/>
        </p:nvSpPr>
        <p:spPr>
          <a:xfrm>
            <a:off x="531893" y="3244396"/>
            <a:ext cx="11705102" cy="1132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457200" indent="-457200">
              <a:spcBef>
                <a:spcPts val="600"/>
              </a:spcBef>
              <a:buSzPct val="100000"/>
              <a:buChar char="✓"/>
              <a:defRPr b="1" sz="3200">
                <a:latin typeface="微软雅黑"/>
                <a:ea typeface="微软雅黑"/>
                <a:cs typeface="微软雅黑"/>
                <a:sym typeface="微软雅黑"/>
              </a:defRPr>
            </a:pPr>
            <a:r>
              <a:t>Mid Exam + Lab Work + Others :</a:t>
            </a:r>
            <a:r>
              <a:rPr b="0"/>
              <a:t> 30% </a:t>
            </a:r>
            <a:endParaRPr b="0"/>
          </a:p>
          <a:p>
            <a:pPr marL="457200" indent="-457200">
              <a:spcBef>
                <a:spcPts val="600"/>
              </a:spcBef>
              <a:buSzPct val="100000"/>
              <a:buChar char="✓"/>
              <a:defRPr b="1" sz="3200">
                <a:latin typeface="微软雅黑"/>
                <a:ea typeface="微软雅黑"/>
                <a:cs typeface="微软雅黑"/>
                <a:sym typeface="微软雅黑"/>
              </a:defRPr>
            </a:pPr>
            <a:r>
              <a:t>Final Exam:</a:t>
            </a:r>
            <a:r>
              <a:t> </a:t>
            </a:r>
            <a:r>
              <a:rPr b="0"/>
              <a:t>70% </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9" name="Rectangle 4"/>
          <p:cNvSpPr txBox="1"/>
          <p:nvPr/>
        </p:nvSpPr>
        <p:spPr>
          <a:xfrm>
            <a:off x="309842" y="1699354"/>
            <a:ext cx="9912824" cy="726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3600">
                <a:latin typeface="Times New Roman"/>
                <a:ea typeface="Times New Roman"/>
                <a:cs typeface="Times New Roman"/>
                <a:sym typeface="Times New Roman"/>
              </a:defRPr>
            </a:pPr>
            <a:r>
              <a:rPr>
                <a:latin typeface="DengXian"/>
                <a:ea typeface="DengXian"/>
                <a:cs typeface="DengXian"/>
                <a:sym typeface="DengXian"/>
              </a:rPr>
              <a:t>【</a:t>
            </a:r>
            <a:r>
              <a:t>DeadLine</a:t>
            </a:r>
            <a:r>
              <a:rPr>
                <a:latin typeface="DengXian"/>
                <a:ea typeface="DengXian"/>
                <a:cs typeface="DengXian"/>
                <a:sym typeface="DengXian"/>
              </a:rPr>
              <a:t>】</a:t>
            </a:r>
          </a:p>
        </p:txBody>
      </p:sp>
      <p:sp>
        <p:nvSpPr>
          <p:cNvPr id="120" name="Rectangle 9"/>
          <p:cNvSpPr txBox="1"/>
          <p:nvPr/>
        </p:nvSpPr>
        <p:spPr>
          <a:xfrm>
            <a:off x="531892" y="205503"/>
            <a:ext cx="5941500" cy="93537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6000">
                <a:solidFill>
                  <a:srgbClr val="33339B"/>
                </a:solidFill>
                <a:latin typeface="Times New Roman"/>
                <a:ea typeface="Times New Roman"/>
                <a:cs typeface="Times New Roman"/>
                <a:sym typeface="Times New Roman"/>
              </a:defRPr>
            </a:lvl1pPr>
          </a:lstStyle>
          <a:p>
            <a:pPr/>
            <a:r>
              <a:t>Project Rules</a:t>
            </a:r>
          </a:p>
        </p:txBody>
      </p:sp>
      <p:sp>
        <p:nvSpPr>
          <p:cNvPr id="121" name="Rectangle 4"/>
          <p:cNvSpPr txBox="1"/>
          <p:nvPr/>
        </p:nvSpPr>
        <p:spPr>
          <a:xfrm>
            <a:off x="1200303" y="2823876"/>
            <a:ext cx="9539742" cy="60541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nSpc>
                <a:spcPct val="150000"/>
              </a:lnSpc>
              <a:defRPr b="1" sz="3600">
                <a:latin typeface="Times New Roman"/>
                <a:ea typeface="Times New Roman"/>
                <a:cs typeface="Times New Roman"/>
                <a:sym typeface="Times New Roman"/>
              </a:defRPr>
            </a:pPr>
            <a:r>
              <a:t>			</a:t>
            </a:r>
            <a:r>
              <a:rPr>
                <a:solidFill>
                  <a:srgbClr val="C00000"/>
                </a:solidFill>
              </a:rPr>
              <a:t>Before 23:59 of the next Project.</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5" name="Rectangle 9"/>
          <p:cNvSpPr txBox="1"/>
          <p:nvPr/>
        </p:nvSpPr>
        <p:spPr>
          <a:xfrm>
            <a:off x="531892" y="205503"/>
            <a:ext cx="5941500" cy="93537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6000">
                <a:solidFill>
                  <a:srgbClr val="33339B"/>
                </a:solidFill>
                <a:latin typeface="Times New Roman"/>
                <a:ea typeface="Times New Roman"/>
                <a:cs typeface="Times New Roman"/>
                <a:sym typeface="Times New Roman"/>
              </a:defRPr>
            </a:lvl1pPr>
          </a:lstStyle>
          <a:p>
            <a:pPr/>
            <a:r>
              <a:t>Project Rules</a:t>
            </a:r>
          </a:p>
        </p:txBody>
      </p:sp>
      <p:sp>
        <p:nvSpPr>
          <p:cNvPr id="126" name="Rectangle 4"/>
          <p:cNvSpPr txBox="1"/>
          <p:nvPr/>
        </p:nvSpPr>
        <p:spPr>
          <a:xfrm>
            <a:off x="309842" y="1551471"/>
            <a:ext cx="9912824" cy="726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3600">
                <a:latin typeface="Times New Roman"/>
                <a:ea typeface="Times New Roman"/>
                <a:cs typeface="Times New Roman"/>
                <a:sym typeface="Times New Roman"/>
              </a:defRPr>
            </a:pPr>
            <a:r>
              <a:rPr>
                <a:latin typeface="DengXian"/>
                <a:ea typeface="DengXian"/>
                <a:cs typeface="DengXian"/>
                <a:sym typeface="DengXian"/>
              </a:rPr>
              <a:t>【</a:t>
            </a:r>
            <a:r>
              <a:t>Grace Day Policy</a:t>
            </a:r>
            <a:r>
              <a:rPr>
                <a:latin typeface="DengXian"/>
                <a:ea typeface="DengXian"/>
                <a:cs typeface="DengXian"/>
                <a:sym typeface="DengXian"/>
              </a:rPr>
              <a:t>】</a:t>
            </a:r>
          </a:p>
        </p:txBody>
      </p:sp>
      <p:sp>
        <p:nvSpPr>
          <p:cNvPr id="127" name="文本框 4"/>
          <p:cNvSpPr txBox="1"/>
          <p:nvPr/>
        </p:nvSpPr>
        <p:spPr>
          <a:xfrm>
            <a:off x="531893" y="2528110"/>
            <a:ext cx="10616364" cy="263273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457200" indent="-457200">
              <a:lnSpc>
                <a:spcPct val="150000"/>
              </a:lnSpc>
              <a:buSzPct val="100000"/>
              <a:buFont typeface="Arial"/>
              <a:buChar char="•"/>
              <a:defRPr b="1" sz="3200">
                <a:latin typeface="Times New Roman"/>
                <a:ea typeface="Times New Roman"/>
                <a:cs typeface="Times New Roman"/>
                <a:sym typeface="Times New Roman"/>
              </a:defRPr>
            </a:pPr>
            <a:r>
              <a:t>If you have a Grace Day Policy, you can ask for a project to delay a day’s acceptance.  </a:t>
            </a:r>
          </a:p>
          <a:p>
            <a:pPr marL="457200" indent="-457200">
              <a:lnSpc>
                <a:spcPct val="150000"/>
              </a:lnSpc>
              <a:buSzPct val="100000"/>
              <a:buFont typeface="Arial"/>
              <a:buChar char="•"/>
              <a:defRPr b="1" sz="3200">
                <a:latin typeface="Times New Roman"/>
                <a:ea typeface="Times New Roman"/>
                <a:cs typeface="Times New Roman"/>
                <a:sym typeface="Times New Roman"/>
              </a:defRPr>
            </a:pPr>
            <a:r>
              <a:t>You can only use Grace Day Policy once in a project.  </a:t>
            </a:r>
          </a:p>
          <a:p>
            <a:pPr marL="457200" indent="-457200">
              <a:lnSpc>
                <a:spcPct val="150000"/>
              </a:lnSpc>
              <a:buSzPct val="100000"/>
              <a:buFont typeface="Arial"/>
              <a:buChar char="•"/>
              <a:defRPr b="1" sz="3200">
                <a:solidFill>
                  <a:srgbClr val="C00000"/>
                </a:solidFill>
                <a:latin typeface="Times New Roman"/>
                <a:ea typeface="Times New Roman"/>
                <a:cs typeface="Times New Roman"/>
                <a:sym typeface="Times New Roman"/>
              </a:defRPr>
            </a:pPr>
            <a:r>
              <a:t>Earn them from the class.</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1" name="Rectangle 9"/>
          <p:cNvSpPr txBox="1"/>
          <p:nvPr/>
        </p:nvSpPr>
        <p:spPr>
          <a:xfrm>
            <a:off x="531892" y="205503"/>
            <a:ext cx="5941500" cy="93537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6000">
                <a:solidFill>
                  <a:srgbClr val="33339B"/>
                </a:solidFill>
                <a:latin typeface="Times New Roman"/>
                <a:ea typeface="Times New Roman"/>
                <a:cs typeface="Times New Roman"/>
                <a:sym typeface="Times New Roman"/>
              </a:defRPr>
            </a:lvl1pPr>
          </a:lstStyle>
          <a:p>
            <a:pPr/>
            <a:r>
              <a:t>Project Rules</a:t>
            </a:r>
          </a:p>
        </p:txBody>
      </p:sp>
      <p:sp>
        <p:nvSpPr>
          <p:cNvPr id="132" name="Rectangle 4"/>
          <p:cNvSpPr txBox="1"/>
          <p:nvPr/>
        </p:nvSpPr>
        <p:spPr>
          <a:xfrm>
            <a:off x="320233" y="1478667"/>
            <a:ext cx="9912824" cy="726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3600">
                <a:latin typeface="Times New Roman"/>
                <a:ea typeface="Times New Roman"/>
                <a:cs typeface="Times New Roman"/>
                <a:sym typeface="Times New Roman"/>
              </a:defRPr>
            </a:pPr>
            <a:r>
              <a:rPr>
                <a:latin typeface="DengXian"/>
                <a:ea typeface="DengXian"/>
                <a:cs typeface="DengXian"/>
                <a:sym typeface="DengXian"/>
              </a:rPr>
              <a:t>【</a:t>
            </a:r>
            <a:r>
              <a:t>Submitt Assignment</a:t>
            </a:r>
            <a:r>
              <a:rPr>
                <a:latin typeface="DengXian"/>
                <a:ea typeface="DengXian"/>
                <a:cs typeface="DengXian"/>
                <a:sym typeface="DengXian"/>
              </a:rPr>
              <a:t>】</a:t>
            </a:r>
          </a:p>
        </p:txBody>
      </p:sp>
      <p:sp>
        <p:nvSpPr>
          <p:cNvPr id="133" name="文本框 4"/>
          <p:cNvSpPr txBox="1"/>
          <p:nvPr/>
        </p:nvSpPr>
        <p:spPr>
          <a:xfrm>
            <a:off x="694848" y="2206151"/>
            <a:ext cx="11125849" cy="3447813"/>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457200" indent="-457200">
              <a:lnSpc>
                <a:spcPct val="150000"/>
              </a:lnSpc>
              <a:buSzPct val="100000"/>
              <a:buFont typeface="Arial"/>
              <a:buChar char="•"/>
              <a:defRPr b="1" sz="3200">
                <a:latin typeface="Times New Roman"/>
                <a:ea typeface="Times New Roman"/>
                <a:cs typeface="Times New Roman"/>
                <a:sym typeface="Times New Roman"/>
              </a:defRPr>
            </a:pPr>
            <a:r>
              <a:t>Send the lab report and experimental results required by the project to the email address </a:t>
            </a:r>
            <a:r>
              <a:t>“</a:t>
            </a:r>
            <a:r>
              <a:rPr u="sng">
                <a:solidFill>
                  <a:srgbClr val="33339B"/>
                </a:solidFill>
              </a:rPr>
              <a:t>seudatabaseqa@gmail.com</a:t>
            </a:r>
            <a:r>
              <a:t>”</a:t>
            </a:r>
            <a:r>
              <a:t> with the title “</a:t>
            </a:r>
            <a:r>
              <a:rPr>
                <a:solidFill>
                  <a:srgbClr val="C00000"/>
                </a:solidFill>
              </a:rPr>
              <a:t>StudentNumber-Name-Project-X</a:t>
            </a:r>
            <a:r>
              <a:t>” and the lab report will be used as the basis for the rating. </a:t>
            </a:r>
          </a:p>
          <a:p>
            <a:pPr marL="457200" indent="-457200">
              <a:lnSpc>
                <a:spcPct val="150000"/>
              </a:lnSpc>
              <a:buSzPct val="100000"/>
              <a:buFont typeface="Arial"/>
              <a:buChar char="•"/>
              <a:defRPr b="1" sz="3200">
                <a:solidFill>
                  <a:srgbClr val="808080"/>
                </a:solidFill>
                <a:latin typeface="Times New Roman"/>
                <a:ea typeface="Times New Roman"/>
                <a:cs typeface="Times New Roman"/>
                <a:sym typeface="Times New Roman"/>
              </a:defRPr>
            </a:pPr>
            <a:r>
              <a:t>For Example</a:t>
            </a:r>
            <a:r>
              <a:rPr>
                <a:latin typeface="DengXian"/>
                <a:ea typeface="DengXian"/>
                <a:cs typeface="DengXian"/>
                <a:sym typeface="DengXian"/>
              </a:rPr>
              <a:t>：</a:t>
            </a:r>
            <a:r>
              <a:t>“</a:t>
            </a:r>
            <a:r>
              <a:t>71117315-</a:t>
            </a:r>
            <a:r>
              <a:rPr>
                <a:latin typeface="DengXian"/>
                <a:ea typeface="DengXian"/>
                <a:cs typeface="DengXian"/>
                <a:sym typeface="DengXian"/>
              </a:rPr>
              <a:t>凌泰炜</a:t>
            </a:r>
            <a:r>
              <a:t>-Project-1</a:t>
            </a:r>
            <a:r>
              <a:t>“</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7" name="灯片编号占位符 1"/>
          <p:cNvSpPr txBox="1"/>
          <p:nvPr>
            <p:ph type="sldNum" sz="quarter" idx="2"/>
          </p:nvPr>
        </p:nvSpPr>
        <p:spPr>
          <a:xfrm>
            <a:off x="8610600" y="6199592"/>
            <a:ext cx="181382" cy="248306"/>
          </a:xfrm>
          <a:prstGeom prst="rect">
            <a:avLst/>
          </a:prstGeom>
          <a:extLst>
            <a:ext uri="{C572A759-6A51-4108-AA02-DFA0A04FC94B}">
              <ma14:wrappingTextBoxFlag xmlns:ma14="http://schemas.microsoft.com/office/mac/drawingml/2011/main" val="1"/>
            </a:ext>
          </a:extLst>
        </p:spPr>
        <p:txBody>
          <a:bodyPr/>
          <a:lstStyle>
            <a:lvl1pPr algn="l"/>
          </a:lstStyle>
          <a:p>
            <a:pPr/>
            <a:fld id="{86CB4B4D-7CA3-9044-876B-883B54F8677D}" type="slidenum"/>
          </a:p>
        </p:txBody>
      </p:sp>
      <p:sp>
        <p:nvSpPr>
          <p:cNvPr id="138" name="Rectangle 9"/>
          <p:cNvSpPr txBox="1"/>
          <p:nvPr/>
        </p:nvSpPr>
        <p:spPr>
          <a:xfrm>
            <a:off x="1265927" y="1579345"/>
            <a:ext cx="10238539" cy="455876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1028700" indent="-1028700">
              <a:buSzPct val="100000"/>
              <a:buAutoNum type="romanUcPeriod" startAt="1"/>
              <a:defRPr sz="6000">
                <a:solidFill>
                  <a:srgbClr val="808080"/>
                </a:solidFill>
                <a:latin typeface="Calibri Light"/>
                <a:ea typeface="Calibri Light"/>
                <a:cs typeface="Calibri Light"/>
                <a:sym typeface="Calibri Light"/>
              </a:defRPr>
            </a:pPr>
            <a:r>
              <a:t>Project Rules</a:t>
            </a:r>
          </a:p>
          <a:p>
            <a:pPr marL="1028700" indent="-1028700">
              <a:buSzPct val="100000"/>
              <a:buAutoNum type="romanUcPeriod" startAt="1"/>
              <a:defRPr sz="6000" u="sng">
                <a:effectLst>
                  <a:outerShdw sx="100000" sy="100000" kx="0" ky="0" algn="b" rotWithShape="0" blurRad="38100" dist="38100" dir="2700000">
                    <a:srgbClr val="000000">
                      <a:alpha val="43137"/>
                    </a:srgbClr>
                  </a:outerShdw>
                </a:effectLst>
                <a:latin typeface="Calibri Light"/>
                <a:ea typeface="Calibri Light"/>
                <a:cs typeface="Calibri Light"/>
                <a:sym typeface="Calibri Light"/>
              </a:defRPr>
            </a:pPr>
            <a:r>
              <a:t>Software Preparation</a:t>
            </a:r>
          </a:p>
          <a:p>
            <a:pPr marL="1028700" indent="-1028700">
              <a:buSzPct val="100000"/>
              <a:buAutoNum type="romanUcPeriod" startAt="1"/>
              <a:defRPr sz="6000">
                <a:solidFill>
                  <a:srgbClr val="808080"/>
                </a:solidFill>
                <a:latin typeface="Calibri Light"/>
                <a:ea typeface="Calibri Light"/>
                <a:cs typeface="Calibri Light"/>
                <a:sym typeface="Calibri Light"/>
              </a:defRPr>
            </a:pPr>
            <a:r>
              <a:t>Some Common DBMS</a:t>
            </a:r>
          </a:p>
          <a:p>
            <a:pPr marL="1028700" indent="-1028700">
              <a:buSzPct val="100000"/>
              <a:buAutoNum type="romanUcPeriod" startAt="1"/>
              <a:defRPr sz="6000">
                <a:solidFill>
                  <a:srgbClr val="808080"/>
                </a:solidFill>
                <a:latin typeface="Calibri Light"/>
                <a:ea typeface="Calibri Light"/>
                <a:cs typeface="Calibri Light"/>
                <a:sym typeface="Calibri Light"/>
              </a:defRPr>
            </a:pPr>
            <a:r>
              <a:t>Frontend Technology</a:t>
            </a:r>
          </a:p>
          <a:p>
            <a:pPr marL="1028700" indent="-1028700">
              <a:buSzPct val="100000"/>
              <a:buAutoNum type="romanUcPeriod" startAt="1"/>
              <a:defRPr sz="6000">
                <a:solidFill>
                  <a:srgbClr val="808080"/>
                </a:solidFill>
                <a:latin typeface="Calibri Light"/>
                <a:ea typeface="Calibri Light"/>
                <a:cs typeface="Calibri Light"/>
                <a:sym typeface="Calibri Light"/>
              </a:defRPr>
            </a:pPr>
            <a:r>
              <a:t>Project One Preview</a:t>
            </a:r>
          </a:p>
        </p:txBody>
      </p:sp>
      <p:sp>
        <p:nvSpPr>
          <p:cNvPr id="139" name="Rectangle 9"/>
          <p:cNvSpPr txBox="1"/>
          <p:nvPr/>
        </p:nvSpPr>
        <p:spPr>
          <a:xfrm>
            <a:off x="860683" y="351692"/>
            <a:ext cx="10470634" cy="93537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6000">
                <a:solidFill>
                  <a:srgbClr val="C00000"/>
                </a:solidFill>
                <a:latin typeface="Times New Roman"/>
                <a:ea typeface="Times New Roman"/>
                <a:cs typeface="Times New Roman"/>
                <a:sym typeface="Times New Roman"/>
              </a:defRPr>
            </a:lvl1pPr>
          </a:lstStyle>
          <a:p>
            <a:pPr/>
            <a:r>
              <a:t>0-Project Preparation</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1" name="Rectangle 9"/>
          <p:cNvSpPr txBox="1"/>
          <p:nvPr/>
        </p:nvSpPr>
        <p:spPr>
          <a:xfrm>
            <a:off x="531893" y="205503"/>
            <a:ext cx="11721067" cy="93537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6000">
                <a:solidFill>
                  <a:srgbClr val="33339B"/>
                </a:solidFill>
                <a:latin typeface="Times New Roman"/>
                <a:ea typeface="Times New Roman"/>
                <a:cs typeface="Times New Roman"/>
                <a:sym typeface="Times New Roman"/>
              </a:defRPr>
            </a:lvl1pPr>
          </a:lstStyle>
          <a:p>
            <a:pPr/>
            <a:r>
              <a:t>About Access </a:t>
            </a:r>
          </a:p>
        </p:txBody>
      </p:sp>
      <p:sp>
        <p:nvSpPr>
          <p:cNvPr id="142" name="文本框 4"/>
          <p:cNvSpPr txBox="1"/>
          <p:nvPr/>
        </p:nvSpPr>
        <p:spPr>
          <a:xfrm>
            <a:off x="531891" y="1659283"/>
            <a:ext cx="11309589" cy="207035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342900" indent="-342900">
              <a:buSzPct val="100000"/>
              <a:buChar char="▪"/>
              <a:defRPr sz="2800">
                <a:latin typeface="Times New Roman"/>
                <a:ea typeface="Times New Roman"/>
                <a:cs typeface="Times New Roman"/>
                <a:sym typeface="Times New Roman"/>
              </a:defRPr>
            </a:pPr>
            <a:r>
              <a:t>A </a:t>
            </a:r>
            <a:r>
              <a:rPr b="1"/>
              <a:t>database management system (DBMS) </a:t>
            </a:r>
            <a:r>
              <a:t>from </a:t>
            </a:r>
            <a:r>
              <a:rPr b="1"/>
              <a:t>Microsoft</a:t>
            </a:r>
            <a:r>
              <a:t> </a:t>
            </a:r>
          </a:p>
          <a:p>
            <a:pPr marL="342900" indent="-342900">
              <a:buSzPct val="100000"/>
              <a:buChar char="▪"/>
              <a:defRPr sz="2800">
                <a:latin typeface="Times New Roman"/>
                <a:ea typeface="Times New Roman"/>
                <a:cs typeface="Times New Roman"/>
                <a:sym typeface="Times New Roman"/>
              </a:defRPr>
            </a:pPr>
            <a:r>
              <a:t>Combines the </a:t>
            </a:r>
            <a:r>
              <a:rPr b="1"/>
              <a:t>relational Access Database Engine (ACE) </a:t>
            </a:r>
            <a:r>
              <a:t>with a </a:t>
            </a:r>
            <a:r>
              <a:rPr b="1"/>
              <a:t>graphical user interface</a:t>
            </a:r>
            <a:r>
              <a:t> and </a:t>
            </a:r>
            <a:r>
              <a:rPr b="1"/>
              <a:t>software-development tools</a:t>
            </a:r>
            <a:r>
              <a:t>. </a:t>
            </a:r>
          </a:p>
          <a:p>
            <a:pPr marL="342900" indent="-342900">
              <a:buSzPct val="100000"/>
              <a:buChar char="▪"/>
              <a:defRPr sz="2800">
                <a:latin typeface="Times New Roman"/>
                <a:ea typeface="Times New Roman"/>
                <a:cs typeface="Times New Roman"/>
                <a:sym typeface="Times New Roman"/>
              </a:defRPr>
            </a:pPr>
            <a:r>
              <a:t> A member of the </a:t>
            </a:r>
            <a:r>
              <a:rPr b="1"/>
              <a:t>Microsoft Office </a:t>
            </a:r>
            <a:r>
              <a:t>and </a:t>
            </a:r>
            <a:r>
              <a:rPr b="1"/>
              <a:t>Microsoft 365 </a:t>
            </a:r>
            <a:r>
              <a:t>suite of application.</a:t>
            </a:r>
          </a:p>
        </p:txBody>
      </p:sp>
      <p:grpSp>
        <p:nvGrpSpPr>
          <p:cNvPr id="146" name="组合 11"/>
          <p:cNvGrpSpPr/>
          <p:nvPr/>
        </p:nvGrpSpPr>
        <p:grpSpPr>
          <a:xfrm>
            <a:off x="8579428" y="4272717"/>
            <a:ext cx="1956955" cy="1714501"/>
            <a:chOff x="0" y="0"/>
            <a:chExt cx="1956953" cy="1714500"/>
          </a:xfrm>
        </p:grpSpPr>
        <p:pic>
          <p:nvPicPr>
            <p:cNvPr id="143" name="Picture 4" descr="Picture 4"/>
            <p:cNvPicPr>
              <a:picLocks noChangeAspect="1"/>
            </p:cNvPicPr>
            <p:nvPr/>
          </p:nvPicPr>
          <p:blipFill>
            <a:blip r:embed="rId3">
              <a:extLst/>
            </a:blip>
            <a:stretch>
              <a:fillRect/>
            </a:stretch>
          </p:blipFill>
          <p:spPr>
            <a:xfrm>
              <a:off x="503901" y="313548"/>
              <a:ext cx="873092" cy="852566"/>
            </a:xfrm>
            <a:prstGeom prst="rect">
              <a:avLst/>
            </a:prstGeom>
            <a:ln w="12700" cap="flat">
              <a:noFill/>
              <a:miter lim="400000"/>
            </a:ln>
            <a:effectLst/>
          </p:spPr>
        </p:pic>
        <p:sp>
          <p:nvSpPr>
            <p:cNvPr id="144" name="文本框 16"/>
            <p:cNvSpPr txBox="1"/>
            <p:nvPr/>
          </p:nvSpPr>
          <p:spPr>
            <a:xfrm>
              <a:off x="160019" y="1166113"/>
              <a:ext cx="1751216" cy="3484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b="1">
                  <a:latin typeface="Times New Roman"/>
                  <a:ea typeface="Times New Roman"/>
                  <a:cs typeface="Times New Roman"/>
                  <a:sym typeface="Times New Roman"/>
                </a:defRPr>
              </a:lvl1pPr>
            </a:lstStyle>
            <a:p>
              <a:pPr/>
              <a:r>
                <a:t>Microsoft Access </a:t>
              </a:r>
            </a:p>
          </p:txBody>
        </p:sp>
        <p:sp>
          <p:nvSpPr>
            <p:cNvPr id="145" name="矩形 9"/>
            <p:cNvSpPr/>
            <p:nvPr/>
          </p:nvSpPr>
          <p:spPr>
            <a:xfrm>
              <a:off x="0" y="0"/>
              <a:ext cx="1956954" cy="1714500"/>
            </a:xfrm>
            <a:prstGeom prst="rect">
              <a:avLst/>
            </a:prstGeom>
            <a:noFill/>
            <a:ln w="63500" cap="flat">
              <a:solidFill>
                <a:srgbClr val="AF2031"/>
              </a:solidFill>
              <a:prstDash val="solid"/>
              <a:miter lim="800000"/>
            </a:ln>
            <a:effectLst/>
          </p:spPr>
          <p:txBody>
            <a:bodyPr wrap="square" lIns="45719" tIns="45719" rIns="45719" bIns="45719" numCol="1" anchor="ctr">
              <a:noAutofit/>
            </a:bodyPr>
            <a:lstStyle/>
            <a:p>
              <a:pPr algn="ctr">
                <a:defRPr>
                  <a:solidFill>
                    <a:srgbClr val="FFFFFF"/>
                  </a:solidFill>
                </a:defRPr>
              </a:pP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0" name="Rectangle 9"/>
          <p:cNvSpPr txBox="1"/>
          <p:nvPr/>
        </p:nvSpPr>
        <p:spPr>
          <a:xfrm>
            <a:off x="531893" y="205503"/>
            <a:ext cx="11721067" cy="93537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6000">
                <a:solidFill>
                  <a:srgbClr val="33339B"/>
                </a:solidFill>
                <a:latin typeface="Times New Roman"/>
                <a:ea typeface="Times New Roman"/>
                <a:cs typeface="Times New Roman"/>
                <a:sym typeface="Times New Roman"/>
              </a:defRPr>
            </a:lvl1pPr>
          </a:lstStyle>
          <a:p>
            <a:pPr/>
            <a:r>
              <a:t>Download MS Access from SEU </a:t>
            </a:r>
          </a:p>
        </p:txBody>
      </p:sp>
      <p:grpSp>
        <p:nvGrpSpPr>
          <p:cNvPr id="159" name="组合 43"/>
          <p:cNvGrpSpPr/>
          <p:nvPr/>
        </p:nvGrpSpPr>
        <p:grpSpPr>
          <a:xfrm>
            <a:off x="794725" y="1620981"/>
            <a:ext cx="10602549" cy="5031516"/>
            <a:chOff x="0" y="0"/>
            <a:chExt cx="10602548" cy="5031515"/>
          </a:xfrm>
        </p:grpSpPr>
        <p:pic>
          <p:nvPicPr>
            <p:cNvPr id="151" name="图片 5" descr="图片 5"/>
            <p:cNvPicPr>
              <a:picLocks noChangeAspect="1"/>
            </p:cNvPicPr>
            <p:nvPr/>
          </p:nvPicPr>
          <p:blipFill>
            <a:blip r:embed="rId2">
              <a:extLst/>
            </a:blip>
            <a:stretch>
              <a:fillRect/>
            </a:stretch>
          </p:blipFill>
          <p:spPr>
            <a:xfrm>
              <a:off x="0" y="386084"/>
              <a:ext cx="5038914" cy="1668121"/>
            </a:xfrm>
            <a:prstGeom prst="rect">
              <a:avLst/>
            </a:prstGeom>
            <a:ln w="38100" cap="sq">
              <a:solidFill>
                <a:srgbClr val="2F5597"/>
              </a:solidFill>
              <a:prstDash val="solid"/>
              <a:miter lim="800000"/>
            </a:ln>
            <a:effectLst>
              <a:outerShdw sx="100000" sy="100000" kx="0" ky="0" algn="b" rotWithShape="0" blurRad="50800" dist="38100" dir="2700000">
                <a:srgbClr val="000000">
                  <a:alpha val="43000"/>
                </a:srgbClr>
              </a:outerShdw>
            </a:effectLst>
          </p:spPr>
        </p:pic>
        <p:sp>
          <p:nvSpPr>
            <p:cNvPr id="152" name="直接箭头连接符 11"/>
            <p:cNvSpPr/>
            <p:nvPr/>
          </p:nvSpPr>
          <p:spPr>
            <a:xfrm>
              <a:off x="2443594" y="-1"/>
              <a:ext cx="1" cy="386086"/>
            </a:xfrm>
            <a:prstGeom prst="line">
              <a:avLst/>
            </a:prstGeom>
            <a:noFill/>
            <a:ln w="63500" cap="flat">
              <a:solidFill>
                <a:schemeClr val="accent1"/>
              </a:solidFill>
              <a:prstDash val="solid"/>
              <a:miter lim="800000"/>
              <a:tailEnd type="triangle" w="med" len="med"/>
            </a:ln>
            <a:effectLst/>
          </p:spPr>
          <p:txBody>
            <a:bodyPr wrap="square" lIns="45719" tIns="45719" rIns="45719" bIns="45719" numCol="1" anchor="t">
              <a:noAutofit/>
            </a:bodyPr>
            <a:lstStyle/>
            <a:p>
              <a:pPr/>
            </a:p>
          </p:txBody>
        </p:sp>
        <p:pic>
          <p:nvPicPr>
            <p:cNvPr id="153" name="图片 17" descr="图片 17"/>
            <p:cNvPicPr>
              <a:picLocks noChangeAspect="1"/>
            </p:cNvPicPr>
            <p:nvPr/>
          </p:nvPicPr>
          <p:blipFill>
            <a:blip r:embed="rId3">
              <a:extLst/>
            </a:blip>
            <a:srcRect l="0" t="2157" r="2671" b="0"/>
            <a:stretch>
              <a:fillRect/>
            </a:stretch>
          </p:blipFill>
          <p:spPr>
            <a:xfrm>
              <a:off x="5563635" y="246789"/>
              <a:ext cx="5038914" cy="1946711"/>
            </a:xfrm>
            <a:prstGeom prst="rect">
              <a:avLst/>
            </a:prstGeom>
            <a:ln w="38100" cap="sq">
              <a:solidFill>
                <a:srgbClr val="2F5597"/>
              </a:solidFill>
              <a:prstDash val="solid"/>
              <a:miter lim="800000"/>
            </a:ln>
            <a:effectLst>
              <a:outerShdw sx="100000" sy="100000" kx="0" ky="0" algn="b" rotWithShape="0" blurRad="50800" dist="38100" dir="2700000">
                <a:srgbClr val="000000">
                  <a:alpha val="43000"/>
                </a:srgbClr>
              </a:outerShdw>
            </a:effectLst>
          </p:spPr>
        </p:pic>
        <p:pic>
          <p:nvPicPr>
            <p:cNvPr id="154" name="图片 22" descr="图片 22"/>
            <p:cNvPicPr>
              <a:picLocks noChangeAspect="1"/>
            </p:cNvPicPr>
            <p:nvPr/>
          </p:nvPicPr>
          <p:blipFill>
            <a:blip r:embed="rId4">
              <a:extLst/>
            </a:blip>
            <a:srcRect l="0" t="0" r="2593" b="0"/>
            <a:stretch>
              <a:fillRect/>
            </a:stretch>
          </p:blipFill>
          <p:spPr>
            <a:xfrm>
              <a:off x="5563634" y="2650132"/>
              <a:ext cx="5038915" cy="1946710"/>
            </a:xfrm>
            <a:prstGeom prst="rect">
              <a:avLst/>
            </a:prstGeom>
            <a:ln w="38100" cap="sq">
              <a:solidFill>
                <a:srgbClr val="2F5597"/>
              </a:solidFill>
              <a:prstDash val="solid"/>
              <a:miter lim="800000"/>
            </a:ln>
            <a:effectLst>
              <a:outerShdw sx="100000" sy="100000" kx="0" ky="0" algn="b" rotWithShape="0" blurRad="50800" dist="38100" dir="2700000">
                <a:srgbClr val="000000">
                  <a:alpha val="43000"/>
                </a:srgbClr>
              </a:outerShdw>
            </a:effectLst>
          </p:spPr>
        </p:pic>
        <p:sp>
          <p:nvSpPr>
            <p:cNvPr id="155" name="直接箭头连接符 26"/>
            <p:cNvSpPr/>
            <p:nvPr/>
          </p:nvSpPr>
          <p:spPr>
            <a:xfrm>
              <a:off x="5038913" y="1220144"/>
              <a:ext cx="524723" cy="1"/>
            </a:xfrm>
            <a:prstGeom prst="line">
              <a:avLst/>
            </a:prstGeom>
            <a:noFill/>
            <a:ln w="63500" cap="flat">
              <a:solidFill>
                <a:schemeClr val="accent1"/>
              </a:solidFill>
              <a:prstDash val="solid"/>
              <a:miter lim="800000"/>
              <a:tailEnd type="triangle" w="med" len="med"/>
            </a:ln>
            <a:effectLst/>
          </p:spPr>
          <p:txBody>
            <a:bodyPr wrap="square" lIns="45719" tIns="45719" rIns="45719" bIns="45719" numCol="1" anchor="t">
              <a:noAutofit/>
            </a:bodyPr>
            <a:lstStyle/>
            <a:p>
              <a:pPr/>
            </a:p>
          </p:txBody>
        </p:sp>
        <p:sp>
          <p:nvSpPr>
            <p:cNvPr id="156" name="直接箭头连接符 30"/>
            <p:cNvSpPr/>
            <p:nvPr/>
          </p:nvSpPr>
          <p:spPr>
            <a:xfrm>
              <a:off x="8084362" y="2193499"/>
              <a:ext cx="1" cy="456633"/>
            </a:xfrm>
            <a:prstGeom prst="line">
              <a:avLst/>
            </a:prstGeom>
            <a:noFill/>
            <a:ln w="63500" cap="flat">
              <a:solidFill>
                <a:schemeClr val="accent1"/>
              </a:solidFill>
              <a:prstDash val="solid"/>
              <a:miter lim="800000"/>
              <a:tailEnd type="triangle" w="med" len="med"/>
            </a:ln>
            <a:effectLst/>
          </p:spPr>
          <p:txBody>
            <a:bodyPr wrap="square" lIns="45719" tIns="45719" rIns="45719" bIns="45719" numCol="1" anchor="t">
              <a:noAutofit/>
            </a:bodyPr>
            <a:lstStyle/>
            <a:p>
              <a:pPr/>
            </a:p>
          </p:txBody>
        </p:sp>
        <p:pic>
          <p:nvPicPr>
            <p:cNvPr id="157" name="图片 37" descr="图片 37"/>
            <p:cNvPicPr>
              <a:picLocks noChangeAspect="1"/>
            </p:cNvPicPr>
            <p:nvPr/>
          </p:nvPicPr>
          <p:blipFill>
            <a:blip r:embed="rId5">
              <a:extLst/>
            </a:blip>
            <a:srcRect l="0" t="0" r="1793" b="0"/>
            <a:stretch>
              <a:fillRect/>
            </a:stretch>
          </p:blipFill>
          <p:spPr>
            <a:xfrm>
              <a:off x="1" y="2231027"/>
              <a:ext cx="5038913" cy="2800488"/>
            </a:xfrm>
            <a:prstGeom prst="rect">
              <a:avLst/>
            </a:prstGeom>
            <a:ln w="38100" cap="sq">
              <a:solidFill>
                <a:srgbClr val="2F5597"/>
              </a:solidFill>
              <a:prstDash val="solid"/>
              <a:miter lim="800000"/>
            </a:ln>
            <a:effectLst>
              <a:outerShdw sx="100000" sy="100000" kx="0" ky="0" algn="b" rotWithShape="0" blurRad="50800" dist="38100" dir="2700000">
                <a:srgbClr val="000000">
                  <a:alpha val="43000"/>
                </a:srgbClr>
              </a:outerShdw>
            </a:effectLst>
          </p:spPr>
        </p:pic>
        <p:sp>
          <p:nvSpPr>
            <p:cNvPr id="158" name="直接箭头连接符 38"/>
            <p:cNvSpPr/>
            <p:nvPr/>
          </p:nvSpPr>
          <p:spPr>
            <a:xfrm flipH="1">
              <a:off x="5038914" y="3623486"/>
              <a:ext cx="524721" cy="7786"/>
            </a:xfrm>
            <a:prstGeom prst="line">
              <a:avLst/>
            </a:prstGeom>
            <a:noFill/>
            <a:ln w="63500" cap="flat">
              <a:solidFill>
                <a:schemeClr val="accent1"/>
              </a:solidFill>
              <a:prstDash val="solid"/>
              <a:miter lim="800000"/>
              <a:tailEnd type="triangle" w="med" len="med"/>
            </a:ln>
            <a:effectLst/>
          </p:spPr>
          <p:txBody>
            <a:bodyPr wrap="square" lIns="45719" tIns="45719" rIns="45719" bIns="45719" numCol="1" anchor="t">
              <a:noAutofit/>
            </a:bodyPr>
            <a:lstStyle/>
            <a:p>
              <a:pPr/>
            </a:p>
          </p:txBody>
        </p:sp>
      </p:grpSp>
      <p:sp>
        <p:nvSpPr>
          <p:cNvPr id="160" name="文本框 45"/>
          <p:cNvSpPr txBox="1"/>
          <p:nvPr/>
        </p:nvSpPr>
        <p:spPr>
          <a:xfrm>
            <a:off x="3362437" y="1196429"/>
            <a:ext cx="6059978" cy="419437"/>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r>
              <a:rPr u="sng">
                <a:solidFill>
                  <a:srgbClr val="0563C1"/>
                </a:solidFill>
                <a:uFill>
                  <a:solidFill>
                    <a:srgbClr val="0563C1"/>
                  </a:solidFill>
                </a:uFill>
                <a:latin typeface="+mj-lt"/>
                <a:ea typeface="+mj-ea"/>
                <a:cs typeface="+mj-cs"/>
                <a:sym typeface="Helvetica"/>
                <a:hlinkClick r:id="rId6" invalidUrl="" action="" tgtFrame="" tooltip="" history="1" highlightClick="0" endSnd="0"/>
              </a:rPr>
              <a:t>微软正版化</a:t>
            </a:r>
            <a:r>
              <a:rPr u="sng">
                <a:solidFill>
                  <a:srgbClr val="0563C1"/>
                </a:solidFill>
                <a:uFill>
                  <a:solidFill>
                    <a:srgbClr val="0563C1"/>
                  </a:solidFill>
                </a:uFill>
                <a:hlinkClick r:id="rId6" invalidUrl="" action="" tgtFrame="" tooltip="" history="1" highlightClick="0" endSnd="0"/>
              </a:rPr>
              <a:t>-</a:t>
            </a:r>
            <a:r>
              <a:rPr u="sng">
                <a:solidFill>
                  <a:srgbClr val="0563C1"/>
                </a:solidFill>
                <a:uFill>
                  <a:solidFill>
                    <a:srgbClr val="0563C1"/>
                  </a:solidFill>
                </a:uFill>
                <a:latin typeface="+mj-lt"/>
                <a:ea typeface="+mj-ea"/>
                <a:cs typeface="+mj-cs"/>
                <a:sym typeface="Helvetica"/>
                <a:hlinkClick r:id="rId6" invalidUrl="" action="" tgtFrame="" tooltip="" history="1" highlightClick="0" endSnd="0"/>
              </a:rPr>
              <a:t>东南大学网络与信息中心 </a:t>
            </a:r>
            <a:r>
              <a:rPr u="sng">
                <a:solidFill>
                  <a:srgbClr val="0563C1"/>
                </a:solidFill>
                <a:uFill>
                  <a:solidFill>
                    <a:srgbClr val="0563C1"/>
                  </a:solidFill>
                </a:uFill>
                <a:hlinkClick r:id="rId6" invalidUrl="" action="" tgtFrame="" tooltip="" history="1" highlightClick="0" endSnd="0"/>
              </a:rPr>
              <a:t>(seu.edu.cn)</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2" name="Rectangle 9"/>
          <p:cNvSpPr txBox="1"/>
          <p:nvPr/>
        </p:nvSpPr>
        <p:spPr>
          <a:xfrm>
            <a:off x="531893" y="205503"/>
            <a:ext cx="11721067" cy="93537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6000">
                <a:solidFill>
                  <a:srgbClr val="33339B"/>
                </a:solidFill>
                <a:latin typeface="Times New Roman"/>
                <a:ea typeface="Times New Roman"/>
                <a:cs typeface="Times New Roman"/>
                <a:sym typeface="Times New Roman"/>
              </a:defRPr>
            </a:lvl1pPr>
          </a:lstStyle>
          <a:p>
            <a:pPr/>
            <a:r>
              <a:t>Download MS Access from SEU </a:t>
            </a:r>
          </a:p>
        </p:txBody>
      </p:sp>
      <p:pic>
        <p:nvPicPr>
          <p:cNvPr id="163" name="图片 2" descr="图片 2"/>
          <p:cNvPicPr>
            <a:picLocks noChangeAspect="1"/>
          </p:cNvPicPr>
          <p:nvPr/>
        </p:nvPicPr>
        <p:blipFill>
          <a:blip r:embed="rId2">
            <a:extLst/>
          </a:blip>
          <a:stretch>
            <a:fillRect/>
          </a:stretch>
        </p:blipFill>
        <p:spPr>
          <a:xfrm>
            <a:off x="1025491" y="1716689"/>
            <a:ext cx="4114288" cy="2553975"/>
          </a:xfrm>
          <a:prstGeom prst="rect">
            <a:avLst/>
          </a:prstGeom>
          <a:ln w="38100" cap="sq">
            <a:solidFill>
              <a:schemeClr val="accent1"/>
            </a:solidFill>
            <a:miter/>
          </a:ln>
          <a:effectLst>
            <a:outerShdw sx="100000" sy="100000" kx="0" ky="0" algn="b" rotWithShape="0" blurRad="50800" dist="38100" dir="2700000">
              <a:srgbClr val="000000">
                <a:alpha val="43000"/>
              </a:srgbClr>
            </a:outerShdw>
          </a:effectLst>
        </p:spPr>
      </p:pic>
      <p:pic>
        <p:nvPicPr>
          <p:cNvPr id="164" name="图片 6" descr="图片 6"/>
          <p:cNvPicPr>
            <a:picLocks noChangeAspect="1"/>
          </p:cNvPicPr>
          <p:nvPr/>
        </p:nvPicPr>
        <p:blipFill>
          <a:blip r:embed="rId3">
            <a:extLst/>
          </a:blip>
          <a:stretch>
            <a:fillRect/>
          </a:stretch>
        </p:blipFill>
        <p:spPr>
          <a:xfrm>
            <a:off x="318215" y="5448318"/>
            <a:ext cx="6838097" cy="304763"/>
          </a:xfrm>
          <a:prstGeom prst="rect">
            <a:avLst/>
          </a:prstGeom>
          <a:ln w="38100" cap="sq">
            <a:solidFill>
              <a:schemeClr val="accent1"/>
            </a:solidFill>
            <a:miter/>
          </a:ln>
          <a:effectLst>
            <a:outerShdw sx="100000" sy="100000" kx="0" ky="0" algn="b" rotWithShape="0" blurRad="50800" dist="38100" dir="2700000">
              <a:srgbClr val="000000">
                <a:alpha val="43000"/>
              </a:srgbClr>
            </a:outerShdw>
          </a:effectLst>
        </p:spPr>
      </p:pic>
      <p:sp>
        <p:nvSpPr>
          <p:cNvPr id="165" name="直接箭头连接符 8"/>
          <p:cNvSpPr/>
          <p:nvPr/>
        </p:nvSpPr>
        <p:spPr>
          <a:xfrm flipH="1">
            <a:off x="3082635" y="4270664"/>
            <a:ext cx="1" cy="1091046"/>
          </a:xfrm>
          <a:prstGeom prst="line">
            <a:avLst/>
          </a:prstGeom>
          <a:ln w="63500">
            <a:solidFill>
              <a:schemeClr val="accent1"/>
            </a:solidFill>
            <a:miter/>
            <a:tailEnd type="triangle"/>
          </a:ln>
        </p:spPr>
        <p:txBody>
          <a:bodyPr lIns="45719" rIns="45719"/>
          <a:lstStyle/>
          <a:p>
            <a:pPr/>
          </a:p>
        </p:txBody>
      </p:sp>
      <p:pic>
        <p:nvPicPr>
          <p:cNvPr id="166" name="图片 11" descr="图片 11"/>
          <p:cNvPicPr>
            <a:picLocks noChangeAspect="1"/>
          </p:cNvPicPr>
          <p:nvPr/>
        </p:nvPicPr>
        <p:blipFill>
          <a:blip r:embed="rId4">
            <a:extLst/>
          </a:blip>
          <a:stretch>
            <a:fillRect/>
          </a:stretch>
        </p:blipFill>
        <p:spPr>
          <a:xfrm>
            <a:off x="8407259" y="5286414"/>
            <a:ext cx="2380953" cy="628572"/>
          </a:xfrm>
          <a:prstGeom prst="rect">
            <a:avLst/>
          </a:prstGeom>
          <a:ln w="38100" cap="sq">
            <a:solidFill>
              <a:srgbClr val="2F5597"/>
            </a:solidFill>
            <a:miter/>
          </a:ln>
          <a:effectLst>
            <a:outerShdw sx="100000" sy="100000" kx="0" ky="0" algn="b" rotWithShape="0" blurRad="50800" dist="38100" dir="2700000">
              <a:srgbClr val="000000">
                <a:alpha val="43000"/>
              </a:srgbClr>
            </a:outerShdw>
          </a:effectLst>
        </p:spPr>
      </p:pic>
      <p:sp>
        <p:nvSpPr>
          <p:cNvPr id="167" name="直接箭头连接符 17"/>
          <p:cNvSpPr/>
          <p:nvPr/>
        </p:nvSpPr>
        <p:spPr>
          <a:xfrm>
            <a:off x="7232509" y="5600700"/>
            <a:ext cx="1174751" cy="0"/>
          </a:xfrm>
          <a:prstGeom prst="line">
            <a:avLst/>
          </a:prstGeom>
          <a:ln w="63500">
            <a:solidFill>
              <a:schemeClr val="accent1"/>
            </a:solidFill>
            <a:miter/>
            <a:tailEnd type="triangle"/>
          </a:ln>
        </p:spPr>
        <p:txBody>
          <a:bodyPr lIns="45719" rIns="45719"/>
          <a:lstStyle/>
          <a:p>
            <a:pPr/>
          </a:p>
        </p:txBody>
      </p:sp>
      <p:pic>
        <p:nvPicPr>
          <p:cNvPr id="168" name="图片 18" descr="图片 18"/>
          <p:cNvPicPr>
            <a:picLocks noChangeAspect="1"/>
          </p:cNvPicPr>
          <p:nvPr/>
        </p:nvPicPr>
        <p:blipFill>
          <a:blip r:embed="rId5">
            <a:extLst/>
          </a:blip>
          <a:stretch>
            <a:fillRect/>
          </a:stretch>
        </p:blipFill>
        <p:spPr>
          <a:xfrm>
            <a:off x="5823620" y="2216634"/>
            <a:ext cx="6114287" cy="1761906"/>
          </a:xfrm>
          <a:prstGeom prst="rect">
            <a:avLst/>
          </a:prstGeom>
          <a:ln w="38100" cap="sq">
            <a:solidFill>
              <a:schemeClr val="accent1"/>
            </a:solidFill>
            <a:miter/>
          </a:ln>
          <a:effectLst>
            <a:outerShdw sx="100000" sy="100000" kx="0" ky="0" algn="b" rotWithShape="0" blurRad="50800" dist="38100" dir="2700000">
              <a:srgbClr val="000000">
                <a:alpha val="43000"/>
              </a:srgbClr>
            </a:outerShdw>
          </a:effectLst>
        </p:spPr>
      </p:pic>
      <p:sp>
        <p:nvSpPr>
          <p:cNvPr id="169" name="直接箭头连接符 23"/>
          <p:cNvSpPr/>
          <p:nvPr/>
        </p:nvSpPr>
        <p:spPr>
          <a:xfrm flipV="1">
            <a:off x="9597735" y="3978539"/>
            <a:ext cx="1" cy="1307876"/>
          </a:xfrm>
          <a:prstGeom prst="line">
            <a:avLst/>
          </a:prstGeom>
          <a:ln w="63500">
            <a:solidFill>
              <a:schemeClr val="accent1"/>
            </a:solidFill>
            <a:miter/>
            <a:tailEnd type="triangle"/>
          </a:ln>
        </p:spPr>
        <p:txBody>
          <a:bodyPr lIns="45719" rIns="45719"/>
          <a:lstStyle/>
          <a:p>
            <a:pP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1" name="Rectangle 9"/>
          <p:cNvSpPr txBox="1"/>
          <p:nvPr/>
        </p:nvSpPr>
        <p:spPr>
          <a:xfrm>
            <a:off x="531893" y="205503"/>
            <a:ext cx="11721067" cy="93537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6000">
                <a:solidFill>
                  <a:srgbClr val="33339B"/>
                </a:solidFill>
                <a:latin typeface="Times New Roman"/>
                <a:ea typeface="Times New Roman"/>
                <a:cs typeface="Times New Roman"/>
                <a:sym typeface="Times New Roman"/>
              </a:defRPr>
            </a:lvl1pPr>
          </a:lstStyle>
          <a:p>
            <a:pPr/>
            <a:r>
              <a:t>Download MS Access from SEU </a:t>
            </a:r>
          </a:p>
        </p:txBody>
      </p:sp>
      <p:grpSp>
        <p:nvGrpSpPr>
          <p:cNvPr id="174" name="图片 22"/>
          <p:cNvGrpSpPr/>
          <p:nvPr/>
        </p:nvGrpSpPr>
        <p:grpSpPr>
          <a:xfrm>
            <a:off x="3817368" y="5379022"/>
            <a:ext cx="4829274" cy="767725"/>
            <a:chOff x="0" y="0"/>
            <a:chExt cx="4829273" cy="767724"/>
          </a:xfrm>
        </p:grpSpPr>
        <p:sp>
          <p:nvSpPr>
            <p:cNvPr id="172" name="形状"/>
            <p:cNvSpPr/>
            <p:nvPr/>
          </p:nvSpPr>
          <p:spPr>
            <a:xfrm>
              <a:off x="-1" y="0"/>
              <a:ext cx="4829275" cy="76772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6376"/>
                  </a:moveTo>
                  <a:lnTo>
                    <a:pt x="0" y="6376"/>
                  </a:lnTo>
                  <a:cubicBezTo>
                    <a:pt x="0" y="2855"/>
                    <a:pt x="454" y="0"/>
                    <a:pt x="1014" y="0"/>
                  </a:cubicBezTo>
                  <a:lnTo>
                    <a:pt x="20586" y="0"/>
                  </a:lnTo>
                  <a:lnTo>
                    <a:pt x="20586" y="0"/>
                  </a:lnTo>
                  <a:cubicBezTo>
                    <a:pt x="21146" y="0"/>
                    <a:pt x="21600" y="2855"/>
                    <a:pt x="21600" y="6376"/>
                  </a:cubicBezTo>
                  <a:lnTo>
                    <a:pt x="21600" y="15224"/>
                  </a:lnTo>
                  <a:lnTo>
                    <a:pt x="21600" y="15224"/>
                  </a:lnTo>
                  <a:cubicBezTo>
                    <a:pt x="21600" y="18745"/>
                    <a:pt x="21146" y="21600"/>
                    <a:pt x="20586" y="21600"/>
                  </a:cubicBezTo>
                  <a:lnTo>
                    <a:pt x="1014" y="21600"/>
                  </a:lnTo>
                  <a:lnTo>
                    <a:pt x="1014" y="21600"/>
                  </a:lnTo>
                  <a:cubicBezTo>
                    <a:pt x="454" y="21600"/>
                    <a:pt x="0" y="18745"/>
                    <a:pt x="0" y="15224"/>
                  </a:cubicBezTo>
                  <a:close/>
                </a:path>
              </a:pathLst>
            </a:custGeom>
            <a:solidFill>
              <a:srgbClr val="EDEDED"/>
            </a:solidFill>
            <a:ln w="12700" cap="flat">
              <a:noFill/>
              <a:miter lim="400000"/>
            </a:ln>
            <a:effectLst/>
          </p:spPr>
          <p:txBody>
            <a:bodyPr wrap="square" lIns="45719" tIns="45719" rIns="45719" bIns="45719" numCol="1" anchor="ctr">
              <a:noAutofit/>
            </a:bodyPr>
            <a:lstStyle/>
            <a:p>
              <a:pPr/>
            </a:p>
          </p:txBody>
        </p:sp>
        <p:pic>
          <p:nvPicPr>
            <p:cNvPr id="173" name="image10.png" descr="image10.png"/>
            <p:cNvPicPr>
              <a:picLocks noChangeAspect="1"/>
            </p:cNvPicPr>
            <p:nvPr/>
          </p:nvPicPr>
          <p:blipFill>
            <a:blip r:embed="rId2">
              <a:extLst/>
            </a:blip>
            <a:srcRect l="0" t="0" r="2" b="21"/>
            <a:stretch>
              <a:fillRect/>
            </a:stretch>
          </p:blipFill>
          <p:spPr>
            <a:xfrm>
              <a:off x="0" y="0"/>
              <a:ext cx="4829175" cy="76755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14" y="0"/>
                  </a:moveTo>
                  <a:cubicBezTo>
                    <a:pt x="454" y="0"/>
                    <a:pt x="0" y="2855"/>
                    <a:pt x="0" y="6377"/>
                  </a:cubicBezTo>
                  <a:lnTo>
                    <a:pt x="0" y="15223"/>
                  </a:lnTo>
                  <a:cubicBezTo>
                    <a:pt x="0" y="18745"/>
                    <a:pt x="454" y="21600"/>
                    <a:pt x="1014" y="21600"/>
                  </a:cubicBezTo>
                  <a:lnTo>
                    <a:pt x="20586" y="21600"/>
                  </a:lnTo>
                  <a:cubicBezTo>
                    <a:pt x="21146" y="21600"/>
                    <a:pt x="21600" y="18745"/>
                    <a:pt x="21600" y="15223"/>
                  </a:cubicBezTo>
                  <a:lnTo>
                    <a:pt x="21600" y="6377"/>
                  </a:lnTo>
                  <a:cubicBezTo>
                    <a:pt x="21600" y="2855"/>
                    <a:pt x="21146" y="0"/>
                    <a:pt x="20586" y="0"/>
                  </a:cubicBezTo>
                  <a:lnTo>
                    <a:pt x="1014" y="0"/>
                  </a:lnTo>
                  <a:close/>
                </a:path>
              </a:pathLst>
            </a:custGeom>
            <a:ln w="12700" cap="flat">
              <a:noFill/>
              <a:miter lim="400000"/>
            </a:ln>
            <a:effectLst>
              <a:reflection blurRad="0" stA="38000" stPos="0" endA="0" endPos="40000" dist="0" dir="5400000" fadeDir="5400000" sx="100000" sy="-100000" kx="0" ky="0" algn="bl" rotWithShape="0"/>
            </a:effectLst>
          </p:spPr>
        </p:pic>
      </p:grpSp>
      <p:pic>
        <p:nvPicPr>
          <p:cNvPr id="175" name="图片 5" descr="图片 5"/>
          <p:cNvPicPr>
            <a:picLocks noChangeAspect="1"/>
          </p:cNvPicPr>
          <p:nvPr/>
        </p:nvPicPr>
        <p:blipFill>
          <a:blip r:embed="rId3">
            <a:extLst/>
          </a:blip>
          <a:stretch>
            <a:fillRect/>
          </a:stretch>
        </p:blipFill>
        <p:spPr>
          <a:xfrm>
            <a:off x="3635466" y="1545610"/>
            <a:ext cx="5193082" cy="3462055"/>
          </a:xfrm>
          <a:prstGeom prst="rect">
            <a:avLst/>
          </a:prstGeom>
          <a:ln w="38100" cap="sq">
            <a:solidFill>
              <a:srgbClr val="FF5511"/>
            </a:solidFill>
            <a:miter/>
          </a:ln>
          <a:effectLst>
            <a:outerShdw sx="100000" sy="100000" kx="0" ky="0" algn="b" rotWithShape="0" blurRad="50800" dist="38100" dir="2700000">
              <a:srgbClr val="000000">
                <a:alpha val="43000"/>
              </a:srgbClr>
            </a:outerShdw>
          </a:effectLst>
        </p:spPr>
      </p:pic>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7" name="Rectangle 9"/>
          <p:cNvSpPr txBox="1"/>
          <p:nvPr/>
        </p:nvSpPr>
        <p:spPr>
          <a:xfrm>
            <a:off x="531893" y="205503"/>
            <a:ext cx="11721067" cy="93537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6000">
                <a:solidFill>
                  <a:srgbClr val="33339B"/>
                </a:solidFill>
                <a:latin typeface="Times New Roman"/>
                <a:ea typeface="Times New Roman"/>
                <a:cs typeface="Times New Roman"/>
                <a:sym typeface="Times New Roman"/>
              </a:defRPr>
            </a:lvl1pPr>
          </a:lstStyle>
          <a:p>
            <a:pPr/>
            <a:r>
              <a:t>Activate MS Access from SEU </a:t>
            </a:r>
          </a:p>
        </p:txBody>
      </p:sp>
      <p:pic>
        <p:nvPicPr>
          <p:cNvPr id="178" name="图片 4" descr="图片 4"/>
          <p:cNvPicPr>
            <a:picLocks noChangeAspect="1"/>
          </p:cNvPicPr>
          <p:nvPr/>
        </p:nvPicPr>
        <p:blipFill>
          <a:blip r:embed="rId2">
            <a:extLst/>
          </a:blip>
          <a:stretch>
            <a:fillRect/>
          </a:stretch>
        </p:blipFill>
        <p:spPr>
          <a:xfrm>
            <a:off x="1025627" y="1889330"/>
            <a:ext cx="5853769" cy="2018196"/>
          </a:xfrm>
          <a:prstGeom prst="rect">
            <a:avLst/>
          </a:prstGeom>
          <a:ln w="38100" cap="sq">
            <a:solidFill>
              <a:schemeClr val="accent1"/>
            </a:solidFill>
            <a:miter/>
          </a:ln>
          <a:effectLst>
            <a:outerShdw sx="100000" sy="100000" kx="0" ky="0" algn="b" rotWithShape="0" blurRad="50800" dist="38100" dir="2700000">
              <a:srgbClr val="000000">
                <a:alpha val="43000"/>
              </a:srgbClr>
            </a:outerShdw>
          </a:effectLst>
        </p:spPr>
      </p:pic>
      <p:grpSp>
        <p:nvGrpSpPr>
          <p:cNvPr id="181" name="图片 2"/>
          <p:cNvGrpSpPr/>
          <p:nvPr/>
        </p:nvGrpSpPr>
        <p:grpSpPr>
          <a:xfrm>
            <a:off x="1006577" y="4832873"/>
            <a:ext cx="5891868" cy="969263"/>
            <a:chOff x="0" y="0"/>
            <a:chExt cx="5891867" cy="969261"/>
          </a:xfrm>
        </p:grpSpPr>
        <p:pic>
          <p:nvPicPr>
            <p:cNvPr id="179" name="image13.png" descr="image13.png"/>
            <p:cNvPicPr>
              <a:picLocks noChangeAspect="1"/>
            </p:cNvPicPr>
            <p:nvPr/>
          </p:nvPicPr>
          <p:blipFill>
            <a:blip r:embed="rId3">
              <a:extLst/>
            </a:blip>
            <a:srcRect l="0" t="3890" r="1942" b="0"/>
            <a:stretch>
              <a:fillRect/>
            </a:stretch>
          </p:blipFill>
          <p:spPr>
            <a:xfrm>
              <a:off x="19049" y="19049"/>
              <a:ext cx="5853769" cy="931154"/>
            </a:xfrm>
            <a:prstGeom prst="rect">
              <a:avLst/>
            </a:prstGeom>
            <a:ln w="12700" cap="flat">
              <a:noFill/>
              <a:miter lim="400000"/>
            </a:ln>
            <a:effectLst>
              <a:outerShdw sx="100000" sy="100000" kx="0" ky="0" algn="b" rotWithShape="0" blurRad="50800" dist="38100" dir="2700000">
                <a:srgbClr val="000000">
                  <a:alpha val="43000"/>
                </a:srgbClr>
              </a:outerShdw>
            </a:effectLst>
          </p:spPr>
        </p:pic>
        <p:sp>
          <p:nvSpPr>
            <p:cNvPr id="180" name="矩形"/>
            <p:cNvSpPr/>
            <p:nvPr/>
          </p:nvSpPr>
          <p:spPr>
            <a:xfrm>
              <a:off x="0" y="0"/>
              <a:ext cx="5891868" cy="969262"/>
            </a:xfrm>
            <a:prstGeom prst="rect">
              <a:avLst/>
            </a:prstGeom>
            <a:noFill/>
            <a:ln w="38100" cap="sq">
              <a:solidFill>
                <a:schemeClr val="accent1"/>
              </a:solidFill>
              <a:prstDash val="solid"/>
              <a:miter lim="800000"/>
            </a:ln>
            <a:effectLst/>
          </p:spPr>
          <p:txBody>
            <a:bodyPr wrap="square" lIns="45719" tIns="45719" rIns="45719" bIns="45719" numCol="1" anchor="ctr">
              <a:noAutofit/>
            </a:bodyPr>
            <a:lstStyle/>
            <a:p>
              <a:pPr/>
            </a:p>
          </p:txBody>
        </p:sp>
      </p:grpSp>
      <p:sp>
        <p:nvSpPr>
          <p:cNvPr id="182" name="文本框 8"/>
          <p:cNvSpPr txBox="1"/>
          <p:nvPr/>
        </p:nvSpPr>
        <p:spPr>
          <a:xfrm>
            <a:off x="3364495" y="1329416"/>
            <a:ext cx="6055862" cy="419437"/>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r>
              <a:rPr u="sng">
                <a:solidFill>
                  <a:srgbClr val="0563C1"/>
                </a:solidFill>
                <a:uFill>
                  <a:solidFill>
                    <a:srgbClr val="0563C1"/>
                  </a:solidFill>
                </a:uFill>
                <a:latin typeface="+mj-lt"/>
                <a:ea typeface="+mj-ea"/>
                <a:cs typeface="+mj-cs"/>
                <a:sym typeface="Helvetica"/>
                <a:hlinkClick r:id="rId4" invalidUrl="" action="" tgtFrame="" tooltip="" history="1" highlightClick="0" endSnd="0"/>
              </a:rPr>
              <a:t>激活解决方案</a:t>
            </a:r>
            <a:r>
              <a:rPr u="sng">
                <a:solidFill>
                  <a:srgbClr val="0563C1"/>
                </a:solidFill>
                <a:uFill>
                  <a:solidFill>
                    <a:srgbClr val="0563C1"/>
                  </a:solidFill>
                </a:uFill>
                <a:hlinkClick r:id="rId4" invalidUrl="" action="" tgtFrame="" tooltip="" history="1" highlightClick="0" endSnd="0"/>
              </a:rPr>
              <a:t>-</a:t>
            </a:r>
            <a:r>
              <a:rPr u="sng">
                <a:solidFill>
                  <a:srgbClr val="0563C1"/>
                </a:solidFill>
                <a:uFill>
                  <a:solidFill>
                    <a:srgbClr val="0563C1"/>
                  </a:solidFill>
                </a:uFill>
                <a:latin typeface="+mj-lt"/>
                <a:ea typeface="+mj-ea"/>
                <a:cs typeface="+mj-cs"/>
                <a:sym typeface="Helvetica"/>
                <a:hlinkClick r:id="rId4" invalidUrl="" action="" tgtFrame="" tooltip="" history="1" highlightClick="0" endSnd="0"/>
              </a:rPr>
              <a:t>东南大学网络与信息中心 </a:t>
            </a:r>
            <a:r>
              <a:rPr u="sng">
                <a:solidFill>
                  <a:srgbClr val="0563C1"/>
                </a:solidFill>
                <a:uFill>
                  <a:solidFill>
                    <a:srgbClr val="0563C1"/>
                  </a:solidFill>
                </a:uFill>
                <a:hlinkClick r:id="rId4" invalidUrl="" action="" tgtFrame="" tooltip="" history="1" highlightClick="0" endSnd="0"/>
              </a:rPr>
              <a:t>(seu.edu.cn)</a:t>
            </a:r>
          </a:p>
        </p:txBody>
      </p:sp>
      <p:pic>
        <p:nvPicPr>
          <p:cNvPr id="183" name="图片 7" descr="图片 7"/>
          <p:cNvPicPr>
            <a:picLocks noChangeAspect="1"/>
          </p:cNvPicPr>
          <p:nvPr/>
        </p:nvPicPr>
        <p:blipFill>
          <a:blip r:embed="rId5">
            <a:extLst/>
          </a:blip>
          <a:stretch>
            <a:fillRect/>
          </a:stretch>
        </p:blipFill>
        <p:spPr>
          <a:xfrm>
            <a:off x="8490801" y="4431820"/>
            <a:ext cx="2261021" cy="2193528"/>
          </a:xfrm>
          <a:prstGeom prst="rect">
            <a:avLst/>
          </a:prstGeom>
          <a:ln w="38100" cap="sq">
            <a:solidFill>
              <a:schemeClr val="accent1"/>
            </a:solidFill>
            <a:miter/>
          </a:ln>
          <a:effectLst>
            <a:outerShdw sx="100000" sy="100000" kx="0" ky="0" algn="b" rotWithShape="0" blurRad="50800" dist="38100" dir="2700000">
              <a:srgbClr val="000000">
                <a:alpha val="43000"/>
              </a:srgbClr>
            </a:outerShdw>
          </a:effectLst>
        </p:spPr>
      </p:pic>
      <p:sp>
        <p:nvSpPr>
          <p:cNvPr id="184" name="直接箭头连接符 11"/>
          <p:cNvSpPr/>
          <p:nvPr/>
        </p:nvSpPr>
        <p:spPr>
          <a:xfrm>
            <a:off x="3952511" y="4025219"/>
            <a:ext cx="1" cy="683435"/>
          </a:xfrm>
          <a:prstGeom prst="line">
            <a:avLst/>
          </a:prstGeom>
          <a:ln w="63500">
            <a:solidFill>
              <a:schemeClr val="accent1"/>
            </a:solidFill>
            <a:miter/>
            <a:tailEnd type="triangle"/>
          </a:ln>
        </p:spPr>
        <p:txBody>
          <a:bodyPr lIns="45719" rIns="45719"/>
          <a:lstStyle/>
          <a:p>
            <a:pPr/>
          </a:p>
        </p:txBody>
      </p:sp>
      <p:sp>
        <p:nvSpPr>
          <p:cNvPr id="185" name="直接箭头连接符 14"/>
          <p:cNvSpPr/>
          <p:nvPr/>
        </p:nvSpPr>
        <p:spPr>
          <a:xfrm>
            <a:off x="7092556" y="5317504"/>
            <a:ext cx="1254734" cy="1"/>
          </a:xfrm>
          <a:prstGeom prst="line">
            <a:avLst/>
          </a:prstGeom>
          <a:ln w="63500">
            <a:solidFill>
              <a:schemeClr val="accent1"/>
            </a:solidFill>
            <a:miter/>
            <a:tailEnd type="triangle"/>
          </a:ln>
        </p:spPr>
        <p:txBody>
          <a:bodyPr lIns="45719" rIns="45719"/>
          <a:lstStyle/>
          <a:p>
            <a:pPr/>
          </a:p>
        </p:txBody>
      </p:sp>
      <p:pic>
        <p:nvPicPr>
          <p:cNvPr id="186" name="图片 16" descr="图片 16"/>
          <p:cNvPicPr>
            <a:picLocks noChangeAspect="1"/>
          </p:cNvPicPr>
          <p:nvPr/>
        </p:nvPicPr>
        <p:blipFill>
          <a:blip r:embed="rId6">
            <a:extLst/>
          </a:blip>
          <a:stretch>
            <a:fillRect/>
          </a:stretch>
        </p:blipFill>
        <p:spPr>
          <a:xfrm>
            <a:off x="8422667" y="1944165"/>
            <a:ext cx="2397292" cy="1963361"/>
          </a:xfrm>
          <a:prstGeom prst="rect">
            <a:avLst/>
          </a:prstGeom>
          <a:ln w="38100" cap="sq">
            <a:solidFill>
              <a:schemeClr val="accent1"/>
            </a:solidFill>
            <a:miter/>
          </a:ln>
          <a:effectLst>
            <a:outerShdw sx="100000" sy="100000" kx="0" ky="0" algn="b" rotWithShape="0" blurRad="50800" dist="38100" dir="2700000">
              <a:srgbClr val="000000">
                <a:alpha val="43000"/>
              </a:srgbClr>
            </a:outerShdw>
          </a:effectLst>
        </p:spPr>
      </p:pic>
      <p:sp>
        <p:nvSpPr>
          <p:cNvPr id="188" name="直接箭头连接符 21"/>
          <p:cNvSpPr/>
          <p:nvPr/>
        </p:nvSpPr>
        <p:spPr>
          <a:xfrm>
            <a:off x="9621256" y="3926555"/>
            <a:ext cx="15" cy="48621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1600"/>
                </a:moveTo>
                <a:lnTo>
                  <a:pt x="0" y="0"/>
                </a:lnTo>
              </a:path>
            </a:pathLst>
          </a:custGeom>
          <a:ln w="63500">
            <a:solidFill>
              <a:schemeClr val="accent1"/>
            </a:solidFill>
            <a:miter/>
            <a:tailEnd type="triangle"/>
          </a:ln>
        </p:spPr>
        <p:txBody>
          <a:bodyPr/>
          <a:lstStyle/>
          <a:p>
            <a:pP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0" name="灯片编号占位符 1"/>
          <p:cNvSpPr txBox="1"/>
          <p:nvPr>
            <p:ph type="sldNum" sz="quarter" idx="2"/>
          </p:nvPr>
        </p:nvSpPr>
        <p:spPr>
          <a:xfrm>
            <a:off x="8610600" y="6199592"/>
            <a:ext cx="258624" cy="248306"/>
          </a:xfrm>
          <a:prstGeom prst="rect">
            <a:avLst/>
          </a:prstGeom>
          <a:extLst>
            <a:ext uri="{C572A759-6A51-4108-AA02-DFA0A04FC94B}">
              <ma14:wrappingTextBoxFlag xmlns:ma14="http://schemas.microsoft.com/office/mac/drawingml/2011/main" val="1"/>
            </a:ext>
          </a:extLst>
        </p:spPr>
        <p:txBody>
          <a:bodyPr/>
          <a:lstStyle>
            <a:lvl1pPr algn="l"/>
          </a:lstStyle>
          <a:p>
            <a:pPr/>
            <a:fld id="{86CB4B4D-7CA3-9044-876B-883B54F8677D}" type="slidenum"/>
          </a:p>
        </p:txBody>
      </p:sp>
      <p:sp>
        <p:nvSpPr>
          <p:cNvPr id="191" name="Rectangle 9"/>
          <p:cNvSpPr txBox="1"/>
          <p:nvPr/>
        </p:nvSpPr>
        <p:spPr>
          <a:xfrm>
            <a:off x="1545180" y="1367355"/>
            <a:ext cx="9476538" cy="455876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1028700" indent="-1028700">
              <a:buSzPct val="100000"/>
              <a:buAutoNum type="romanUcPeriod" startAt="1"/>
              <a:defRPr sz="6000">
                <a:solidFill>
                  <a:srgbClr val="808080"/>
                </a:solidFill>
                <a:latin typeface="Calibri Light"/>
                <a:ea typeface="Calibri Light"/>
                <a:cs typeface="Calibri Light"/>
                <a:sym typeface="Calibri Light"/>
              </a:defRPr>
            </a:pPr>
            <a:r>
              <a:t>Project Rules</a:t>
            </a:r>
          </a:p>
          <a:p>
            <a:pPr marL="1028700" indent="-1028700">
              <a:buSzPct val="100000"/>
              <a:buAutoNum type="romanUcPeriod" startAt="1"/>
              <a:defRPr sz="6000">
                <a:solidFill>
                  <a:srgbClr val="808080"/>
                </a:solidFill>
                <a:latin typeface="Calibri Light"/>
                <a:ea typeface="Calibri Light"/>
                <a:cs typeface="Calibri Light"/>
                <a:sym typeface="Calibri Light"/>
              </a:defRPr>
            </a:pPr>
            <a:r>
              <a:t>Software Preparation</a:t>
            </a:r>
          </a:p>
          <a:p>
            <a:pPr marL="1028700" indent="-1028700">
              <a:buSzPct val="100000"/>
              <a:buAutoNum type="romanUcPeriod" startAt="1"/>
              <a:defRPr sz="6000" u="sng">
                <a:effectLst>
                  <a:outerShdw sx="100000" sy="100000" kx="0" ky="0" algn="b" rotWithShape="0" blurRad="38100" dist="38100" dir="2700000">
                    <a:srgbClr val="000000">
                      <a:alpha val="43137"/>
                    </a:srgbClr>
                  </a:outerShdw>
                </a:effectLst>
                <a:latin typeface="Calibri Light"/>
                <a:ea typeface="Calibri Light"/>
                <a:cs typeface="Calibri Light"/>
                <a:sym typeface="Calibri Light"/>
              </a:defRPr>
            </a:pPr>
            <a:r>
              <a:t>Some Common DBMS</a:t>
            </a:r>
          </a:p>
          <a:p>
            <a:pPr marL="1028700" indent="-1028700">
              <a:buSzPct val="100000"/>
              <a:buAutoNum type="romanUcPeriod" startAt="1"/>
              <a:defRPr sz="6000">
                <a:solidFill>
                  <a:srgbClr val="808080"/>
                </a:solidFill>
                <a:latin typeface="Calibri Light"/>
                <a:ea typeface="Calibri Light"/>
                <a:cs typeface="Calibri Light"/>
                <a:sym typeface="Calibri Light"/>
              </a:defRPr>
            </a:pPr>
            <a:r>
              <a:t>Frontend Technology</a:t>
            </a:r>
          </a:p>
          <a:p>
            <a:pPr marL="1028700" indent="-1028700">
              <a:buSzPct val="100000"/>
              <a:buAutoNum type="romanUcPeriod" startAt="1"/>
              <a:defRPr sz="6000">
                <a:solidFill>
                  <a:srgbClr val="808080"/>
                </a:solidFill>
                <a:latin typeface="Calibri Light"/>
                <a:ea typeface="Calibri Light"/>
                <a:cs typeface="Calibri Light"/>
                <a:sym typeface="Calibri Light"/>
              </a:defRPr>
            </a:pPr>
            <a:r>
              <a:t>Project One Preview</a:t>
            </a:r>
          </a:p>
        </p:txBody>
      </p:sp>
      <p:sp>
        <p:nvSpPr>
          <p:cNvPr id="192" name="Rectangle 9"/>
          <p:cNvSpPr txBox="1"/>
          <p:nvPr/>
        </p:nvSpPr>
        <p:spPr>
          <a:xfrm>
            <a:off x="860683" y="351692"/>
            <a:ext cx="10470634" cy="93537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6000">
                <a:solidFill>
                  <a:srgbClr val="C00000"/>
                </a:solidFill>
                <a:latin typeface="Times New Roman"/>
                <a:ea typeface="Times New Roman"/>
                <a:cs typeface="Times New Roman"/>
                <a:sym typeface="Times New Roman"/>
              </a:defRPr>
            </a:lvl1pPr>
          </a:lstStyle>
          <a:p>
            <a:pPr/>
            <a:r>
              <a:t>0-Project Preparation</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4" name="Rectangle 6"/>
          <p:cNvSpPr txBox="1"/>
          <p:nvPr/>
        </p:nvSpPr>
        <p:spPr>
          <a:xfrm>
            <a:off x="626580" y="353384"/>
            <a:ext cx="4314228" cy="93537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6000">
                <a:solidFill>
                  <a:srgbClr val="33339B"/>
                </a:solidFill>
                <a:latin typeface="Times New Roman"/>
                <a:ea typeface="Times New Roman"/>
                <a:cs typeface="Times New Roman"/>
                <a:sym typeface="Times New Roman"/>
              </a:defRPr>
            </a:lvl1pPr>
          </a:lstStyle>
          <a:p>
            <a:pPr/>
            <a:r>
              <a:t>1. MySQL </a:t>
            </a:r>
          </a:p>
        </p:txBody>
      </p:sp>
      <p:sp>
        <p:nvSpPr>
          <p:cNvPr id="195" name="文本框 2"/>
          <p:cNvSpPr txBox="1"/>
          <p:nvPr/>
        </p:nvSpPr>
        <p:spPr>
          <a:xfrm>
            <a:off x="626580" y="1460217"/>
            <a:ext cx="10518514" cy="543003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342900" indent="-342900">
              <a:buSzPct val="100000"/>
              <a:buChar char="▪"/>
              <a:defRPr sz="2800">
                <a:latin typeface="Calibri Light"/>
                <a:ea typeface="Calibri Light"/>
                <a:cs typeface="Calibri Light"/>
                <a:sym typeface="Calibri Light"/>
              </a:defRPr>
            </a:pPr>
            <a:r>
              <a:t>Latest version 8.0. The language used is </a:t>
            </a:r>
            <a:r>
              <a:rPr b="1">
                <a:latin typeface="Times New Roman"/>
                <a:ea typeface="Times New Roman"/>
                <a:cs typeface="Times New Roman"/>
                <a:sym typeface="Times New Roman"/>
              </a:rPr>
              <a:t>C and C++.</a:t>
            </a:r>
            <a:endParaRPr b="1">
              <a:latin typeface="Times New Roman"/>
              <a:ea typeface="Times New Roman"/>
              <a:cs typeface="Times New Roman"/>
              <a:sym typeface="Times New Roman"/>
            </a:endParaRPr>
          </a:p>
          <a:p>
            <a:pPr>
              <a:defRPr b="1" sz="2800">
                <a:latin typeface="Times New Roman"/>
                <a:ea typeface="Times New Roman"/>
                <a:cs typeface="Times New Roman"/>
                <a:sym typeface="Times New Roman"/>
              </a:defRPr>
            </a:pPr>
            <a:r>
              <a:t>    Relational database. </a:t>
            </a:r>
            <a:r>
              <a:rPr b="0">
                <a:latin typeface="Calibri Light"/>
                <a:ea typeface="Calibri Light"/>
                <a:cs typeface="Calibri Light"/>
                <a:sym typeface="Calibri Light"/>
              </a:rPr>
              <a:t>Works on many different platforms :</a:t>
            </a:r>
            <a:r>
              <a:rPr b="0">
                <a:latin typeface="Calibri Light"/>
                <a:ea typeface="Calibri Light"/>
                <a:cs typeface="Calibri Light"/>
                <a:sym typeface="Calibri Light"/>
              </a:rPr>
              <a:t> </a:t>
            </a:r>
            <a:r>
              <a:rPr b="0">
                <a:latin typeface="Calibri Light"/>
                <a:ea typeface="Calibri Light"/>
                <a:cs typeface="Calibri Light"/>
                <a:sym typeface="Calibri Light"/>
              </a:rPr>
              <a:t>Linux /Windows /Solaris…</a:t>
            </a:r>
            <a:endParaRPr>
              <a:latin typeface="Carlito"/>
              <a:ea typeface="Carlito"/>
              <a:cs typeface="Carlito"/>
              <a:sym typeface="Carlito"/>
            </a:endParaRPr>
          </a:p>
          <a:p>
            <a:pPr marL="342900" indent="-342900">
              <a:buSzPct val="100000"/>
              <a:buChar char="▪"/>
              <a:defRPr sz="2800">
                <a:latin typeface="Calibri Light"/>
                <a:ea typeface="Calibri Light"/>
                <a:cs typeface="Calibri Light"/>
                <a:sym typeface="Calibri Light"/>
              </a:defRPr>
            </a:pPr>
          </a:p>
          <a:p>
            <a:pPr marL="342900" indent="-342900">
              <a:buSzPct val="100000"/>
              <a:buChar char="▪"/>
              <a:defRPr sz="2800">
                <a:latin typeface="Calibri Light"/>
                <a:ea typeface="Calibri Light"/>
                <a:cs typeface="Calibri Light"/>
                <a:sym typeface="Calibri Light"/>
              </a:defRPr>
            </a:pPr>
            <a:r>
              <a:t>Few features of this tool are:</a:t>
            </a:r>
          </a:p>
          <a:p>
            <a:pPr>
              <a:defRPr sz="2800">
                <a:latin typeface="Calibri Light"/>
                <a:ea typeface="Calibri Light"/>
                <a:cs typeface="Calibri Light"/>
                <a:sym typeface="Calibri Light"/>
              </a:defRPr>
            </a:pPr>
            <a:r>
              <a:t>    (1)High-speed data processing; </a:t>
            </a:r>
          </a:p>
          <a:p>
            <a:pPr>
              <a:defRPr sz="2800">
                <a:latin typeface="Calibri Light"/>
                <a:ea typeface="Calibri Light"/>
                <a:cs typeface="Calibri Light"/>
                <a:sym typeface="Calibri Light"/>
              </a:defRPr>
            </a:pPr>
            <a:r>
              <a:t>    (2)Use of </a:t>
            </a:r>
            <a:r>
              <a:rPr b="1">
                <a:latin typeface="Times New Roman"/>
                <a:ea typeface="Times New Roman"/>
                <a:cs typeface="Times New Roman"/>
                <a:sym typeface="Times New Roman"/>
              </a:rPr>
              <a:t>triggers</a:t>
            </a:r>
            <a:r>
              <a:t> increases productivity, with </a:t>
            </a:r>
            <a:r>
              <a:rPr b="1">
                <a:latin typeface="Times New Roman"/>
                <a:ea typeface="Times New Roman"/>
                <a:cs typeface="Times New Roman"/>
                <a:sym typeface="Times New Roman"/>
              </a:rPr>
              <a:t>rollback</a:t>
            </a:r>
            <a:r>
              <a:t> and </a:t>
            </a:r>
            <a:r>
              <a:rPr b="1">
                <a:latin typeface="Times New Roman"/>
                <a:ea typeface="Times New Roman"/>
                <a:cs typeface="Times New Roman"/>
                <a:sym typeface="Times New Roman"/>
              </a:rPr>
              <a:t>commit</a:t>
            </a:r>
            <a:r>
              <a:t> helps in data recovery if required.</a:t>
            </a:r>
          </a:p>
          <a:p>
            <a:pPr>
              <a:defRPr sz="2800">
                <a:latin typeface="Calibri Light"/>
                <a:ea typeface="Calibri Light"/>
                <a:cs typeface="Calibri Light"/>
                <a:sym typeface="Calibri Light"/>
              </a:defRPr>
            </a:pPr>
          </a:p>
          <a:p>
            <a:pPr marL="342900" indent="-342900">
              <a:buSzPct val="100000"/>
              <a:buChar char="▪"/>
              <a:defRPr sz="2800">
                <a:latin typeface="Calibri Light"/>
                <a:ea typeface="Calibri Light"/>
                <a:cs typeface="Calibri Light"/>
                <a:sym typeface="Calibri Light"/>
              </a:defRPr>
            </a:pPr>
            <a:r>
              <a:t>Costs: </a:t>
            </a:r>
            <a:r>
              <a:rPr>
                <a:solidFill>
                  <a:srgbClr val="121212"/>
                </a:solidFill>
                <a:latin typeface="-apple-system"/>
                <a:ea typeface="-apple-system"/>
                <a:cs typeface="-apple-system"/>
                <a:sym typeface="-apple-system"/>
              </a:rPr>
              <a:t> </a:t>
            </a:r>
            <a:r>
              <a:rPr>
                <a:solidFill>
                  <a:srgbClr val="121212"/>
                </a:solidFill>
              </a:rPr>
              <a:t>Open-source and free for Community Server</a:t>
            </a:r>
            <a:r>
              <a:t>.	</a:t>
            </a:r>
          </a:p>
          <a:p>
            <a:pPr lvl="3">
              <a:defRPr sz="2800">
                <a:latin typeface="Calibri Light"/>
                <a:ea typeface="Calibri Light"/>
                <a:cs typeface="Calibri Light"/>
                <a:sym typeface="Calibri Light"/>
              </a:defRPr>
            </a:pPr>
            <a:r>
              <a:t>Commercial fees for </a:t>
            </a:r>
            <a:r>
              <a:rPr>
                <a:solidFill>
                  <a:srgbClr val="121212"/>
                </a:solidFill>
              </a:rPr>
              <a:t>Enterprise Edition</a:t>
            </a:r>
          </a:p>
          <a:p>
            <a:pPr marL="342900" indent="-342900">
              <a:buSzPct val="100000"/>
              <a:buChar char="▪"/>
              <a:defRPr sz="2800">
                <a:latin typeface="Calibri Light"/>
                <a:ea typeface="Calibri Light"/>
                <a:cs typeface="Calibri Light"/>
                <a:sym typeface="Calibri Light"/>
              </a:defRPr>
            </a:pPr>
            <a:r>
              <a:t>Website: </a:t>
            </a:r>
            <a:r>
              <a:rPr u="sng">
                <a:solidFill>
                  <a:srgbClr val="0563C1"/>
                </a:solidFill>
                <a:uFill>
                  <a:solidFill>
                    <a:srgbClr val="0563C1"/>
                  </a:solidFill>
                </a:uFill>
                <a:hlinkClick r:id="rId3" invalidUrl="" action="" tgtFrame="" tooltip="" history="1" highlightClick="0" endSnd="0"/>
              </a:rPr>
              <a:t>MySQL</a:t>
            </a:r>
          </a:p>
        </p:txBody>
      </p:sp>
      <p:pic>
        <p:nvPicPr>
          <p:cNvPr id="196" name="图片 4" descr="图片 4"/>
          <p:cNvPicPr>
            <a:picLocks noChangeAspect="1"/>
          </p:cNvPicPr>
          <p:nvPr/>
        </p:nvPicPr>
        <p:blipFill>
          <a:blip r:embed="rId4">
            <a:extLst/>
          </a:blip>
          <a:stretch>
            <a:fillRect/>
          </a:stretch>
        </p:blipFill>
        <p:spPr>
          <a:xfrm>
            <a:off x="9457357" y="5032723"/>
            <a:ext cx="2031642" cy="1382258"/>
          </a:xfrm>
          <a:prstGeom prst="rect">
            <a:avLst/>
          </a:prstGeom>
          <a:ln w="38100" cap="sq">
            <a:solidFill>
              <a:srgbClr val="00738E"/>
            </a:solidFill>
            <a:miter/>
          </a:ln>
          <a:effectLst>
            <a:outerShdw sx="100000" sy="100000" kx="0" ky="0" algn="b" rotWithShape="0" blurRad="50800" dist="38100" dir="2700000">
              <a:srgbClr val="000000">
                <a:alpha val="43000"/>
              </a:srgbClr>
            </a:outerShdw>
          </a:effectLst>
        </p:spPr>
      </p:pic>
      <p:sp>
        <p:nvSpPr>
          <p:cNvPr id="197" name="文本框 5"/>
          <p:cNvSpPr txBox="1"/>
          <p:nvPr/>
        </p:nvSpPr>
        <p:spPr>
          <a:xfrm>
            <a:off x="7415910" y="4936116"/>
            <a:ext cx="1899187" cy="4597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2400">
                <a:solidFill>
                  <a:schemeClr val="accent1"/>
                </a:solidFill>
                <a:latin typeface="微软雅黑"/>
                <a:ea typeface="微软雅黑"/>
                <a:cs typeface="微软雅黑"/>
                <a:sym typeface="微软雅黑"/>
              </a:defRPr>
            </a:pPr>
            <a:r>
              <a:t>“</a:t>
            </a:r>
            <a:r>
              <a:t>LAMP</a:t>
            </a:r>
            <a:r>
              <a:t>”</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1" name="文本框 1"/>
          <p:cNvSpPr txBox="1"/>
          <p:nvPr/>
        </p:nvSpPr>
        <p:spPr>
          <a:xfrm>
            <a:off x="461300" y="1246497"/>
            <a:ext cx="10541194" cy="524451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342900" indent="-342900">
              <a:buSzPct val="100000"/>
              <a:buChar char="▪"/>
              <a:defRPr sz="2800">
                <a:latin typeface="Calibri Light"/>
                <a:ea typeface="Calibri Light"/>
                <a:cs typeface="Calibri Light"/>
                <a:sym typeface="Calibri Light"/>
              </a:defRPr>
            </a:pPr>
            <a:r>
              <a:t>The latest release version is 3.39.3. Coded in </a:t>
            </a:r>
            <a:r>
              <a:rPr b="1">
                <a:latin typeface="Times New Roman"/>
                <a:ea typeface="Times New Roman"/>
                <a:cs typeface="Times New Roman"/>
                <a:sym typeface="Times New Roman"/>
              </a:rPr>
              <a:t>C language</a:t>
            </a:r>
            <a:r>
              <a:t>.</a:t>
            </a:r>
          </a:p>
          <a:p>
            <a:pPr>
              <a:defRPr sz="2800">
                <a:latin typeface="Calibri Light"/>
                <a:ea typeface="Calibri Light"/>
                <a:cs typeface="Calibri Light"/>
                <a:sym typeface="Calibri Light"/>
              </a:defRPr>
            </a:pPr>
            <a:r>
              <a:t>	It is mainly used as a database system for mobiles. It can work on Linux, Windows, and Mac operating systems.</a:t>
            </a:r>
          </a:p>
          <a:p>
            <a:pPr>
              <a:defRPr sz="2800">
                <a:latin typeface="Calibri Light"/>
                <a:ea typeface="Calibri Light"/>
                <a:cs typeface="Calibri Light"/>
                <a:sym typeface="Calibri Light"/>
              </a:defRPr>
            </a:pPr>
          </a:p>
          <a:p>
            <a:pPr marL="342900" indent="-342900">
              <a:buSzPct val="100000"/>
              <a:buChar char="▪"/>
              <a:defRPr sz="2800">
                <a:latin typeface="Calibri Light"/>
                <a:ea typeface="Calibri Light"/>
                <a:cs typeface="Calibri Light"/>
                <a:sym typeface="Calibri Light"/>
              </a:defRPr>
            </a:pPr>
            <a:r>
              <a:t>Few features of this tool are:</a:t>
            </a:r>
          </a:p>
          <a:p>
            <a:pPr>
              <a:defRPr sz="2800">
                <a:latin typeface="Calibri Light"/>
                <a:ea typeface="Calibri Light"/>
                <a:cs typeface="Calibri Light"/>
                <a:sym typeface="Calibri Light"/>
              </a:defRPr>
            </a:pPr>
            <a:r>
              <a:t>    (1) Concise functionality, small size. </a:t>
            </a:r>
          </a:p>
          <a:p>
            <a:pPr>
              <a:defRPr sz="2800">
                <a:latin typeface="Calibri Light"/>
                <a:ea typeface="Calibri Light"/>
                <a:cs typeface="Calibri Light"/>
                <a:sym typeface="Calibri Light"/>
              </a:defRPr>
            </a:pPr>
            <a:r>
              <a:t>    (2) Don’t need much space</a:t>
            </a:r>
          </a:p>
          <a:p>
            <a:pPr>
              <a:defRPr sz="2800">
                <a:latin typeface="Calibri Light"/>
                <a:ea typeface="Calibri Light"/>
                <a:cs typeface="Calibri Light"/>
                <a:sym typeface="Calibri Light"/>
              </a:defRPr>
            </a:pPr>
            <a:r>
              <a:t>    (3) Fast and don’t need to set up.</a:t>
            </a:r>
          </a:p>
          <a:p>
            <a:pPr>
              <a:defRPr sz="2800">
                <a:latin typeface="Calibri Light"/>
                <a:ea typeface="Calibri Light"/>
                <a:cs typeface="Calibri Light"/>
                <a:sym typeface="Calibri Light"/>
              </a:defRPr>
            </a:pPr>
          </a:p>
          <a:p>
            <a:pPr marL="342900" indent="-342900">
              <a:buSzPct val="100000"/>
              <a:buChar char="▪"/>
              <a:defRPr sz="2800">
                <a:latin typeface="Calibri Light"/>
                <a:ea typeface="Calibri Light"/>
                <a:cs typeface="Calibri Light"/>
                <a:sym typeface="Calibri Light"/>
              </a:defRPr>
            </a:pPr>
            <a:r>
              <a:t>Costs: It’s an open-source tool.</a:t>
            </a:r>
          </a:p>
          <a:p>
            <a:pPr marL="342900" indent="-342900">
              <a:buSzPct val="100000"/>
              <a:buChar char="▪"/>
              <a:defRPr sz="2800">
                <a:latin typeface="Calibri Light"/>
                <a:ea typeface="Calibri Light"/>
                <a:cs typeface="Calibri Light"/>
                <a:sym typeface="Calibri Light"/>
              </a:defRPr>
            </a:pPr>
          </a:p>
          <a:p>
            <a:pPr marL="342900" indent="-342900">
              <a:buSzPct val="100000"/>
              <a:buChar char="▪"/>
              <a:defRPr sz="2800">
                <a:latin typeface="Calibri Light"/>
                <a:ea typeface="Calibri Light"/>
                <a:cs typeface="Calibri Light"/>
                <a:sym typeface="Calibri Light"/>
              </a:defRPr>
            </a:pPr>
            <a:r>
              <a:t>Website: </a:t>
            </a:r>
            <a:r>
              <a:rPr u="sng">
                <a:solidFill>
                  <a:srgbClr val="0563C1"/>
                </a:solidFill>
                <a:uFill>
                  <a:solidFill>
                    <a:srgbClr val="0563C1"/>
                  </a:solidFill>
                </a:uFill>
                <a:hlinkClick r:id="rId3" invalidUrl="" action="" tgtFrame="" tooltip="" history="1" highlightClick="0" endSnd="0"/>
              </a:rPr>
              <a:t>SQLite</a:t>
            </a:r>
          </a:p>
        </p:txBody>
      </p:sp>
      <p:sp>
        <p:nvSpPr>
          <p:cNvPr id="202" name="Rectangle 6"/>
          <p:cNvSpPr txBox="1"/>
          <p:nvPr/>
        </p:nvSpPr>
        <p:spPr>
          <a:xfrm>
            <a:off x="626580" y="230834"/>
            <a:ext cx="4314228" cy="93537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6000">
                <a:solidFill>
                  <a:srgbClr val="33339B"/>
                </a:solidFill>
                <a:latin typeface="Times New Roman"/>
                <a:ea typeface="Times New Roman"/>
                <a:cs typeface="Times New Roman"/>
                <a:sym typeface="Times New Roman"/>
              </a:defRPr>
            </a:lvl1pPr>
          </a:lstStyle>
          <a:p>
            <a:pPr/>
            <a:r>
              <a:t>2. SQLite </a:t>
            </a:r>
          </a:p>
        </p:txBody>
      </p:sp>
      <p:pic>
        <p:nvPicPr>
          <p:cNvPr id="203" name="图片 4" descr="图片 4"/>
          <p:cNvPicPr>
            <a:picLocks noChangeAspect="1"/>
          </p:cNvPicPr>
          <p:nvPr/>
        </p:nvPicPr>
        <p:blipFill>
          <a:blip r:embed="rId4">
            <a:extLst/>
          </a:blip>
          <a:stretch>
            <a:fillRect/>
          </a:stretch>
        </p:blipFill>
        <p:spPr>
          <a:xfrm>
            <a:off x="8058663" y="4817586"/>
            <a:ext cx="2597684" cy="1159520"/>
          </a:xfrm>
          <a:prstGeom prst="rect">
            <a:avLst/>
          </a:prstGeom>
          <a:ln w="38100" cap="sq">
            <a:solidFill>
              <a:srgbClr val="044A60"/>
            </a:solidFill>
            <a:miter/>
          </a:ln>
          <a:effectLst>
            <a:outerShdw sx="100000" sy="100000" kx="0" ky="0" algn="b" rotWithShape="0" blurRad="50800" dist="38100" dir="2700000">
              <a:srgbClr val="000000">
                <a:alpha val="43000"/>
              </a:srgbClr>
            </a:outerShdw>
          </a:effectLst>
        </p:spPr>
      </p:pic>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7" name="文本框 1"/>
          <p:cNvSpPr txBox="1"/>
          <p:nvPr/>
        </p:nvSpPr>
        <p:spPr>
          <a:xfrm>
            <a:off x="456899" y="1152231"/>
            <a:ext cx="10239915" cy="582618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342900" indent="-342900">
              <a:buSzPct val="100000"/>
              <a:buChar char="▪"/>
              <a:defRPr sz="2800">
                <a:latin typeface="Calibri Light"/>
                <a:ea typeface="Calibri Light"/>
                <a:cs typeface="Calibri Light"/>
                <a:sym typeface="Calibri Light"/>
              </a:defRPr>
            </a:pPr>
            <a:r>
              <a:t>The latest stable release is 7.0.4. </a:t>
            </a:r>
          </a:p>
          <a:p>
            <a:pPr>
              <a:defRPr b="1" sz="2800">
                <a:latin typeface="Times New Roman"/>
                <a:ea typeface="Times New Roman"/>
                <a:cs typeface="Times New Roman"/>
                <a:sym typeface="Times New Roman"/>
              </a:defRPr>
            </a:pPr>
            <a:r>
              <a:t>    NoSQL</a:t>
            </a:r>
            <a:r>
              <a:rPr b="0">
                <a:latin typeface="Calibri Light"/>
                <a:ea typeface="Calibri Light"/>
                <a:cs typeface="Calibri Light"/>
                <a:sym typeface="Calibri Light"/>
              </a:rPr>
              <a:t>, work on Windows and Linux operating systems. It is coded in ANSI C language.</a:t>
            </a:r>
            <a:endParaRPr b="0">
              <a:latin typeface="Calibri Light"/>
              <a:ea typeface="Calibri Light"/>
              <a:cs typeface="Calibri Light"/>
              <a:sym typeface="Calibri Light"/>
            </a:endParaRPr>
          </a:p>
          <a:p>
            <a:pPr>
              <a:defRPr sz="2800">
                <a:latin typeface="Calibri Light"/>
                <a:ea typeface="Calibri Light"/>
                <a:cs typeface="Calibri Light"/>
                <a:sym typeface="Calibri Light"/>
              </a:defRPr>
            </a:pPr>
          </a:p>
          <a:p>
            <a:pPr marL="342900" indent="-342900">
              <a:buSzPct val="100000"/>
              <a:buChar char="▪"/>
              <a:defRPr sz="2800">
                <a:latin typeface="Calibri Light"/>
                <a:ea typeface="Calibri Light"/>
                <a:cs typeface="Calibri Light"/>
                <a:sym typeface="Calibri Light"/>
              </a:defRPr>
            </a:pPr>
            <a:r>
              <a:t>Few features of this tool are:</a:t>
            </a:r>
          </a:p>
          <a:p>
            <a:pPr>
              <a:defRPr sz="2800">
                <a:latin typeface="Calibri Light"/>
                <a:ea typeface="Calibri Light"/>
                <a:cs typeface="Calibri Light"/>
                <a:sym typeface="Calibri Light"/>
              </a:defRPr>
            </a:pPr>
            <a:r>
              <a:t>    (1) supports </a:t>
            </a:r>
            <a:r>
              <a:rPr b="1">
                <a:latin typeface="Times New Roman"/>
                <a:ea typeface="Times New Roman"/>
                <a:cs typeface="Times New Roman"/>
                <a:sym typeface="Times New Roman"/>
              </a:rPr>
              <a:t>distributed systems</a:t>
            </a:r>
            <a:r>
              <a:t>.</a:t>
            </a:r>
          </a:p>
          <a:p>
            <a:pPr>
              <a:defRPr sz="2800">
                <a:latin typeface="Calibri Light"/>
                <a:ea typeface="Calibri Light"/>
                <a:cs typeface="Calibri Light"/>
                <a:sym typeface="Calibri Light"/>
              </a:defRPr>
            </a:pPr>
            <a:r>
              <a:t>    (2) </a:t>
            </a:r>
            <a:r>
              <a:rPr b="1">
                <a:latin typeface="Times New Roman"/>
                <a:ea typeface="Times New Roman"/>
                <a:cs typeface="Times New Roman"/>
                <a:sym typeface="Times New Roman"/>
              </a:rPr>
              <a:t>key-value</a:t>
            </a:r>
            <a:r>
              <a:t> storage system</a:t>
            </a:r>
          </a:p>
          <a:p>
            <a:pPr>
              <a:defRPr sz="2800">
                <a:latin typeface="Calibri Light"/>
                <a:ea typeface="Calibri Light"/>
                <a:cs typeface="Calibri Light"/>
                <a:sym typeface="Calibri Light"/>
              </a:defRPr>
            </a:pPr>
            <a:r>
              <a:t>    (3) </a:t>
            </a:r>
            <a:r>
              <a:rPr b="1">
                <a:latin typeface="Times New Roman"/>
                <a:ea typeface="Times New Roman"/>
                <a:cs typeface="Times New Roman"/>
                <a:sym typeface="Times New Roman"/>
              </a:rPr>
              <a:t>high processing speed</a:t>
            </a:r>
            <a:r>
              <a:t>. data types like </a:t>
            </a:r>
            <a:r>
              <a:rPr b="1">
                <a:latin typeface="Times New Roman"/>
                <a:ea typeface="Times New Roman"/>
                <a:cs typeface="Times New Roman"/>
                <a:sym typeface="Times New Roman"/>
              </a:rPr>
              <a:t>hashes</a:t>
            </a:r>
            <a:r>
              <a:t> and </a:t>
            </a:r>
            <a:r>
              <a:rPr b="1">
                <a:latin typeface="Times New Roman"/>
                <a:ea typeface="Times New Roman"/>
                <a:cs typeface="Times New Roman"/>
                <a:sym typeface="Times New Roman"/>
              </a:rPr>
              <a:t>strings</a:t>
            </a:r>
            <a:r>
              <a:t> are also supported.</a:t>
            </a:r>
          </a:p>
          <a:p>
            <a:pPr>
              <a:defRPr sz="2800">
                <a:latin typeface="Calibri Light"/>
                <a:ea typeface="Calibri Light"/>
                <a:cs typeface="Calibri Light"/>
                <a:sym typeface="Calibri Light"/>
              </a:defRPr>
            </a:pPr>
          </a:p>
          <a:p>
            <a:pPr marL="342900" indent="-342900">
              <a:buSzPct val="100000"/>
              <a:buChar char="▪"/>
              <a:defRPr sz="2800">
                <a:latin typeface="Calibri Light"/>
                <a:ea typeface="Calibri Light"/>
                <a:cs typeface="Calibri Light"/>
                <a:sym typeface="Calibri Light"/>
              </a:defRPr>
            </a:pPr>
            <a:r>
              <a:t>Costs: It’s an open-source tool.</a:t>
            </a:r>
          </a:p>
          <a:p>
            <a:pPr marL="342900" indent="-342900">
              <a:buSzPct val="100000"/>
              <a:buChar char="▪"/>
              <a:defRPr sz="2800">
                <a:latin typeface="Calibri Light"/>
                <a:ea typeface="Calibri Light"/>
                <a:cs typeface="Calibri Light"/>
                <a:sym typeface="Calibri Light"/>
              </a:defRPr>
            </a:pPr>
          </a:p>
          <a:p>
            <a:pPr marL="342900" indent="-342900">
              <a:buSzPct val="100000"/>
              <a:buChar char="▪"/>
              <a:defRPr sz="2800">
                <a:latin typeface="Calibri Light"/>
                <a:ea typeface="Calibri Light"/>
                <a:cs typeface="Calibri Light"/>
                <a:sym typeface="Calibri Light"/>
              </a:defRPr>
            </a:pPr>
            <a:r>
              <a:t>Website: </a:t>
            </a:r>
            <a:r>
              <a:rPr u="sng">
                <a:solidFill>
                  <a:srgbClr val="0563C1"/>
                </a:solidFill>
                <a:uFill>
                  <a:solidFill>
                    <a:srgbClr val="0563C1"/>
                  </a:solidFill>
                </a:uFill>
                <a:hlinkClick r:id="rId3" invalidUrl="" action="" tgtFrame="" tooltip="" history="1" highlightClick="0" endSnd="0"/>
              </a:rPr>
              <a:t>Redis</a:t>
            </a:r>
          </a:p>
        </p:txBody>
      </p:sp>
      <p:sp>
        <p:nvSpPr>
          <p:cNvPr id="208" name="Rectangle 6"/>
          <p:cNvSpPr txBox="1"/>
          <p:nvPr/>
        </p:nvSpPr>
        <p:spPr>
          <a:xfrm>
            <a:off x="456898" y="136567"/>
            <a:ext cx="4314228" cy="93537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6000">
                <a:solidFill>
                  <a:srgbClr val="33339B"/>
                </a:solidFill>
                <a:latin typeface="Times New Roman"/>
                <a:ea typeface="Times New Roman"/>
                <a:cs typeface="Times New Roman"/>
                <a:sym typeface="Times New Roman"/>
              </a:defRPr>
            </a:lvl1pPr>
          </a:lstStyle>
          <a:p>
            <a:pPr/>
            <a:r>
              <a:t>3. Redis</a:t>
            </a:r>
          </a:p>
        </p:txBody>
      </p:sp>
      <p:pic>
        <p:nvPicPr>
          <p:cNvPr id="209" name="图片 4" descr="图片 4"/>
          <p:cNvPicPr>
            <a:picLocks noChangeAspect="1"/>
          </p:cNvPicPr>
          <p:nvPr/>
        </p:nvPicPr>
        <p:blipFill>
          <a:blip r:embed="rId4">
            <a:extLst/>
          </a:blip>
          <a:stretch>
            <a:fillRect/>
          </a:stretch>
        </p:blipFill>
        <p:spPr>
          <a:xfrm>
            <a:off x="8471743" y="5230917"/>
            <a:ext cx="2412053" cy="1113257"/>
          </a:xfrm>
          <a:prstGeom prst="rect">
            <a:avLst/>
          </a:prstGeom>
          <a:ln w="38100" cap="sq">
            <a:solidFill>
              <a:srgbClr val="DC382C"/>
            </a:solidFill>
            <a:miter/>
          </a:ln>
          <a:effectLst>
            <a:outerShdw sx="100000" sy="100000" kx="0" ky="0" algn="b" rotWithShape="0" blurRad="50800" dist="38100" dir="2700000">
              <a:srgbClr val="000000">
                <a:alpha val="43000"/>
              </a:srgbClr>
            </a:outerShdw>
          </a:effectLst>
        </p:spPr>
      </p:pic>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3" name="Rectangle 6"/>
          <p:cNvSpPr txBox="1"/>
          <p:nvPr/>
        </p:nvSpPr>
        <p:spPr>
          <a:xfrm>
            <a:off x="390910" y="-1"/>
            <a:ext cx="4314228" cy="93537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6000">
                <a:solidFill>
                  <a:srgbClr val="33339B"/>
                </a:solidFill>
                <a:latin typeface="Times New Roman"/>
                <a:ea typeface="Times New Roman"/>
                <a:cs typeface="Times New Roman"/>
                <a:sym typeface="Times New Roman"/>
              </a:defRPr>
            </a:lvl1pPr>
          </a:lstStyle>
          <a:p>
            <a:pPr/>
            <a:r>
              <a:t>4. Neo4j</a:t>
            </a:r>
          </a:p>
        </p:txBody>
      </p:sp>
      <p:sp>
        <p:nvSpPr>
          <p:cNvPr id="214" name="文本框 14"/>
          <p:cNvSpPr txBox="1"/>
          <p:nvPr/>
        </p:nvSpPr>
        <p:spPr>
          <a:xfrm>
            <a:off x="400013" y="1015663"/>
            <a:ext cx="10051742" cy="5961743"/>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342900" indent="-342900">
              <a:buSzPct val="100000"/>
              <a:buChar char="▪"/>
              <a:defRPr sz="2800">
                <a:latin typeface="Calibri Light"/>
                <a:ea typeface="Calibri Light"/>
                <a:cs typeface="Calibri Light"/>
                <a:sym typeface="Calibri Light"/>
              </a:defRPr>
            </a:pPr>
            <a:r>
              <a:t>The latest stable version is 5.12. Coded in </a:t>
            </a:r>
            <a:r>
              <a:rPr b="1">
                <a:latin typeface="Times New Roman"/>
                <a:ea typeface="Times New Roman"/>
                <a:cs typeface="Times New Roman"/>
                <a:sym typeface="Times New Roman"/>
              </a:rPr>
              <a:t>Java</a:t>
            </a:r>
            <a:endParaRPr b="1">
              <a:latin typeface="Times New Roman"/>
              <a:ea typeface="Times New Roman"/>
              <a:cs typeface="Times New Roman"/>
              <a:sym typeface="Times New Roman"/>
            </a:endParaRPr>
          </a:p>
          <a:p>
            <a:pPr>
              <a:defRPr sz="2800">
                <a:latin typeface="Calibri Light"/>
                <a:ea typeface="Calibri Light"/>
                <a:cs typeface="Calibri Light"/>
                <a:sym typeface="Calibri Light"/>
              </a:defRPr>
            </a:pPr>
            <a:r>
              <a:t>     </a:t>
            </a:r>
            <a:r>
              <a:rPr b="1">
                <a:latin typeface="Times New Roman"/>
                <a:ea typeface="Times New Roman"/>
                <a:cs typeface="Times New Roman"/>
                <a:sym typeface="Times New Roman"/>
              </a:rPr>
              <a:t>Graph database(NoSQL)</a:t>
            </a:r>
            <a:r>
              <a:rPr>
                <a:latin typeface="Times New Roman"/>
                <a:ea typeface="Times New Roman"/>
                <a:cs typeface="Times New Roman"/>
                <a:sym typeface="Times New Roman"/>
              </a:rPr>
              <a:t>,</a:t>
            </a:r>
            <a:r>
              <a:rPr>
                <a:latin typeface="Times New Roman"/>
                <a:ea typeface="Times New Roman"/>
                <a:cs typeface="Times New Roman"/>
                <a:sym typeface="Times New Roman"/>
              </a:rPr>
              <a:t> </a:t>
            </a:r>
            <a:r>
              <a:t>used on Windows and Linux/Unix operating systems.</a:t>
            </a:r>
          </a:p>
          <a:p>
            <a:pPr>
              <a:defRPr sz="2800">
                <a:latin typeface="Calibri Light"/>
                <a:ea typeface="Calibri Light"/>
                <a:cs typeface="Calibri Light"/>
                <a:sym typeface="Calibri Light"/>
              </a:defRPr>
            </a:pPr>
          </a:p>
          <a:p>
            <a:pPr marL="342900" indent="-342900">
              <a:buSzPct val="100000"/>
              <a:buChar char="▪"/>
              <a:defRPr sz="2800">
                <a:latin typeface="Calibri Light"/>
                <a:ea typeface="Calibri Light"/>
                <a:cs typeface="Calibri Light"/>
                <a:sym typeface="Calibri Light"/>
              </a:defRPr>
            </a:pPr>
            <a:r>
              <a:t>Few features of this tool are:</a:t>
            </a:r>
          </a:p>
          <a:p>
            <a:pPr>
              <a:defRPr sz="2800">
                <a:latin typeface="Calibri Light"/>
                <a:ea typeface="Calibri Light"/>
                <a:cs typeface="Calibri Light"/>
                <a:sym typeface="Calibri Light"/>
              </a:defRPr>
            </a:pPr>
            <a:r>
              <a:t>    (1)Stores data in the form of </a:t>
            </a:r>
            <a:r>
              <a:rPr b="1">
                <a:latin typeface="Times New Roman"/>
                <a:ea typeface="Times New Roman"/>
                <a:cs typeface="Times New Roman"/>
                <a:sym typeface="Times New Roman"/>
              </a:rPr>
              <a:t>graphs</a:t>
            </a:r>
            <a:r>
              <a:t> (</a:t>
            </a:r>
            <a:r>
              <a:rPr b="1">
                <a:latin typeface="Times New Roman"/>
                <a:ea typeface="Times New Roman"/>
                <a:cs typeface="Times New Roman"/>
                <a:sym typeface="Times New Roman"/>
              </a:rPr>
              <a:t>nodes</a:t>
            </a:r>
            <a:r>
              <a:t>, </a:t>
            </a:r>
            <a:r>
              <a:rPr b="1">
                <a:latin typeface="Times New Roman"/>
                <a:ea typeface="Times New Roman"/>
                <a:cs typeface="Times New Roman"/>
                <a:sym typeface="Times New Roman"/>
              </a:rPr>
              <a:t>edges</a:t>
            </a:r>
            <a:r>
              <a:t>, and </a:t>
            </a:r>
            <a:r>
              <a:rPr b="1">
                <a:latin typeface="Times New Roman"/>
                <a:ea typeface="Times New Roman"/>
                <a:cs typeface="Times New Roman"/>
                <a:sym typeface="Times New Roman"/>
              </a:rPr>
              <a:t>attributes</a:t>
            </a:r>
            <a:r>
              <a:t> of nodes and edges).</a:t>
            </a:r>
          </a:p>
          <a:p>
            <a:pPr>
              <a:defRPr sz="2800">
                <a:latin typeface="Calibri Light"/>
                <a:ea typeface="Calibri Light"/>
                <a:cs typeface="Calibri Light"/>
                <a:sym typeface="Calibri Light"/>
              </a:defRPr>
            </a:pPr>
            <a:r>
              <a:t>    (2)Using </a:t>
            </a:r>
            <a:r>
              <a:rPr b="1">
                <a:latin typeface="Times New Roman"/>
                <a:ea typeface="Times New Roman"/>
                <a:cs typeface="Times New Roman"/>
                <a:sym typeface="Times New Roman"/>
              </a:rPr>
              <a:t>Cypher query language (CQL), </a:t>
            </a:r>
            <a:r>
              <a:t>easy to learn. </a:t>
            </a:r>
          </a:p>
          <a:p>
            <a:pPr>
              <a:defRPr sz="2800">
                <a:latin typeface="Calibri Light"/>
                <a:ea typeface="Calibri Light"/>
                <a:cs typeface="Calibri Light"/>
                <a:sym typeface="Calibri Light"/>
              </a:defRPr>
            </a:pPr>
            <a:r>
              <a:t>    (3) easy to represent and manage data in </a:t>
            </a:r>
            <a:r>
              <a:rPr b="1">
                <a:latin typeface="Times New Roman"/>
                <a:ea typeface="Times New Roman"/>
                <a:cs typeface="Times New Roman"/>
                <a:sym typeface="Times New Roman"/>
              </a:rPr>
              <a:t>connected relationships</a:t>
            </a:r>
            <a:r>
              <a:t>.</a:t>
            </a:r>
          </a:p>
          <a:p>
            <a:pPr>
              <a:defRPr sz="2800">
                <a:latin typeface="Calibri Light"/>
                <a:ea typeface="Calibri Light"/>
                <a:cs typeface="Calibri Light"/>
                <a:sym typeface="Calibri Light"/>
              </a:defRPr>
            </a:pPr>
          </a:p>
          <a:p>
            <a:pPr marL="342900" indent="-342900">
              <a:buSzPct val="100000"/>
              <a:buChar char="▪"/>
              <a:defRPr sz="2800">
                <a:latin typeface="Calibri Light"/>
                <a:ea typeface="Calibri Light"/>
                <a:cs typeface="Calibri Light"/>
                <a:sym typeface="Calibri Light"/>
              </a:defRPr>
            </a:pPr>
            <a:r>
              <a:t>Costs: </a:t>
            </a:r>
            <a:r>
              <a:rPr>
                <a:solidFill>
                  <a:srgbClr val="121212"/>
                </a:solidFill>
                <a:latin typeface="-apple-system"/>
                <a:ea typeface="-apple-system"/>
                <a:cs typeface="-apple-system"/>
                <a:sym typeface="-apple-system"/>
              </a:rPr>
              <a:t> </a:t>
            </a:r>
            <a:r>
              <a:rPr>
                <a:solidFill>
                  <a:srgbClr val="121212"/>
                </a:solidFill>
                <a:latin typeface="Roboto"/>
                <a:ea typeface="Roboto"/>
                <a:cs typeface="Roboto"/>
                <a:sym typeface="Roboto"/>
              </a:rPr>
              <a:t>Open-source and free for Community Server</a:t>
            </a:r>
            <a:r>
              <a:t>.	</a:t>
            </a:r>
          </a:p>
          <a:p>
            <a:pPr lvl="3">
              <a:defRPr sz="2800">
                <a:latin typeface="Roboto"/>
                <a:ea typeface="Roboto"/>
                <a:cs typeface="Roboto"/>
                <a:sym typeface="Roboto"/>
              </a:defRPr>
            </a:pPr>
            <a:r>
              <a:t>Commercial fees for </a:t>
            </a:r>
            <a:r>
              <a:rPr>
                <a:solidFill>
                  <a:srgbClr val="121212"/>
                </a:solidFill>
                <a:latin typeface="-apple-system"/>
                <a:ea typeface="-apple-system"/>
                <a:cs typeface="-apple-system"/>
                <a:sym typeface="-apple-system"/>
              </a:rPr>
              <a:t>Enterprise Edition</a:t>
            </a:r>
            <a:endParaRPr>
              <a:latin typeface="Calibri Light"/>
              <a:ea typeface="Calibri Light"/>
              <a:cs typeface="Calibri Light"/>
              <a:sym typeface="Calibri Light"/>
            </a:endParaRPr>
          </a:p>
          <a:p>
            <a:pPr marL="342900" indent="-342900">
              <a:buSzPct val="100000"/>
              <a:buChar char="▪"/>
              <a:defRPr sz="2800">
                <a:latin typeface="Calibri Light"/>
                <a:ea typeface="Calibri Light"/>
                <a:cs typeface="Calibri Light"/>
                <a:sym typeface="Calibri Light"/>
              </a:defRPr>
            </a:pPr>
            <a:r>
              <a:t>Website: </a:t>
            </a:r>
            <a:r>
              <a:rPr u="sng">
                <a:solidFill>
                  <a:srgbClr val="0563C1"/>
                </a:solidFill>
                <a:uFill>
                  <a:solidFill>
                    <a:srgbClr val="0563C1"/>
                  </a:solidFill>
                </a:uFill>
                <a:hlinkClick r:id="rId3" invalidUrl="" action="" tgtFrame="" tooltip="" history="1" highlightClick="0" endSnd="0"/>
              </a:rPr>
              <a:t>Neo4j</a:t>
            </a:r>
          </a:p>
        </p:txBody>
      </p:sp>
      <p:pic>
        <p:nvPicPr>
          <p:cNvPr id="215" name="图片 3" descr="图片 3"/>
          <p:cNvPicPr>
            <a:picLocks noChangeAspect="1"/>
          </p:cNvPicPr>
          <p:nvPr/>
        </p:nvPicPr>
        <p:blipFill>
          <a:blip r:embed="rId4">
            <a:extLst/>
          </a:blip>
          <a:stretch>
            <a:fillRect/>
          </a:stretch>
        </p:blipFill>
        <p:spPr>
          <a:xfrm>
            <a:off x="9365792" y="5350195"/>
            <a:ext cx="2263366" cy="1180283"/>
          </a:xfrm>
          <a:prstGeom prst="rect">
            <a:avLst/>
          </a:prstGeom>
          <a:ln w="38100" cap="sq">
            <a:solidFill>
              <a:srgbClr val="018BFF"/>
            </a:solidFill>
            <a:miter/>
          </a:ln>
          <a:effectLst>
            <a:outerShdw sx="100000" sy="100000" kx="0" ky="0" algn="b" rotWithShape="0" blurRad="50800" dist="38100" dir="2700000">
              <a:srgbClr val="000000">
                <a:alpha val="43000"/>
              </a:srgbClr>
            </a:outerShdw>
          </a:effectLst>
        </p:spPr>
      </p:pic>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9" name="Rectangle 6"/>
          <p:cNvSpPr txBox="1"/>
          <p:nvPr/>
        </p:nvSpPr>
        <p:spPr>
          <a:xfrm>
            <a:off x="626580" y="353384"/>
            <a:ext cx="4314228" cy="93537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6000">
                <a:solidFill>
                  <a:srgbClr val="33339B"/>
                </a:solidFill>
                <a:latin typeface="Times New Roman"/>
                <a:ea typeface="Times New Roman"/>
                <a:cs typeface="Times New Roman"/>
                <a:sym typeface="Times New Roman"/>
              </a:defRPr>
            </a:lvl1pPr>
          </a:lstStyle>
          <a:p>
            <a:pPr/>
            <a:r>
              <a:t>5. OrientDB</a:t>
            </a:r>
          </a:p>
        </p:txBody>
      </p:sp>
      <p:sp>
        <p:nvSpPr>
          <p:cNvPr id="220" name="文本框 2"/>
          <p:cNvSpPr txBox="1"/>
          <p:nvPr/>
        </p:nvSpPr>
        <p:spPr>
          <a:xfrm>
            <a:off x="626581" y="1524479"/>
            <a:ext cx="10092685" cy="491262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342900" indent="-342900">
              <a:buSzPct val="100000"/>
              <a:buChar char="▪"/>
              <a:defRPr sz="2800">
                <a:latin typeface="Calibri Light"/>
                <a:ea typeface="Calibri Light"/>
                <a:cs typeface="Calibri Light"/>
                <a:sym typeface="Calibri Light"/>
              </a:defRPr>
            </a:pPr>
            <a:r>
              <a:t>The latest stable version is 3.2.23. It is coded in </a:t>
            </a:r>
            <a:r>
              <a:rPr b="1">
                <a:latin typeface="Times New Roman"/>
                <a:ea typeface="Times New Roman"/>
                <a:cs typeface="Times New Roman"/>
                <a:sym typeface="Times New Roman"/>
              </a:rPr>
              <a:t>Java</a:t>
            </a:r>
            <a:r>
              <a:t> language</a:t>
            </a:r>
          </a:p>
          <a:p>
            <a:pPr>
              <a:defRPr sz="2800">
                <a:latin typeface="Calibri Light"/>
                <a:ea typeface="Calibri Light"/>
                <a:cs typeface="Calibri Light"/>
                <a:sym typeface="Calibri Light"/>
              </a:defRPr>
            </a:pPr>
            <a:r>
              <a:t>     </a:t>
            </a:r>
            <a:r>
              <a:rPr b="1">
                <a:latin typeface="Times New Roman"/>
                <a:ea typeface="Times New Roman"/>
                <a:cs typeface="Times New Roman"/>
                <a:sym typeface="Times New Roman"/>
              </a:rPr>
              <a:t>NoSQL</a:t>
            </a:r>
            <a:r>
              <a:rPr>
                <a:latin typeface="Times New Roman"/>
                <a:ea typeface="Times New Roman"/>
                <a:cs typeface="Times New Roman"/>
                <a:sym typeface="Times New Roman"/>
              </a:rPr>
              <a:t> , </a:t>
            </a:r>
            <a:r>
              <a:t>used on Windows and Linux platforms.</a:t>
            </a:r>
          </a:p>
          <a:p>
            <a:pPr>
              <a:defRPr sz="2800">
                <a:latin typeface="Calibri Light"/>
                <a:ea typeface="Calibri Light"/>
                <a:cs typeface="Calibri Light"/>
                <a:sym typeface="Calibri Light"/>
              </a:defRPr>
            </a:pPr>
          </a:p>
          <a:p>
            <a:pPr marL="342900" indent="-342900">
              <a:buSzPct val="100000"/>
              <a:buChar char="▪"/>
              <a:defRPr sz="2800">
                <a:latin typeface="Calibri Light"/>
                <a:ea typeface="Calibri Light"/>
                <a:cs typeface="Calibri Light"/>
                <a:sym typeface="Calibri Light"/>
              </a:defRPr>
            </a:pPr>
            <a:r>
              <a:t>Few features of this tool are:</a:t>
            </a:r>
          </a:p>
          <a:p>
            <a:pPr>
              <a:defRPr sz="2800">
                <a:latin typeface="Calibri Light"/>
                <a:ea typeface="Calibri Light"/>
                <a:cs typeface="Calibri Light"/>
                <a:sym typeface="Calibri Light"/>
              </a:defRPr>
            </a:pPr>
            <a:r>
              <a:t>    (1) A </a:t>
            </a:r>
            <a:r>
              <a:rPr b="1">
                <a:latin typeface="Times New Roman"/>
                <a:ea typeface="Times New Roman"/>
                <a:cs typeface="Times New Roman"/>
                <a:sym typeface="Times New Roman"/>
              </a:rPr>
              <a:t>graphical database</a:t>
            </a:r>
            <a:r>
              <a:t>. </a:t>
            </a:r>
          </a:p>
          <a:p>
            <a:pPr>
              <a:defRPr sz="2800">
                <a:latin typeface="Calibri Light"/>
                <a:ea typeface="Calibri Light"/>
                <a:cs typeface="Calibri Light"/>
                <a:sym typeface="Calibri Light"/>
              </a:defRPr>
            </a:pPr>
            <a:r>
              <a:t>    (2) Widely used across big data market and in real-time web-based applications.</a:t>
            </a:r>
          </a:p>
          <a:p>
            <a:pPr>
              <a:defRPr sz="2800">
                <a:latin typeface="Calibri Light"/>
                <a:ea typeface="Calibri Light"/>
                <a:cs typeface="Calibri Light"/>
                <a:sym typeface="Calibri Light"/>
              </a:defRPr>
            </a:pPr>
          </a:p>
          <a:p>
            <a:pPr marL="342900" indent="-342900">
              <a:buSzPct val="100000"/>
              <a:buChar char="▪"/>
              <a:defRPr sz="2800">
                <a:latin typeface="Calibri Light"/>
                <a:ea typeface="Calibri Light"/>
                <a:cs typeface="Calibri Light"/>
                <a:sym typeface="Calibri Light"/>
              </a:defRPr>
            </a:pPr>
            <a:r>
              <a:t>Costs: It’s an open-source tool.</a:t>
            </a:r>
          </a:p>
          <a:p>
            <a:pPr marL="342900" indent="-342900">
              <a:buSzPct val="100000"/>
              <a:buChar char="▪"/>
              <a:defRPr sz="2800">
                <a:latin typeface="Calibri Light"/>
                <a:ea typeface="Calibri Light"/>
                <a:cs typeface="Calibri Light"/>
                <a:sym typeface="Calibri Light"/>
              </a:defRPr>
            </a:pPr>
          </a:p>
          <a:p>
            <a:pPr marL="342900" indent="-342900">
              <a:buSzPct val="100000"/>
              <a:buChar char="▪"/>
              <a:defRPr sz="2800">
                <a:latin typeface="Calibri Light"/>
                <a:ea typeface="Calibri Light"/>
                <a:cs typeface="Calibri Light"/>
                <a:sym typeface="Calibri Light"/>
              </a:defRPr>
            </a:pPr>
            <a:r>
              <a:t>Website: </a:t>
            </a:r>
            <a:r>
              <a:rPr u="sng">
                <a:solidFill>
                  <a:srgbClr val="0563C1"/>
                </a:solidFill>
                <a:uFill>
                  <a:solidFill>
                    <a:srgbClr val="0563C1"/>
                  </a:solidFill>
                </a:uFill>
                <a:hlinkClick r:id="rId3" invalidUrl="" action="" tgtFrame="" tooltip="" history="1" highlightClick="0" endSnd="0"/>
              </a:rPr>
              <a:t>OrientDB</a:t>
            </a:r>
          </a:p>
        </p:txBody>
      </p:sp>
      <p:pic>
        <p:nvPicPr>
          <p:cNvPr id="221" name="图片 4" descr="图片 4"/>
          <p:cNvPicPr>
            <a:picLocks noChangeAspect="1"/>
          </p:cNvPicPr>
          <p:nvPr/>
        </p:nvPicPr>
        <p:blipFill>
          <a:blip r:embed="rId4">
            <a:extLst/>
          </a:blip>
          <a:stretch>
            <a:fillRect/>
          </a:stretch>
        </p:blipFill>
        <p:spPr>
          <a:xfrm>
            <a:off x="8436130" y="5267397"/>
            <a:ext cx="2495452" cy="1089175"/>
          </a:xfrm>
          <a:prstGeom prst="rect">
            <a:avLst/>
          </a:prstGeom>
          <a:ln w="38100" cap="sq">
            <a:solidFill>
              <a:srgbClr val="FC6B36"/>
            </a:solidFill>
            <a:miter/>
          </a:ln>
          <a:effectLst>
            <a:outerShdw sx="100000" sy="100000" kx="0" ky="0" algn="b" rotWithShape="0" blurRad="50800" dist="38100" dir="2700000">
              <a:srgbClr val="000000">
                <a:alpha val="43000"/>
              </a:srgbClr>
            </a:outerShdw>
          </a:effectLst>
        </p:spPr>
      </p:pic>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5" name="Rectangle 6"/>
          <p:cNvSpPr txBox="1"/>
          <p:nvPr/>
        </p:nvSpPr>
        <p:spPr>
          <a:xfrm>
            <a:off x="626581" y="353384"/>
            <a:ext cx="5728499" cy="93537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6000">
                <a:solidFill>
                  <a:srgbClr val="33339B"/>
                </a:solidFill>
                <a:latin typeface="Times New Roman"/>
                <a:ea typeface="Times New Roman"/>
                <a:cs typeface="Times New Roman"/>
                <a:sym typeface="Times New Roman"/>
              </a:defRPr>
            </a:lvl1pPr>
          </a:lstStyle>
          <a:p>
            <a:pPr/>
            <a:r>
              <a:t>6. phpMyAdmin </a:t>
            </a:r>
          </a:p>
        </p:txBody>
      </p:sp>
      <p:sp>
        <p:nvSpPr>
          <p:cNvPr id="226" name="文本框 4"/>
          <p:cNvSpPr txBox="1"/>
          <p:nvPr/>
        </p:nvSpPr>
        <p:spPr>
          <a:xfrm>
            <a:off x="885507" y="1557337"/>
            <a:ext cx="11322640" cy="496258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342900" indent="-342900">
              <a:buSzPct val="100000"/>
              <a:buChar char="▪"/>
              <a:defRPr sz="2800">
                <a:latin typeface="Calibri Light"/>
                <a:ea typeface="Calibri Light"/>
                <a:cs typeface="Calibri Light"/>
                <a:sym typeface="Calibri Light"/>
              </a:defRPr>
            </a:pPr>
            <a:r>
              <a:t>The latest stable release is 5.2.1. It is coded primarily in </a:t>
            </a:r>
            <a:r>
              <a:rPr b="1">
                <a:latin typeface="Times New Roman"/>
                <a:ea typeface="Times New Roman"/>
                <a:cs typeface="Times New Roman"/>
                <a:sym typeface="Times New Roman"/>
              </a:rPr>
              <a:t>PHP</a:t>
            </a:r>
            <a:r>
              <a:t>.</a:t>
            </a:r>
          </a:p>
          <a:p>
            <a:pPr>
              <a:defRPr sz="2800">
                <a:latin typeface="Calibri Light"/>
                <a:ea typeface="Calibri Light"/>
                <a:cs typeface="Calibri Light"/>
                <a:sym typeface="Calibri Light"/>
              </a:defRPr>
            </a:pPr>
            <a:r>
              <a:t>    It can work on Windows and Linux operating systems. </a:t>
            </a:r>
          </a:p>
          <a:p>
            <a:pPr>
              <a:defRPr sz="2800">
                <a:latin typeface="Calibri Light"/>
                <a:ea typeface="Calibri Light"/>
                <a:cs typeface="Calibri Light"/>
                <a:sym typeface="Calibri Light"/>
              </a:defRPr>
            </a:pPr>
          </a:p>
          <a:p>
            <a:pPr marL="342900" indent="-342900">
              <a:buSzPct val="100000"/>
              <a:buChar char="▪"/>
              <a:defRPr sz="2800">
                <a:latin typeface="Calibri Light"/>
                <a:ea typeface="Calibri Light"/>
                <a:cs typeface="Calibri Light"/>
                <a:sym typeface="Calibri Light"/>
              </a:defRPr>
            </a:pPr>
            <a:r>
              <a:t>Few features of this tool are:</a:t>
            </a:r>
          </a:p>
          <a:p>
            <a:pPr>
              <a:defRPr sz="2800">
                <a:latin typeface="Calibri Light"/>
                <a:ea typeface="Calibri Light"/>
                <a:cs typeface="Calibri Light"/>
                <a:sym typeface="Calibri Light"/>
              </a:defRPr>
            </a:pPr>
            <a:r>
              <a:t>    (1) Use the </a:t>
            </a:r>
            <a:r>
              <a:rPr b="1">
                <a:latin typeface="Times New Roman"/>
                <a:ea typeface="Times New Roman"/>
                <a:cs typeface="Times New Roman"/>
                <a:sym typeface="Times New Roman"/>
              </a:rPr>
              <a:t>web interface </a:t>
            </a:r>
            <a:r>
              <a:t>to manage </a:t>
            </a:r>
            <a:r>
              <a:rPr b="1">
                <a:latin typeface="Times New Roman"/>
                <a:ea typeface="Times New Roman"/>
                <a:cs typeface="Times New Roman"/>
                <a:sym typeface="Times New Roman"/>
              </a:rPr>
              <a:t>MySQL databases.</a:t>
            </a:r>
            <a:endParaRPr b="1">
              <a:latin typeface="Times New Roman"/>
              <a:ea typeface="Times New Roman"/>
              <a:cs typeface="Times New Roman"/>
              <a:sym typeface="Times New Roman"/>
            </a:endParaRPr>
          </a:p>
          <a:p>
            <a:pPr>
              <a:defRPr sz="2800">
                <a:latin typeface="Calibri Light"/>
                <a:ea typeface="Calibri Light"/>
                <a:cs typeface="Calibri Light"/>
                <a:sym typeface="Calibri Light"/>
              </a:defRPr>
            </a:pPr>
            <a:r>
              <a:t>    (2) </a:t>
            </a:r>
            <a:r>
              <a:rPr b="1">
                <a:latin typeface="Times New Roman"/>
                <a:ea typeface="Times New Roman"/>
                <a:cs typeface="Times New Roman"/>
                <a:sym typeface="Times New Roman"/>
              </a:rPr>
              <a:t>Interface</a:t>
            </a:r>
            <a:r>
              <a:t> is user-friendly, data can be exported in </a:t>
            </a:r>
            <a:r>
              <a:rPr b="1">
                <a:latin typeface="Times New Roman"/>
                <a:ea typeface="Times New Roman"/>
                <a:cs typeface="Times New Roman"/>
                <a:sym typeface="Times New Roman"/>
              </a:rPr>
              <a:t>CSV</a:t>
            </a:r>
            <a:r>
              <a:t>, </a:t>
            </a:r>
            <a:r>
              <a:rPr b="1">
                <a:latin typeface="Times New Roman"/>
                <a:ea typeface="Times New Roman"/>
                <a:cs typeface="Times New Roman"/>
                <a:sym typeface="Times New Roman"/>
              </a:rPr>
              <a:t>SQL</a:t>
            </a:r>
            <a:r>
              <a:t>, </a:t>
            </a:r>
            <a:r>
              <a:rPr b="1">
                <a:latin typeface="Times New Roman"/>
                <a:ea typeface="Times New Roman"/>
                <a:cs typeface="Times New Roman"/>
                <a:sym typeface="Times New Roman"/>
              </a:rPr>
              <a:t>XML</a:t>
            </a:r>
            <a:r>
              <a:t> files and it can be imported from both </a:t>
            </a:r>
            <a:r>
              <a:rPr b="1">
                <a:latin typeface="Times New Roman"/>
                <a:ea typeface="Times New Roman"/>
                <a:cs typeface="Times New Roman"/>
                <a:sym typeface="Times New Roman"/>
              </a:rPr>
              <a:t>CSV</a:t>
            </a:r>
            <a:r>
              <a:t> and </a:t>
            </a:r>
            <a:r>
              <a:rPr b="1">
                <a:latin typeface="Times New Roman"/>
                <a:ea typeface="Times New Roman"/>
                <a:cs typeface="Times New Roman"/>
                <a:sym typeface="Times New Roman"/>
              </a:rPr>
              <a:t>SQL</a:t>
            </a:r>
            <a:r>
              <a:t> file formats.</a:t>
            </a:r>
          </a:p>
          <a:p>
            <a:pPr>
              <a:defRPr sz="2800">
                <a:latin typeface="Calibri Light"/>
                <a:ea typeface="Calibri Light"/>
                <a:cs typeface="Calibri Light"/>
                <a:sym typeface="Calibri Light"/>
              </a:defRPr>
            </a:pPr>
          </a:p>
          <a:p>
            <a:pPr marL="342900" indent="-342900">
              <a:buSzPct val="100000"/>
              <a:buChar char="▪"/>
              <a:defRPr sz="2800">
                <a:latin typeface="Calibri Light"/>
                <a:ea typeface="Calibri Light"/>
                <a:cs typeface="Calibri Light"/>
                <a:sym typeface="Calibri Light"/>
              </a:defRPr>
            </a:pPr>
            <a:r>
              <a:t>Costs: It’s an open-source tool.</a:t>
            </a:r>
          </a:p>
          <a:p>
            <a:pPr marL="342900" indent="-342900">
              <a:buSzPct val="100000"/>
              <a:buChar char="▪"/>
              <a:defRPr sz="2800">
                <a:latin typeface="Calibri Light"/>
                <a:ea typeface="Calibri Light"/>
                <a:cs typeface="Calibri Light"/>
                <a:sym typeface="Calibri Light"/>
              </a:defRPr>
            </a:pPr>
          </a:p>
          <a:p>
            <a:pPr marL="342900" indent="-342900">
              <a:buSzPct val="100000"/>
              <a:buChar char="▪"/>
              <a:defRPr sz="2800">
                <a:latin typeface="Calibri Light"/>
                <a:ea typeface="Calibri Light"/>
                <a:cs typeface="Calibri Light"/>
                <a:sym typeface="Calibri Light"/>
              </a:defRPr>
            </a:pPr>
            <a:r>
              <a:t>Website: </a:t>
            </a:r>
            <a:r>
              <a:rPr u="sng">
                <a:solidFill>
                  <a:srgbClr val="0563C1"/>
                </a:solidFill>
                <a:uFill>
                  <a:solidFill>
                    <a:srgbClr val="0563C1"/>
                  </a:solidFill>
                </a:uFill>
                <a:hlinkClick r:id="rId3" invalidUrl="" action="" tgtFrame="" tooltip="" history="1" highlightClick="0" endSnd="0"/>
              </a:rPr>
              <a:t>phpMyAdmin</a:t>
            </a:r>
          </a:p>
        </p:txBody>
      </p:sp>
      <p:pic>
        <p:nvPicPr>
          <p:cNvPr id="227" name="图片 6" descr="图片 6"/>
          <p:cNvPicPr>
            <a:picLocks noChangeAspect="1"/>
          </p:cNvPicPr>
          <p:nvPr/>
        </p:nvPicPr>
        <p:blipFill>
          <a:blip r:embed="rId4">
            <a:extLst/>
          </a:blip>
          <a:stretch>
            <a:fillRect/>
          </a:stretch>
        </p:blipFill>
        <p:spPr>
          <a:xfrm>
            <a:off x="8445551" y="4994566"/>
            <a:ext cx="2513601" cy="1592983"/>
          </a:xfrm>
          <a:prstGeom prst="rect">
            <a:avLst/>
          </a:prstGeom>
          <a:ln w="38100" cap="sq">
            <a:solidFill>
              <a:srgbClr val="F89F14"/>
            </a:solidFill>
            <a:miter/>
          </a:ln>
          <a:effectLst>
            <a:outerShdw sx="100000" sy="100000" kx="0" ky="0" algn="b" rotWithShape="0" blurRad="50800" dist="38100" dir="2700000">
              <a:srgbClr val="000000">
                <a:alpha val="43000"/>
              </a:srgbClr>
            </a:outerShdw>
          </a:effectLst>
        </p:spPr>
      </p:pic>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1" name="Rectangle 6"/>
          <p:cNvSpPr txBox="1"/>
          <p:nvPr/>
        </p:nvSpPr>
        <p:spPr>
          <a:xfrm>
            <a:off x="626580" y="353384"/>
            <a:ext cx="6833969" cy="93537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6000">
                <a:solidFill>
                  <a:srgbClr val="33339B"/>
                </a:solidFill>
                <a:latin typeface="Times New Roman"/>
                <a:ea typeface="Times New Roman"/>
                <a:cs typeface="Times New Roman"/>
                <a:sym typeface="Times New Roman"/>
              </a:defRPr>
            </a:lvl1pPr>
          </a:lstStyle>
          <a:p>
            <a:pPr/>
            <a:r>
              <a:t>7. SQL Developer </a:t>
            </a:r>
          </a:p>
        </p:txBody>
      </p:sp>
      <p:sp>
        <p:nvSpPr>
          <p:cNvPr id="232" name="文本框 14"/>
          <p:cNvSpPr txBox="1"/>
          <p:nvPr/>
        </p:nvSpPr>
        <p:spPr>
          <a:xfrm>
            <a:off x="715826" y="1369046"/>
            <a:ext cx="10256458" cy="534442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342900" indent="-342900">
              <a:buSzPct val="100000"/>
              <a:buChar char="▪"/>
              <a:defRPr sz="2800">
                <a:latin typeface="Calibri Light"/>
                <a:ea typeface="Calibri Light"/>
                <a:cs typeface="Calibri Light"/>
                <a:sym typeface="Calibri Light"/>
              </a:defRPr>
            </a:pPr>
            <a:r>
              <a:t>The latest stable release is 23.1. It is coded in </a:t>
            </a:r>
            <a:r>
              <a:rPr b="1">
                <a:latin typeface="Times New Roman"/>
                <a:ea typeface="Times New Roman"/>
                <a:cs typeface="Times New Roman"/>
                <a:sym typeface="Times New Roman"/>
              </a:rPr>
              <a:t>Java</a:t>
            </a:r>
            <a:r>
              <a:t>.</a:t>
            </a:r>
          </a:p>
          <a:p>
            <a:pPr>
              <a:defRPr sz="2800">
                <a:latin typeface="Calibri Light"/>
                <a:ea typeface="Calibri Light"/>
                <a:cs typeface="Calibri Light"/>
                <a:sym typeface="Calibri Light"/>
              </a:defRPr>
            </a:pPr>
            <a:r>
              <a:t>	It can work on Windows and Linux operating systems.</a:t>
            </a:r>
          </a:p>
          <a:p>
            <a:pPr marL="342900" indent="-342900">
              <a:buSzPct val="100000"/>
              <a:buChar char="▪"/>
              <a:defRPr sz="2800">
                <a:latin typeface="Calibri Light"/>
                <a:ea typeface="Calibri Light"/>
                <a:cs typeface="Calibri Light"/>
                <a:sym typeface="Calibri Light"/>
              </a:defRPr>
            </a:pPr>
          </a:p>
          <a:p>
            <a:pPr marL="342900" indent="-342900">
              <a:buSzPct val="100000"/>
              <a:buChar char="▪"/>
              <a:defRPr sz="2800">
                <a:latin typeface="Calibri Light"/>
                <a:ea typeface="Calibri Light"/>
                <a:cs typeface="Calibri Light"/>
                <a:sym typeface="Calibri Light"/>
              </a:defRPr>
            </a:pPr>
            <a:r>
              <a:t>Few features of this tool are:</a:t>
            </a:r>
          </a:p>
          <a:p>
            <a:pPr>
              <a:defRPr sz="2800">
                <a:latin typeface="Calibri Light"/>
                <a:ea typeface="Calibri Light"/>
                <a:cs typeface="Calibri Light"/>
                <a:sym typeface="Calibri Light"/>
              </a:defRPr>
            </a:pPr>
            <a:r>
              <a:t>     (1) </a:t>
            </a:r>
            <a:r>
              <a:rPr b="1">
                <a:latin typeface="Times New Roman"/>
                <a:ea typeface="Times New Roman"/>
                <a:cs typeface="Times New Roman"/>
                <a:sym typeface="Times New Roman"/>
              </a:rPr>
              <a:t>Graphical interface</a:t>
            </a:r>
            <a:r>
              <a:t>.</a:t>
            </a:r>
          </a:p>
          <a:p>
            <a:pPr>
              <a:defRPr sz="2800">
                <a:latin typeface="Calibri Light"/>
                <a:ea typeface="Calibri Light"/>
                <a:cs typeface="Calibri Light"/>
                <a:sym typeface="Calibri Light"/>
              </a:defRPr>
            </a:pPr>
            <a:r>
              <a:t>     (2) Less execution time. </a:t>
            </a:r>
          </a:p>
          <a:p>
            <a:pPr>
              <a:defRPr sz="2800">
                <a:latin typeface="Calibri Light"/>
                <a:ea typeface="Calibri Light"/>
                <a:cs typeface="Calibri Light"/>
                <a:sym typeface="Calibri Light"/>
              </a:defRPr>
            </a:pPr>
            <a:r>
              <a:t>     (3) Queries can be run and generated in </a:t>
            </a:r>
            <a:r>
              <a:rPr b="1">
                <a:latin typeface="Times New Roman"/>
                <a:ea typeface="Times New Roman"/>
                <a:cs typeface="Times New Roman"/>
                <a:sym typeface="Times New Roman"/>
              </a:rPr>
              <a:t>many formats </a:t>
            </a:r>
            <a:r>
              <a:t>such as HTML, PDF, XML, and Excel.</a:t>
            </a:r>
          </a:p>
          <a:p>
            <a:pPr marL="342900" indent="-342900">
              <a:buSzPct val="100000"/>
              <a:buChar char="▪"/>
              <a:defRPr sz="2800">
                <a:latin typeface="Calibri Light"/>
                <a:ea typeface="Calibri Light"/>
                <a:cs typeface="Calibri Light"/>
                <a:sym typeface="Calibri Light"/>
              </a:defRPr>
            </a:pPr>
          </a:p>
          <a:p>
            <a:pPr marL="342900" indent="-342900">
              <a:buSzPct val="100000"/>
              <a:buChar char="▪"/>
              <a:defRPr sz="2800">
                <a:latin typeface="Calibri Light"/>
                <a:ea typeface="Calibri Light"/>
                <a:cs typeface="Calibri Light"/>
                <a:sym typeface="Calibri Light"/>
              </a:defRPr>
            </a:pPr>
            <a:r>
              <a:t>Costs: It’s an open-source tool.</a:t>
            </a:r>
          </a:p>
          <a:p>
            <a:pPr marL="342900" indent="-342900">
              <a:buSzPct val="100000"/>
              <a:buChar char="▪"/>
              <a:defRPr sz="2800">
                <a:latin typeface="Calibri Light"/>
                <a:ea typeface="Calibri Light"/>
                <a:cs typeface="Calibri Light"/>
                <a:sym typeface="Calibri Light"/>
              </a:defRPr>
            </a:pPr>
          </a:p>
          <a:p>
            <a:pPr marL="342900" indent="-342900">
              <a:buSzPct val="100000"/>
              <a:buChar char="▪"/>
              <a:defRPr sz="2800">
                <a:latin typeface="Calibri Light"/>
                <a:ea typeface="Calibri Light"/>
                <a:cs typeface="Calibri Light"/>
                <a:sym typeface="Calibri Light"/>
              </a:defRPr>
            </a:pPr>
            <a:r>
              <a:t>Website: </a:t>
            </a:r>
            <a:r>
              <a:rPr u="sng">
                <a:solidFill>
                  <a:srgbClr val="0563C1"/>
                </a:solidFill>
                <a:uFill>
                  <a:solidFill>
                    <a:srgbClr val="0563C1"/>
                  </a:solidFill>
                </a:uFill>
                <a:hlinkClick r:id="rId3" invalidUrl="" action="" tgtFrame="" tooltip="" history="1" highlightClick="0" endSnd="0"/>
              </a:rPr>
              <a:t>SQL Developer</a:t>
            </a:r>
          </a:p>
        </p:txBody>
      </p:sp>
      <p:pic>
        <p:nvPicPr>
          <p:cNvPr id="233" name="图片 4" descr="图片 4"/>
          <p:cNvPicPr>
            <a:picLocks noChangeAspect="1"/>
          </p:cNvPicPr>
          <p:nvPr/>
        </p:nvPicPr>
        <p:blipFill>
          <a:blip r:embed="rId4">
            <a:extLst/>
          </a:blip>
          <a:stretch>
            <a:fillRect/>
          </a:stretch>
        </p:blipFill>
        <p:spPr>
          <a:xfrm>
            <a:off x="9031436" y="5189785"/>
            <a:ext cx="1313560" cy="1221379"/>
          </a:xfrm>
          <a:prstGeom prst="rect">
            <a:avLst/>
          </a:prstGeom>
          <a:ln w="38100" cap="sq">
            <a:solidFill>
              <a:srgbClr val="C74634"/>
            </a:solidFill>
            <a:miter/>
          </a:ln>
          <a:effectLst>
            <a:outerShdw sx="100000" sy="100000" kx="0" ky="0" algn="b" rotWithShape="0" blurRad="50800" dist="38100" dir="2700000">
              <a:srgbClr val="000000">
                <a:alpha val="43000"/>
              </a:srgbClr>
            </a:outerShdw>
          </a:effectLst>
        </p:spPr>
      </p:pic>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7" name="灯片编号占位符 1"/>
          <p:cNvSpPr txBox="1"/>
          <p:nvPr>
            <p:ph type="sldNum" sz="quarter" idx="2"/>
          </p:nvPr>
        </p:nvSpPr>
        <p:spPr>
          <a:xfrm>
            <a:off x="8610600" y="6199592"/>
            <a:ext cx="258624" cy="248306"/>
          </a:xfrm>
          <a:prstGeom prst="rect">
            <a:avLst/>
          </a:prstGeom>
          <a:extLst>
            <a:ext uri="{C572A759-6A51-4108-AA02-DFA0A04FC94B}">
              <ma14:wrappingTextBoxFlag xmlns:ma14="http://schemas.microsoft.com/office/mac/drawingml/2011/main" val="1"/>
            </a:ext>
          </a:extLst>
        </p:spPr>
        <p:txBody>
          <a:bodyPr/>
          <a:lstStyle>
            <a:lvl1pPr algn="l"/>
          </a:lstStyle>
          <a:p>
            <a:pPr/>
            <a:fld id="{86CB4B4D-7CA3-9044-876B-883B54F8677D}" type="slidenum"/>
          </a:p>
        </p:txBody>
      </p:sp>
      <p:sp>
        <p:nvSpPr>
          <p:cNvPr id="238" name="Rectangle 9"/>
          <p:cNvSpPr txBox="1"/>
          <p:nvPr/>
        </p:nvSpPr>
        <p:spPr>
          <a:xfrm>
            <a:off x="1511502" y="1432200"/>
            <a:ext cx="10357410" cy="455876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1028700" indent="-1028700">
              <a:buSzPct val="100000"/>
              <a:buAutoNum type="romanUcPeriod" startAt="1"/>
              <a:defRPr sz="6000">
                <a:solidFill>
                  <a:srgbClr val="808080"/>
                </a:solidFill>
                <a:latin typeface="Calibri Light"/>
                <a:ea typeface="Calibri Light"/>
                <a:cs typeface="Calibri Light"/>
                <a:sym typeface="Calibri Light"/>
              </a:defRPr>
            </a:pPr>
            <a:r>
              <a:t>Project Rules</a:t>
            </a:r>
          </a:p>
          <a:p>
            <a:pPr marL="1028700" indent="-1028700">
              <a:buSzPct val="100000"/>
              <a:buAutoNum type="romanUcPeriod" startAt="1"/>
              <a:defRPr sz="6000">
                <a:solidFill>
                  <a:srgbClr val="808080"/>
                </a:solidFill>
                <a:latin typeface="Calibri Light"/>
                <a:ea typeface="Calibri Light"/>
                <a:cs typeface="Calibri Light"/>
                <a:sym typeface="Calibri Light"/>
              </a:defRPr>
            </a:pPr>
            <a:r>
              <a:t>Software Preparation</a:t>
            </a:r>
          </a:p>
          <a:p>
            <a:pPr marL="1028700" indent="-1028700">
              <a:buSzPct val="100000"/>
              <a:buAutoNum type="romanUcPeriod" startAt="1"/>
              <a:defRPr sz="6000">
                <a:solidFill>
                  <a:srgbClr val="808080"/>
                </a:solidFill>
                <a:latin typeface="Calibri Light"/>
                <a:ea typeface="Calibri Light"/>
                <a:cs typeface="Calibri Light"/>
                <a:sym typeface="Calibri Light"/>
              </a:defRPr>
            </a:pPr>
            <a:r>
              <a:t>Some Common DBMS</a:t>
            </a:r>
          </a:p>
          <a:p>
            <a:pPr marL="1028700" indent="-1028700">
              <a:buSzPct val="100000"/>
              <a:buAutoNum type="romanUcPeriod" startAt="1"/>
              <a:defRPr sz="6000" u="sng">
                <a:effectLst>
                  <a:outerShdw sx="100000" sy="100000" kx="0" ky="0" algn="b" rotWithShape="0" blurRad="38100" dist="38100" dir="2700000">
                    <a:srgbClr val="000000">
                      <a:alpha val="43137"/>
                    </a:srgbClr>
                  </a:outerShdw>
                </a:effectLst>
                <a:latin typeface="Calibri Light"/>
                <a:ea typeface="Calibri Light"/>
                <a:cs typeface="Calibri Light"/>
                <a:sym typeface="Calibri Light"/>
              </a:defRPr>
            </a:pPr>
            <a:r>
              <a:t>Frontend Technology</a:t>
            </a:r>
          </a:p>
          <a:p>
            <a:pPr marL="1028700" indent="-1028700">
              <a:buSzPct val="100000"/>
              <a:buAutoNum type="romanUcPeriod" startAt="1"/>
              <a:defRPr sz="6000">
                <a:solidFill>
                  <a:srgbClr val="808080"/>
                </a:solidFill>
                <a:latin typeface="Calibri Light"/>
                <a:ea typeface="Calibri Light"/>
                <a:cs typeface="Calibri Light"/>
                <a:sym typeface="Calibri Light"/>
              </a:defRPr>
            </a:pPr>
            <a:r>
              <a:t>Project One Preview</a:t>
            </a:r>
          </a:p>
        </p:txBody>
      </p:sp>
      <p:sp>
        <p:nvSpPr>
          <p:cNvPr id="239" name="Rectangle 9"/>
          <p:cNvSpPr txBox="1"/>
          <p:nvPr/>
        </p:nvSpPr>
        <p:spPr>
          <a:xfrm>
            <a:off x="860683" y="351692"/>
            <a:ext cx="10470634" cy="93537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6000">
                <a:solidFill>
                  <a:srgbClr val="C00000"/>
                </a:solidFill>
                <a:latin typeface="Times New Roman"/>
                <a:ea typeface="Times New Roman"/>
                <a:cs typeface="Times New Roman"/>
                <a:sym typeface="Times New Roman"/>
              </a:defRPr>
            </a:lvl1pPr>
          </a:lstStyle>
          <a:p>
            <a:pPr/>
            <a:r>
              <a:t>0-Project Preparation</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1" name="Rectangle 9"/>
          <p:cNvSpPr txBox="1"/>
          <p:nvPr/>
        </p:nvSpPr>
        <p:spPr>
          <a:xfrm>
            <a:off x="531893" y="205503"/>
            <a:ext cx="11721067" cy="93537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6000">
                <a:solidFill>
                  <a:srgbClr val="33339B"/>
                </a:solidFill>
                <a:latin typeface="Times New Roman"/>
                <a:ea typeface="Times New Roman"/>
                <a:cs typeface="Times New Roman"/>
                <a:sym typeface="Times New Roman"/>
              </a:defRPr>
            </a:lvl1pPr>
          </a:lstStyle>
          <a:p>
            <a:pPr/>
            <a:r>
              <a:t>About Project Six</a:t>
            </a:r>
          </a:p>
        </p:txBody>
      </p:sp>
      <p:sp>
        <p:nvSpPr>
          <p:cNvPr id="242" name="文本框 7"/>
          <p:cNvSpPr txBox="1"/>
          <p:nvPr/>
        </p:nvSpPr>
        <p:spPr>
          <a:xfrm>
            <a:off x="335578" y="1522065"/>
            <a:ext cx="11580278" cy="601623"/>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marL="571500" indent="-571500">
              <a:buSzPct val="100000"/>
              <a:buFont typeface="Arial"/>
              <a:buChar char="•"/>
              <a:defRPr sz="4000">
                <a:solidFill>
                  <a:srgbClr val="2A2B2E"/>
                </a:solidFill>
                <a:latin typeface="Calibri Light"/>
                <a:ea typeface="Calibri Light"/>
                <a:cs typeface="Calibri Light"/>
                <a:sym typeface="Calibri Light"/>
              </a:defRPr>
            </a:pPr>
            <a:r>
              <a:t>Unlike Project One-Five, Project Six is a </a:t>
            </a:r>
            <a:r>
              <a:rPr>
                <a:solidFill>
                  <a:srgbClr val="C00000"/>
                </a:solidFill>
              </a:rPr>
              <a:t>TEAM</a:t>
            </a:r>
            <a:r>
              <a:t> project</a:t>
            </a:r>
          </a:p>
        </p:txBody>
      </p:sp>
      <p:sp>
        <p:nvSpPr>
          <p:cNvPr id="243" name="文本框 8"/>
          <p:cNvSpPr txBox="1"/>
          <p:nvPr/>
        </p:nvSpPr>
        <p:spPr>
          <a:xfrm>
            <a:off x="335579" y="2360141"/>
            <a:ext cx="11417807" cy="601623"/>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marL="571500" indent="-571500">
              <a:buSzPct val="100000"/>
              <a:buFont typeface="Arial"/>
              <a:buChar char="•"/>
              <a:defRPr sz="4000">
                <a:solidFill>
                  <a:srgbClr val="2A2B2E"/>
                </a:solidFill>
                <a:latin typeface="Calibri Light"/>
                <a:ea typeface="Calibri Light"/>
                <a:cs typeface="Calibri Light"/>
                <a:sym typeface="Calibri Light"/>
              </a:defRPr>
            </a:lvl1pPr>
          </a:lstStyle>
          <a:p>
            <a:pPr/>
            <a:r>
              <a:t>In Project Six, you need to use  Frontend Technology</a:t>
            </a:r>
          </a:p>
        </p:txBody>
      </p:sp>
      <p:grpSp>
        <p:nvGrpSpPr>
          <p:cNvPr id="247" name="组合 15"/>
          <p:cNvGrpSpPr/>
          <p:nvPr/>
        </p:nvGrpSpPr>
        <p:grpSpPr>
          <a:xfrm>
            <a:off x="869744" y="3543078"/>
            <a:ext cx="10452511" cy="2421462"/>
            <a:chOff x="0" y="0"/>
            <a:chExt cx="10452510" cy="2421460"/>
          </a:xfrm>
        </p:grpSpPr>
        <p:pic>
          <p:nvPicPr>
            <p:cNvPr id="244" name="图片 10" descr="图片 10"/>
            <p:cNvPicPr>
              <a:picLocks noChangeAspect="1"/>
            </p:cNvPicPr>
            <p:nvPr/>
          </p:nvPicPr>
          <p:blipFill>
            <a:blip r:embed="rId3">
              <a:extLst/>
            </a:blip>
            <a:stretch>
              <a:fillRect/>
            </a:stretch>
          </p:blipFill>
          <p:spPr>
            <a:xfrm>
              <a:off x="0" y="0"/>
              <a:ext cx="3380729" cy="2421461"/>
            </a:xfrm>
            <a:prstGeom prst="rect">
              <a:avLst/>
            </a:prstGeom>
            <a:ln w="9525" cap="flat">
              <a:solidFill>
                <a:srgbClr val="BFBFBF"/>
              </a:solidFill>
              <a:prstDash val="solid"/>
              <a:round/>
            </a:ln>
            <a:effectLst/>
          </p:spPr>
        </p:pic>
        <p:pic>
          <p:nvPicPr>
            <p:cNvPr id="245" name="图片 12" descr="图片 12"/>
            <p:cNvPicPr>
              <a:picLocks noChangeAspect="1"/>
            </p:cNvPicPr>
            <p:nvPr/>
          </p:nvPicPr>
          <p:blipFill>
            <a:blip r:embed="rId4">
              <a:extLst/>
            </a:blip>
            <a:stretch>
              <a:fillRect/>
            </a:stretch>
          </p:blipFill>
          <p:spPr>
            <a:xfrm>
              <a:off x="3563865" y="0"/>
              <a:ext cx="2761682" cy="2421460"/>
            </a:xfrm>
            <a:prstGeom prst="rect">
              <a:avLst/>
            </a:prstGeom>
            <a:ln w="9525" cap="flat">
              <a:solidFill>
                <a:srgbClr val="BFBFBF"/>
              </a:solidFill>
              <a:prstDash val="solid"/>
              <a:round/>
            </a:ln>
            <a:effectLst/>
          </p:spPr>
        </p:pic>
        <p:pic>
          <p:nvPicPr>
            <p:cNvPr id="246" name="图片 14" descr="图片 14"/>
            <p:cNvPicPr>
              <a:picLocks noChangeAspect="1"/>
            </p:cNvPicPr>
            <p:nvPr/>
          </p:nvPicPr>
          <p:blipFill>
            <a:blip r:embed="rId5">
              <a:extLst/>
            </a:blip>
            <a:stretch>
              <a:fillRect/>
            </a:stretch>
          </p:blipFill>
          <p:spPr>
            <a:xfrm>
              <a:off x="6476016" y="-1"/>
              <a:ext cx="3976495" cy="2421461"/>
            </a:xfrm>
            <a:prstGeom prst="rect">
              <a:avLst/>
            </a:prstGeom>
            <a:ln w="9525" cap="flat">
              <a:solidFill>
                <a:srgbClr val="BFBFBF"/>
              </a:solidFill>
              <a:prstDash val="solid"/>
              <a:round/>
            </a:ln>
            <a:effectLst/>
          </p:spPr>
        </p:pic>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1" name="Rectangle 9"/>
          <p:cNvSpPr txBox="1"/>
          <p:nvPr/>
        </p:nvSpPr>
        <p:spPr>
          <a:xfrm>
            <a:off x="531893" y="205503"/>
            <a:ext cx="11721067" cy="93537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6000">
                <a:solidFill>
                  <a:srgbClr val="33339B"/>
                </a:solidFill>
                <a:latin typeface="Times New Roman"/>
                <a:ea typeface="Times New Roman"/>
                <a:cs typeface="Times New Roman"/>
                <a:sym typeface="Times New Roman"/>
              </a:defRPr>
            </a:lvl1pPr>
          </a:lstStyle>
          <a:p>
            <a:pPr/>
            <a:r>
              <a:t>About Project Six</a:t>
            </a:r>
          </a:p>
        </p:txBody>
      </p:sp>
      <p:pic>
        <p:nvPicPr>
          <p:cNvPr id="252" name="图片 2" descr="图片 2"/>
          <p:cNvPicPr>
            <a:picLocks noChangeAspect="1"/>
          </p:cNvPicPr>
          <p:nvPr/>
        </p:nvPicPr>
        <p:blipFill>
          <a:blip r:embed="rId3">
            <a:extLst/>
          </a:blip>
          <a:stretch>
            <a:fillRect/>
          </a:stretch>
        </p:blipFill>
        <p:spPr>
          <a:xfrm>
            <a:off x="3859450" y="3338257"/>
            <a:ext cx="4473098" cy="2936883"/>
          </a:xfrm>
          <a:prstGeom prst="rect">
            <a:avLst/>
          </a:prstGeom>
          <a:ln w="38100" cap="sq">
            <a:solidFill>
              <a:srgbClr val="FF2832"/>
            </a:solidFill>
            <a:miter/>
          </a:ln>
          <a:effectLst>
            <a:outerShdw sx="100000" sy="100000" kx="0" ky="0" algn="b" rotWithShape="0" blurRad="50800" dist="38100" dir="2700000">
              <a:srgbClr val="000000">
                <a:alpha val="43000"/>
              </a:srgbClr>
            </a:outerShdw>
          </a:effectLst>
        </p:spPr>
      </p:pic>
      <p:sp>
        <p:nvSpPr>
          <p:cNvPr id="253" name="矩形 11"/>
          <p:cNvSpPr txBox="1"/>
          <p:nvPr/>
        </p:nvSpPr>
        <p:spPr>
          <a:xfrm>
            <a:off x="531893" y="1189346"/>
            <a:ext cx="8848995" cy="186056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457200" indent="-457200">
              <a:buSzPct val="100000"/>
              <a:buChar char="✓"/>
              <a:defRPr b="1" sz="4000">
                <a:solidFill>
                  <a:srgbClr val="C00000"/>
                </a:solidFill>
                <a:latin typeface="Times New Roman"/>
                <a:ea typeface="Times New Roman"/>
                <a:cs typeface="Times New Roman"/>
                <a:sym typeface="Times New Roman"/>
              </a:defRPr>
            </a:pPr>
            <a:r>
              <a:t>“ Internet Bookstore ”</a:t>
            </a:r>
          </a:p>
          <a:p>
            <a:pPr lvl="1" marL="914400" indent="-457200">
              <a:buSzPct val="100000"/>
              <a:buFont typeface="Arial"/>
              <a:buChar char="•"/>
              <a:defRPr b="1" sz="4000">
                <a:latin typeface="Times New Roman"/>
                <a:ea typeface="Times New Roman"/>
                <a:cs typeface="Times New Roman"/>
                <a:sym typeface="Times New Roman"/>
              </a:defRPr>
            </a:pPr>
            <a:r>
              <a:t>B/S or C/S </a:t>
            </a:r>
          </a:p>
          <a:p>
            <a:pPr lvl="1" marL="914400" indent="-457200">
              <a:buSzPct val="100000"/>
              <a:buFont typeface="Arial"/>
              <a:buChar char="•"/>
              <a:defRPr b="1" sz="4000">
                <a:latin typeface="Times New Roman"/>
                <a:ea typeface="Times New Roman"/>
                <a:cs typeface="Times New Roman"/>
                <a:sym typeface="Times New Roman"/>
              </a:defRPr>
            </a:pPr>
            <a:r>
              <a:t>Database: Access , MySQL , …</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7" name="文本框 14"/>
          <p:cNvSpPr txBox="1"/>
          <p:nvPr/>
        </p:nvSpPr>
        <p:spPr>
          <a:xfrm>
            <a:off x="803436" y="1818391"/>
            <a:ext cx="10988617" cy="409898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342900" indent="-342900">
              <a:buSzPct val="100000"/>
              <a:buChar char="▪"/>
              <a:defRPr sz="2800">
                <a:solidFill>
                  <a:srgbClr val="C00000"/>
                </a:solidFill>
                <a:latin typeface="Calibri Light"/>
                <a:ea typeface="Calibri Light"/>
                <a:cs typeface="Calibri Light"/>
                <a:sym typeface="Calibri Light"/>
              </a:defRPr>
            </a:pPr>
            <a:r>
              <a:t>HTML </a:t>
            </a:r>
          </a:p>
          <a:p>
            <a:pPr>
              <a:defRPr sz="2800">
                <a:latin typeface="Calibri Light"/>
                <a:ea typeface="Calibri Light"/>
                <a:cs typeface="Calibri Light"/>
                <a:sym typeface="Calibri Light"/>
              </a:defRPr>
            </a:pPr>
            <a:r>
              <a:t>	</a:t>
            </a:r>
            <a:r>
              <a:rPr b="1">
                <a:latin typeface="Times New Roman"/>
                <a:ea typeface="Times New Roman"/>
                <a:cs typeface="Times New Roman"/>
                <a:sym typeface="Times New Roman"/>
              </a:rPr>
              <a:t>HTML</a:t>
            </a:r>
            <a:r>
              <a:t> provides the </a:t>
            </a:r>
            <a:r>
              <a:rPr b="1" u="sng">
                <a:latin typeface="Times New Roman"/>
                <a:ea typeface="Times New Roman"/>
                <a:cs typeface="Times New Roman"/>
                <a:sym typeface="Times New Roman"/>
              </a:rPr>
              <a:t>basic structure </a:t>
            </a:r>
            <a:r>
              <a:t>of sites, which is enhanced and modified by other technologies like </a:t>
            </a:r>
            <a:r>
              <a:rPr b="1">
                <a:latin typeface="Times New Roman"/>
                <a:ea typeface="Times New Roman"/>
                <a:cs typeface="Times New Roman"/>
                <a:sym typeface="Times New Roman"/>
              </a:rPr>
              <a:t>CSS</a:t>
            </a:r>
            <a:r>
              <a:t> and </a:t>
            </a:r>
            <a:r>
              <a:rPr b="1">
                <a:latin typeface="Times New Roman"/>
                <a:ea typeface="Times New Roman"/>
                <a:cs typeface="Times New Roman"/>
                <a:sym typeface="Times New Roman"/>
              </a:rPr>
              <a:t>JavaScript</a:t>
            </a:r>
            <a:r>
              <a:t>.</a:t>
            </a:r>
          </a:p>
          <a:p>
            <a:pPr marL="342900" indent="-342900">
              <a:buSzPct val="100000"/>
              <a:buChar char="▪"/>
              <a:defRPr sz="2800">
                <a:latin typeface="Calibri Light"/>
                <a:ea typeface="Calibri Light"/>
                <a:cs typeface="Calibri Light"/>
                <a:sym typeface="Calibri Light"/>
              </a:defRPr>
            </a:pPr>
          </a:p>
          <a:p>
            <a:pPr marL="342900" indent="-342900">
              <a:buSzPct val="100000"/>
              <a:buChar char="▪"/>
              <a:defRPr sz="2800">
                <a:solidFill>
                  <a:srgbClr val="C00000"/>
                </a:solidFill>
                <a:latin typeface="Calibri Light"/>
                <a:ea typeface="Calibri Light"/>
                <a:cs typeface="Calibri Light"/>
                <a:sym typeface="Calibri Light"/>
              </a:defRPr>
            </a:pPr>
            <a:r>
              <a:t>CSS</a:t>
            </a:r>
          </a:p>
          <a:p>
            <a:pPr lvl="1">
              <a:defRPr b="1" sz="2800">
                <a:latin typeface="Times New Roman"/>
                <a:ea typeface="Times New Roman"/>
                <a:cs typeface="Times New Roman"/>
                <a:sym typeface="Times New Roman"/>
              </a:defRPr>
            </a:pPr>
            <a:r>
              <a:t>CSS</a:t>
            </a:r>
            <a:r>
              <a:rPr b="0">
                <a:latin typeface="Calibri Light"/>
                <a:ea typeface="Calibri Light"/>
                <a:cs typeface="Calibri Light"/>
                <a:sym typeface="Calibri Light"/>
              </a:rPr>
              <a:t> is used to control </a:t>
            </a:r>
            <a:r>
              <a:rPr u="sng"/>
              <a:t>presentation, formatting, and layout</a:t>
            </a:r>
            <a:r>
              <a:rPr b="0">
                <a:latin typeface="Calibri Light"/>
                <a:ea typeface="Calibri Light"/>
                <a:cs typeface="Calibri Light"/>
                <a:sym typeface="Calibri Light"/>
              </a:rPr>
              <a:t>.</a:t>
            </a:r>
            <a:endParaRPr b="0">
              <a:latin typeface="Calibri Light"/>
              <a:ea typeface="Calibri Light"/>
              <a:cs typeface="Calibri Light"/>
              <a:sym typeface="Calibri Light"/>
            </a:endParaRPr>
          </a:p>
          <a:p>
            <a:pPr marL="342900" indent="-342900">
              <a:buSzPct val="100000"/>
              <a:buChar char="▪"/>
              <a:defRPr sz="2800">
                <a:latin typeface="Calibri Light"/>
                <a:ea typeface="Calibri Light"/>
                <a:cs typeface="Calibri Light"/>
                <a:sym typeface="Calibri Light"/>
              </a:defRPr>
            </a:pPr>
          </a:p>
          <a:p>
            <a:pPr marL="342900" indent="-342900">
              <a:buSzPct val="100000"/>
              <a:buChar char="▪"/>
              <a:defRPr sz="2800">
                <a:solidFill>
                  <a:srgbClr val="C00000"/>
                </a:solidFill>
                <a:latin typeface="Calibri Light"/>
                <a:ea typeface="Calibri Light"/>
                <a:cs typeface="Calibri Light"/>
                <a:sym typeface="Calibri Light"/>
              </a:defRPr>
            </a:pPr>
            <a:r>
              <a:t>JavaScript </a:t>
            </a:r>
          </a:p>
          <a:p>
            <a:pPr>
              <a:defRPr sz="2800">
                <a:latin typeface="Calibri Light"/>
                <a:ea typeface="Calibri Light"/>
                <a:cs typeface="Calibri Light"/>
                <a:sym typeface="Calibri Light"/>
              </a:defRPr>
            </a:pPr>
            <a:r>
              <a:t>	</a:t>
            </a:r>
            <a:r>
              <a:rPr b="1">
                <a:latin typeface="Times New Roman"/>
                <a:ea typeface="Times New Roman"/>
                <a:cs typeface="Times New Roman"/>
                <a:sym typeface="Times New Roman"/>
              </a:rPr>
              <a:t>JavaScript</a:t>
            </a:r>
            <a:r>
              <a:t> is used to control the </a:t>
            </a:r>
            <a:r>
              <a:rPr b="1" u="sng">
                <a:latin typeface="Times New Roman"/>
                <a:ea typeface="Times New Roman"/>
                <a:cs typeface="Times New Roman"/>
                <a:sym typeface="Times New Roman"/>
              </a:rPr>
              <a:t>behavior of different elements</a:t>
            </a:r>
            <a:r>
              <a:t>.</a:t>
            </a:r>
          </a:p>
        </p:txBody>
      </p:sp>
      <p:sp>
        <p:nvSpPr>
          <p:cNvPr id="258" name="Rectangle 9"/>
          <p:cNvSpPr txBox="1"/>
          <p:nvPr/>
        </p:nvSpPr>
        <p:spPr>
          <a:xfrm>
            <a:off x="531893" y="205503"/>
            <a:ext cx="11721067" cy="93537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6000">
                <a:solidFill>
                  <a:srgbClr val="33339B"/>
                </a:solidFill>
                <a:latin typeface="Times New Roman"/>
                <a:ea typeface="Times New Roman"/>
                <a:cs typeface="Times New Roman"/>
                <a:sym typeface="Times New Roman"/>
              </a:defRPr>
            </a:lvl1pPr>
          </a:lstStyle>
          <a:p>
            <a:pPr/>
            <a:r>
              <a:t>Frontend Technology </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62" name="Picture 4" descr="Picture 4"/>
          <p:cNvPicPr>
            <a:picLocks noChangeAspect="1"/>
          </p:cNvPicPr>
          <p:nvPr/>
        </p:nvPicPr>
        <p:blipFill>
          <a:blip r:embed="rId3">
            <a:extLst/>
          </a:blip>
          <a:stretch>
            <a:fillRect/>
          </a:stretch>
        </p:blipFill>
        <p:spPr>
          <a:xfrm>
            <a:off x="325534" y="1835941"/>
            <a:ext cx="3498274" cy="3186120"/>
          </a:xfrm>
          <a:prstGeom prst="rect">
            <a:avLst/>
          </a:prstGeom>
          <a:ln w="19050">
            <a:solidFill>
              <a:srgbClr val="BFBFBF"/>
            </a:solidFill>
          </a:ln>
        </p:spPr>
      </p:pic>
      <p:sp>
        <p:nvSpPr>
          <p:cNvPr id="263" name="Rectangle 9"/>
          <p:cNvSpPr txBox="1"/>
          <p:nvPr/>
        </p:nvSpPr>
        <p:spPr>
          <a:xfrm>
            <a:off x="531893" y="205503"/>
            <a:ext cx="11721067" cy="93537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6000">
                <a:solidFill>
                  <a:srgbClr val="33339B"/>
                </a:solidFill>
                <a:latin typeface="Times New Roman"/>
                <a:ea typeface="Times New Roman"/>
                <a:cs typeface="Times New Roman"/>
                <a:sym typeface="Times New Roman"/>
              </a:defRPr>
            </a:lvl1pPr>
          </a:lstStyle>
          <a:p>
            <a:pPr/>
            <a:r>
              <a:t>Frontend Technology </a:t>
            </a:r>
          </a:p>
        </p:txBody>
      </p:sp>
      <p:sp>
        <p:nvSpPr>
          <p:cNvPr id="264" name="文本框 3"/>
          <p:cNvSpPr txBox="1"/>
          <p:nvPr/>
        </p:nvSpPr>
        <p:spPr>
          <a:xfrm>
            <a:off x="1108820" y="5237340"/>
            <a:ext cx="1931699" cy="497047"/>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3200">
                <a:latin typeface="Calibri Light"/>
                <a:ea typeface="Calibri Light"/>
                <a:cs typeface="Calibri Light"/>
                <a:sym typeface="Calibri Light"/>
              </a:defRPr>
            </a:lvl1pPr>
          </a:lstStyle>
          <a:p>
            <a:pPr/>
            <a:r>
              <a:t>Only HTML </a:t>
            </a:r>
          </a:p>
        </p:txBody>
      </p:sp>
      <p:pic>
        <p:nvPicPr>
          <p:cNvPr id="265" name="图片 4" descr="图片 4"/>
          <p:cNvPicPr>
            <a:picLocks noChangeAspect="1"/>
          </p:cNvPicPr>
          <p:nvPr/>
        </p:nvPicPr>
        <p:blipFill>
          <a:blip r:embed="rId4">
            <a:extLst/>
          </a:blip>
          <a:stretch>
            <a:fillRect/>
          </a:stretch>
        </p:blipFill>
        <p:spPr>
          <a:xfrm>
            <a:off x="3924575" y="1835940"/>
            <a:ext cx="3698175" cy="3186120"/>
          </a:xfrm>
          <a:prstGeom prst="rect">
            <a:avLst/>
          </a:prstGeom>
          <a:ln w="19050">
            <a:solidFill>
              <a:srgbClr val="33339B"/>
            </a:solidFill>
          </a:ln>
        </p:spPr>
      </p:pic>
      <p:sp>
        <p:nvSpPr>
          <p:cNvPr id="266" name="文本框 5"/>
          <p:cNvSpPr txBox="1"/>
          <p:nvPr/>
        </p:nvSpPr>
        <p:spPr>
          <a:xfrm>
            <a:off x="4344372" y="5237340"/>
            <a:ext cx="2912752" cy="992347"/>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defRPr sz="3200">
                <a:solidFill>
                  <a:srgbClr val="33339B"/>
                </a:solidFill>
                <a:latin typeface="Calibri Light"/>
                <a:ea typeface="Calibri Light"/>
                <a:cs typeface="Calibri Light"/>
                <a:sym typeface="Calibri Light"/>
              </a:defRPr>
            </a:pPr>
            <a:r>
              <a:t>Enhanced by </a:t>
            </a:r>
          </a:p>
          <a:p>
            <a:pPr algn="ctr">
              <a:defRPr sz="3200">
                <a:solidFill>
                  <a:srgbClr val="33339B"/>
                </a:solidFill>
                <a:latin typeface="Calibri Light"/>
                <a:ea typeface="Calibri Light"/>
                <a:cs typeface="Calibri Light"/>
                <a:sym typeface="Calibri Light"/>
              </a:defRPr>
            </a:pPr>
            <a:r>
              <a:t>CSS</a:t>
            </a:r>
          </a:p>
        </p:txBody>
      </p:sp>
      <p:pic>
        <p:nvPicPr>
          <p:cNvPr id="267" name="图片 7" descr="图片 7"/>
          <p:cNvPicPr>
            <a:picLocks noChangeAspect="0"/>
          </p:cNvPicPr>
          <p:nvPr/>
        </p:nvPicPr>
        <p:blipFill>
          <a:blip r:embed="rId5">
            <a:extLst/>
          </a:blip>
          <a:stretch>
            <a:fillRect/>
          </a:stretch>
        </p:blipFill>
        <p:spPr>
          <a:xfrm>
            <a:off x="7757420" y="1835940"/>
            <a:ext cx="4131137" cy="3186120"/>
          </a:xfrm>
          <a:prstGeom prst="rect">
            <a:avLst/>
          </a:prstGeom>
          <a:ln w="19050">
            <a:solidFill>
              <a:srgbClr val="C00000"/>
            </a:solidFill>
          </a:ln>
        </p:spPr>
      </p:pic>
      <p:sp>
        <p:nvSpPr>
          <p:cNvPr id="268" name="文本框 8"/>
          <p:cNvSpPr txBox="1"/>
          <p:nvPr/>
        </p:nvSpPr>
        <p:spPr>
          <a:xfrm>
            <a:off x="6792998" y="5237340"/>
            <a:ext cx="6059979" cy="992347"/>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defRPr sz="3200">
                <a:solidFill>
                  <a:srgbClr val="C00000"/>
                </a:solidFill>
                <a:latin typeface="Calibri Light"/>
                <a:ea typeface="Calibri Light"/>
                <a:cs typeface="Calibri Light"/>
                <a:sym typeface="Calibri Light"/>
              </a:defRPr>
            </a:pPr>
            <a:r>
              <a:t>Enhanced by </a:t>
            </a:r>
          </a:p>
          <a:p>
            <a:pPr algn="ctr">
              <a:defRPr sz="3200">
                <a:solidFill>
                  <a:srgbClr val="C00000"/>
                </a:solidFill>
                <a:latin typeface="Calibri Light"/>
                <a:ea typeface="Calibri Light"/>
                <a:cs typeface="Calibri Light"/>
                <a:sym typeface="Calibri Light"/>
              </a:defRPr>
            </a:pPr>
            <a:r>
              <a:t>CSS and JavaScript</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2" name="文本框 14"/>
          <p:cNvSpPr txBox="1"/>
          <p:nvPr/>
        </p:nvSpPr>
        <p:spPr>
          <a:xfrm>
            <a:off x="947762" y="1221165"/>
            <a:ext cx="10510658" cy="174015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342900" indent="-342900">
              <a:buSzPct val="100000"/>
              <a:buChar char="▪"/>
              <a:defRPr sz="2800">
                <a:solidFill>
                  <a:srgbClr val="C00000"/>
                </a:solidFill>
                <a:latin typeface="Calibri Light"/>
                <a:ea typeface="Calibri Light"/>
                <a:cs typeface="Calibri Light"/>
                <a:sym typeface="Calibri Light"/>
              </a:defRPr>
            </a:pPr>
            <a:r>
              <a:t>React</a:t>
            </a:r>
          </a:p>
          <a:p>
            <a:pPr>
              <a:defRPr sz="2800">
                <a:latin typeface="Calibri Light"/>
                <a:ea typeface="Calibri Light"/>
                <a:cs typeface="Calibri Light"/>
                <a:sym typeface="Calibri Light"/>
              </a:defRPr>
            </a:pPr>
            <a:r>
              <a:t>	React's reusable components ensure that developers don’t have to rewrite the same code over and over again.</a:t>
            </a:r>
          </a:p>
        </p:txBody>
      </p:sp>
      <p:sp>
        <p:nvSpPr>
          <p:cNvPr id="273" name="Rectangle 9"/>
          <p:cNvSpPr txBox="1"/>
          <p:nvPr/>
        </p:nvSpPr>
        <p:spPr>
          <a:xfrm>
            <a:off x="531893" y="205503"/>
            <a:ext cx="11721067" cy="93537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6000">
                <a:solidFill>
                  <a:srgbClr val="33339B"/>
                </a:solidFill>
                <a:latin typeface="Times New Roman"/>
                <a:ea typeface="Times New Roman"/>
                <a:cs typeface="Times New Roman"/>
                <a:sym typeface="Times New Roman"/>
              </a:defRPr>
            </a:lvl1pPr>
          </a:lstStyle>
          <a:p>
            <a:pPr/>
            <a:r>
              <a:t>Framework Tools</a:t>
            </a:r>
          </a:p>
        </p:txBody>
      </p:sp>
      <p:pic>
        <p:nvPicPr>
          <p:cNvPr id="274" name="图片 3" descr="图片 3"/>
          <p:cNvPicPr>
            <a:picLocks noChangeAspect="1"/>
          </p:cNvPicPr>
          <p:nvPr/>
        </p:nvPicPr>
        <p:blipFill>
          <a:blip r:embed="rId3">
            <a:extLst/>
          </a:blip>
          <a:stretch>
            <a:fillRect/>
          </a:stretch>
        </p:blipFill>
        <p:spPr>
          <a:xfrm>
            <a:off x="2607275" y="2776004"/>
            <a:ext cx="6977451" cy="3568679"/>
          </a:xfrm>
          <a:prstGeom prst="rect">
            <a:avLst/>
          </a:prstGeom>
          <a:ln w="28575">
            <a:solidFill>
              <a:srgbClr val="808080"/>
            </a:solidFill>
          </a:ln>
        </p:spPr>
      </p:pic>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8" name="文本框 14"/>
          <p:cNvSpPr txBox="1"/>
          <p:nvPr/>
        </p:nvSpPr>
        <p:spPr>
          <a:xfrm>
            <a:off x="947762" y="1221165"/>
            <a:ext cx="10510658" cy="217195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342900" indent="-342900">
              <a:buSzPct val="100000"/>
              <a:buChar char="▪"/>
              <a:defRPr sz="2800">
                <a:solidFill>
                  <a:srgbClr val="C00000"/>
                </a:solidFill>
                <a:latin typeface="Calibri Light"/>
                <a:ea typeface="Calibri Light"/>
                <a:cs typeface="Calibri Light"/>
                <a:sym typeface="Calibri Light"/>
              </a:defRPr>
            </a:pPr>
            <a:r>
              <a:t>Vue</a:t>
            </a:r>
          </a:p>
          <a:p>
            <a:pPr>
              <a:defRPr sz="2800">
                <a:latin typeface="Calibri Light"/>
                <a:ea typeface="Calibri Light"/>
                <a:cs typeface="Calibri Light"/>
                <a:sym typeface="Calibri Light"/>
              </a:defRPr>
            </a:pPr>
            <a:r>
              <a:t>	Excellent documentation and intended for beginners and seasoned developers alike; An extensive tooling ecosystem that has grown over the years.</a:t>
            </a:r>
          </a:p>
        </p:txBody>
      </p:sp>
      <p:sp>
        <p:nvSpPr>
          <p:cNvPr id="279" name="Rectangle 9"/>
          <p:cNvSpPr txBox="1"/>
          <p:nvPr/>
        </p:nvSpPr>
        <p:spPr>
          <a:xfrm>
            <a:off x="531893" y="205503"/>
            <a:ext cx="11721067" cy="93537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6000">
                <a:solidFill>
                  <a:srgbClr val="33339B"/>
                </a:solidFill>
                <a:latin typeface="Times New Roman"/>
                <a:ea typeface="Times New Roman"/>
                <a:cs typeface="Times New Roman"/>
                <a:sym typeface="Times New Roman"/>
              </a:defRPr>
            </a:lvl1pPr>
          </a:lstStyle>
          <a:p>
            <a:pPr/>
            <a:r>
              <a:t>Framework Tools</a:t>
            </a:r>
          </a:p>
        </p:txBody>
      </p:sp>
      <p:pic>
        <p:nvPicPr>
          <p:cNvPr id="280" name="图片 4" descr="图片 4"/>
          <p:cNvPicPr>
            <a:picLocks noChangeAspect="1"/>
          </p:cNvPicPr>
          <p:nvPr/>
        </p:nvPicPr>
        <p:blipFill>
          <a:blip r:embed="rId3">
            <a:extLst/>
          </a:blip>
          <a:stretch>
            <a:fillRect/>
          </a:stretch>
        </p:blipFill>
        <p:spPr>
          <a:xfrm>
            <a:off x="1740856" y="3180678"/>
            <a:ext cx="8710288" cy="3055022"/>
          </a:xfrm>
          <a:prstGeom prst="rect">
            <a:avLst/>
          </a:prstGeom>
          <a:ln w="28575">
            <a:solidFill>
              <a:srgbClr val="808080"/>
            </a:solidFill>
          </a:ln>
        </p:spPr>
      </p:pic>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4" name="文本框 14"/>
          <p:cNvSpPr txBox="1"/>
          <p:nvPr/>
        </p:nvSpPr>
        <p:spPr>
          <a:xfrm>
            <a:off x="947762" y="1245879"/>
            <a:ext cx="10510658" cy="130835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342900" indent="-342900">
              <a:buSzPct val="100000"/>
              <a:buChar char="▪"/>
              <a:defRPr sz="2800">
                <a:solidFill>
                  <a:srgbClr val="C00000"/>
                </a:solidFill>
                <a:latin typeface="Calibri Light"/>
                <a:ea typeface="Calibri Light"/>
                <a:cs typeface="Calibri Light"/>
                <a:sym typeface="Calibri Light"/>
              </a:defRPr>
            </a:pPr>
            <a:r>
              <a:t>Angular</a:t>
            </a:r>
          </a:p>
          <a:p>
            <a:pPr>
              <a:defRPr sz="2800">
                <a:latin typeface="Calibri Light"/>
                <a:ea typeface="Calibri Light"/>
                <a:cs typeface="Calibri Light"/>
                <a:sym typeface="Calibri Light"/>
              </a:defRPr>
            </a:pPr>
            <a:r>
              <a:t>	Extremely complex web apps can be developed on the 	enterprise scale that rival desktop-based applications.</a:t>
            </a:r>
          </a:p>
        </p:txBody>
      </p:sp>
      <p:sp>
        <p:nvSpPr>
          <p:cNvPr id="285" name="Rectangle 9"/>
          <p:cNvSpPr txBox="1"/>
          <p:nvPr/>
        </p:nvSpPr>
        <p:spPr>
          <a:xfrm>
            <a:off x="531893" y="205503"/>
            <a:ext cx="11721067" cy="93537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6000">
                <a:solidFill>
                  <a:srgbClr val="33339B"/>
                </a:solidFill>
                <a:latin typeface="Times New Roman"/>
                <a:ea typeface="Times New Roman"/>
                <a:cs typeface="Times New Roman"/>
                <a:sym typeface="Times New Roman"/>
              </a:defRPr>
            </a:lvl1pPr>
          </a:lstStyle>
          <a:p>
            <a:pPr/>
            <a:r>
              <a:t>Framework Tools</a:t>
            </a:r>
          </a:p>
        </p:txBody>
      </p:sp>
      <p:pic>
        <p:nvPicPr>
          <p:cNvPr id="286" name="图片 6" descr="图片 6"/>
          <p:cNvPicPr>
            <a:picLocks noChangeAspect="1"/>
          </p:cNvPicPr>
          <p:nvPr/>
        </p:nvPicPr>
        <p:blipFill>
          <a:blip r:embed="rId3">
            <a:extLst/>
          </a:blip>
          <a:stretch>
            <a:fillRect/>
          </a:stretch>
        </p:blipFill>
        <p:spPr>
          <a:xfrm>
            <a:off x="1887023" y="2975504"/>
            <a:ext cx="8417954" cy="3178161"/>
          </a:xfrm>
          <a:prstGeom prst="rect">
            <a:avLst/>
          </a:prstGeom>
          <a:ln w="28575">
            <a:solidFill>
              <a:srgbClr val="808080"/>
            </a:solidFill>
          </a:ln>
        </p:spPr>
      </p:pic>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0" name="文本框 14"/>
          <p:cNvSpPr txBox="1"/>
          <p:nvPr/>
        </p:nvSpPr>
        <p:spPr>
          <a:xfrm>
            <a:off x="788377" y="1458412"/>
            <a:ext cx="10615246" cy="446093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342900" indent="-342900">
              <a:buSzPct val="100000"/>
              <a:buChar char="▪"/>
              <a:defRPr sz="3600">
                <a:solidFill>
                  <a:srgbClr val="C00000"/>
                </a:solidFill>
                <a:latin typeface="Calibri Light"/>
                <a:ea typeface="Calibri Light"/>
                <a:cs typeface="Calibri Light"/>
                <a:sym typeface="Calibri Light"/>
              </a:defRPr>
            </a:pPr>
            <a:r>
              <a:t>Frontend</a:t>
            </a:r>
          </a:p>
          <a:p>
            <a:pPr>
              <a:defRPr sz="3600">
                <a:latin typeface="Calibri Light"/>
                <a:ea typeface="Calibri Light"/>
                <a:cs typeface="Calibri Light"/>
                <a:sym typeface="Calibri Light"/>
              </a:defRPr>
            </a:pPr>
            <a:r>
              <a:t>	 WebStorm, Visual Studio Code, Adobe Dreamweaver</a:t>
            </a:r>
          </a:p>
          <a:p>
            <a:pPr>
              <a:defRPr sz="3600">
                <a:latin typeface="Calibri Light"/>
                <a:ea typeface="Calibri Light"/>
                <a:cs typeface="Calibri Light"/>
                <a:sym typeface="Calibri Light"/>
              </a:defRPr>
            </a:pPr>
          </a:p>
          <a:p>
            <a:pPr marL="342900" indent="-342900">
              <a:buSzPct val="100000"/>
              <a:buChar char="▪"/>
              <a:defRPr sz="3600">
                <a:solidFill>
                  <a:srgbClr val="C00000"/>
                </a:solidFill>
                <a:latin typeface="Calibri Light"/>
                <a:ea typeface="Calibri Light"/>
                <a:cs typeface="Calibri Light"/>
                <a:sym typeface="Calibri Light"/>
              </a:defRPr>
            </a:pPr>
            <a:r>
              <a:t>Backend</a:t>
            </a:r>
          </a:p>
          <a:p>
            <a:pPr lvl="1">
              <a:defRPr sz="3600">
                <a:latin typeface="Calibri Light"/>
                <a:ea typeface="Calibri Light"/>
                <a:cs typeface="Calibri Light"/>
                <a:sym typeface="Calibri Light"/>
              </a:defRPr>
            </a:pPr>
            <a:r>
              <a:t>IDEA</a:t>
            </a:r>
          </a:p>
          <a:p>
            <a:pPr marL="342900" indent="-342900">
              <a:buSzPct val="100000"/>
              <a:buChar char="▪"/>
              <a:defRPr sz="3600">
                <a:latin typeface="Calibri Light"/>
                <a:ea typeface="Calibri Light"/>
                <a:cs typeface="Calibri Light"/>
                <a:sym typeface="Calibri Light"/>
              </a:defRPr>
            </a:pPr>
          </a:p>
          <a:p>
            <a:pPr marL="342900" indent="-342900">
              <a:buSzPct val="100000"/>
              <a:buChar char="▪"/>
              <a:defRPr sz="3600">
                <a:solidFill>
                  <a:srgbClr val="C00000"/>
                </a:solidFill>
                <a:latin typeface="Calibri Light"/>
                <a:ea typeface="Calibri Light"/>
                <a:cs typeface="Calibri Light"/>
                <a:sym typeface="Calibri Light"/>
              </a:defRPr>
            </a:pPr>
            <a:r>
              <a:t>Collaboration</a:t>
            </a:r>
          </a:p>
          <a:p>
            <a:pPr>
              <a:defRPr sz="3600">
                <a:latin typeface="Calibri Light"/>
                <a:ea typeface="Calibri Light"/>
                <a:cs typeface="Calibri Light"/>
                <a:sym typeface="Calibri Light"/>
              </a:defRPr>
            </a:pPr>
            <a:r>
              <a:t>	GitHub	</a:t>
            </a:r>
          </a:p>
        </p:txBody>
      </p:sp>
      <p:sp>
        <p:nvSpPr>
          <p:cNvPr id="291" name="Rectangle 9"/>
          <p:cNvSpPr txBox="1"/>
          <p:nvPr/>
        </p:nvSpPr>
        <p:spPr>
          <a:xfrm>
            <a:off x="531893" y="205503"/>
            <a:ext cx="11721067" cy="93537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6000">
                <a:solidFill>
                  <a:srgbClr val="33339B"/>
                </a:solidFill>
                <a:latin typeface="Times New Roman"/>
                <a:ea typeface="Times New Roman"/>
                <a:cs typeface="Times New Roman"/>
                <a:sym typeface="Times New Roman"/>
              </a:defRPr>
            </a:lvl1pPr>
          </a:lstStyle>
          <a:p>
            <a:pPr/>
            <a:r>
              <a:t>Development Tools</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3" name="灯片编号占位符 1"/>
          <p:cNvSpPr txBox="1"/>
          <p:nvPr>
            <p:ph type="sldNum" sz="quarter" idx="2"/>
          </p:nvPr>
        </p:nvSpPr>
        <p:spPr>
          <a:xfrm>
            <a:off x="8610600" y="6199592"/>
            <a:ext cx="258624" cy="248306"/>
          </a:xfrm>
          <a:prstGeom prst="rect">
            <a:avLst/>
          </a:prstGeom>
          <a:extLst>
            <a:ext uri="{C572A759-6A51-4108-AA02-DFA0A04FC94B}">
              <ma14:wrappingTextBoxFlag xmlns:ma14="http://schemas.microsoft.com/office/mac/drawingml/2011/main" val="1"/>
            </a:ext>
          </a:extLst>
        </p:spPr>
        <p:txBody>
          <a:bodyPr/>
          <a:lstStyle>
            <a:lvl1pPr algn="l"/>
          </a:lstStyle>
          <a:p>
            <a:pPr/>
            <a:fld id="{86CB4B4D-7CA3-9044-876B-883B54F8677D}" type="slidenum"/>
          </a:p>
        </p:txBody>
      </p:sp>
      <p:sp>
        <p:nvSpPr>
          <p:cNvPr id="294" name="Rectangle 9"/>
          <p:cNvSpPr txBox="1"/>
          <p:nvPr/>
        </p:nvSpPr>
        <p:spPr>
          <a:xfrm>
            <a:off x="1526194" y="1367355"/>
            <a:ext cx="10323974" cy="455876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1028700" indent="-1028700">
              <a:buSzPct val="100000"/>
              <a:buAutoNum type="romanUcPeriod" startAt="1"/>
              <a:defRPr sz="6000">
                <a:solidFill>
                  <a:srgbClr val="808080"/>
                </a:solidFill>
                <a:latin typeface="Calibri Light"/>
                <a:ea typeface="Calibri Light"/>
                <a:cs typeface="Calibri Light"/>
                <a:sym typeface="Calibri Light"/>
              </a:defRPr>
            </a:pPr>
            <a:r>
              <a:t>Introduce Myself and Rules</a:t>
            </a:r>
          </a:p>
          <a:p>
            <a:pPr marL="1028700" indent="-1028700">
              <a:buSzPct val="100000"/>
              <a:buAutoNum type="romanUcPeriod" startAt="1"/>
              <a:defRPr sz="6000">
                <a:solidFill>
                  <a:srgbClr val="808080"/>
                </a:solidFill>
                <a:latin typeface="Calibri Light"/>
                <a:ea typeface="Calibri Light"/>
                <a:cs typeface="Calibri Light"/>
                <a:sym typeface="Calibri Light"/>
              </a:defRPr>
            </a:pPr>
            <a:r>
              <a:t>Software Preparation</a:t>
            </a:r>
          </a:p>
          <a:p>
            <a:pPr marL="1028700" indent="-1028700">
              <a:buSzPct val="100000"/>
              <a:buAutoNum type="romanUcPeriod" startAt="1"/>
              <a:defRPr sz="6000">
                <a:solidFill>
                  <a:srgbClr val="808080"/>
                </a:solidFill>
                <a:latin typeface="Calibri Light"/>
                <a:ea typeface="Calibri Light"/>
                <a:cs typeface="Calibri Light"/>
                <a:sym typeface="Calibri Light"/>
              </a:defRPr>
            </a:pPr>
            <a:r>
              <a:t>Some Common DBMS</a:t>
            </a:r>
          </a:p>
          <a:p>
            <a:pPr marL="1028700" indent="-1028700">
              <a:buSzPct val="100000"/>
              <a:buAutoNum type="romanUcPeriod" startAt="1"/>
              <a:defRPr sz="6000">
                <a:solidFill>
                  <a:srgbClr val="808080"/>
                </a:solidFill>
                <a:latin typeface="Calibri Light"/>
                <a:ea typeface="Calibri Light"/>
                <a:cs typeface="Calibri Light"/>
                <a:sym typeface="Calibri Light"/>
              </a:defRPr>
            </a:pPr>
            <a:r>
              <a:t>Frontend Technology</a:t>
            </a:r>
          </a:p>
          <a:p>
            <a:pPr marL="1028700" indent="-1028700">
              <a:buSzPct val="100000"/>
              <a:buAutoNum type="romanUcPeriod" startAt="1"/>
              <a:defRPr sz="6000" u="sng">
                <a:effectLst>
                  <a:outerShdw sx="100000" sy="100000" kx="0" ky="0" algn="b" rotWithShape="0" blurRad="38100" dist="38100" dir="2700000">
                    <a:srgbClr val="000000">
                      <a:alpha val="43137"/>
                    </a:srgbClr>
                  </a:outerShdw>
                </a:effectLst>
                <a:latin typeface="Calibri Light"/>
                <a:ea typeface="Calibri Light"/>
                <a:cs typeface="Calibri Light"/>
                <a:sym typeface="Calibri Light"/>
              </a:defRPr>
            </a:pPr>
            <a:r>
              <a:t>Project One Preview</a:t>
            </a:r>
          </a:p>
        </p:txBody>
      </p:sp>
      <p:sp>
        <p:nvSpPr>
          <p:cNvPr id="295" name="Rectangle 9"/>
          <p:cNvSpPr txBox="1"/>
          <p:nvPr/>
        </p:nvSpPr>
        <p:spPr>
          <a:xfrm>
            <a:off x="860683" y="351692"/>
            <a:ext cx="10470634" cy="93537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6000">
                <a:solidFill>
                  <a:srgbClr val="C00000"/>
                </a:solidFill>
                <a:latin typeface="Times New Roman"/>
                <a:ea typeface="Times New Roman"/>
                <a:cs typeface="Times New Roman"/>
                <a:sym typeface="Times New Roman"/>
              </a:defRPr>
            </a:lvl1pPr>
          </a:lstStyle>
          <a:p>
            <a:pPr/>
            <a:r>
              <a:t>0-Project Preparation</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7" name="文本框 5"/>
          <p:cNvSpPr txBox="1"/>
          <p:nvPr/>
        </p:nvSpPr>
        <p:spPr>
          <a:xfrm>
            <a:off x="1185725" y="1358646"/>
            <a:ext cx="9820549" cy="411119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457200" indent="-457200">
              <a:lnSpc>
                <a:spcPct val="150000"/>
              </a:lnSpc>
              <a:buSzPct val="100000"/>
              <a:buChar char="➢"/>
              <a:defRPr sz="4000">
                <a:latin typeface="Calibri Light"/>
                <a:ea typeface="Calibri Light"/>
                <a:cs typeface="Calibri Light"/>
                <a:sym typeface="Calibri Light"/>
              </a:defRPr>
            </a:pPr>
            <a:r>
              <a:t>Create a Database</a:t>
            </a:r>
          </a:p>
          <a:p>
            <a:pPr marL="457200" indent="-457200">
              <a:lnSpc>
                <a:spcPct val="150000"/>
              </a:lnSpc>
              <a:buSzPct val="100000"/>
              <a:buChar char="➢"/>
              <a:defRPr sz="4000">
                <a:latin typeface="Calibri Light"/>
                <a:ea typeface="Calibri Light"/>
                <a:cs typeface="Calibri Light"/>
                <a:sym typeface="Calibri Light"/>
              </a:defRPr>
            </a:pPr>
            <a:r>
              <a:t>Create a Table</a:t>
            </a:r>
          </a:p>
          <a:p>
            <a:pPr marL="457200" indent="-457200">
              <a:lnSpc>
                <a:spcPct val="150000"/>
              </a:lnSpc>
              <a:buSzPct val="100000"/>
              <a:buChar char="➢"/>
              <a:defRPr sz="4000">
                <a:latin typeface="Calibri Light"/>
                <a:ea typeface="Calibri Light"/>
                <a:cs typeface="Calibri Light"/>
                <a:sym typeface="Calibri Light"/>
              </a:defRPr>
            </a:pPr>
            <a:r>
              <a:t>Set the Field Properties for an Existing Table</a:t>
            </a:r>
          </a:p>
          <a:p>
            <a:pPr marL="457200" indent="-457200">
              <a:lnSpc>
                <a:spcPct val="150000"/>
              </a:lnSpc>
              <a:buSzPct val="100000"/>
              <a:buChar char="➢"/>
              <a:defRPr sz="4000">
                <a:latin typeface="Calibri Light"/>
                <a:ea typeface="Calibri Light"/>
                <a:cs typeface="Calibri Light"/>
                <a:sym typeface="Calibri Light"/>
              </a:defRPr>
            </a:pPr>
            <a:r>
              <a:t>Add Data to a Table	</a:t>
            </a:r>
          </a:p>
          <a:p>
            <a:pPr marL="457200" indent="-457200">
              <a:lnSpc>
                <a:spcPct val="150000"/>
              </a:lnSpc>
              <a:buSzPct val="100000"/>
              <a:buChar char="➢"/>
              <a:defRPr sz="4000">
                <a:latin typeface="Calibri Light"/>
                <a:ea typeface="Calibri Light"/>
                <a:cs typeface="Calibri Light"/>
                <a:sym typeface="Calibri Light"/>
              </a:defRPr>
            </a:pPr>
            <a:r>
              <a:t>Import Data into </a:t>
            </a:r>
            <a:r>
              <a:rPr>
                <a:solidFill>
                  <a:srgbClr val="C00000"/>
                </a:solidFill>
              </a:rPr>
              <a:t>Access</a:t>
            </a:r>
          </a:p>
        </p:txBody>
      </p:sp>
      <p:sp>
        <p:nvSpPr>
          <p:cNvPr id="298" name="Rectangle 9"/>
          <p:cNvSpPr txBox="1"/>
          <p:nvPr/>
        </p:nvSpPr>
        <p:spPr>
          <a:xfrm>
            <a:off x="531893" y="205503"/>
            <a:ext cx="8797881" cy="93537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6000">
                <a:solidFill>
                  <a:srgbClr val="33339B"/>
                </a:solidFill>
                <a:latin typeface="Times New Roman"/>
                <a:ea typeface="Times New Roman"/>
                <a:cs typeface="Times New Roman"/>
                <a:sym typeface="Times New Roman"/>
              </a:defRPr>
            </a:lvl1pPr>
          </a:lstStyle>
          <a:p>
            <a:pPr/>
            <a:r>
              <a:t>Project One Preview</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0" name="Rectangle 9"/>
          <p:cNvSpPr txBox="1"/>
          <p:nvPr/>
        </p:nvSpPr>
        <p:spPr>
          <a:xfrm>
            <a:off x="1243791" y="2111998"/>
            <a:ext cx="9403080" cy="93537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6000">
                <a:solidFill>
                  <a:srgbClr val="33339B"/>
                </a:solidFill>
                <a:latin typeface="Times New Roman"/>
                <a:ea typeface="Times New Roman"/>
                <a:cs typeface="Times New Roman"/>
                <a:sym typeface="Times New Roman"/>
              </a:defRPr>
            </a:lvl1pPr>
          </a:lstStyle>
          <a:p>
            <a:pPr/>
            <a:r>
              <a:t>Project 1 </a:t>
            </a:r>
          </a:p>
        </p:txBody>
      </p:sp>
      <p:sp>
        <p:nvSpPr>
          <p:cNvPr id="301" name="文本框 10"/>
          <p:cNvSpPr txBox="1"/>
          <p:nvPr/>
        </p:nvSpPr>
        <p:spPr>
          <a:xfrm>
            <a:off x="4176452" y="4571381"/>
            <a:ext cx="3537757" cy="66676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4000">
                <a:latin typeface="Times New Roman"/>
                <a:ea typeface="Times New Roman"/>
                <a:cs typeface="Times New Roman"/>
                <a:sym typeface="Times New Roman"/>
              </a:defRPr>
            </a:lvl1pPr>
          </a:lstStyle>
          <a:p>
            <a:pPr/>
            <a:r>
              <a:t>TA: Hao Gong</a:t>
            </a:r>
          </a:p>
        </p:txBody>
      </p:sp>
      <p:sp>
        <p:nvSpPr>
          <p:cNvPr id="302" name="文本框 3"/>
          <p:cNvSpPr txBox="1"/>
          <p:nvPr/>
        </p:nvSpPr>
        <p:spPr>
          <a:xfrm>
            <a:off x="3350026" y="3495578"/>
            <a:ext cx="5013963" cy="66676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4000">
                <a:latin typeface="Times New Roman"/>
                <a:ea typeface="Times New Roman"/>
                <a:cs typeface="Times New Roman"/>
                <a:sym typeface="Times New Roman"/>
              </a:defRPr>
            </a:lvl1pPr>
          </a:lstStyle>
          <a:p>
            <a:pPr/>
            <a:r>
              <a:t>Lecturer: Shuai Wang</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4" name="Rectangle 9"/>
          <p:cNvSpPr txBox="1"/>
          <p:nvPr/>
        </p:nvSpPr>
        <p:spPr>
          <a:xfrm>
            <a:off x="592132" y="378536"/>
            <a:ext cx="10371469" cy="66676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4000">
                <a:solidFill>
                  <a:srgbClr val="33339B"/>
                </a:solidFill>
                <a:latin typeface="Times New Roman"/>
                <a:ea typeface="Times New Roman"/>
                <a:cs typeface="Times New Roman"/>
                <a:sym typeface="Times New Roman"/>
              </a:defRPr>
            </a:lvl1pPr>
          </a:lstStyle>
          <a:p>
            <a:pPr/>
            <a:r>
              <a:t>Requirements for submitting the assignment</a:t>
            </a:r>
          </a:p>
        </p:txBody>
      </p:sp>
      <p:sp>
        <p:nvSpPr>
          <p:cNvPr id="305" name="Rectangle 1"/>
          <p:cNvSpPr/>
          <p:nvPr/>
        </p:nvSpPr>
        <p:spPr>
          <a:xfrm>
            <a:off x="1277353" y="5586910"/>
            <a:ext cx="9317222" cy="724928"/>
          </a:xfrm>
          <a:prstGeom prst="rect">
            <a:avLst/>
          </a:prstGeom>
          <a:ln>
            <a:solidFill>
              <a:srgbClr val="C00000"/>
            </a:solidFill>
          </a:ln>
          <a:extLst>
            <a:ext uri="{C572A759-6A51-4108-AA02-DFA0A04FC94B}">
              <ma14:wrappingTextBoxFlag xmlns:ma14="http://schemas.microsoft.com/office/mac/drawingml/2011/main" val="1"/>
            </a:ext>
          </a:extLst>
        </p:spPr>
        <p:txBody>
          <a:bodyPr wrap="none" lIns="45719" rIns="45719">
            <a:spAutoFit/>
          </a:bodyPr>
          <a:lstStyle/>
          <a:p>
            <a:pPr>
              <a:defRPr b="1" sz="4400">
                <a:solidFill>
                  <a:srgbClr val="C00000"/>
                </a:solidFill>
                <a:latin typeface="Times New Roman"/>
                <a:ea typeface="Times New Roman"/>
                <a:cs typeface="Times New Roman"/>
                <a:sym typeface="Times New Roman"/>
              </a:defRPr>
            </a:pPr>
            <a:r>
              <a:t>Deadline:</a:t>
            </a:r>
            <a:r>
              <a:t> </a:t>
            </a:r>
            <a:r>
              <a:t>Beijing time, 10.18, 24:00:00</a:t>
            </a:r>
          </a:p>
        </p:txBody>
      </p:sp>
      <p:sp>
        <p:nvSpPr>
          <p:cNvPr id="306" name="灯片编号占位符 2"/>
          <p:cNvSpPr txBox="1"/>
          <p:nvPr>
            <p:ph type="sldNum" sz="quarter" idx="2"/>
          </p:nvPr>
        </p:nvSpPr>
        <p:spPr>
          <a:xfrm>
            <a:off x="11095176" y="6414761"/>
            <a:ext cx="258624" cy="248306"/>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307" name="文本框 6"/>
          <p:cNvSpPr txBox="1"/>
          <p:nvPr/>
        </p:nvSpPr>
        <p:spPr>
          <a:xfrm>
            <a:off x="592130" y="1082976"/>
            <a:ext cx="10371471" cy="434832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457200" indent="-457200">
              <a:lnSpc>
                <a:spcPct val="150000"/>
              </a:lnSpc>
              <a:buSzPct val="100000"/>
              <a:buFont typeface="Arial"/>
              <a:buChar char="•"/>
              <a:defRPr b="1" sz="3200">
                <a:latin typeface="微软雅黑"/>
                <a:ea typeface="微软雅黑"/>
                <a:cs typeface="微软雅黑"/>
                <a:sym typeface="微软雅黑"/>
              </a:defRPr>
            </a:pPr>
            <a:r>
              <a:t>Email address : </a:t>
            </a:r>
            <a:r>
              <a:rPr u="sng">
                <a:solidFill>
                  <a:srgbClr val="33339B"/>
                </a:solidFill>
                <a:latin typeface="Times New Roman"/>
                <a:ea typeface="Times New Roman"/>
                <a:cs typeface="Times New Roman"/>
                <a:sym typeface="Times New Roman"/>
              </a:rPr>
              <a:t>seudatabaseqa@gmail.com</a:t>
            </a:r>
            <a:endParaRPr i="1" u="sng">
              <a:solidFill>
                <a:srgbClr val="33339B"/>
              </a:solidFill>
              <a:latin typeface="Carlito"/>
              <a:ea typeface="Carlito"/>
              <a:cs typeface="Carlito"/>
              <a:sym typeface="Carlito"/>
            </a:endParaRPr>
          </a:p>
          <a:p>
            <a:pPr marL="457200" indent="-457200">
              <a:lnSpc>
                <a:spcPct val="150000"/>
              </a:lnSpc>
              <a:buSzPct val="100000"/>
              <a:buFont typeface="Arial"/>
              <a:buChar char="•"/>
              <a:defRPr b="1" sz="3200">
                <a:latin typeface="微软雅黑"/>
                <a:ea typeface="微软雅黑"/>
                <a:cs typeface="微软雅黑"/>
                <a:sym typeface="微软雅黑"/>
              </a:defRPr>
            </a:pPr>
            <a:r>
              <a:t>File name format : </a:t>
            </a:r>
            <a:r>
              <a:rPr>
                <a:solidFill>
                  <a:srgbClr val="33339B"/>
                </a:solidFill>
                <a:latin typeface="Times New Roman"/>
                <a:ea typeface="Times New Roman"/>
                <a:cs typeface="Times New Roman"/>
                <a:sym typeface="Times New Roman"/>
              </a:rPr>
              <a:t>StudentNumber-Name-Project-X</a:t>
            </a:r>
            <a:endParaRPr>
              <a:solidFill>
                <a:srgbClr val="33339B"/>
              </a:solidFill>
              <a:latin typeface="Carlito"/>
              <a:ea typeface="Carlito"/>
              <a:cs typeface="Carlito"/>
              <a:sym typeface="Carlito"/>
            </a:endParaRPr>
          </a:p>
          <a:p>
            <a:pPr lvl="1">
              <a:lnSpc>
                <a:spcPct val="150000"/>
              </a:lnSpc>
              <a:defRPr sz="3200">
                <a:latin typeface="Calibri Light"/>
                <a:ea typeface="Calibri Light"/>
                <a:cs typeface="Calibri Light"/>
                <a:sym typeface="Calibri Light"/>
              </a:defRPr>
            </a:pPr>
            <a:r>
              <a:t>	</a:t>
            </a:r>
            <a:r>
              <a:rPr>
                <a:latin typeface="微软雅黑"/>
                <a:ea typeface="微软雅黑"/>
                <a:cs typeface="微软雅黑"/>
                <a:sym typeface="微软雅黑"/>
              </a:rPr>
              <a:t>example </a:t>
            </a:r>
            <a:r>
              <a:t>: </a:t>
            </a:r>
            <a:r>
              <a:rPr i="1">
                <a:solidFill>
                  <a:srgbClr val="33339B"/>
                </a:solidFill>
                <a:latin typeface="微软雅黑"/>
                <a:ea typeface="微软雅黑"/>
                <a:cs typeface="微软雅黑"/>
                <a:sym typeface="微软雅黑"/>
              </a:rPr>
              <a:t>71121000-</a:t>
            </a:r>
            <a:r>
              <a:rPr i="1">
                <a:solidFill>
                  <a:srgbClr val="33339B"/>
                </a:solidFill>
                <a:latin typeface="微软雅黑"/>
                <a:ea typeface="微软雅黑"/>
                <a:cs typeface="微软雅黑"/>
                <a:sym typeface="微软雅黑"/>
              </a:rPr>
              <a:t>张三</a:t>
            </a:r>
            <a:r>
              <a:rPr i="1">
                <a:solidFill>
                  <a:srgbClr val="33339B"/>
                </a:solidFill>
                <a:latin typeface="微软雅黑"/>
                <a:ea typeface="微软雅黑"/>
                <a:cs typeface="微软雅黑"/>
                <a:sym typeface="微软雅黑"/>
              </a:rPr>
              <a:t>-Project-1.zip</a:t>
            </a:r>
            <a:endParaRPr i="1">
              <a:solidFill>
                <a:srgbClr val="33339B"/>
              </a:solidFill>
              <a:latin typeface="微软雅黑"/>
              <a:ea typeface="微软雅黑"/>
              <a:cs typeface="微软雅黑"/>
              <a:sym typeface="微软雅黑"/>
            </a:endParaRPr>
          </a:p>
          <a:p>
            <a:pPr marL="457200" indent="-457200">
              <a:lnSpc>
                <a:spcPct val="150000"/>
              </a:lnSpc>
              <a:buSzPct val="100000"/>
              <a:buFont typeface="Arial"/>
              <a:buChar char="•"/>
              <a:defRPr b="1" sz="3200">
                <a:latin typeface="微软雅黑"/>
                <a:ea typeface="微软雅黑"/>
                <a:cs typeface="微软雅黑"/>
                <a:sym typeface="微软雅黑"/>
              </a:defRPr>
            </a:pPr>
            <a:r>
              <a:t>Including :</a:t>
            </a:r>
          </a:p>
          <a:p>
            <a:pPr>
              <a:lnSpc>
                <a:spcPct val="150000"/>
              </a:lnSpc>
              <a:defRPr sz="3200">
                <a:solidFill>
                  <a:srgbClr val="00B0F0"/>
                </a:solidFill>
                <a:latin typeface="Calibri Light"/>
                <a:ea typeface="Calibri Light"/>
                <a:cs typeface="Calibri Light"/>
                <a:sym typeface="Calibri Light"/>
              </a:defRPr>
            </a:pPr>
            <a:r>
              <a:t>		</a:t>
            </a:r>
            <a:r>
              <a:rPr i="1">
                <a:solidFill>
                  <a:srgbClr val="33339B"/>
                </a:solidFill>
              </a:rPr>
              <a:t>report_A1.doc / report_A1.docx</a:t>
            </a:r>
            <a:endParaRPr i="1">
              <a:solidFill>
                <a:srgbClr val="33339B"/>
              </a:solidFill>
            </a:endParaRPr>
          </a:p>
          <a:p>
            <a:pPr>
              <a:lnSpc>
                <a:spcPct val="150000"/>
              </a:lnSpc>
              <a:defRPr i="1" sz="3200">
                <a:solidFill>
                  <a:srgbClr val="33339B"/>
                </a:solidFill>
                <a:latin typeface="Calibri Light"/>
                <a:ea typeface="Calibri Light"/>
                <a:cs typeface="Calibri Light"/>
                <a:sym typeface="Calibri Light"/>
              </a:defRPr>
            </a:pPr>
            <a:r>
              <a:t>     	    university_A1.mdb / university_A1.accdb</a:t>
            </a:r>
          </a:p>
        </p:txBody>
      </p:sp>
      <p:pic>
        <p:nvPicPr>
          <p:cNvPr id="308" name="图片 13" descr="图片 13"/>
          <p:cNvPicPr>
            <a:picLocks noChangeAspect="1"/>
          </p:cNvPicPr>
          <p:nvPr/>
        </p:nvPicPr>
        <p:blipFill>
          <a:blip r:embed="rId2">
            <a:extLst/>
          </a:blip>
          <a:stretch>
            <a:fillRect/>
          </a:stretch>
        </p:blipFill>
        <p:spPr>
          <a:xfrm>
            <a:off x="8326064" y="4446320"/>
            <a:ext cx="2683257" cy="790070"/>
          </a:xfrm>
          <a:prstGeom prst="rect">
            <a:avLst/>
          </a:prstGeom>
          <a:ln>
            <a:solidFill>
              <a:srgbClr val="203864"/>
            </a:solidFill>
          </a:ln>
        </p:spPr>
      </p:pic>
    </p:spTree>
  </p:cSld>
  <p:clrMapOvr>
    <a:masterClrMapping/>
  </p:clrMapOvr>
  <p:transition xmlns:p14="http://schemas.microsoft.com/office/powerpoint/2010/main" spd="med" advClick="1"/>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0" name="灯片编号占位符 1"/>
          <p:cNvSpPr txBox="1"/>
          <p:nvPr>
            <p:ph type="sldNum" sz="quarter" idx="2"/>
          </p:nvPr>
        </p:nvSpPr>
        <p:spPr>
          <a:xfrm>
            <a:off x="8610600" y="6199592"/>
            <a:ext cx="258624" cy="248306"/>
          </a:xfrm>
          <a:prstGeom prst="rect">
            <a:avLst/>
          </a:prstGeom>
          <a:extLst>
            <a:ext uri="{C572A759-6A51-4108-AA02-DFA0A04FC94B}">
              <ma14:wrappingTextBoxFlag xmlns:ma14="http://schemas.microsoft.com/office/mac/drawingml/2011/main" val="1"/>
            </a:ext>
          </a:extLst>
        </p:spPr>
        <p:txBody>
          <a:bodyPr/>
          <a:lstStyle>
            <a:lvl1pPr algn="l"/>
          </a:lstStyle>
          <a:p>
            <a:pPr/>
            <a:fld id="{86CB4B4D-7CA3-9044-876B-883B54F8677D}" type="slidenum"/>
          </a:p>
        </p:txBody>
      </p:sp>
      <p:sp>
        <p:nvSpPr>
          <p:cNvPr id="311" name="Rectangle 9"/>
          <p:cNvSpPr txBox="1"/>
          <p:nvPr/>
        </p:nvSpPr>
        <p:spPr>
          <a:xfrm>
            <a:off x="585573" y="1742893"/>
            <a:ext cx="11020854" cy="346348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1028700" indent="-1028700">
              <a:lnSpc>
                <a:spcPct val="150000"/>
              </a:lnSpc>
              <a:buSzPct val="100000"/>
              <a:buAutoNum type="romanUcPeriod" startAt="1"/>
              <a:defRPr sz="6000" u="sng">
                <a:effectLst>
                  <a:outerShdw sx="100000" sy="100000" kx="0" ky="0" algn="b" rotWithShape="0" blurRad="38100" dist="38100" dir="2700000">
                    <a:srgbClr val="000000">
                      <a:alpha val="43137"/>
                    </a:srgbClr>
                  </a:outerShdw>
                </a:effectLst>
                <a:latin typeface="Calibri Light"/>
                <a:ea typeface="Calibri Light"/>
                <a:cs typeface="Calibri Light"/>
                <a:sym typeface="Calibri Light"/>
              </a:defRPr>
            </a:pPr>
            <a:r>
              <a:t>Tutorial with Project Examples</a:t>
            </a:r>
          </a:p>
          <a:p>
            <a:pPr marL="1028700" indent="-1028700">
              <a:lnSpc>
                <a:spcPct val="150000"/>
              </a:lnSpc>
              <a:buSzPct val="100000"/>
              <a:buAutoNum type="romanUcPeriod" startAt="1"/>
              <a:defRPr sz="6000">
                <a:solidFill>
                  <a:srgbClr val="808080"/>
                </a:solidFill>
                <a:latin typeface="Calibri Light"/>
                <a:ea typeface="Calibri Light"/>
                <a:cs typeface="Calibri Light"/>
                <a:sym typeface="Calibri Light"/>
              </a:defRPr>
            </a:pPr>
            <a:r>
              <a:t>Assignment</a:t>
            </a:r>
          </a:p>
        </p:txBody>
      </p:sp>
      <p:sp>
        <p:nvSpPr>
          <p:cNvPr id="312" name="Rectangle 9"/>
          <p:cNvSpPr txBox="1"/>
          <p:nvPr/>
        </p:nvSpPr>
        <p:spPr>
          <a:xfrm>
            <a:off x="860683" y="452095"/>
            <a:ext cx="10470634" cy="1021034"/>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6600">
                <a:solidFill>
                  <a:srgbClr val="C00000"/>
                </a:solidFill>
                <a:latin typeface="Times New Roman"/>
                <a:ea typeface="Times New Roman"/>
                <a:cs typeface="Times New Roman"/>
                <a:sym typeface="Times New Roman"/>
              </a:defRPr>
            </a:lvl1pPr>
          </a:lstStyle>
          <a:p>
            <a:pPr/>
            <a:r>
              <a:t>Project 1</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4" name="Rectangle 6"/>
          <p:cNvSpPr txBox="1"/>
          <p:nvPr/>
        </p:nvSpPr>
        <p:spPr>
          <a:xfrm>
            <a:off x="531892" y="1057846"/>
            <a:ext cx="4581139" cy="66676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4000">
                <a:solidFill>
                  <a:srgbClr val="33339B"/>
                </a:solidFill>
                <a:latin typeface="Times New Roman"/>
                <a:ea typeface="Times New Roman"/>
                <a:cs typeface="Times New Roman"/>
                <a:sym typeface="Times New Roman"/>
              </a:defRPr>
            </a:lvl1pPr>
          </a:lstStyle>
          <a:p>
            <a:pPr/>
            <a:r>
              <a:t>1. Create a Database</a:t>
            </a:r>
          </a:p>
        </p:txBody>
      </p:sp>
      <p:sp>
        <p:nvSpPr>
          <p:cNvPr id="315" name="Rectangle 7"/>
          <p:cNvSpPr txBox="1"/>
          <p:nvPr/>
        </p:nvSpPr>
        <p:spPr>
          <a:xfrm>
            <a:off x="1963923" y="2279772"/>
            <a:ext cx="7760132" cy="444759"/>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sz="2800">
                <a:latin typeface="Calibri Light"/>
                <a:ea typeface="Calibri Light"/>
                <a:cs typeface="Calibri Light"/>
                <a:sym typeface="Calibri Light"/>
              </a:defRPr>
            </a:lvl1pPr>
          </a:lstStyle>
          <a:p>
            <a:pPr/>
            <a:r>
              <a:t>1.1.1 From the File  &gt;  Open  &gt;  Choose One Database</a:t>
            </a:r>
          </a:p>
        </p:txBody>
      </p:sp>
      <p:sp>
        <p:nvSpPr>
          <p:cNvPr id="316" name="Rectangle 9"/>
          <p:cNvSpPr txBox="1"/>
          <p:nvPr/>
        </p:nvSpPr>
        <p:spPr>
          <a:xfrm>
            <a:off x="1963923" y="2732528"/>
            <a:ext cx="7675573" cy="444759"/>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sz="2800">
                <a:latin typeface="Calibri Light"/>
                <a:ea typeface="Calibri Light"/>
                <a:cs typeface="Calibri Light"/>
                <a:sym typeface="Calibri Light"/>
              </a:defRPr>
            </a:lvl1pPr>
          </a:lstStyle>
          <a:p>
            <a:pPr/>
            <a:r>
              <a:t>1.1.2 From the File  &gt;  New Folder &gt;  Blank Database </a:t>
            </a:r>
          </a:p>
        </p:txBody>
      </p:sp>
      <p:sp>
        <p:nvSpPr>
          <p:cNvPr id="317" name="Rectangle 10"/>
          <p:cNvSpPr txBox="1"/>
          <p:nvPr/>
        </p:nvSpPr>
        <p:spPr>
          <a:xfrm>
            <a:off x="1474010" y="3617026"/>
            <a:ext cx="3966132" cy="497047"/>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sz="3200">
                <a:latin typeface="Calibri Light"/>
                <a:ea typeface="Calibri Light"/>
                <a:cs typeface="Calibri Light"/>
                <a:sym typeface="Calibri Light"/>
              </a:defRPr>
            </a:lvl1pPr>
          </a:lstStyle>
          <a:p>
            <a:pPr/>
            <a:r>
              <a:t>1.2 Name the Database</a:t>
            </a:r>
          </a:p>
        </p:txBody>
      </p:sp>
      <p:sp>
        <p:nvSpPr>
          <p:cNvPr id="318" name="Rectangle 8"/>
          <p:cNvSpPr txBox="1"/>
          <p:nvPr/>
        </p:nvSpPr>
        <p:spPr>
          <a:xfrm>
            <a:off x="1474011" y="1694996"/>
            <a:ext cx="4708486" cy="497048"/>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sz="3200">
                <a:latin typeface="Calibri Light"/>
                <a:ea typeface="Calibri Light"/>
                <a:cs typeface="Calibri Light"/>
                <a:sym typeface="Calibri Light"/>
              </a:defRPr>
            </a:lvl1pPr>
          </a:lstStyle>
          <a:p>
            <a:pPr/>
            <a:r>
              <a:t>1.1 Select a Blank Database </a:t>
            </a:r>
          </a:p>
        </p:txBody>
      </p:sp>
      <p:sp>
        <p:nvSpPr>
          <p:cNvPr id="319" name="灯片编号占位符 1"/>
          <p:cNvSpPr txBox="1"/>
          <p:nvPr>
            <p:ph type="sldNum" sz="quarter" idx="2"/>
          </p:nvPr>
        </p:nvSpPr>
        <p:spPr>
          <a:xfrm>
            <a:off x="11095176" y="6414761"/>
            <a:ext cx="258624" cy="248306"/>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320" name="Rectangle 9"/>
          <p:cNvSpPr txBox="1"/>
          <p:nvPr/>
        </p:nvSpPr>
        <p:spPr>
          <a:xfrm>
            <a:off x="531892" y="205503"/>
            <a:ext cx="10882867" cy="93537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6000">
                <a:solidFill>
                  <a:srgbClr val="33339B"/>
                </a:solidFill>
                <a:latin typeface="Times New Roman"/>
                <a:ea typeface="Times New Roman"/>
                <a:cs typeface="Times New Roman"/>
                <a:sym typeface="Times New Roman"/>
              </a:defRPr>
            </a:lvl1pPr>
          </a:lstStyle>
          <a:p>
            <a:pPr/>
            <a:r>
              <a:t>Tutorial with Project Examples</a:t>
            </a:r>
          </a:p>
        </p:txBody>
      </p:sp>
      <p:sp>
        <p:nvSpPr>
          <p:cNvPr id="321" name="文本框 3"/>
          <p:cNvSpPr txBox="1"/>
          <p:nvPr/>
        </p:nvSpPr>
        <p:spPr>
          <a:xfrm>
            <a:off x="10252461" y="5894687"/>
            <a:ext cx="1508761" cy="58216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2400">
                <a:solidFill>
                  <a:srgbClr val="00B050"/>
                </a:solidFill>
                <a:effectLst>
                  <a:outerShdw sx="100000" sy="100000" kx="0" ky="0" algn="b" rotWithShape="0" blurRad="38100" dist="38100" dir="2700000">
                    <a:srgbClr val="000000">
                      <a:alpha val="43137"/>
                    </a:srgbClr>
                  </a:outerShdw>
                </a:effectLst>
                <a:latin typeface="Lucida Calligraphy"/>
                <a:ea typeface="Lucida Calligraphy"/>
                <a:cs typeface="Lucida Calligraphy"/>
                <a:sym typeface="Lucida Calligraphy"/>
              </a:defRPr>
            </a:lvl1pPr>
          </a:lstStyle>
          <a:p>
            <a:pPr/>
            <a:r>
              <a:t>Easy Job</a:t>
            </a:r>
          </a:p>
        </p:txBody>
      </p:sp>
      <p:pic>
        <p:nvPicPr>
          <p:cNvPr id="322" name="图片 5" descr="图片 5"/>
          <p:cNvPicPr>
            <a:picLocks noChangeAspect="1"/>
          </p:cNvPicPr>
          <p:nvPr/>
        </p:nvPicPr>
        <p:blipFill>
          <a:blip r:embed="rId2">
            <a:extLst/>
          </a:blip>
          <a:stretch>
            <a:fillRect/>
          </a:stretch>
        </p:blipFill>
        <p:spPr>
          <a:xfrm>
            <a:off x="9627620" y="2936712"/>
            <a:ext cx="1018551" cy="1083930"/>
          </a:xfrm>
          <a:prstGeom prst="rect">
            <a:avLst/>
          </a:prstGeom>
          <a:ln w="38100" cap="sq">
            <a:solidFill>
              <a:srgbClr val="000000"/>
            </a:solidFill>
            <a:miter/>
          </a:ln>
          <a:effectLst>
            <a:outerShdw sx="100000" sy="100000" kx="0" ky="0" algn="b" rotWithShape="0" blurRad="50800" dist="38100" dir="2700000">
              <a:srgbClr val="000000">
                <a:alpha val="43000"/>
              </a:srgbClr>
            </a:outerShdw>
          </a:effectLst>
        </p:spPr>
      </p:pic>
      <p:pic>
        <p:nvPicPr>
          <p:cNvPr id="323" name="图片 12" descr="图片 12"/>
          <p:cNvPicPr>
            <a:picLocks noChangeAspect="1"/>
          </p:cNvPicPr>
          <p:nvPr/>
        </p:nvPicPr>
        <p:blipFill>
          <a:blip r:embed="rId3">
            <a:extLst/>
          </a:blip>
          <a:stretch>
            <a:fillRect/>
          </a:stretch>
        </p:blipFill>
        <p:spPr>
          <a:xfrm>
            <a:off x="9627620" y="1884297"/>
            <a:ext cx="1018552" cy="931249"/>
          </a:xfrm>
          <a:prstGeom prst="rect">
            <a:avLst/>
          </a:prstGeom>
          <a:ln w="38100" cap="sq">
            <a:solidFill>
              <a:srgbClr val="000000"/>
            </a:solidFill>
            <a:miter/>
          </a:ln>
          <a:effectLst>
            <a:outerShdw sx="100000" sy="100000" kx="0" ky="0" algn="b" rotWithShape="0" blurRad="50800" dist="38100" dir="2700000">
              <a:srgbClr val="000000">
                <a:alpha val="43000"/>
              </a:srgbClr>
            </a:outerShdw>
          </a:effectLst>
        </p:spPr>
      </p:pic>
      <p:pic>
        <p:nvPicPr>
          <p:cNvPr id="324" name="图片 14" descr="图片 14"/>
          <p:cNvPicPr>
            <a:picLocks noChangeAspect="1"/>
          </p:cNvPicPr>
          <p:nvPr/>
        </p:nvPicPr>
        <p:blipFill>
          <a:blip r:embed="rId4">
            <a:extLst/>
          </a:blip>
          <a:stretch>
            <a:fillRect/>
          </a:stretch>
        </p:blipFill>
        <p:spPr>
          <a:xfrm>
            <a:off x="2373140" y="4334224"/>
            <a:ext cx="3465658" cy="1934407"/>
          </a:xfrm>
          <a:prstGeom prst="rect">
            <a:avLst/>
          </a:prstGeom>
          <a:ln w="38100" cap="sq">
            <a:solidFill>
              <a:srgbClr val="000000"/>
            </a:solidFill>
            <a:miter/>
          </a:ln>
          <a:effectLst>
            <a:outerShdw sx="100000" sy="100000" kx="0" ky="0" algn="b" rotWithShape="0" blurRad="50800" dist="38100" dir="2700000">
              <a:srgbClr val="000000">
                <a:alpha val="43000"/>
              </a:srgbClr>
            </a:outerShdw>
          </a:effectLst>
        </p:spPr>
      </p:pic>
      <p:sp>
        <p:nvSpPr>
          <p:cNvPr id="325" name="文本框 16"/>
          <p:cNvSpPr txBox="1"/>
          <p:nvPr/>
        </p:nvSpPr>
        <p:spPr>
          <a:xfrm>
            <a:off x="5410199" y="1304463"/>
            <a:ext cx="6004561" cy="33308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u="sng">
                <a:solidFill>
                  <a:srgbClr val="0563C1"/>
                </a:solidFill>
                <a:uFill>
                  <a:solidFill>
                    <a:srgbClr val="0563C1"/>
                  </a:solidFill>
                </a:uFill>
                <a:hlinkClick r:id="rId5" invalidUrl="" action="" tgtFrame="" tooltip="" history="1" highlightClick="0" endSnd="0"/>
              </a:defRPr>
            </a:lvl1pPr>
          </a:lstStyle>
          <a:p>
            <a:pPr>
              <a:defRPr u="none">
                <a:solidFill>
                  <a:srgbClr val="000000"/>
                </a:solidFill>
                <a:uFillTx/>
              </a:defRPr>
            </a:pPr>
            <a:r>
              <a:rPr u="sng">
                <a:solidFill>
                  <a:srgbClr val="0563C1"/>
                </a:solidFill>
                <a:uFill>
                  <a:solidFill>
                    <a:srgbClr val="0563C1"/>
                  </a:solidFill>
                </a:uFill>
                <a:hlinkClick r:id="rId5" invalidUrl="" action="" tgtFrame="" tooltip="" history="1" highlightClick="0" endSnd="0"/>
              </a:rPr>
              <a:t>Microsoft Access 2016 Tutorial (quackit.com)</a:t>
            </a:r>
          </a:p>
        </p:txBody>
      </p:sp>
    </p:spTree>
  </p:cSld>
  <p:clrMapOvr>
    <a:masterClrMapping/>
  </p:clrMapOvr>
  <p:transition xmlns:p14="http://schemas.microsoft.com/office/powerpoint/2010/main" spd="med" advClick="1"/>
</p:sld>
</file>

<file path=ppt/slides/slide3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332" name="组合 13"/>
          <p:cNvGrpSpPr/>
          <p:nvPr/>
        </p:nvGrpSpPr>
        <p:grpSpPr>
          <a:xfrm>
            <a:off x="1064707" y="2056661"/>
            <a:ext cx="6888055" cy="3257914"/>
            <a:chOff x="0" y="0"/>
            <a:chExt cx="6888053" cy="3257913"/>
          </a:xfrm>
        </p:grpSpPr>
        <p:sp>
          <p:nvSpPr>
            <p:cNvPr id="327" name="Rectangle 8"/>
            <p:cNvSpPr txBox="1"/>
            <p:nvPr/>
          </p:nvSpPr>
          <p:spPr>
            <a:xfrm>
              <a:off x="0" y="0"/>
              <a:ext cx="5017850" cy="49704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lvl1pPr>
                <a:defRPr sz="3200">
                  <a:latin typeface="Calibri Light"/>
                  <a:ea typeface="Calibri Light"/>
                  <a:cs typeface="Calibri Light"/>
                  <a:sym typeface="Calibri Light"/>
                </a:defRPr>
              </a:lvl1pPr>
            </a:lstStyle>
            <a:p>
              <a:pPr/>
              <a:r>
                <a:t>2.1 Customize the Blank Table</a:t>
              </a:r>
            </a:p>
          </p:txBody>
        </p:sp>
        <p:sp>
          <p:nvSpPr>
            <p:cNvPr id="328" name="Rectangle 5"/>
            <p:cNvSpPr txBox="1"/>
            <p:nvPr/>
          </p:nvSpPr>
          <p:spPr>
            <a:xfrm>
              <a:off x="784379" y="1447905"/>
              <a:ext cx="3099654" cy="44475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lvl1pPr>
                <a:defRPr sz="2800">
                  <a:latin typeface="Calibri Light"/>
                  <a:ea typeface="Calibri Light"/>
                  <a:cs typeface="Calibri Light"/>
                  <a:sym typeface="Calibri Light"/>
                </a:defRPr>
              </a:lvl1pPr>
            </a:lstStyle>
            <a:p>
              <a:pPr/>
              <a:r>
                <a:t>2.1.2 Name the Field</a:t>
              </a:r>
            </a:p>
          </p:txBody>
        </p:sp>
        <p:sp>
          <p:nvSpPr>
            <p:cNvPr id="329" name="Rectangle 6"/>
            <p:cNvSpPr txBox="1"/>
            <p:nvPr/>
          </p:nvSpPr>
          <p:spPr>
            <a:xfrm>
              <a:off x="784379" y="765280"/>
              <a:ext cx="6103675" cy="44475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lvl1pPr>
                <a:defRPr sz="2800">
                  <a:latin typeface="Calibri Light"/>
                  <a:ea typeface="Calibri Light"/>
                  <a:cs typeface="Calibri Light"/>
                  <a:sym typeface="Calibri Light"/>
                </a:defRPr>
              </a:lvl1pPr>
            </a:lstStyle>
            <a:p>
              <a:pPr/>
              <a:r>
                <a:t>2.1.1 Select a Data Type for the New Field</a:t>
              </a:r>
            </a:p>
          </p:txBody>
        </p:sp>
        <p:sp>
          <p:nvSpPr>
            <p:cNvPr id="330" name="Rectangle 7"/>
            <p:cNvSpPr txBox="1"/>
            <p:nvPr/>
          </p:nvSpPr>
          <p:spPr>
            <a:xfrm>
              <a:off x="786356" y="2130530"/>
              <a:ext cx="2971513" cy="44475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lvl1pPr>
                <a:defRPr sz="2800">
                  <a:latin typeface="Calibri Light"/>
                  <a:ea typeface="Calibri Light"/>
                  <a:cs typeface="Calibri Light"/>
                  <a:sym typeface="Calibri Light"/>
                </a:defRPr>
              </a:lvl1pPr>
            </a:lstStyle>
            <a:p>
              <a:pPr/>
              <a:r>
                <a:t>2.1.3 Save the Table</a:t>
              </a:r>
            </a:p>
          </p:txBody>
        </p:sp>
        <p:sp>
          <p:nvSpPr>
            <p:cNvPr id="331" name="Rectangle 8"/>
            <p:cNvSpPr txBox="1"/>
            <p:nvPr/>
          </p:nvSpPr>
          <p:spPr>
            <a:xfrm>
              <a:off x="784381" y="2813155"/>
              <a:ext cx="3250888" cy="44475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lvl1pPr>
                <a:defRPr sz="2800">
                  <a:latin typeface="Calibri Light"/>
                  <a:ea typeface="Calibri Light"/>
                  <a:cs typeface="Calibri Light"/>
                  <a:sym typeface="Calibri Light"/>
                </a:defRPr>
              </a:lvl1pPr>
            </a:lstStyle>
            <a:p>
              <a:pPr/>
              <a:r>
                <a:t>2.1.4 Name the Table </a:t>
              </a:r>
            </a:p>
          </p:txBody>
        </p:sp>
      </p:grpSp>
      <p:sp>
        <p:nvSpPr>
          <p:cNvPr id="333" name="灯片编号占位符 1"/>
          <p:cNvSpPr txBox="1"/>
          <p:nvPr>
            <p:ph type="sldNum" sz="quarter" idx="2"/>
          </p:nvPr>
        </p:nvSpPr>
        <p:spPr>
          <a:xfrm>
            <a:off x="11095176" y="6414761"/>
            <a:ext cx="258624" cy="248306"/>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334" name="Rectangle 6"/>
          <p:cNvSpPr txBox="1"/>
          <p:nvPr/>
        </p:nvSpPr>
        <p:spPr>
          <a:xfrm>
            <a:off x="531892" y="1230742"/>
            <a:ext cx="3763576" cy="66676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4000">
                <a:solidFill>
                  <a:srgbClr val="33339B"/>
                </a:solidFill>
                <a:latin typeface="Times New Roman"/>
                <a:ea typeface="Times New Roman"/>
                <a:cs typeface="Times New Roman"/>
                <a:sym typeface="Times New Roman"/>
              </a:defRPr>
            </a:lvl1pPr>
          </a:lstStyle>
          <a:p>
            <a:pPr/>
            <a:r>
              <a:t>2. Create a Table</a:t>
            </a:r>
          </a:p>
        </p:txBody>
      </p:sp>
      <p:sp>
        <p:nvSpPr>
          <p:cNvPr id="335" name="文本框 16"/>
          <p:cNvSpPr txBox="1"/>
          <p:nvPr/>
        </p:nvSpPr>
        <p:spPr>
          <a:xfrm>
            <a:off x="10252461" y="5894687"/>
            <a:ext cx="1508761" cy="58216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2400">
                <a:solidFill>
                  <a:srgbClr val="00B050"/>
                </a:solidFill>
                <a:effectLst>
                  <a:outerShdw sx="100000" sy="100000" kx="0" ky="0" algn="b" rotWithShape="0" blurRad="38100" dist="38100" dir="2700000">
                    <a:srgbClr val="000000">
                      <a:alpha val="43137"/>
                    </a:srgbClr>
                  </a:outerShdw>
                </a:effectLst>
                <a:latin typeface="Lucida Calligraphy"/>
                <a:ea typeface="Lucida Calligraphy"/>
                <a:cs typeface="Lucida Calligraphy"/>
                <a:sym typeface="Lucida Calligraphy"/>
              </a:defRPr>
            </a:lvl1pPr>
          </a:lstStyle>
          <a:p>
            <a:pPr/>
            <a:r>
              <a:t>Easy Job</a:t>
            </a:r>
          </a:p>
        </p:txBody>
      </p:sp>
      <p:sp>
        <p:nvSpPr>
          <p:cNvPr id="336" name="Rectangle 9"/>
          <p:cNvSpPr txBox="1"/>
          <p:nvPr/>
        </p:nvSpPr>
        <p:spPr>
          <a:xfrm>
            <a:off x="531892" y="205503"/>
            <a:ext cx="10882867" cy="93537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6000">
                <a:solidFill>
                  <a:srgbClr val="33339B"/>
                </a:solidFill>
                <a:latin typeface="Times New Roman"/>
                <a:ea typeface="Times New Roman"/>
                <a:cs typeface="Times New Roman"/>
                <a:sym typeface="Times New Roman"/>
              </a:defRPr>
            </a:lvl1pPr>
          </a:lstStyle>
          <a:p>
            <a:pPr/>
            <a:r>
              <a:t>Tutorial with Project Examples</a:t>
            </a:r>
          </a:p>
        </p:txBody>
      </p:sp>
      <p:graphicFrame>
        <p:nvGraphicFramePr>
          <p:cNvPr id="337" name="Table 3"/>
          <p:cNvGraphicFramePr/>
          <p:nvPr/>
        </p:nvGraphicFramePr>
        <p:xfrm>
          <a:off x="7826178" y="1230742"/>
          <a:ext cx="4106003" cy="2766094"/>
        </p:xfrm>
        <a:graphic xmlns:a="http://schemas.openxmlformats.org/drawingml/2006/main">
          <a:graphicData uri="http://schemas.openxmlformats.org/drawingml/2006/table">
            <a:tbl>
              <a:tblPr firstCol="1" firstRow="1" lastCol="0" lastRow="0" bandCol="0" bandRow="1" rtl="0">
                <a:tableStyleId>{4C3C2611-4C71-4FC5-86AE-919BDF0F9419}</a:tableStyleId>
              </a:tblPr>
              <a:tblGrid>
                <a:gridCol w="2027067"/>
                <a:gridCol w="2078934"/>
              </a:tblGrid>
              <a:tr h="488357">
                <a:tc>
                  <a:txBody>
                    <a:bodyPr/>
                    <a:lstStyle/>
                    <a:p>
                      <a:pPr algn="ctr" defTabSz="914400">
                        <a:lnSpc>
                          <a:spcPct val="107000"/>
                        </a:lnSpc>
                        <a:defRPr b="0" sz="1800">
                          <a:solidFill>
                            <a:srgbClr val="000000"/>
                          </a:solidFill>
                        </a:defRPr>
                      </a:pPr>
                      <a:r>
                        <a:rPr sz="2400">
                          <a:solidFill>
                            <a:srgbClr val="FFFFFF"/>
                          </a:solidFill>
                          <a:latin typeface="Calibri Light"/>
                          <a:ea typeface="Calibri Light"/>
                          <a:cs typeface="Calibri Light"/>
                          <a:sym typeface="Calibri Light"/>
                        </a:rPr>
                        <a:t>Field Name</a:t>
                      </a:r>
                    </a:p>
                  </a:txBody>
                  <a:tcPr marL="76200" marR="76200" marT="76200" marB="76200" anchor="t"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203864"/>
                    </a:solidFill>
                  </a:tcPr>
                </a:tc>
                <a:tc>
                  <a:txBody>
                    <a:bodyPr/>
                    <a:lstStyle/>
                    <a:p>
                      <a:pPr algn="ctr" defTabSz="914400">
                        <a:lnSpc>
                          <a:spcPct val="107000"/>
                        </a:lnSpc>
                        <a:defRPr b="0" sz="1800">
                          <a:solidFill>
                            <a:srgbClr val="000000"/>
                          </a:solidFill>
                        </a:defRPr>
                      </a:pPr>
                      <a:r>
                        <a:rPr sz="2400">
                          <a:solidFill>
                            <a:srgbClr val="FFFFFF"/>
                          </a:solidFill>
                          <a:latin typeface="Calibri Light"/>
                          <a:ea typeface="Calibri Light"/>
                          <a:cs typeface="Calibri Light"/>
                          <a:sym typeface="Calibri Light"/>
                        </a:rPr>
                        <a:t>Data Type</a:t>
                      </a:r>
                    </a:p>
                  </a:txBody>
                  <a:tcPr marL="76200" marR="76200" marT="76200" marB="76200" anchor="t"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203864"/>
                    </a:solidFill>
                  </a:tcPr>
                </a:tc>
              </a:tr>
              <a:tr h="455547">
                <a:tc>
                  <a:txBody>
                    <a:bodyPr/>
                    <a:lstStyle/>
                    <a:p>
                      <a:pPr algn="ctr" defTabSz="914400">
                        <a:lnSpc>
                          <a:spcPct val="107000"/>
                        </a:lnSpc>
                        <a:defRPr b="0" sz="1800">
                          <a:solidFill>
                            <a:srgbClr val="000000"/>
                          </a:solidFill>
                        </a:defRPr>
                      </a:pPr>
                      <a:r>
                        <a:rPr sz="2000">
                          <a:solidFill>
                            <a:srgbClr val="203864"/>
                          </a:solidFill>
                          <a:latin typeface="Calibri Light"/>
                          <a:ea typeface="Calibri Light"/>
                          <a:cs typeface="Calibri Light"/>
                          <a:sym typeface="Calibri Light"/>
                        </a:rPr>
                        <a:t>AlbumId</a:t>
                      </a:r>
                    </a:p>
                  </a:txBody>
                  <a:tcPr marL="76200" marR="76200" marT="76200" marB="76200" anchor="t"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algn="ctr" defTabSz="914400">
                        <a:lnSpc>
                          <a:spcPct val="107000"/>
                        </a:lnSpc>
                        <a:defRPr sz="1800"/>
                      </a:pPr>
                      <a:r>
                        <a:rPr sz="2000">
                          <a:solidFill>
                            <a:srgbClr val="C00000"/>
                          </a:solidFill>
                          <a:latin typeface="Calibri Light"/>
                          <a:ea typeface="Calibri Light"/>
                          <a:cs typeface="Calibri Light"/>
                          <a:sym typeface="Calibri Light"/>
                        </a:rPr>
                        <a:t>Auto-Coding</a:t>
                      </a:r>
                    </a:p>
                  </a:txBody>
                  <a:tcPr marL="76200" marR="76200" marT="76200" marB="76200" anchor="t"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r>
              <a:tr h="455547">
                <a:tc>
                  <a:txBody>
                    <a:bodyPr/>
                    <a:lstStyle/>
                    <a:p>
                      <a:pPr algn="ctr" defTabSz="914400">
                        <a:lnSpc>
                          <a:spcPct val="107000"/>
                        </a:lnSpc>
                        <a:defRPr b="0" sz="1800">
                          <a:solidFill>
                            <a:srgbClr val="000000"/>
                          </a:solidFill>
                        </a:defRPr>
                      </a:pPr>
                      <a:r>
                        <a:rPr sz="2000">
                          <a:solidFill>
                            <a:srgbClr val="203864"/>
                          </a:solidFill>
                          <a:latin typeface="Calibri Light"/>
                          <a:ea typeface="Calibri Light"/>
                          <a:cs typeface="Calibri Light"/>
                          <a:sym typeface="Calibri Light"/>
                        </a:rPr>
                        <a:t>AlbumName</a:t>
                      </a:r>
                    </a:p>
                  </a:txBody>
                  <a:tcPr marL="76200" marR="76200" marT="76200" marB="76200" anchor="t"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algn="ctr" defTabSz="914400">
                        <a:lnSpc>
                          <a:spcPct val="107000"/>
                        </a:lnSpc>
                        <a:defRPr sz="1800"/>
                      </a:pPr>
                      <a:r>
                        <a:rPr sz="2000">
                          <a:solidFill>
                            <a:srgbClr val="C00000"/>
                          </a:solidFill>
                          <a:latin typeface="Calibri Light"/>
                          <a:ea typeface="Calibri Light"/>
                          <a:cs typeface="Calibri Light"/>
                          <a:sym typeface="Calibri Light"/>
                        </a:rPr>
                        <a:t>Short Text</a:t>
                      </a:r>
                    </a:p>
                  </a:txBody>
                  <a:tcPr marL="76200" marR="76200" marT="76200" marB="76200" anchor="t"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r>
              <a:tr h="455547">
                <a:tc>
                  <a:txBody>
                    <a:bodyPr/>
                    <a:lstStyle/>
                    <a:p>
                      <a:pPr algn="ctr" defTabSz="914400">
                        <a:lnSpc>
                          <a:spcPct val="107000"/>
                        </a:lnSpc>
                        <a:defRPr b="0" sz="1800">
                          <a:solidFill>
                            <a:srgbClr val="000000"/>
                          </a:solidFill>
                        </a:defRPr>
                      </a:pPr>
                      <a:r>
                        <a:rPr sz="2000">
                          <a:solidFill>
                            <a:srgbClr val="203864"/>
                          </a:solidFill>
                          <a:latin typeface="Calibri Light"/>
                          <a:ea typeface="Calibri Light"/>
                          <a:cs typeface="Calibri Light"/>
                          <a:sym typeface="Calibri Light"/>
                        </a:rPr>
                        <a:t>ReleaseDate</a:t>
                      </a:r>
                    </a:p>
                  </a:txBody>
                  <a:tcPr marL="76200" marR="76200" marT="76200" marB="76200" anchor="t"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algn="ctr" defTabSz="914400">
                        <a:lnSpc>
                          <a:spcPct val="107000"/>
                        </a:lnSpc>
                        <a:defRPr sz="1800"/>
                      </a:pPr>
                      <a:r>
                        <a:rPr sz="2000">
                          <a:solidFill>
                            <a:srgbClr val="C00000"/>
                          </a:solidFill>
                          <a:latin typeface="Calibri Light"/>
                          <a:ea typeface="Calibri Light"/>
                          <a:cs typeface="Calibri Light"/>
                          <a:sym typeface="Calibri Light"/>
                        </a:rPr>
                        <a:t>Date &amp; Time</a:t>
                      </a:r>
                    </a:p>
                  </a:txBody>
                  <a:tcPr marL="76200" marR="76200" marT="76200" marB="76200" anchor="t"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r>
              <a:tr h="455547">
                <a:tc>
                  <a:txBody>
                    <a:bodyPr/>
                    <a:lstStyle/>
                    <a:p>
                      <a:pPr algn="ctr" defTabSz="914400">
                        <a:lnSpc>
                          <a:spcPct val="107000"/>
                        </a:lnSpc>
                        <a:defRPr b="0" sz="1800">
                          <a:solidFill>
                            <a:srgbClr val="000000"/>
                          </a:solidFill>
                        </a:defRPr>
                      </a:pPr>
                      <a:r>
                        <a:rPr sz="2000">
                          <a:solidFill>
                            <a:srgbClr val="203864"/>
                          </a:solidFill>
                          <a:latin typeface="Calibri Light"/>
                          <a:ea typeface="Calibri Light"/>
                          <a:cs typeface="Calibri Light"/>
                          <a:sym typeface="Calibri Light"/>
                        </a:rPr>
                        <a:t>ArtistId</a:t>
                      </a:r>
                    </a:p>
                  </a:txBody>
                  <a:tcPr marL="76200" marR="76200" marT="76200" marB="76200" anchor="t"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algn="ctr" defTabSz="914400">
                        <a:lnSpc>
                          <a:spcPct val="107000"/>
                        </a:lnSpc>
                        <a:defRPr sz="1800"/>
                      </a:pPr>
                      <a:r>
                        <a:rPr sz="2000">
                          <a:solidFill>
                            <a:srgbClr val="C00000"/>
                          </a:solidFill>
                          <a:latin typeface="Calibri Light"/>
                          <a:ea typeface="Calibri Light"/>
                          <a:cs typeface="Calibri Light"/>
                          <a:sym typeface="Calibri Light"/>
                        </a:rPr>
                        <a:t>Number</a:t>
                      </a:r>
                    </a:p>
                  </a:txBody>
                  <a:tcPr marL="76200" marR="76200" marT="76200" marB="76200" anchor="t"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r>
              <a:tr h="455547">
                <a:tc>
                  <a:txBody>
                    <a:bodyPr/>
                    <a:lstStyle/>
                    <a:p>
                      <a:pPr algn="ctr" defTabSz="914400">
                        <a:lnSpc>
                          <a:spcPct val="107000"/>
                        </a:lnSpc>
                        <a:defRPr b="0" sz="1800">
                          <a:solidFill>
                            <a:srgbClr val="000000"/>
                          </a:solidFill>
                        </a:defRPr>
                      </a:pPr>
                      <a:r>
                        <a:rPr sz="2000">
                          <a:solidFill>
                            <a:srgbClr val="203864"/>
                          </a:solidFill>
                          <a:latin typeface="Calibri Light"/>
                          <a:ea typeface="Calibri Light"/>
                          <a:cs typeface="Calibri Light"/>
                          <a:sym typeface="Calibri Light"/>
                        </a:rPr>
                        <a:t>GenreId</a:t>
                      </a:r>
                    </a:p>
                  </a:txBody>
                  <a:tcPr marL="76200" marR="76200" marT="76200" marB="76200" anchor="t"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algn="ctr" defTabSz="914400">
                        <a:lnSpc>
                          <a:spcPct val="107000"/>
                        </a:lnSpc>
                        <a:defRPr sz="1800"/>
                      </a:pPr>
                      <a:r>
                        <a:rPr sz="2000">
                          <a:solidFill>
                            <a:srgbClr val="C00000"/>
                          </a:solidFill>
                          <a:latin typeface="Calibri Light"/>
                          <a:ea typeface="Calibri Light"/>
                          <a:cs typeface="Calibri Light"/>
                          <a:sym typeface="Calibri Light"/>
                        </a:rPr>
                        <a:t>Number</a:t>
                      </a:r>
                    </a:p>
                  </a:txBody>
                  <a:tcPr marL="76200" marR="76200" marT="76200" marB="76200" anchor="t"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r>
            </a:tbl>
          </a:graphicData>
        </a:graphic>
      </p:graphicFrame>
      <p:pic>
        <p:nvPicPr>
          <p:cNvPr id="338" name="图片 14" descr="图片 14"/>
          <p:cNvPicPr>
            <a:picLocks noChangeAspect="1"/>
          </p:cNvPicPr>
          <p:nvPr/>
        </p:nvPicPr>
        <p:blipFill>
          <a:blip r:embed="rId2">
            <a:extLst/>
          </a:blip>
          <a:stretch>
            <a:fillRect/>
          </a:stretch>
        </p:blipFill>
        <p:spPr>
          <a:xfrm>
            <a:off x="5982999" y="4410205"/>
            <a:ext cx="6181292" cy="1212854"/>
          </a:xfrm>
          <a:prstGeom prst="rect">
            <a:avLst/>
          </a:prstGeom>
          <a:ln w="38100" cap="sq">
            <a:solidFill>
              <a:srgbClr val="000000"/>
            </a:solidFill>
            <a:miter/>
          </a:ln>
          <a:effectLst>
            <a:outerShdw sx="100000" sy="100000" kx="0" ky="0" algn="b" rotWithShape="0" blurRad="50800" dist="38100" dir="2700000">
              <a:srgbClr val="000000">
                <a:alpha val="43000"/>
              </a:srgbClr>
            </a:outerShdw>
          </a:effectLst>
        </p:spPr>
      </p:pic>
    </p:spTree>
  </p:cSld>
  <p:clrMapOvr>
    <a:masterClrMapping/>
  </p:clrMapOvr>
  <p:transition xmlns:p14="http://schemas.microsoft.com/office/powerpoint/2010/main" spd="med" advClick="1"/>
</p:sld>
</file>

<file path=ppt/slides/slide3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40" name="Rectangle 8"/>
          <p:cNvSpPr txBox="1"/>
          <p:nvPr/>
        </p:nvSpPr>
        <p:spPr>
          <a:xfrm>
            <a:off x="1055999" y="2152461"/>
            <a:ext cx="5545298" cy="497047"/>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sz="3200">
                <a:latin typeface="Calibri Light"/>
                <a:ea typeface="Calibri Light"/>
                <a:cs typeface="Calibri Light"/>
                <a:sym typeface="Calibri Light"/>
              </a:defRPr>
            </a:lvl1pPr>
          </a:lstStyle>
          <a:p>
            <a:pPr/>
            <a:r>
              <a:t>2.2 Create a Table in Design View</a:t>
            </a:r>
          </a:p>
        </p:txBody>
      </p:sp>
      <p:sp>
        <p:nvSpPr>
          <p:cNvPr id="341" name="灯片编号占位符 1"/>
          <p:cNvSpPr txBox="1"/>
          <p:nvPr>
            <p:ph type="sldNum" sz="quarter" idx="2"/>
          </p:nvPr>
        </p:nvSpPr>
        <p:spPr>
          <a:xfrm>
            <a:off x="11095176" y="6414761"/>
            <a:ext cx="258624" cy="248306"/>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342" name="Rectangle 6"/>
          <p:cNvSpPr txBox="1"/>
          <p:nvPr/>
        </p:nvSpPr>
        <p:spPr>
          <a:xfrm>
            <a:off x="592132" y="1378823"/>
            <a:ext cx="3763576" cy="66676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4000">
                <a:solidFill>
                  <a:srgbClr val="33339B"/>
                </a:solidFill>
                <a:latin typeface="Times New Roman"/>
                <a:ea typeface="Times New Roman"/>
                <a:cs typeface="Times New Roman"/>
                <a:sym typeface="Times New Roman"/>
              </a:defRPr>
            </a:lvl1pPr>
          </a:lstStyle>
          <a:p>
            <a:pPr/>
            <a:r>
              <a:t>2. Create a Table</a:t>
            </a:r>
          </a:p>
        </p:txBody>
      </p:sp>
      <p:sp>
        <p:nvSpPr>
          <p:cNvPr id="343" name="Rectangle 3"/>
          <p:cNvSpPr txBox="1"/>
          <p:nvPr/>
        </p:nvSpPr>
        <p:spPr>
          <a:xfrm>
            <a:off x="1342342" y="4033825"/>
            <a:ext cx="4586993" cy="444759"/>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sz="2800">
                <a:latin typeface="Calibri Light"/>
                <a:ea typeface="Calibri Light"/>
                <a:cs typeface="Calibri Light"/>
                <a:sym typeface="Calibri Light"/>
              </a:defRPr>
            </a:lvl1pPr>
          </a:lstStyle>
          <a:p>
            <a:pPr/>
            <a:r>
              <a:t>2.2.3 Add Fields in Design View</a:t>
            </a:r>
          </a:p>
        </p:txBody>
      </p:sp>
      <p:sp>
        <p:nvSpPr>
          <p:cNvPr id="344" name="Rectangle 4"/>
          <p:cNvSpPr txBox="1"/>
          <p:nvPr/>
        </p:nvSpPr>
        <p:spPr>
          <a:xfrm>
            <a:off x="1342342" y="2794326"/>
            <a:ext cx="3426447" cy="44475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2800">
                <a:latin typeface="Calibri Light"/>
                <a:ea typeface="Calibri Light"/>
                <a:cs typeface="Calibri Light"/>
                <a:sym typeface="Calibri Light"/>
              </a:defRPr>
            </a:lvl1pPr>
          </a:lstStyle>
          <a:p>
            <a:pPr/>
            <a:r>
              <a:t>2.2.1 Create the Table</a:t>
            </a:r>
          </a:p>
        </p:txBody>
      </p:sp>
      <p:sp>
        <p:nvSpPr>
          <p:cNvPr id="345" name="Rectangle 6"/>
          <p:cNvSpPr txBox="1"/>
          <p:nvPr/>
        </p:nvSpPr>
        <p:spPr>
          <a:xfrm>
            <a:off x="1342343" y="4653574"/>
            <a:ext cx="3418096" cy="444759"/>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sz="2800">
                <a:latin typeface="Calibri Light"/>
                <a:ea typeface="Calibri Light"/>
                <a:cs typeface="Calibri Light"/>
                <a:sym typeface="Calibri Light"/>
              </a:defRPr>
            </a:lvl1pPr>
          </a:lstStyle>
          <a:p>
            <a:pPr/>
            <a:r>
              <a:t>2.2.4 Set a Primary Key</a:t>
            </a:r>
          </a:p>
        </p:txBody>
      </p:sp>
      <p:sp>
        <p:nvSpPr>
          <p:cNvPr id="346" name="Rectangle 7"/>
          <p:cNvSpPr txBox="1"/>
          <p:nvPr/>
        </p:nvSpPr>
        <p:spPr>
          <a:xfrm>
            <a:off x="1342342" y="5273321"/>
            <a:ext cx="3115530" cy="44475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2800">
                <a:latin typeface="Calibri Light"/>
                <a:ea typeface="Calibri Light"/>
                <a:cs typeface="Calibri Light"/>
                <a:sym typeface="Calibri Light"/>
              </a:defRPr>
            </a:lvl1pPr>
          </a:lstStyle>
          <a:p>
            <a:pPr/>
            <a:r>
              <a:t>2.2.5 Save the Table</a:t>
            </a:r>
          </a:p>
        </p:txBody>
      </p:sp>
      <p:sp>
        <p:nvSpPr>
          <p:cNvPr id="347" name="Rectangle 4"/>
          <p:cNvSpPr txBox="1"/>
          <p:nvPr/>
        </p:nvSpPr>
        <p:spPr>
          <a:xfrm>
            <a:off x="1342341" y="3414076"/>
            <a:ext cx="4833468" cy="44475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2800">
                <a:latin typeface="Calibri Light"/>
                <a:ea typeface="Calibri Light"/>
                <a:cs typeface="Calibri Light"/>
                <a:sym typeface="Calibri Light"/>
              </a:defRPr>
            </a:lvl1pPr>
          </a:lstStyle>
          <a:p>
            <a:pPr/>
            <a:r>
              <a:t>2.2.2 Switch to Design View</a:t>
            </a:r>
          </a:p>
        </p:txBody>
      </p:sp>
      <p:sp>
        <p:nvSpPr>
          <p:cNvPr id="348" name="文本框 14"/>
          <p:cNvSpPr txBox="1"/>
          <p:nvPr/>
        </p:nvSpPr>
        <p:spPr>
          <a:xfrm>
            <a:off x="10252461" y="5894687"/>
            <a:ext cx="1508761" cy="58216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2400">
                <a:solidFill>
                  <a:srgbClr val="00B050"/>
                </a:solidFill>
                <a:effectLst>
                  <a:outerShdw sx="100000" sy="100000" kx="0" ky="0" algn="b" rotWithShape="0" blurRad="38100" dist="38100" dir="2700000">
                    <a:srgbClr val="000000">
                      <a:alpha val="43137"/>
                    </a:srgbClr>
                  </a:outerShdw>
                </a:effectLst>
                <a:latin typeface="Lucida Calligraphy"/>
                <a:ea typeface="Lucida Calligraphy"/>
                <a:cs typeface="Lucida Calligraphy"/>
                <a:sym typeface="Lucida Calligraphy"/>
              </a:defRPr>
            </a:lvl1pPr>
          </a:lstStyle>
          <a:p>
            <a:pPr/>
            <a:r>
              <a:t>Easy Job</a:t>
            </a:r>
          </a:p>
        </p:txBody>
      </p:sp>
      <p:sp>
        <p:nvSpPr>
          <p:cNvPr id="349" name="Rectangle 9"/>
          <p:cNvSpPr txBox="1"/>
          <p:nvPr/>
        </p:nvSpPr>
        <p:spPr>
          <a:xfrm>
            <a:off x="531892" y="205503"/>
            <a:ext cx="10882867" cy="93537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6000">
                <a:solidFill>
                  <a:srgbClr val="33339B"/>
                </a:solidFill>
                <a:latin typeface="Times New Roman"/>
                <a:ea typeface="Times New Roman"/>
                <a:cs typeface="Times New Roman"/>
                <a:sym typeface="Times New Roman"/>
              </a:defRPr>
            </a:lvl1pPr>
          </a:lstStyle>
          <a:p>
            <a:pPr/>
            <a:r>
              <a:t>Tutorial with Project Examples</a:t>
            </a:r>
          </a:p>
        </p:txBody>
      </p:sp>
      <p:pic>
        <p:nvPicPr>
          <p:cNvPr id="350" name="图片 6" descr="图片 6"/>
          <p:cNvPicPr>
            <a:picLocks noChangeAspect="1"/>
          </p:cNvPicPr>
          <p:nvPr/>
        </p:nvPicPr>
        <p:blipFill>
          <a:blip r:embed="rId3">
            <a:extLst/>
          </a:blip>
          <a:stretch>
            <a:fillRect/>
          </a:stretch>
        </p:blipFill>
        <p:spPr>
          <a:xfrm>
            <a:off x="6728275" y="3317547"/>
            <a:ext cx="4009394" cy="1184347"/>
          </a:xfrm>
          <a:prstGeom prst="rect">
            <a:avLst/>
          </a:prstGeom>
          <a:ln w="38100" cap="sq">
            <a:solidFill>
              <a:srgbClr val="000000"/>
            </a:solidFill>
            <a:miter/>
          </a:ln>
          <a:effectLst>
            <a:outerShdw sx="100000" sy="100000" kx="0" ky="0" algn="b" rotWithShape="0" blurRad="50800" dist="38100" dir="2700000">
              <a:srgbClr val="000000">
                <a:alpha val="43000"/>
              </a:srgbClr>
            </a:outerShdw>
          </a:effectLst>
        </p:spPr>
      </p:pic>
    </p:spTree>
  </p:cSld>
  <p:clrMapOvr>
    <a:masterClrMapping/>
  </p:clrMapOvr>
  <p:transition xmlns:p14="http://schemas.microsoft.com/office/powerpoint/2010/main" spd="med" advClick="1"/>
</p:sld>
</file>

<file path=ppt/slides/slide3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4" name="灯片编号占位符 1"/>
          <p:cNvSpPr txBox="1"/>
          <p:nvPr>
            <p:ph type="sldNum" sz="quarter" idx="2"/>
          </p:nvPr>
        </p:nvSpPr>
        <p:spPr>
          <a:xfrm>
            <a:off x="11095176" y="6414761"/>
            <a:ext cx="258624" cy="248306"/>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355" name="Rectangle 6"/>
          <p:cNvSpPr txBox="1"/>
          <p:nvPr/>
        </p:nvSpPr>
        <p:spPr>
          <a:xfrm>
            <a:off x="592132" y="1378823"/>
            <a:ext cx="4550381" cy="66676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4000">
                <a:solidFill>
                  <a:srgbClr val="33339B"/>
                </a:solidFill>
                <a:latin typeface="Times New Roman"/>
                <a:ea typeface="Times New Roman"/>
                <a:cs typeface="Times New Roman"/>
                <a:sym typeface="Times New Roman"/>
              </a:defRPr>
            </a:lvl1pPr>
          </a:lstStyle>
          <a:p>
            <a:pPr/>
            <a:r>
              <a:t>3. Add Data to Table</a:t>
            </a:r>
          </a:p>
        </p:txBody>
      </p:sp>
      <p:sp>
        <p:nvSpPr>
          <p:cNvPr id="356" name="Rectangle 4"/>
          <p:cNvSpPr txBox="1"/>
          <p:nvPr/>
        </p:nvSpPr>
        <p:spPr>
          <a:xfrm>
            <a:off x="707218" y="2191225"/>
            <a:ext cx="6664882" cy="497048"/>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sz="3200">
                <a:latin typeface="Calibri Light"/>
                <a:ea typeface="Calibri Light"/>
                <a:cs typeface="Calibri Light"/>
                <a:sym typeface="Calibri Light"/>
              </a:defRPr>
            </a:lvl1pPr>
          </a:lstStyle>
          <a:p>
            <a:pPr/>
            <a:r>
              <a:t>3.1 Add Data Directly in Datasheet View</a:t>
            </a:r>
          </a:p>
        </p:txBody>
      </p:sp>
      <p:sp>
        <p:nvSpPr>
          <p:cNvPr id="357" name="文本框 16"/>
          <p:cNvSpPr txBox="1"/>
          <p:nvPr/>
        </p:nvSpPr>
        <p:spPr>
          <a:xfrm>
            <a:off x="10023859" y="5894687"/>
            <a:ext cx="2244340" cy="58216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2400">
                <a:solidFill>
                  <a:schemeClr val="accent2"/>
                </a:solidFill>
                <a:effectLst>
                  <a:outerShdw sx="100000" sy="100000" kx="0" ky="0" algn="b" rotWithShape="0" blurRad="38100" dist="38100" dir="2700000">
                    <a:srgbClr val="000000">
                      <a:alpha val="43137"/>
                    </a:srgbClr>
                  </a:outerShdw>
                </a:effectLst>
                <a:latin typeface="Lucida Calligraphy"/>
                <a:ea typeface="Lucida Calligraphy"/>
                <a:cs typeface="Lucida Calligraphy"/>
                <a:sym typeface="Lucida Calligraphy"/>
              </a:defRPr>
            </a:lvl1pPr>
          </a:lstStyle>
          <a:p>
            <a:pPr/>
            <a:r>
              <a:t>Little Hard</a:t>
            </a:r>
          </a:p>
        </p:txBody>
      </p:sp>
      <p:sp>
        <p:nvSpPr>
          <p:cNvPr id="358" name="Rectangle 9"/>
          <p:cNvSpPr txBox="1"/>
          <p:nvPr/>
        </p:nvSpPr>
        <p:spPr>
          <a:xfrm>
            <a:off x="531892" y="205503"/>
            <a:ext cx="10882867" cy="93537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6000">
                <a:solidFill>
                  <a:srgbClr val="33339B"/>
                </a:solidFill>
                <a:latin typeface="Times New Roman"/>
                <a:ea typeface="Times New Roman"/>
                <a:cs typeface="Times New Roman"/>
                <a:sym typeface="Times New Roman"/>
              </a:defRPr>
            </a:lvl1pPr>
          </a:lstStyle>
          <a:p>
            <a:pPr/>
            <a:r>
              <a:t>Tutorial with Project Examples</a:t>
            </a:r>
          </a:p>
        </p:txBody>
      </p:sp>
      <p:pic>
        <p:nvPicPr>
          <p:cNvPr id="359" name="图片 18" descr="图片 18"/>
          <p:cNvPicPr>
            <a:picLocks noChangeAspect="1"/>
          </p:cNvPicPr>
          <p:nvPr/>
        </p:nvPicPr>
        <p:blipFill>
          <a:blip r:embed="rId2">
            <a:extLst/>
          </a:blip>
          <a:stretch>
            <a:fillRect/>
          </a:stretch>
        </p:blipFill>
        <p:spPr>
          <a:xfrm>
            <a:off x="1576777" y="3041075"/>
            <a:ext cx="6921890" cy="2081851"/>
          </a:xfrm>
          <a:prstGeom prst="rect">
            <a:avLst/>
          </a:prstGeom>
          <a:ln w="38100" cap="sq">
            <a:solidFill>
              <a:srgbClr val="000000"/>
            </a:solidFill>
            <a:miter/>
          </a:ln>
          <a:effectLst>
            <a:outerShdw sx="100000" sy="100000" kx="0" ky="0" algn="b" rotWithShape="0" blurRad="50800" dist="38100" dir="2700000">
              <a:srgbClr val="000000">
                <a:alpha val="43000"/>
              </a:srgbClr>
            </a:outerShdw>
          </a:effectLst>
        </p:spPr>
      </p:pic>
    </p:spTree>
  </p:cSld>
  <p:clrMapOvr>
    <a:masterClrMapping/>
  </p:clrMapOvr>
  <p:transition xmlns:p14="http://schemas.microsoft.com/office/powerpoint/2010/main" spd="med" advClick="1"/>
</p:sld>
</file>

<file path=ppt/slides/slide4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61" name="灯片编号占位符 1"/>
          <p:cNvSpPr txBox="1"/>
          <p:nvPr>
            <p:ph type="sldNum" sz="quarter" idx="2"/>
          </p:nvPr>
        </p:nvSpPr>
        <p:spPr>
          <a:xfrm>
            <a:off x="11095176" y="6414761"/>
            <a:ext cx="258624" cy="248306"/>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362" name="Rectangle 6"/>
          <p:cNvSpPr txBox="1"/>
          <p:nvPr/>
        </p:nvSpPr>
        <p:spPr>
          <a:xfrm>
            <a:off x="592132" y="1221165"/>
            <a:ext cx="4550381" cy="66676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4000">
                <a:solidFill>
                  <a:srgbClr val="33339B"/>
                </a:solidFill>
                <a:latin typeface="Times New Roman"/>
                <a:ea typeface="Times New Roman"/>
                <a:cs typeface="Times New Roman"/>
                <a:sym typeface="Times New Roman"/>
              </a:defRPr>
            </a:lvl1pPr>
          </a:lstStyle>
          <a:p>
            <a:pPr/>
            <a:r>
              <a:t>3. Add Data to Table</a:t>
            </a:r>
          </a:p>
        </p:txBody>
      </p:sp>
      <p:sp>
        <p:nvSpPr>
          <p:cNvPr id="363" name="Rectangle 5"/>
          <p:cNvSpPr txBox="1"/>
          <p:nvPr/>
        </p:nvSpPr>
        <p:spPr>
          <a:xfrm>
            <a:off x="735007" y="1870771"/>
            <a:ext cx="3916720" cy="497047"/>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sz="3200">
                <a:latin typeface="Calibri Light"/>
                <a:ea typeface="Calibri Light"/>
                <a:cs typeface="Calibri Light"/>
                <a:sym typeface="Calibri Light"/>
              </a:defRPr>
            </a:lvl1pPr>
          </a:lstStyle>
          <a:p>
            <a:pPr/>
            <a:r>
              <a:t>3.2 Add Data using SQL</a:t>
            </a:r>
          </a:p>
        </p:txBody>
      </p:sp>
      <p:sp>
        <p:nvSpPr>
          <p:cNvPr id="364" name="文本框 16"/>
          <p:cNvSpPr txBox="1"/>
          <p:nvPr/>
        </p:nvSpPr>
        <p:spPr>
          <a:xfrm>
            <a:off x="9124388" y="6308080"/>
            <a:ext cx="2244340" cy="58217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2400">
                <a:solidFill>
                  <a:schemeClr val="accent2"/>
                </a:solidFill>
                <a:effectLst>
                  <a:outerShdw sx="100000" sy="100000" kx="0" ky="0" algn="b" rotWithShape="0" blurRad="38100" dist="38100" dir="2700000">
                    <a:srgbClr val="000000">
                      <a:alpha val="43137"/>
                    </a:srgbClr>
                  </a:outerShdw>
                </a:effectLst>
                <a:latin typeface="Lucida Calligraphy"/>
                <a:ea typeface="Lucida Calligraphy"/>
                <a:cs typeface="Lucida Calligraphy"/>
                <a:sym typeface="Lucida Calligraphy"/>
              </a:defRPr>
            </a:lvl1pPr>
          </a:lstStyle>
          <a:p>
            <a:pPr/>
            <a:r>
              <a:t>Little Hard</a:t>
            </a:r>
          </a:p>
        </p:txBody>
      </p:sp>
      <p:sp>
        <p:nvSpPr>
          <p:cNvPr id="365" name="Rectangle 9"/>
          <p:cNvSpPr txBox="1"/>
          <p:nvPr/>
        </p:nvSpPr>
        <p:spPr>
          <a:xfrm>
            <a:off x="531892" y="205503"/>
            <a:ext cx="10882867" cy="93537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6000">
                <a:solidFill>
                  <a:srgbClr val="33339B"/>
                </a:solidFill>
                <a:latin typeface="Times New Roman"/>
                <a:ea typeface="Times New Roman"/>
                <a:cs typeface="Times New Roman"/>
                <a:sym typeface="Times New Roman"/>
              </a:defRPr>
            </a:lvl1pPr>
          </a:lstStyle>
          <a:p>
            <a:pPr/>
            <a:r>
              <a:t>Tutorial with Project Examples</a:t>
            </a:r>
          </a:p>
        </p:txBody>
      </p:sp>
      <p:pic>
        <p:nvPicPr>
          <p:cNvPr id="366" name="图片 9" descr="图片 9"/>
          <p:cNvPicPr>
            <a:picLocks noChangeAspect="1"/>
          </p:cNvPicPr>
          <p:nvPr/>
        </p:nvPicPr>
        <p:blipFill>
          <a:blip r:embed="rId2">
            <a:extLst/>
          </a:blip>
          <a:srcRect l="0" t="0" r="20634" b="0"/>
          <a:stretch>
            <a:fillRect/>
          </a:stretch>
        </p:blipFill>
        <p:spPr>
          <a:xfrm>
            <a:off x="6720498" y="4350089"/>
            <a:ext cx="5181601" cy="1794187"/>
          </a:xfrm>
          <a:prstGeom prst="rect">
            <a:avLst/>
          </a:prstGeom>
          <a:ln w="38100" cap="sq">
            <a:solidFill>
              <a:srgbClr val="000000"/>
            </a:solidFill>
            <a:miter/>
          </a:ln>
          <a:effectLst>
            <a:outerShdw sx="100000" sy="100000" kx="0" ky="0" algn="b" rotWithShape="0" blurRad="50800" dist="38100" dir="2700000">
              <a:srgbClr val="000000">
                <a:alpha val="43000"/>
              </a:srgbClr>
            </a:outerShdw>
          </a:effectLst>
        </p:spPr>
      </p:pic>
      <p:pic>
        <p:nvPicPr>
          <p:cNvPr id="367" name="图片 15" descr="图片 15"/>
          <p:cNvPicPr>
            <a:picLocks noChangeAspect="1"/>
          </p:cNvPicPr>
          <p:nvPr/>
        </p:nvPicPr>
        <p:blipFill>
          <a:blip r:embed="rId3">
            <a:extLst/>
          </a:blip>
          <a:srcRect l="0" t="0" r="10511" b="0"/>
          <a:stretch>
            <a:fillRect/>
          </a:stretch>
        </p:blipFill>
        <p:spPr>
          <a:xfrm>
            <a:off x="268668" y="4137169"/>
            <a:ext cx="4446235" cy="2228666"/>
          </a:xfrm>
          <a:prstGeom prst="rect">
            <a:avLst/>
          </a:prstGeom>
          <a:ln w="38100" cap="sq">
            <a:solidFill>
              <a:srgbClr val="000000"/>
            </a:solidFill>
            <a:miter/>
          </a:ln>
          <a:effectLst>
            <a:outerShdw sx="100000" sy="100000" kx="0" ky="0" algn="b" rotWithShape="0" blurRad="50800" dist="38100" dir="2700000">
              <a:srgbClr val="000000">
                <a:alpha val="43000"/>
              </a:srgbClr>
            </a:outerShdw>
          </a:effectLst>
        </p:spPr>
      </p:pic>
      <p:pic>
        <p:nvPicPr>
          <p:cNvPr id="368" name="图片 3" descr="图片 3"/>
          <p:cNvPicPr>
            <a:picLocks noChangeAspect="1"/>
          </p:cNvPicPr>
          <p:nvPr/>
        </p:nvPicPr>
        <p:blipFill>
          <a:blip r:embed="rId4">
            <a:extLst/>
          </a:blip>
          <a:stretch>
            <a:fillRect/>
          </a:stretch>
        </p:blipFill>
        <p:spPr>
          <a:xfrm>
            <a:off x="1343699" y="2539532"/>
            <a:ext cx="3409526" cy="1171430"/>
          </a:xfrm>
          <a:prstGeom prst="rect">
            <a:avLst/>
          </a:prstGeom>
          <a:ln w="38100" cap="sq">
            <a:solidFill>
              <a:srgbClr val="000000"/>
            </a:solidFill>
            <a:miter/>
          </a:ln>
          <a:effectLst>
            <a:outerShdw sx="100000" sy="100000" kx="0" ky="0" algn="b" rotWithShape="0" blurRad="50800" dist="38100" dir="2700000">
              <a:srgbClr val="000000">
                <a:alpha val="43000"/>
              </a:srgbClr>
            </a:outerShdw>
          </a:effectLst>
        </p:spPr>
      </p:pic>
      <p:grpSp>
        <p:nvGrpSpPr>
          <p:cNvPr id="371" name="图片 8"/>
          <p:cNvGrpSpPr/>
          <p:nvPr/>
        </p:nvGrpSpPr>
        <p:grpSpPr>
          <a:xfrm>
            <a:off x="6973285" y="2470193"/>
            <a:ext cx="4399565" cy="1306857"/>
            <a:chOff x="0" y="0"/>
            <a:chExt cx="4399564" cy="1306855"/>
          </a:xfrm>
        </p:grpSpPr>
        <p:pic>
          <p:nvPicPr>
            <p:cNvPr id="369" name="image43.png" descr="image43.png"/>
            <p:cNvPicPr>
              <a:picLocks noChangeAspect="1"/>
            </p:cNvPicPr>
            <p:nvPr/>
          </p:nvPicPr>
          <p:blipFill>
            <a:blip r:embed="rId5">
              <a:extLst/>
            </a:blip>
            <a:srcRect l="0" t="0" r="48195" b="0"/>
            <a:stretch>
              <a:fillRect/>
            </a:stretch>
          </p:blipFill>
          <p:spPr>
            <a:xfrm>
              <a:off x="19049" y="87809"/>
              <a:ext cx="4361465" cy="1199997"/>
            </a:xfrm>
            <a:prstGeom prst="rect">
              <a:avLst/>
            </a:prstGeom>
            <a:ln w="12700" cap="flat">
              <a:noFill/>
              <a:miter lim="400000"/>
            </a:ln>
            <a:effectLst>
              <a:outerShdw sx="100000" sy="100000" kx="0" ky="0" algn="b" rotWithShape="0" blurRad="50800" dist="38100" dir="2700000">
                <a:srgbClr val="000000">
                  <a:alpha val="43000"/>
                </a:srgbClr>
              </a:outerShdw>
            </a:effectLst>
          </p:spPr>
        </p:pic>
        <p:sp>
          <p:nvSpPr>
            <p:cNvPr id="370" name="矩形"/>
            <p:cNvSpPr/>
            <p:nvPr/>
          </p:nvSpPr>
          <p:spPr>
            <a:xfrm>
              <a:off x="0" y="0"/>
              <a:ext cx="4399565" cy="1306856"/>
            </a:xfrm>
            <a:prstGeom prst="rect">
              <a:avLst/>
            </a:prstGeom>
            <a:noFill/>
            <a:ln w="38100" cap="sq">
              <a:solidFill>
                <a:srgbClr val="000000"/>
              </a:solidFill>
              <a:prstDash val="solid"/>
              <a:miter lim="800000"/>
            </a:ln>
            <a:effectLst/>
          </p:spPr>
          <p:txBody>
            <a:bodyPr wrap="square" lIns="45719" tIns="45719" rIns="45719" bIns="45719" numCol="1" anchor="ctr">
              <a:noAutofit/>
            </a:bodyPr>
            <a:lstStyle/>
            <a:p>
              <a:pPr/>
            </a:p>
          </p:txBody>
        </p:sp>
      </p:grpSp>
      <p:sp>
        <p:nvSpPr>
          <p:cNvPr id="377" name="直接箭头连接符 12"/>
          <p:cNvSpPr/>
          <p:nvPr/>
        </p:nvSpPr>
        <p:spPr>
          <a:xfrm>
            <a:off x="4772303" y="3124237"/>
            <a:ext cx="2181933" cy="60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1600" y="0"/>
                </a:lnTo>
              </a:path>
            </a:pathLst>
          </a:custGeom>
          <a:ln w="63500">
            <a:solidFill>
              <a:schemeClr val="accent1"/>
            </a:solidFill>
            <a:miter/>
            <a:tailEnd type="triangle"/>
          </a:ln>
        </p:spPr>
        <p:txBody>
          <a:bodyPr/>
          <a:lstStyle/>
          <a:p>
            <a:pPr/>
          </a:p>
        </p:txBody>
      </p:sp>
      <p:sp>
        <p:nvSpPr>
          <p:cNvPr id="373" name="直接箭头连接符 17"/>
          <p:cNvSpPr/>
          <p:nvPr/>
        </p:nvSpPr>
        <p:spPr>
          <a:xfrm>
            <a:off x="9311297" y="3739527"/>
            <a:ext cx="1" cy="610563"/>
          </a:xfrm>
          <a:prstGeom prst="line">
            <a:avLst/>
          </a:prstGeom>
          <a:ln w="63500">
            <a:solidFill>
              <a:schemeClr val="accent1"/>
            </a:solidFill>
            <a:miter/>
            <a:tailEnd type="triangle"/>
          </a:ln>
        </p:spPr>
        <p:txBody>
          <a:bodyPr lIns="45719" rIns="45719"/>
          <a:lstStyle/>
          <a:p>
            <a:pPr/>
          </a:p>
        </p:txBody>
      </p:sp>
      <p:sp>
        <p:nvSpPr>
          <p:cNvPr id="378" name="直接箭头连接符 18"/>
          <p:cNvSpPr/>
          <p:nvPr/>
        </p:nvSpPr>
        <p:spPr>
          <a:xfrm>
            <a:off x="6158026" y="5247236"/>
            <a:ext cx="543423" cy="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lnTo>
                  <a:pt x="0" y="21600"/>
                </a:lnTo>
              </a:path>
            </a:pathLst>
          </a:custGeom>
          <a:ln w="63500">
            <a:solidFill>
              <a:schemeClr val="accent1"/>
            </a:solidFill>
            <a:miter/>
            <a:tailEnd type="triangle"/>
          </a:ln>
        </p:spPr>
        <p:txBody>
          <a:bodyPr/>
          <a:lstStyle/>
          <a:p>
            <a:pPr/>
          </a:p>
        </p:txBody>
      </p:sp>
      <p:pic>
        <p:nvPicPr>
          <p:cNvPr id="375" name="图片 23" descr="图片 23"/>
          <p:cNvPicPr>
            <a:picLocks noChangeAspect="1"/>
          </p:cNvPicPr>
          <p:nvPr/>
        </p:nvPicPr>
        <p:blipFill>
          <a:blip r:embed="rId6">
            <a:extLst/>
          </a:blip>
          <a:stretch>
            <a:fillRect/>
          </a:stretch>
        </p:blipFill>
        <p:spPr>
          <a:xfrm>
            <a:off x="5234101" y="4785278"/>
            <a:ext cx="904763" cy="923811"/>
          </a:xfrm>
          <a:prstGeom prst="rect">
            <a:avLst/>
          </a:prstGeom>
          <a:ln w="38100" cap="sq">
            <a:solidFill>
              <a:srgbClr val="000000"/>
            </a:solidFill>
            <a:miter/>
          </a:ln>
          <a:effectLst>
            <a:outerShdw sx="100000" sy="100000" kx="0" ky="0" algn="b" rotWithShape="0" blurRad="50800" dist="38100" dir="2700000">
              <a:srgbClr val="000000">
                <a:alpha val="43000"/>
              </a:srgbClr>
            </a:outerShdw>
          </a:effectLst>
        </p:spPr>
      </p:pic>
      <p:sp>
        <p:nvSpPr>
          <p:cNvPr id="379" name="直接箭头连接符 30"/>
          <p:cNvSpPr/>
          <p:nvPr/>
        </p:nvSpPr>
        <p:spPr>
          <a:xfrm>
            <a:off x="4733908" y="5247883"/>
            <a:ext cx="481144" cy="65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lnTo>
                  <a:pt x="0" y="21600"/>
                </a:lnTo>
              </a:path>
            </a:pathLst>
          </a:custGeom>
          <a:ln w="63500">
            <a:solidFill>
              <a:schemeClr val="accent1"/>
            </a:solidFill>
            <a:miter/>
            <a:tailEnd type="triangle"/>
          </a:ln>
        </p:spPr>
        <p:txBody>
          <a:bodyPr/>
          <a:lstStyle/>
          <a:p>
            <a:pPr/>
          </a:p>
        </p:txBody>
      </p:sp>
    </p:spTree>
  </p:cSld>
  <p:clrMapOvr>
    <a:masterClrMapping/>
  </p:clrMapOvr>
  <p:transition xmlns:p14="http://schemas.microsoft.com/office/powerpoint/2010/main" spd="med" advClick="1"/>
</p:sld>
</file>

<file path=ppt/slides/slide4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81" name="灯片编号占位符 1"/>
          <p:cNvSpPr txBox="1"/>
          <p:nvPr>
            <p:ph type="sldNum" sz="quarter" idx="2"/>
          </p:nvPr>
        </p:nvSpPr>
        <p:spPr>
          <a:xfrm>
            <a:off x="11095176" y="6414761"/>
            <a:ext cx="258624" cy="248306"/>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382" name="Rectangle 6"/>
          <p:cNvSpPr txBox="1"/>
          <p:nvPr/>
        </p:nvSpPr>
        <p:spPr>
          <a:xfrm>
            <a:off x="592132" y="1378823"/>
            <a:ext cx="4550381" cy="66676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4000">
                <a:solidFill>
                  <a:srgbClr val="33339B"/>
                </a:solidFill>
                <a:latin typeface="Times New Roman"/>
                <a:ea typeface="Times New Roman"/>
                <a:cs typeface="Times New Roman"/>
                <a:sym typeface="Times New Roman"/>
              </a:defRPr>
            </a:lvl1pPr>
          </a:lstStyle>
          <a:p>
            <a:pPr/>
            <a:r>
              <a:t>3. Add Data to Table</a:t>
            </a:r>
          </a:p>
        </p:txBody>
      </p:sp>
      <p:sp>
        <p:nvSpPr>
          <p:cNvPr id="383" name="Rectangle 7"/>
          <p:cNvSpPr txBox="1"/>
          <p:nvPr/>
        </p:nvSpPr>
        <p:spPr>
          <a:xfrm>
            <a:off x="850094" y="2086710"/>
            <a:ext cx="6170176" cy="497047"/>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sz="3200">
                <a:latin typeface="Calibri Light"/>
                <a:ea typeface="Calibri Light"/>
                <a:cs typeface="Calibri Light"/>
                <a:sym typeface="Calibri Light"/>
              </a:defRPr>
            </a:lvl1pPr>
          </a:lstStyle>
          <a:p>
            <a:pPr/>
            <a:r>
              <a:t>3.3 Add Data from External Resource</a:t>
            </a:r>
          </a:p>
        </p:txBody>
      </p:sp>
      <p:sp>
        <p:nvSpPr>
          <p:cNvPr id="384" name="文本框 16"/>
          <p:cNvSpPr txBox="1"/>
          <p:nvPr/>
        </p:nvSpPr>
        <p:spPr>
          <a:xfrm>
            <a:off x="10023859" y="5894687"/>
            <a:ext cx="2244340" cy="58216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2400">
                <a:solidFill>
                  <a:schemeClr val="accent2"/>
                </a:solidFill>
                <a:effectLst>
                  <a:outerShdw sx="100000" sy="100000" kx="0" ky="0" algn="b" rotWithShape="0" blurRad="38100" dist="38100" dir="2700000">
                    <a:srgbClr val="000000">
                      <a:alpha val="43137"/>
                    </a:srgbClr>
                  </a:outerShdw>
                </a:effectLst>
                <a:latin typeface="Lucida Calligraphy"/>
                <a:ea typeface="Lucida Calligraphy"/>
                <a:cs typeface="Lucida Calligraphy"/>
                <a:sym typeface="Lucida Calligraphy"/>
              </a:defRPr>
            </a:lvl1pPr>
          </a:lstStyle>
          <a:p>
            <a:pPr/>
            <a:r>
              <a:t>Little Hard</a:t>
            </a:r>
          </a:p>
        </p:txBody>
      </p:sp>
      <p:sp>
        <p:nvSpPr>
          <p:cNvPr id="385" name="Rectangle 9"/>
          <p:cNvSpPr txBox="1"/>
          <p:nvPr/>
        </p:nvSpPr>
        <p:spPr>
          <a:xfrm>
            <a:off x="531892" y="205503"/>
            <a:ext cx="10882867" cy="93537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6000">
                <a:solidFill>
                  <a:srgbClr val="33339B"/>
                </a:solidFill>
                <a:latin typeface="Times New Roman"/>
                <a:ea typeface="Times New Roman"/>
                <a:cs typeface="Times New Roman"/>
                <a:sym typeface="Times New Roman"/>
              </a:defRPr>
            </a:lvl1pPr>
          </a:lstStyle>
          <a:p>
            <a:pPr/>
            <a:r>
              <a:t>Tutorial with Project Examples</a:t>
            </a:r>
          </a:p>
        </p:txBody>
      </p:sp>
      <p:pic>
        <p:nvPicPr>
          <p:cNvPr id="386" name="图片 8" descr="图片 8"/>
          <p:cNvPicPr>
            <a:picLocks noChangeAspect="1"/>
          </p:cNvPicPr>
          <p:nvPr/>
        </p:nvPicPr>
        <p:blipFill>
          <a:blip r:embed="rId2">
            <a:extLst/>
          </a:blip>
          <a:stretch>
            <a:fillRect/>
          </a:stretch>
        </p:blipFill>
        <p:spPr>
          <a:xfrm>
            <a:off x="1011443" y="2952253"/>
            <a:ext cx="5152382" cy="2847620"/>
          </a:xfrm>
          <a:prstGeom prst="rect">
            <a:avLst/>
          </a:prstGeom>
          <a:ln w="38100" cap="sq">
            <a:solidFill>
              <a:srgbClr val="000000"/>
            </a:solidFill>
            <a:miter/>
          </a:ln>
          <a:effectLst>
            <a:outerShdw sx="100000" sy="100000" kx="0" ky="0" algn="b" rotWithShape="0" blurRad="50800" dist="38100" dir="2700000">
              <a:srgbClr val="000000">
                <a:alpha val="43000"/>
              </a:srgbClr>
            </a:outerShdw>
          </a:effectLst>
        </p:spPr>
      </p:pic>
      <p:sp>
        <p:nvSpPr>
          <p:cNvPr id="387" name="文本框 14"/>
          <p:cNvSpPr txBox="1"/>
          <p:nvPr/>
        </p:nvSpPr>
        <p:spPr>
          <a:xfrm>
            <a:off x="6643686" y="4186516"/>
            <a:ext cx="5407344" cy="34843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a:solidFill>
                  <a:srgbClr val="C00000"/>
                </a:solidFill>
                <a:latin typeface="Times New Roman"/>
                <a:ea typeface="Times New Roman"/>
                <a:cs typeface="Times New Roman"/>
                <a:sym typeface="Times New Roman"/>
              </a:defRPr>
            </a:pPr>
            <a:r>
              <a:t>Follow the </a:t>
            </a:r>
            <a:r>
              <a:t>guides</a:t>
            </a:r>
            <a:r>
              <a:t> of Access to complete step by step.</a:t>
            </a:r>
          </a:p>
        </p:txBody>
      </p:sp>
    </p:spTree>
  </p:cSld>
  <p:clrMapOvr>
    <a:masterClrMapping/>
  </p:clrMapOvr>
  <p:transition xmlns:p14="http://schemas.microsoft.com/office/powerpoint/2010/main" spd="med" advClick="1"/>
</p:sld>
</file>

<file path=ppt/slides/slide4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89" name="灯片编号占位符 1"/>
          <p:cNvSpPr txBox="1"/>
          <p:nvPr>
            <p:ph type="sldNum" sz="quarter" idx="2"/>
          </p:nvPr>
        </p:nvSpPr>
        <p:spPr>
          <a:xfrm>
            <a:off x="8610600" y="6199592"/>
            <a:ext cx="258624" cy="248306"/>
          </a:xfrm>
          <a:prstGeom prst="rect">
            <a:avLst/>
          </a:prstGeom>
          <a:extLst>
            <a:ext uri="{C572A759-6A51-4108-AA02-DFA0A04FC94B}">
              <ma14:wrappingTextBoxFlag xmlns:ma14="http://schemas.microsoft.com/office/mac/drawingml/2011/main" val="1"/>
            </a:ext>
          </a:extLst>
        </p:spPr>
        <p:txBody>
          <a:bodyPr/>
          <a:lstStyle>
            <a:lvl1pPr algn="l"/>
          </a:lstStyle>
          <a:p>
            <a:pPr/>
            <a:fld id="{86CB4B4D-7CA3-9044-876B-883B54F8677D}" type="slidenum"/>
          </a:p>
        </p:txBody>
      </p:sp>
      <p:sp>
        <p:nvSpPr>
          <p:cNvPr id="390" name="Rectangle 9"/>
          <p:cNvSpPr txBox="1"/>
          <p:nvPr/>
        </p:nvSpPr>
        <p:spPr>
          <a:xfrm>
            <a:off x="585573" y="1742893"/>
            <a:ext cx="11020854" cy="346348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1028700" indent="-1028700">
              <a:lnSpc>
                <a:spcPct val="150000"/>
              </a:lnSpc>
              <a:buSzPct val="100000"/>
              <a:buAutoNum type="romanUcPeriod" startAt="1"/>
              <a:defRPr sz="6000">
                <a:solidFill>
                  <a:srgbClr val="808080"/>
                </a:solidFill>
                <a:latin typeface="Calibri Light"/>
                <a:ea typeface="Calibri Light"/>
                <a:cs typeface="Calibri Light"/>
                <a:sym typeface="Calibri Light"/>
              </a:defRPr>
            </a:pPr>
            <a:r>
              <a:t>Tutorial with Project Examples</a:t>
            </a:r>
          </a:p>
          <a:p>
            <a:pPr marL="1028700" indent="-1028700">
              <a:lnSpc>
                <a:spcPct val="150000"/>
              </a:lnSpc>
              <a:buSzPct val="100000"/>
              <a:buAutoNum type="romanUcPeriod" startAt="1"/>
              <a:defRPr sz="6000" u="sng">
                <a:effectLst>
                  <a:outerShdw sx="100000" sy="100000" kx="0" ky="0" algn="b" rotWithShape="0" blurRad="38100" dist="38100" dir="2700000">
                    <a:srgbClr val="000000">
                      <a:alpha val="43137"/>
                    </a:srgbClr>
                  </a:outerShdw>
                </a:effectLst>
                <a:latin typeface="Calibri Light"/>
                <a:ea typeface="Calibri Light"/>
                <a:cs typeface="Calibri Light"/>
                <a:sym typeface="Calibri Light"/>
              </a:defRPr>
            </a:pPr>
            <a:r>
              <a:t>Assignment</a:t>
            </a:r>
          </a:p>
        </p:txBody>
      </p:sp>
      <p:sp>
        <p:nvSpPr>
          <p:cNvPr id="391" name="Rectangle 9"/>
          <p:cNvSpPr txBox="1"/>
          <p:nvPr/>
        </p:nvSpPr>
        <p:spPr>
          <a:xfrm>
            <a:off x="860683" y="452095"/>
            <a:ext cx="10470634" cy="1021034"/>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6600">
                <a:solidFill>
                  <a:srgbClr val="C00000"/>
                </a:solidFill>
                <a:latin typeface="Times New Roman"/>
                <a:ea typeface="Times New Roman"/>
                <a:cs typeface="Times New Roman"/>
                <a:sym typeface="Times New Roman"/>
              </a:defRPr>
            </a:lvl1pPr>
          </a:lstStyle>
          <a:p>
            <a:pPr/>
            <a:r>
              <a:t>Project 1</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93" name="Rectangle 9"/>
          <p:cNvSpPr txBox="1"/>
          <p:nvPr/>
        </p:nvSpPr>
        <p:spPr>
          <a:xfrm>
            <a:off x="531893" y="205503"/>
            <a:ext cx="7748239" cy="93537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6000">
                <a:solidFill>
                  <a:srgbClr val="33339B"/>
                </a:solidFill>
                <a:latin typeface="Times New Roman"/>
                <a:ea typeface="Times New Roman"/>
                <a:cs typeface="Times New Roman"/>
                <a:sym typeface="Times New Roman"/>
              </a:defRPr>
            </a:lvl1pPr>
          </a:lstStyle>
          <a:p>
            <a:pPr/>
            <a:r>
              <a:t>Assignment</a:t>
            </a:r>
          </a:p>
        </p:txBody>
      </p:sp>
      <p:sp>
        <p:nvSpPr>
          <p:cNvPr id="394" name="矩形 5"/>
          <p:cNvSpPr txBox="1"/>
          <p:nvPr/>
        </p:nvSpPr>
        <p:spPr>
          <a:xfrm>
            <a:off x="731878" y="2014598"/>
            <a:ext cx="10728243" cy="452017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3200">
                <a:latin typeface="Calibri Light"/>
                <a:ea typeface="Calibri Light"/>
                <a:cs typeface="Calibri Light"/>
                <a:sym typeface="Calibri Light"/>
              </a:defRPr>
            </a:pPr>
            <a:r>
              <a:t>1.1 Familiar with MS Access</a:t>
            </a:r>
            <a:endParaRPr b="1" sz="2800">
              <a:latin typeface="Times New Roman"/>
              <a:ea typeface="Times New Roman"/>
              <a:cs typeface="Times New Roman"/>
              <a:sym typeface="Times New Roman"/>
            </a:endParaRPr>
          </a:p>
          <a:p>
            <a:pPr>
              <a:defRPr sz="3200">
                <a:latin typeface="Calibri Light"/>
                <a:ea typeface="Calibri Light"/>
                <a:cs typeface="Calibri Light"/>
                <a:sym typeface="Calibri Light"/>
              </a:defRPr>
            </a:pPr>
            <a:r>
              <a:t>1.2 Create a university database</a:t>
            </a:r>
          </a:p>
          <a:p>
            <a:pPr indent="457200">
              <a:defRPr sz="3200">
                <a:latin typeface="Calibri Light"/>
                <a:ea typeface="Calibri Light"/>
                <a:cs typeface="Calibri Light"/>
                <a:sym typeface="Calibri Light"/>
              </a:defRPr>
            </a:pPr>
            <a:r>
              <a:t>1.2.1 university.mdb</a:t>
            </a:r>
            <a:endParaRPr b="1" sz="2800">
              <a:latin typeface="Times New Roman"/>
              <a:ea typeface="Times New Roman"/>
              <a:cs typeface="Times New Roman"/>
              <a:sym typeface="Times New Roman"/>
            </a:endParaRPr>
          </a:p>
          <a:p>
            <a:pPr lvl="1">
              <a:defRPr sz="3200">
                <a:latin typeface="Calibri Light"/>
                <a:ea typeface="Calibri Light"/>
                <a:cs typeface="Calibri Light"/>
                <a:sym typeface="Calibri Light"/>
              </a:defRPr>
            </a:pPr>
            <a:r>
              <a:t>1.2.2 Load data into the database</a:t>
            </a:r>
          </a:p>
          <a:p>
            <a:pPr lvl="1">
              <a:defRPr sz="3200">
                <a:latin typeface="Calibri Light"/>
                <a:ea typeface="Calibri Light"/>
                <a:cs typeface="Calibri Light"/>
                <a:sym typeface="Calibri Light"/>
              </a:defRPr>
            </a:pPr>
            <a:r>
              <a:t>1.2.3 Use SQL to insert one record </a:t>
            </a:r>
            <a:endParaRPr b="1" sz="2800">
              <a:latin typeface="Times New Roman"/>
              <a:ea typeface="Times New Roman"/>
              <a:cs typeface="Times New Roman"/>
              <a:sym typeface="Times New Roman"/>
            </a:endParaRPr>
          </a:p>
          <a:p>
            <a:pPr>
              <a:defRPr sz="3200">
                <a:latin typeface="Calibri Light"/>
                <a:ea typeface="Calibri Light"/>
                <a:cs typeface="Calibri Light"/>
                <a:sym typeface="Calibri Light"/>
              </a:defRPr>
            </a:pPr>
            <a:r>
              <a:t>1.3 Open the university database</a:t>
            </a:r>
          </a:p>
          <a:p>
            <a:pPr lvl="1">
              <a:defRPr sz="3200">
                <a:latin typeface="Calibri Light"/>
                <a:ea typeface="Calibri Light"/>
                <a:cs typeface="Calibri Light"/>
                <a:sym typeface="Calibri Light"/>
              </a:defRPr>
            </a:pPr>
            <a:r>
              <a:t>1.3.1 Use C++/Python to generate more than 5000 random tuples for </a:t>
            </a:r>
            <a:r>
              <a:rPr b="1" i="1">
                <a:solidFill>
                  <a:srgbClr val="FF0000"/>
                </a:solidFill>
                <a:latin typeface="Times New Roman"/>
                <a:ea typeface="Times New Roman"/>
                <a:cs typeface="Times New Roman"/>
                <a:sym typeface="Times New Roman"/>
              </a:rPr>
              <a:t>student</a:t>
            </a:r>
            <a:r>
              <a:t> table</a:t>
            </a:r>
          </a:p>
          <a:p>
            <a:pPr lvl="1">
              <a:defRPr sz="3200">
                <a:latin typeface="Calibri Light"/>
                <a:ea typeface="Calibri Light"/>
                <a:cs typeface="Calibri Light"/>
                <a:sym typeface="Calibri Light"/>
              </a:defRPr>
            </a:pPr>
            <a:r>
              <a:t>1.3.2 Use SQL to insert those random tuples into database</a:t>
            </a:r>
          </a:p>
        </p:txBody>
      </p:sp>
      <p:sp>
        <p:nvSpPr>
          <p:cNvPr id="395" name="灯片编号占位符 1"/>
          <p:cNvSpPr txBox="1"/>
          <p:nvPr>
            <p:ph type="sldNum" sz="quarter" idx="2"/>
          </p:nvPr>
        </p:nvSpPr>
        <p:spPr>
          <a:xfrm>
            <a:off x="11095176" y="6414761"/>
            <a:ext cx="258624" cy="248306"/>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396" name="Rectangle 6"/>
          <p:cNvSpPr txBox="1"/>
          <p:nvPr/>
        </p:nvSpPr>
        <p:spPr>
          <a:xfrm>
            <a:off x="592131" y="1221165"/>
            <a:ext cx="5001083" cy="66676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4000">
                <a:solidFill>
                  <a:srgbClr val="33339B"/>
                </a:solidFill>
                <a:latin typeface="Times New Roman"/>
                <a:ea typeface="Times New Roman"/>
                <a:cs typeface="Times New Roman"/>
                <a:sym typeface="Times New Roman"/>
              </a:defRPr>
            </a:lvl1pPr>
          </a:lstStyle>
          <a:p>
            <a:pPr/>
            <a:r>
              <a:t>1. Assignment Content</a:t>
            </a:r>
          </a:p>
        </p:txBody>
      </p:sp>
    </p:spTree>
  </p:cSld>
  <p:clrMapOvr>
    <a:masterClrMapping/>
  </p:clrMapOvr>
  <p:transition xmlns:p14="http://schemas.microsoft.com/office/powerpoint/2010/main" spd="med" advClick="1"/>
</p:sld>
</file>

<file path=ppt/slides/slide4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00" name="Rectangle 6"/>
          <p:cNvSpPr txBox="1"/>
          <p:nvPr/>
        </p:nvSpPr>
        <p:spPr>
          <a:xfrm>
            <a:off x="592132" y="1221165"/>
            <a:ext cx="8079428" cy="66676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4000">
                <a:solidFill>
                  <a:srgbClr val="33339B"/>
                </a:solidFill>
                <a:latin typeface="Times New Roman"/>
                <a:ea typeface="Times New Roman"/>
                <a:cs typeface="Times New Roman"/>
                <a:sym typeface="Times New Roman"/>
              </a:defRPr>
            </a:lvl1pPr>
          </a:lstStyle>
          <a:p>
            <a:pPr/>
            <a:r>
              <a:t>2. Schema and Sample Data</a:t>
            </a:r>
          </a:p>
        </p:txBody>
      </p:sp>
      <p:sp>
        <p:nvSpPr>
          <p:cNvPr id="401" name="矩形 5"/>
          <p:cNvSpPr txBox="1"/>
          <p:nvPr/>
        </p:nvSpPr>
        <p:spPr>
          <a:xfrm>
            <a:off x="883920" y="1929052"/>
            <a:ext cx="9244592" cy="4459447"/>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342900" indent="-342900">
              <a:buSzPct val="100000"/>
              <a:buChar char="▪"/>
              <a:defRPr sz="3200">
                <a:latin typeface="Calibri Light"/>
                <a:ea typeface="Calibri Light"/>
                <a:cs typeface="Calibri Light"/>
                <a:sym typeface="Calibri Light"/>
              </a:defRPr>
            </a:pPr>
            <a:r>
              <a:t>The schema of the database is provided below (keys are red, field types are omitted):</a:t>
            </a:r>
          </a:p>
          <a:p>
            <a:pPr lvl="2" marL="1371600" indent="-457200">
              <a:buSzPct val="100000"/>
              <a:buFont typeface="Arial"/>
              <a:buChar char="•"/>
              <a:defRPr sz="3200">
                <a:latin typeface="Calibri Light"/>
                <a:ea typeface="Calibri Light"/>
                <a:cs typeface="Calibri Light"/>
                <a:sym typeface="Calibri Light"/>
              </a:defRPr>
            </a:pPr>
            <a:r>
              <a:t>    student(</a:t>
            </a:r>
            <a:r>
              <a:rPr>
                <a:solidFill>
                  <a:srgbClr val="C00000"/>
                </a:solidFill>
              </a:rPr>
              <a:t>sid</a:t>
            </a:r>
            <a:r>
              <a:t>, sname, sex, age, year, gpa)</a:t>
            </a:r>
          </a:p>
          <a:p>
            <a:pPr lvl="2" marL="1371600" indent="-457200">
              <a:buSzPct val="100000"/>
              <a:buFont typeface="Arial"/>
              <a:buChar char="•"/>
              <a:defRPr sz="3200">
                <a:latin typeface="Calibri Light"/>
                <a:ea typeface="Calibri Light"/>
                <a:cs typeface="Calibri Light"/>
                <a:sym typeface="Calibri Light"/>
              </a:defRPr>
            </a:pPr>
            <a:r>
              <a:t>    dept(</a:t>
            </a:r>
            <a:r>
              <a:rPr>
                <a:solidFill>
                  <a:srgbClr val="C00000"/>
                </a:solidFill>
              </a:rPr>
              <a:t>dname</a:t>
            </a:r>
            <a:r>
              <a:t>, numphds)</a:t>
            </a:r>
          </a:p>
          <a:p>
            <a:pPr lvl="2" marL="1371600" indent="-457200">
              <a:buSzPct val="100000"/>
              <a:buFont typeface="Arial"/>
              <a:buChar char="•"/>
              <a:defRPr sz="3200">
                <a:latin typeface="Calibri Light"/>
                <a:ea typeface="Calibri Light"/>
                <a:cs typeface="Calibri Light"/>
                <a:sym typeface="Calibri Light"/>
              </a:defRPr>
            </a:pPr>
            <a:r>
              <a:t>    prof(</a:t>
            </a:r>
            <a:r>
              <a:rPr>
                <a:solidFill>
                  <a:srgbClr val="C00000"/>
                </a:solidFill>
              </a:rPr>
              <a:t>pname</a:t>
            </a:r>
            <a:r>
              <a:t>, dname)</a:t>
            </a:r>
          </a:p>
          <a:p>
            <a:pPr lvl="2" marL="1371600" indent="-457200">
              <a:buSzPct val="100000"/>
              <a:buFont typeface="Arial"/>
              <a:buChar char="•"/>
              <a:defRPr sz="3200">
                <a:latin typeface="Calibri Light"/>
                <a:ea typeface="Calibri Light"/>
                <a:cs typeface="Calibri Light"/>
                <a:sym typeface="Calibri Light"/>
              </a:defRPr>
            </a:pPr>
            <a:r>
              <a:t>    course(</a:t>
            </a:r>
            <a:r>
              <a:rPr>
                <a:solidFill>
                  <a:srgbClr val="C00000"/>
                </a:solidFill>
              </a:rPr>
              <a:t>cno</a:t>
            </a:r>
            <a:r>
              <a:t>, cname, </a:t>
            </a:r>
            <a:r>
              <a:rPr>
                <a:solidFill>
                  <a:srgbClr val="C00000"/>
                </a:solidFill>
              </a:rPr>
              <a:t>dname</a:t>
            </a:r>
            <a:r>
              <a:t>)</a:t>
            </a:r>
          </a:p>
          <a:p>
            <a:pPr lvl="2" marL="1371600" indent="-457200">
              <a:buSzPct val="100000"/>
              <a:buFont typeface="Arial"/>
              <a:buChar char="•"/>
              <a:defRPr sz="3200">
                <a:latin typeface="Calibri Light"/>
                <a:ea typeface="Calibri Light"/>
                <a:cs typeface="Calibri Light"/>
                <a:sym typeface="Calibri Light"/>
              </a:defRPr>
            </a:pPr>
            <a:r>
              <a:t>    major(</a:t>
            </a:r>
            <a:r>
              <a:rPr>
                <a:solidFill>
                  <a:srgbClr val="C00000"/>
                </a:solidFill>
              </a:rPr>
              <a:t>dname</a:t>
            </a:r>
            <a:r>
              <a:t>, </a:t>
            </a:r>
            <a:r>
              <a:rPr>
                <a:solidFill>
                  <a:srgbClr val="C00000"/>
                </a:solidFill>
              </a:rPr>
              <a:t>sid</a:t>
            </a:r>
            <a:r>
              <a:t>)</a:t>
            </a:r>
          </a:p>
          <a:p>
            <a:pPr lvl="2" marL="1371600" indent="-457200">
              <a:buSzPct val="100000"/>
              <a:buFont typeface="Arial"/>
              <a:buChar char="•"/>
              <a:defRPr sz="3200">
                <a:latin typeface="Calibri Light"/>
                <a:ea typeface="Calibri Light"/>
                <a:cs typeface="Calibri Light"/>
                <a:sym typeface="Calibri Light"/>
              </a:defRPr>
            </a:pPr>
            <a:r>
              <a:t>    section(</a:t>
            </a:r>
            <a:r>
              <a:rPr>
                <a:solidFill>
                  <a:srgbClr val="C00000"/>
                </a:solidFill>
              </a:rPr>
              <a:t>dname</a:t>
            </a:r>
            <a:r>
              <a:t>, </a:t>
            </a:r>
            <a:r>
              <a:rPr>
                <a:solidFill>
                  <a:srgbClr val="C00000"/>
                </a:solidFill>
              </a:rPr>
              <a:t>cno</a:t>
            </a:r>
            <a:r>
              <a:t>, </a:t>
            </a:r>
            <a:r>
              <a:rPr>
                <a:solidFill>
                  <a:srgbClr val="C00000"/>
                </a:solidFill>
              </a:rPr>
              <a:t>sectno</a:t>
            </a:r>
            <a:r>
              <a:t>, pname)</a:t>
            </a:r>
          </a:p>
          <a:p>
            <a:pPr lvl="2" marL="1371600" indent="-457200">
              <a:buSzPct val="100000"/>
              <a:buFont typeface="Arial"/>
              <a:buChar char="•"/>
              <a:defRPr sz="3200">
                <a:latin typeface="Calibri Light"/>
                <a:ea typeface="Calibri Light"/>
                <a:cs typeface="Calibri Light"/>
                <a:sym typeface="Calibri Light"/>
              </a:defRPr>
            </a:pPr>
            <a:r>
              <a:t>    enroll(</a:t>
            </a:r>
            <a:r>
              <a:rPr>
                <a:solidFill>
                  <a:srgbClr val="C00000"/>
                </a:solidFill>
              </a:rPr>
              <a:t>sid</a:t>
            </a:r>
            <a:r>
              <a:t>, grade, </a:t>
            </a:r>
            <a:r>
              <a:rPr>
                <a:solidFill>
                  <a:srgbClr val="C00000"/>
                </a:solidFill>
              </a:rPr>
              <a:t>dname</a:t>
            </a:r>
            <a:r>
              <a:t>, </a:t>
            </a:r>
            <a:r>
              <a:rPr>
                <a:solidFill>
                  <a:srgbClr val="C00000"/>
                </a:solidFill>
              </a:rPr>
              <a:t>cno</a:t>
            </a:r>
            <a:r>
              <a:t>, </a:t>
            </a:r>
            <a:r>
              <a:rPr>
                <a:solidFill>
                  <a:srgbClr val="C00000"/>
                </a:solidFill>
              </a:rPr>
              <a:t>sectno</a:t>
            </a:r>
            <a:r>
              <a:t>)</a:t>
            </a:r>
          </a:p>
        </p:txBody>
      </p:sp>
      <p:sp>
        <p:nvSpPr>
          <p:cNvPr id="402" name="灯片编号占位符 1"/>
          <p:cNvSpPr txBox="1"/>
          <p:nvPr>
            <p:ph type="sldNum" sz="quarter" idx="2"/>
          </p:nvPr>
        </p:nvSpPr>
        <p:spPr>
          <a:xfrm>
            <a:off x="11095176" y="6414761"/>
            <a:ext cx="258624" cy="248306"/>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403" name="Rectangle 9"/>
          <p:cNvSpPr txBox="1"/>
          <p:nvPr/>
        </p:nvSpPr>
        <p:spPr>
          <a:xfrm>
            <a:off x="531893" y="205503"/>
            <a:ext cx="7748239" cy="93537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6000">
                <a:solidFill>
                  <a:srgbClr val="33339B"/>
                </a:solidFill>
                <a:latin typeface="Times New Roman"/>
                <a:ea typeface="Times New Roman"/>
                <a:cs typeface="Times New Roman"/>
                <a:sym typeface="Times New Roman"/>
              </a:defRPr>
            </a:lvl1pPr>
          </a:lstStyle>
          <a:p>
            <a:pPr/>
            <a:r>
              <a:t>Assignment</a:t>
            </a:r>
          </a:p>
        </p:txBody>
      </p:sp>
      <p:sp>
        <p:nvSpPr>
          <p:cNvPr id="404" name="文本框 8"/>
          <p:cNvSpPr txBox="1"/>
          <p:nvPr/>
        </p:nvSpPr>
        <p:spPr>
          <a:xfrm>
            <a:off x="9243767" y="3656083"/>
            <a:ext cx="1860929" cy="34843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a:solidFill>
                  <a:srgbClr val="C00000"/>
                </a:solidFill>
                <a:latin typeface="Times New Roman"/>
                <a:ea typeface="Times New Roman"/>
                <a:cs typeface="Times New Roman"/>
                <a:sym typeface="Times New Roman"/>
              </a:defRPr>
            </a:lvl1pPr>
          </a:lstStyle>
          <a:p>
            <a:pPr/>
            <a:r>
              <a:t>Multiple keys</a:t>
            </a:r>
          </a:p>
        </p:txBody>
      </p:sp>
      <p:pic>
        <p:nvPicPr>
          <p:cNvPr id="405" name="图片 10" descr="图片 10"/>
          <p:cNvPicPr>
            <a:picLocks noChangeAspect="1"/>
          </p:cNvPicPr>
          <p:nvPr/>
        </p:nvPicPr>
        <p:blipFill>
          <a:blip r:embed="rId2">
            <a:extLst/>
          </a:blip>
          <a:stretch>
            <a:fillRect/>
          </a:stretch>
        </p:blipFill>
        <p:spPr>
          <a:xfrm>
            <a:off x="8411440" y="4108860"/>
            <a:ext cx="3308612" cy="982931"/>
          </a:xfrm>
          <a:prstGeom prst="rect">
            <a:avLst/>
          </a:prstGeom>
          <a:ln w="38100" cap="sq">
            <a:solidFill>
              <a:srgbClr val="000000"/>
            </a:solidFill>
            <a:miter/>
          </a:ln>
          <a:effectLst>
            <a:outerShdw sx="100000" sy="100000" kx="0" ky="0" algn="b" rotWithShape="0" blurRad="50800" dist="38100" dir="2700000">
              <a:srgbClr val="000000">
                <a:alpha val="43000"/>
              </a:srgbClr>
            </a:outerShdw>
          </a:effectLst>
        </p:spPr>
      </p:pic>
    </p:spTree>
  </p:cSld>
  <p:clrMapOvr>
    <a:masterClrMapping/>
  </p:clrMapOvr>
  <p:transition xmlns:p14="http://schemas.microsoft.com/office/powerpoint/2010/main" spd="med" advClick="1"/>
</p:sld>
</file>

<file path=ppt/slides/slide4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07" name="Rectangle 6"/>
          <p:cNvSpPr txBox="1"/>
          <p:nvPr/>
        </p:nvSpPr>
        <p:spPr>
          <a:xfrm>
            <a:off x="592132" y="1221165"/>
            <a:ext cx="8079428" cy="66676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4000">
                <a:solidFill>
                  <a:srgbClr val="33339B"/>
                </a:solidFill>
                <a:latin typeface="Times New Roman"/>
                <a:ea typeface="Times New Roman"/>
                <a:cs typeface="Times New Roman"/>
                <a:sym typeface="Times New Roman"/>
              </a:defRPr>
            </a:lvl1pPr>
          </a:lstStyle>
          <a:p>
            <a:pPr/>
            <a:r>
              <a:t>2. Schema and Sample Data</a:t>
            </a:r>
          </a:p>
        </p:txBody>
      </p:sp>
      <p:sp>
        <p:nvSpPr>
          <p:cNvPr id="408" name="矩形 5"/>
          <p:cNvSpPr txBox="1"/>
          <p:nvPr/>
        </p:nvSpPr>
        <p:spPr>
          <a:xfrm>
            <a:off x="896053" y="2258872"/>
            <a:ext cx="10135801" cy="992347"/>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marL="342900" indent="-342900">
              <a:buSzPct val="100000"/>
              <a:buChar char="▪"/>
              <a:defRPr sz="3200">
                <a:latin typeface="Calibri Light"/>
                <a:ea typeface="Calibri Light"/>
                <a:cs typeface="Calibri Light"/>
                <a:sym typeface="Calibri Light"/>
              </a:defRPr>
            </a:lvl1pPr>
          </a:lstStyle>
          <a:p>
            <a:pPr/>
            <a:r>
              <a:t>Before you start writing SQL, it is a good idea to take a look at the database and familiarize yourself with its contents.</a:t>
            </a:r>
          </a:p>
        </p:txBody>
      </p:sp>
      <p:sp>
        <p:nvSpPr>
          <p:cNvPr id="409" name="灯片编号占位符 1"/>
          <p:cNvSpPr txBox="1"/>
          <p:nvPr>
            <p:ph type="sldNum" sz="quarter" idx="2"/>
          </p:nvPr>
        </p:nvSpPr>
        <p:spPr>
          <a:xfrm>
            <a:off x="11095176" y="6414761"/>
            <a:ext cx="258624" cy="248306"/>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410" name="Rectangle 9"/>
          <p:cNvSpPr txBox="1"/>
          <p:nvPr/>
        </p:nvSpPr>
        <p:spPr>
          <a:xfrm>
            <a:off x="531893" y="205503"/>
            <a:ext cx="7748239" cy="93537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6000">
                <a:solidFill>
                  <a:srgbClr val="33339B"/>
                </a:solidFill>
                <a:latin typeface="Times New Roman"/>
                <a:ea typeface="Times New Roman"/>
                <a:cs typeface="Times New Roman"/>
                <a:sym typeface="Times New Roman"/>
              </a:defRPr>
            </a:lvl1pPr>
          </a:lstStyle>
          <a:p>
            <a:pPr/>
            <a:r>
              <a:t>Assignment</a:t>
            </a:r>
          </a:p>
        </p:txBody>
      </p:sp>
      <p:sp>
        <p:nvSpPr>
          <p:cNvPr id="411" name="矩形 2"/>
          <p:cNvSpPr txBox="1"/>
          <p:nvPr/>
        </p:nvSpPr>
        <p:spPr>
          <a:xfrm>
            <a:off x="894749" y="3665909"/>
            <a:ext cx="10402502" cy="239093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342900" indent="-342900">
              <a:buSzPct val="100000"/>
              <a:buChar char="▪"/>
              <a:defRPr sz="3200">
                <a:latin typeface="Calibri Light"/>
                <a:ea typeface="Calibri Light"/>
                <a:cs typeface="Calibri Light"/>
                <a:sym typeface="Calibri Light"/>
              </a:defRPr>
            </a:pPr>
            <a:r>
              <a:t>Write down as many details of your experiment as possible, and combining </a:t>
            </a:r>
            <a:r>
              <a:rPr b="1">
                <a:latin typeface="微软雅黑"/>
                <a:ea typeface="微软雅黑"/>
                <a:cs typeface="微软雅黑"/>
                <a:sym typeface="微软雅黑"/>
              </a:rPr>
              <a:t>TEXT</a:t>
            </a:r>
            <a:r>
              <a:t> and </a:t>
            </a:r>
            <a:r>
              <a:rPr b="1">
                <a:latin typeface="微软雅黑"/>
                <a:ea typeface="微软雅黑"/>
                <a:cs typeface="微软雅黑"/>
                <a:sym typeface="微软雅黑"/>
              </a:rPr>
              <a:t>PICTURE</a:t>
            </a:r>
            <a:r>
              <a:t> will </a:t>
            </a:r>
            <a:r>
              <a:rPr>
                <a:solidFill>
                  <a:srgbClr val="2A2B2E"/>
                </a:solidFill>
                <a:latin typeface="PingFang SC Regular"/>
                <a:ea typeface="PingFang SC Regular"/>
                <a:cs typeface="PingFang SC Regular"/>
                <a:sym typeface="PingFang SC Regular"/>
              </a:rPr>
              <a:t>get better grades.</a:t>
            </a:r>
            <a:endParaRPr>
              <a:solidFill>
                <a:srgbClr val="2A2B2E"/>
              </a:solidFill>
              <a:latin typeface="PingFang SC Regular"/>
              <a:ea typeface="PingFang SC Regular"/>
              <a:cs typeface="PingFang SC Regular"/>
              <a:sym typeface="PingFang SC Regular"/>
            </a:endParaRPr>
          </a:p>
        </p:txBody>
      </p:sp>
    </p:spTree>
  </p:cSld>
  <p:clrMapOvr>
    <a:masterClrMapping/>
  </p:clrMapOvr>
  <p:transition xmlns:p14="http://schemas.microsoft.com/office/powerpoint/2010/main" spd="med" advClick="1"/>
</p:sld>
</file>

<file path=ppt/slides/slide4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13" name="Rectangle 6"/>
          <p:cNvSpPr txBox="1"/>
          <p:nvPr/>
        </p:nvSpPr>
        <p:spPr>
          <a:xfrm>
            <a:off x="592132" y="1221165"/>
            <a:ext cx="8079428" cy="66676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4000">
                <a:solidFill>
                  <a:srgbClr val="33339B"/>
                </a:solidFill>
                <a:latin typeface="Times New Roman"/>
                <a:ea typeface="Times New Roman"/>
                <a:cs typeface="Times New Roman"/>
                <a:sym typeface="Times New Roman"/>
              </a:defRPr>
            </a:lvl1pPr>
          </a:lstStyle>
          <a:p>
            <a:pPr/>
            <a:r>
              <a:t>3. Data Files</a:t>
            </a:r>
          </a:p>
        </p:txBody>
      </p:sp>
      <p:sp>
        <p:nvSpPr>
          <p:cNvPr id="414" name="灯片编号占位符 1"/>
          <p:cNvSpPr txBox="1"/>
          <p:nvPr>
            <p:ph type="sldNum" sz="quarter" idx="2"/>
          </p:nvPr>
        </p:nvSpPr>
        <p:spPr>
          <a:xfrm>
            <a:off x="11095176" y="6414761"/>
            <a:ext cx="258624" cy="248306"/>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415" name="Rectangle 9"/>
          <p:cNvSpPr txBox="1"/>
          <p:nvPr/>
        </p:nvSpPr>
        <p:spPr>
          <a:xfrm>
            <a:off x="531893" y="205503"/>
            <a:ext cx="7748239" cy="93537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6000">
                <a:solidFill>
                  <a:srgbClr val="33339B"/>
                </a:solidFill>
                <a:latin typeface="Times New Roman"/>
                <a:ea typeface="Times New Roman"/>
                <a:cs typeface="Times New Roman"/>
                <a:sym typeface="Times New Roman"/>
              </a:defRPr>
            </a:lvl1pPr>
          </a:lstStyle>
          <a:p>
            <a:pPr/>
            <a:r>
              <a:t>Assignment</a:t>
            </a:r>
          </a:p>
        </p:txBody>
      </p:sp>
      <p:sp>
        <p:nvSpPr>
          <p:cNvPr id="416" name="矩形 2"/>
          <p:cNvSpPr txBox="1"/>
          <p:nvPr/>
        </p:nvSpPr>
        <p:spPr>
          <a:xfrm>
            <a:off x="1608543" y="1943787"/>
            <a:ext cx="9379496" cy="445944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571500" indent="-571500">
              <a:buSzPct val="100000"/>
              <a:buChar char="▪"/>
              <a:defRPr sz="3200">
                <a:latin typeface="Calibri Light"/>
                <a:ea typeface="Calibri Light"/>
                <a:cs typeface="Calibri Light"/>
                <a:sym typeface="Calibri Light"/>
              </a:defRPr>
            </a:pPr>
            <a:r>
              <a:t>Download the following data files from </a:t>
            </a:r>
            <a:r>
              <a:rPr u="sng"/>
              <a:t>WeChat Group</a:t>
            </a:r>
            <a:endParaRPr u="sng"/>
          </a:p>
          <a:p>
            <a:pPr lvl="2" marL="1371600" indent="-457200">
              <a:buSzPct val="100000"/>
              <a:buChar char="➢"/>
              <a:defRPr sz="3200">
                <a:latin typeface="Calibri Light"/>
                <a:ea typeface="Calibri Light"/>
                <a:cs typeface="Calibri Light"/>
                <a:sym typeface="Calibri Light"/>
              </a:defRPr>
            </a:pPr>
            <a:r>
              <a:t>course.txt</a:t>
            </a:r>
          </a:p>
          <a:p>
            <a:pPr lvl="2" marL="1371600" indent="-457200">
              <a:buSzPct val="100000"/>
              <a:buChar char="➢"/>
              <a:defRPr sz="3200">
                <a:latin typeface="Calibri Light"/>
                <a:ea typeface="Calibri Light"/>
                <a:cs typeface="Calibri Light"/>
                <a:sym typeface="Calibri Light"/>
              </a:defRPr>
            </a:pPr>
            <a:r>
              <a:t>dept.txt</a:t>
            </a:r>
          </a:p>
          <a:p>
            <a:pPr lvl="2" marL="1371600" indent="-457200">
              <a:buSzPct val="100000"/>
              <a:buChar char="➢"/>
              <a:defRPr sz="3200">
                <a:latin typeface="Calibri Light"/>
                <a:ea typeface="Calibri Light"/>
                <a:cs typeface="Calibri Light"/>
                <a:sym typeface="Calibri Light"/>
              </a:defRPr>
            </a:pPr>
            <a:r>
              <a:t>enroll.txt</a:t>
            </a:r>
          </a:p>
          <a:p>
            <a:pPr lvl="2" marL="1371600" indent="-457200">
              <a:buSzPct val="100000"/>
              <a:buChar char="➢"/>
              <a:defRPr sz="3200">
                <a:latin typeface="Calibri Light"/>
                <a:ea typeface="Calibri Light"/>
                <a:cs typeface="Calibri Light"/>
                <a:sym typeface="Calibri Light"/>
              </a:defRPr>
            </a:pPr>
            <a:r>
              <a:t>major.txt</a:t>
            </a:r>
          </a:p>
          <a:p>
            <a:pPr lvl="2" marL="1371600" indent="-457200">
              <a:buSzPct val="100000"/>
              <a:buChar char="➢"/>
              <a:defRPr sz="3200">
                <a:latin typeface="Calibri Light"/>
                <a:ea typeface="Calibri Light"/>
                <a:cs typeface="Calibri Light"/>
                <a:sym typeface="Calibri Light"/>
              </a:defRPr>
            </a:pPr>
            <a:r>
              <a:t>prof.txt</a:t>
            </a:r>
          </a:p>
          <a:p>
            <a:pPr lvl="2" marL="1371600" indent="-457200">
              <a:buSzPct val="100000"/>
              <a:buChar char="➢"/>
              <a:defRPr sz="3200">
                <a:latin typeface="Calibri Light"/>
                <a:ea typeface="Calibri Light"/>
                <a:cs typeface="Calibri Light"/>
                <a:sym typeface="Calibri Light"/>
              </a:defRPr>
            </a:pPr>
            <a:r>
              <a:t>section.txt</a:t>
            </a:r>
          </a:p>
          <a:p>
            <a:pPr lvl="2" marL="1371600" indent="-457200">
              <a:buSzPct val="100000"/>
              <a:buChar char="➢"/>
              <a:defRPr sz="3200">
                <a:latin typeface="Calibri Light"/>
                <a:ea typeface="Calibri Light"/>
                <a:cs typeface="Calibri Light"/>
                <a:sym typeface="Calibri Light"/>
              </a:defRPr>
            </a:pPr>
            <a:r>
              <a:t>student.txt</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主题​​">
  <a:themeElements>
    <a:clrScheme name="Office 主题​​">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主题​​">
      <a:majorFont>
        <a:latin typeface="Helvetica"/>
        <a:ea typeface="Helvetica"/>
        <a:cs typeface="Helvetica"/>
      </a:majorFont>
      <a:minorFont>
        <a:latin typeface="等线"/>
        <a:ea typeface="等线"/>
        <a:cs typeface="等线"/>
      </a:minorFont>
    </a:fontScheme>
    <a:fmtScheme name="Office 主题​​">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主题​​">
  <a:themeElements>
    <a:clrScheme name="Office 主题​​">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主题​​">
      <a:majorFont>
        <a:latin typeface="Helvetica"/>
        <a:ea typeface="Helvetica"/>
        <a:cs typeface="Helvetica"/>
      </a:majorFont>
      <a:minorFont>
        <a:latin typeface="等线"/>
        <a:ea typeface="等线"/>
        <a:cs typeface="等线"/>
      </a:minorFont>
    </a:fontScheme>
    <a:fmtScheme name="Office 主题​​">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