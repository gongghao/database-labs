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8"/>
  </p:notesMasterIdLst>
  <p:sldIdLst>
    <p:sldId id="312" r:id="rId2"/>
    <p:sldId id="339" r:id="rId3"/>
    <p:sldId id="315" r:id="rId4"/>
    <p:sldId id="316" r:id="rId5"/>
    <p:sldId id="317" r:id="rId6"/>
    <p:sldId id="319" r:id="rId7"/>
    <p:sldId id="320" r:id="rId8"/>
    <p:sldId id="321" r:id="rId9"/>
    <p:sldId id="342" r:id="rId10"/>
    <p:sldId id="322" r:id="rId11"/>
    <p:sldId id="318" r:id="rId12"/>
    <p:sldId id="341" r:id="rId13"/>
    <p:sldId id="343" r:id="rId14"/>
    <p:sldId id="324" r:id="rId15"/>
    <p:sldId id="271" r:id="rId16"/>
    <p:sldId id="256" r:id="rId17"/>
    <p:sldId id="266" r:id="rId18"/>
    <p:sldId id="267" r:id="rId19"/>
    <p:sldId id="337" r:id="rId20"/>
    <p:sldId id="338" r:id="rId21"/>
    <p:sldId id="270" r:id="rId22"/>
    <p:sldId id="329" r:id="rId23"/>
    <p:sldId id="332" r:id="rId24"/>
    <p:sldId id="344" r:id="rId25"/>
    <p:sldId id="297" r:id="rId26"/>
    <p:sldId id="300" r:id="rId27"/>
    <p:sldId id="334" r:id="rId28"/>
    <p:sldId id="336" r:id="rId29"/>
    <p:sldId id="335" r:id="rId30"/>
    <p:sldId id="299" r:id="rId31"/>
    <p:sldId id="326" r:id="rId32"/>
    <p:sldId id="327" r:id="rId33"/>
    <p:sldId id="351" r:id="rId34"/>
    <p:sldId id="260" r:id="rId35"/>
    <p:sldId id="354" r:id="rId36"/>
    <p:sldId id="355" r:id="rId37"/>
    <p:sldId id="356" r:id="rId38"/>
    <p:sldId id="358" r:id="rId39"/>
    <p:sldId id="359" r:id="rId40"/>
    <p:sldId id="360" r:id="rId41"/>
    <p:sldId id="361" r:id="rId42"/>
    <p:sldId id="352" r:id="rId43"/>
    <p:sldId id="257" r:id="rId44"/>
    <p:sldId id="258" r:id="rId45"/>
    <p:sldId id="348" r:id="rId46"/>
    <p:sldId id="349" r:id="rId4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34" userDrawn="1">
          <p15:clr>
            <a:srgbClr val="A4A3A4"/>
          </p15:clr>
        </p15:guide>
        <p15:guide id="2" pos="610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832"/>
    <a:srgbClr val="C74634"/>
    <a:srgbClr val="F89F14"/>
    <a:srgbClr val="FC6B36"/>
    <a:srgbClr val="F66D3A"/>
    <a:srgbClr val="018BFF"/>
    <a:srgbClr val="DC382C"/>
    <a:srgbClr val="A12322"/>
    <a:srgbClr val="C4342C"/>
    <a:srgbClr val="044A6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70" autoAdjust="0"/>
    <p:restoredTop sz="82250" autoAdjust="0"/>
  </p:normalViewPr>
  <p:slideViewPr>
    <p:cSldViewPr snapToGrid="0">
      <p:cViewPr varScale="1">
        <p:scale>
          <a:sx n="79" d="100"/>
          <a:sy n="79" d="100"/>
        </p:scale>
        <p:origin x="648" y="48"/>
      </p:cViewPr>
      <p:guideLst>
        <p:guide orient="horz" pos="3634"/>
        <p:guide pos="610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E7868E-8322-402F-ACC5-477E624251D1}" type="datetimeFigureOut">
              <a:rPr lang="zh-CN" altLang="en-US" smtClean="0"/>
              <a:t>2025/10/9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90D1AB-2DF8-4949-8D12-111FA1213BD2}" type="slidenum">
              <a:rPr lang="zh-CN" altLang="en-US" smtClean="0"/>
              <a:t>‹#›</a:t>
            </a:fld>
            <a:endParaRPr lang="zh-CN" altLang="en-US"/>
          </a:p>
        </p:txBody>
      </p:sp>
    </p:spTree>
    <p:extLst>
      <p:ext uri="{BB962C8B-B14F-4D97-AF65-F5344CB8AC3E}">
        <p14:creationId xmlns:p14="http://schemas.microsoft.com/office/powerpoint/2010/main" val="2342778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baike.sogou.com/lemma/ShowInnerLink.htm?lemmaId=400453&amp;ss_c=ssc.citiao.link"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php.net/" TargetMode="External"/><Relationship Id="rId2" Type="http://schemas.openxmlformats.org/officeDocument/2006/relationships/slide" Target="../slides/slide20.xml"/><Relationship Id="rId1" Type="http://schemas.openxmlformats.org/officeDocument/2006/relationships/notesMaster" Target="../notesMasters/notesMaster1.xml"/><Relationship Id="rId4" Type="http://schemas.openxmlformats.org/officeDocument/2006/relationships/hyperlink" Target="https://www.mysql.com/"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a:t>
            </a:fld>
            <a:endParaRPr lang="zh-CN" altLang="en-US"/>
          </a:p>
        </p:txBody>
      </p:sp>
    </p:spTree>
    <p:extLst>
      <p:ext uri="{BB962C8B-B14F-4D97-AF65-F5344CB8AC3E}">
        <p14:creationId xmlns:p14="http://schemas.microsoft.com/office/powerpoint/2010/main" val="21615970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t>我们这学期数据库实验有</a:t>
            </a:r>
            <a:r>
              <a:rPr lang="en-US" altLang="zh-CN" dirty="0"/>
              <a:t>7</a:t>
            </a:r>
            <a:r>
              <a:rPr lang="zh-CN" altLang="en-US" dirty="0"/>
              <a:t>个，除去第</a:t>
            </a:r>
            <a:r>
              <a:rPr lang="en-US" altLang="zh-CN" dirty="0"/>
              <a:t>0</a:t>
            </a:r>
            <a:r>
              <a:rPr lang="zh-CN" altLang="en-US" dirty="0"/>
              <a:t>个也就是本次实验的</a:t>
            </a:r>
            <a:r>
              <a:rPr lang="en-US" altLang="zh-CN" sz="1200" b="1" dirty="0">
                <a:solidFill>
                  <a:srgbClr val="C00000"/>
                </a:solidFill>
                <a:latin typeface="Times New Roman" panose="02020603050405020304" pitchFamily="18" charset="0"/>
                <a:cs typeface="Times New Roman" panose="02020603050405020304" pitchFamily="18" charset="0"/>
              </a:rPr>
              <a:t>Preparation</a:t>
            </a:r>
            <a:r>
              <a:rPr lang="zh-CN" altLang="en-US" dirty="0"/>
              <a:t>给大家简要介绍一下实验的主要要求和背景以外，你们要做的实验是下面</a:t>
            </a:r>
            <a:r>
              <a:rPr lang="en-US" altLang="zh-CN" dirty="0"/>
              <a:t>6</a:t>
            </a:r>
            <a:r>
              <a:rPr lang="zh-CN" altLang="en-US" dirty="0"/>
              <a:t>个。</a:t>
            </a:r>
            <a:endParaRPr lang="en-US" altLang="zh-CN" dirty="0"/>
          </a:p>
          <a:p>
            <a:r>
              <a:rPr lang="zh-CN" altLang="en-US" dirty="0"/>
              <a:t>然后每两个实验发布间隔一般是</a:t>
            </a:r>
            <a:r>
              <a:rPr lang="en-US" altLang="zh-CN" dirty="0"/>
              <a:t>2</a:t>
            </a:r>
            <a:r>
              <a:rPr lang="zh-CN" altLang="en-US" dirty="0"/>
              <a:t>个星期，也就是每两次课会有一次实验。</a:t>
            </a:r>
            <a:endParaRPr lang="en-US" altLang="zh-CN"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2</a:t>
            </a:fld>
            <a:endParaRPr lang="zh-CN" altLang="en-US"/>
          </a:p>
        </p:txBody>
      </p:sp>
    </p:spTree>
    <p:extLst>
      <p:ext uri="{BB962C8B-B14F-4D97-AF65-F5344CB8AC3E}">
        <p14:creationId xmlns:p14="http://schemas.microsoft.com/office/powerpoint/2010/main" val="19012560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3</a:t>
            </a:fld>
            <a:endParaRPr lang="zh-CN" altLang="en-US"/>
          </a:p>
        </p:txBody>
      </p:sp>
    </p:spTree>
    <p:extLst>
      <p:ext uri="{BB962C8B-B14F-4D97-AF65-F5344CB8AC3E}">
        <p14:creationId xmlns:p14="http://schemas.microsoft.com/office/powerpoint/2010/main" val="2556374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4</a:t>
            </a:fld>
            <a:endParaRPr lang="zh-CN" altLang="en-US"/>
          </a:p>
        </p:txBody>
      </p:sp>
    </p:spTree>
    <p:extLst>
      <p:ext uri="{BB962C8B-B14F-4D97-AF65-F5344CB8AC3E}">
        <p14:creationId xmlns:p14="http://schemas.microsoft.com/office/powerpoint/2010/main" val="10528193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也就是下周日（包括下周日这一天）之前提交，下一周的周一（</a:t>
            </a:r>
            <a:r>
              <a:rPr lang="en-US" altLang="zh-CN" dirty="0"/>
              <a:t>0</a:t>
            </a:r>
            <a:r>
              <a:rPr lang="zh-CN" altLang="en-US" dirty="0"/>
              <a:t>：</a:t>
            </a:r>
            <a:r>
              <a:rPr lang="en-US" altLang="zh-CN" dirty="0"/>
              <a:t>00</a:t>
            </a:r>
            <a:r>
              <a:rPr lang="zh-CN" altLang="en-US" dirty="0"/>
              <a:t>）之前</a:t>
            </a:r>
            <a:endParaRPr lang="en-US" altLang="zh-CN" dirty="0"/>
          </a:p>
          <a:p>
            <a:r>
              <a:rPr lang="zh-CN" altLang="en-US" dirty="0"/>
              <a:t>给大家完成实验的时间是两个周末。</a:t>
            </a:r>
            <a:endParaRPr lang="en-US" altLang="zh-CN"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5</a:t>
            </a:fld>
            <a:endParaRPr lang="zh-CN" altLang="en-US"/>
          </a:p>
        </p:txBody>
      </p:sp>
    </p:spTree>
    <p:extLst>
      <p:ext uri="{BB962C8B-B14F-4D97-AF65-F5344CB8AC3E}">
        <p14:creationId xmlns:p14="http://schemas.microsoft.com/office/powerpoint/2010/main" val="41511308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t>困难、身体问题、生病</a:t>
            </a:r>
          </a:p>
        </p:txBody>
      </p:sp>
      <p:sp>
        <p:nvSpPr>
          <p:cNvPr id="4" name="灯片编号占位符 3"/>
          <p:cNvSpPr>
            <a:spLocks noGrp="1"/>
          </p:cNvSpPr>
          <p:nvPr>
            <p:ph type="sldNum" sz="quarter" idx="10"/>
          </p:nvPr>
        </p:nvSpPr>
        <p:spPr/>
        <p:txBody>
          <a:bodyPr/>
          <a:lstStyle/>
          <a:p>
            <a:fld id="{7990D1AB-2DF8-4949-8D12-111FA1213BD2}" type="slidenum">
              <a:rPr lang="zh-CN" altLang="en-US" smtClean="0"/>
              <a:t>6</a:t>
            </a:fld>
            <a:endParaRPr lang="zh-CN" altLang="en-US"/>
          </a:p>
        </p:txBody>
      </p:sp>
    </p:spTree>
    <p:extLst>
      <p:ext uri="{BB962C8B-B14F-4D97-AF65-F5344CB8AC3E}">
        <p14:creationId xmlns:p14="http://schemas.microsoft.com/office/powerpoint/2010/main" val="2973898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zh-CN" altLang="en-US" dirty="0"/>
              <a:t>具体实验报告的模板会在群里发布，不一定要根据实验报告模板</a:t>
            </a:r>
            <a:endParaRPr lang="en-US" altLang="zh-CN" dirty="0"/>
          </a:p>
          <a:p>
            <a:r>
              <a:rPr lang="zh-CN" altLang="en-US" dirty="0"/>
              <a:t>双语、英语撰写，对英语水平不作要求，表达清楚、逻辑清晰、图文并茂</a:t>
            </a:r>
          </a:p>
        </p:txBody>
      </p:sp>
      <p:sp>
        <p:nvSpPr>
          <p:cNvPr id="4" name="灯片编号占位符 3"/>
          <p:cNvSpPr>
            <a:spLocks noGrp="1"/>
          </p:cNvSpPr>
          <p:nvPr>
            <p:ph type="sldNum" sz="quarter" idx="10"/>
          </p:nvPr>
        </p:nvSpPr>
        <p:spPr/>
        <p:txBody>
          <a:bodyPr/>
          <a:lstStyle/>
          <a:p>
            <a:fld id="{7990D1AB-2DF8-4949-8D12-111FA1213BD2}" type="slidenum">
              <a:rPr lang="zh-CN" altLang="en-US" smtClean="0"/>
              <a:t>7</a:t>
            </a:fld>
            <a:endParaRPr lang="zh-CN" altLang="en-US"/>
          </a:p>
        </p:txBody>
      </p:sp>
    </p:spTree>
    <p:extLst>
      <p:ext uri="{BB962C8B-B14F-4D97-AF65-F5344CB8AC3E}">
        <p14:creationId xmlns:p14="http://schemas.microsoft.com/office/powerpoint/2010/main" val="1261517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8</a:t>
            </a:fld>
            <a:endParaRPr lang="zh-CN" altLang="en-US"/>
          </a:p>
        </p:txBody>
      </p:sp>
    </p:spTree>
    <p:extLst>
      <p:ext uri="{BB962C8B-B14F-4D97-AF65-F5344CB8AC3E}">
        <p14:creationId xmlns:p14="http://schemas.microsoft.com/office/powerpoint/2010/main" val="29708191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n-lt"/>
                <a:ea typeface="+mn-ea"/>
                <a:cs typeface="+mn-cs"/>
              </a:rPr>
              <a:t>ACCESS</a:t>
            </a:r>
            <a:r>
              <a:rPr lang="zh-CN" altLang="en-US" sz="1200" b="0" i="0" kern="1200" dirty="0">
                <a:solidFill>
                  <a:schemeClr val="tx1"/>
                </a:solidFill>
                <a:effectLst/>
                <a:latin typeface="+mn-lt"/>
                <a:ea typeface="+mn-ea"/>
                <a:cs typeface="+mn-cs"/>
              </a:rPr>
              <a:t>是由微软发布的</a:t>
            </a:r>
            <a:r>
              <a:rPr lang="zh-CN" altLang="en-US" sz="1200" b="0" i="0" u="none" strike="noStrike" kern="1200" dirty="0">
                <a:solidFill>
                  <a:schemeClr val="tx1"/>
                </a:solidFill>
                <a:effectLst/>
                <a:latin typeface="+mn-lt"/>
                <a:ea typeface="+mn-ea"/>
                <a:cs typeface="+mn-cs"/>
                <a:hlinkClick r:id="rId3"/>
              </a:rPr>
              <a:t>关系数据库管理系统</a:t>
            </a:r>
            <a:r>
              <a:rPr lang="zh-CN" altLang="en-US" sz="1200" b="0" i="0" u="none" strike="noStrike" kern="1200" dirty="0">
                <a:solidFill>
                  <a:schemeClr val="tx1"/>
                </a:solidFill>
                <a:effectLst/>
                <a:latin typeface="+mn-lt"/>
                <a:ea typeface="+mn-ea"/>
                <a:cs typeface="+mn-cs"/>
              </a:rPr>
              <a:t>，本课程实验主要使用这个工具完成。</a:t>
            </a:r>
            <a:endParaRPr lang="en-US" altLang="zh-CN"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b="0" i="0" dirty="0">
                <a:solidFill>
                  <a:srgbClr val="202122"/>
                </a:solidFill>
                <a:effectLst/>
                <a:latin typeface="Arial" panose="020B0604020202020204" pitchFamily="34" charset="0"/>
              </a:rPr>
              <a:t>它是 </a:t>
            </a:r>
            <a:r>
              <a:rPr kumimoji="0" lang="en-US" altLang="zh-CN" sz="1200" b="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Microsoft Office  </a:t>
            </a:r>
            <a:r>
              <a:rPr kumimoji="0" lang="zh-CN" altLang="en-US" sz="1200" b="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和</a:t>
            </a:r>
            <a:r>
              <a:rPr lang="en-US" altLang="zh-CN" b="0" i="0" dirty="0">
                <a:solidFill>
                  <a:srgbClr val="202122"/>
                </a:solidFill>
                <a:effectLst/>
                <a:latin typeface="Arial" panose="020B0604020202020204" pitchFamily="34" charset="0"/>
              </a:rPr>
              <a:t>Microsoft 365 </a:t>
            </a:r>
            <a:r>
              <a:rPr lang="zh-CN" altLang="en-US" b="0" i="0" dirty="0">
                <a:solidFill>
                  <a:srgbClr val="202122"/>
                </a:solidFill>
                <a:effectLst/>
                <a:latin typeface="Arial" panose="020B0604020202020204" pitchFamily="34" charset="0"/>
              </a:rPr>
              <a:t>应用程序套件的成员。所以和大多数</a:t>
            </a:r>
            <a:r>
              <a:rPr lang="en-US" altLang="zh-CN" b="0" i="0" dirty="0">
                <a:solidFill>
                  <a:srgbClr val="202122"/>
                </a:solidFill>
                <a:effectLst/>
                <a:latin typeface="Arial" panose="020B0604020202020204" pitchFamily="34" charset="0"/>
              </a:rPr>
              <a:t>office</a:t>
            </a:r>
            <a:r>
              <a:rPr lang="zh-CN" altLang="en-US" b="0" i="0" dirty="0">
                <a:solidFill>
                  <a:srgbClr val="202122"/>
                </a:solidFill>
                <a:effectLst/>
                <a:latin typeface="Arial" panose="020B0604020202020204" pitchFamily="34" charset="0"/>
              </a:rPr>
              <a:t>软件一样需要付费激活。</a:t>
            </a:r>
            <a:endParaRPr lang="en-US" altLang="zh-CN" b="0" i="0" dirty="0">
              <a:solidFill>
                <a:srgbClr val="202122"/>
              </a:solidFill>
              <a:effectLst/>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b="0" i="0" dirty="0">
                <a:solidFill>
                  <a:srgbClr val="202122"/>
                </a:solidFill>
                <a:effectLst/>
                <a:latin typeface="Arial" panose="020B0604020202020204" pitchFamily="34" charset="0"/>
              </a:rPr>
              <a:t>下载过</a:t>
            </a:r>
            <a:r>
              <a:rPr lang="en-US" altLang="zh-CN" b="0" i="0" dirty="0" err="1">
                <a:solidFill>
                  <a:srgbClr val="202122"/>
                </a:solidFill>
                <a:effectLst/>
                <a:latin typeface="Arial" panose="020B0604020202020204" pitchFamily="34" charset="0"/>
              </a:rPr>
              <a:t>Offiice</a:t>
            </a:r>
            <a:r>
              <a:rPr lang="zh-CN" altLang="en-US" b="0" i="0" dirty="0">
                <a:solidFill>
                  <a:srgbClr val="202122"/>
                </a:solidFill>
                <a:effectLst/>
                <a:latin typeface="Arial" panose="020B0604020202020204" pitchFamily="34" charset="0"/>
              </a:rPr>
              <a:t>全家桶的话不需要再下载。</a:t>
            </a:r>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9</a:t>
            </a:fld>
            <a:endParaRPr lang="zh-CN" altLang="en-US"/>
          </a:p>
        </p:txBody>
      </p:sp>
    </p:spTree>
    <p:extLst>
      <p:ext uri="{BB962C8B-B14F-4D97-AF65-F5344CB8AC3E}">
        <p14:creationId xmlns:p14="http://schemas.microsoft.com/office/powerpoint/2010/main" val="25171028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10</a:t>
            </a:fld>
            <a:endParaRPr lang="zh-CN" altLang="en-US"/>
          </a:p>
        </p:txBody>
      </p:sp>
    </p:spTree>
    <p:extLst>
      <p:ext uri="{BB962C8B-B14F-4D97-AF65-F5344CB8AC3E}">
        <p14:creationId xmlns:p14="http://schemas.microsoft.com/office/powerpoint/2010/main" val="42859485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11</a:t>
            </a:fld>
            <a:endParaRPr lang="zh-CN" altLang="en-US"/>
          </a:p>
        </p:txBody>
      </p:sp>
    </p:spTree>
    <p:extLst>
      <p:ext uri="{BB962C8B-B14F-4D97-AF65-F5344CB8AC3E}">
        <p14:creationId xmlns:p14="http://schemas.microsoft.com/office/powerpoint/2010/main" val="3125947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12</a:t>
            </a:fld>
            <a:endParaRPr lang="zh-CN" altLang="en-US"/>
          </a:p>
        </p:txBody>
      </p:sp>
    </p:spTree>
    <p:extLst>
      <p:ext uri="{BB962C8B-B14F-4D97-AF65-F5344CB8AC3E}">
        <p14:creationId xmlns:p14="http://schemas.microsoft.com/office/powerpoint/2010/main" val="28767198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13</a:t>
            </a:fld>
            <a:endParaRPr lang="zh-CN" altLang="en-US"/>
          </a:p>
        </p:txBody>
      </p:sp>
    </p:spTree>
    <p:extLst>
      <p:ext uri="{BB962C8B-B14F-4D97-AF65-F5344CB8AC3E}">
        <p14:creationId xmlns:p14="http://schemas.microsoft.com/office/powerpoint/2010/main" val="1412675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14</a:t>
            </a:fld>
            <a:endParaRPr lang="zh-CN" altLang="en-US"/>
          </a:p>
        </p:txBody>
      </p:sp>
    </p:spTree>
    <p:extLst>
      <p:ext uri="{BB962C8B-B14F-4D97-AF65-F5344CB8AC3E}">
        <p14:creationId xmlns:p14="http://schemas.microsoft.com/office/powerpoint/2010/main" val="28392987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高速的数据处理以及触发器的使用提高了工作效率</a:t>
            </a:r>
            <a:endParaRPr lang="en-US" altLang="zh-CN" dirty="0"/>
          </a:p>
          <a:p>
            <a:r>
              <a:rPr lang="zh-CN" altLang="en-US" dirty="0"/>
              <a:t>回滚和</a:t>
            </a:r>
            <a:r>
              <a:rPr lang="en-US" altLang="zh-CN" dirty="0"/>
              <a:t>commit</a:t>
            </a:r>
            <a:r>
              <a:rPr lang="zh-CN" altLang="en-US" dirty="0"/>
              <a:t>进行数据恢复。</a:t>
            </a:r>
            <a:endParaRPr lang="en-US" altLang="zh-CN" dirty="0"/>
          </a:p>
          <a:p>
            <a:r>
              <a:rPr lang="en-US" altLang="zh-CN" dirty="0"/>
              <a:t>LAMP</a:t>
            </a:r>
            <a:r>
              <a:rPr lang="zh-CN" altLang="en-US" dirty="0"/>
              <a:t>是指一组通常一起使用来运行动态网站或者服务器的自由软件名称首字母缩写。这种方式不用花一分钱（除开人工成本）就可以建立起一个稳定、免费的网站系统。</a:t>
            </a:r>
            <a:endParaRPr lang="en-US" altLang="zh-CN" dirty="0"/>
          </a:p>
          <a:p>
            <a:r>
              <a:rPr lang="en-US" altLang="zh-CN" dirty="0"/>
              <a:t>Linux</a:t>
            </a:r>
            <a:r>
              <a:rPr lang="zh-CN" altLang="en-US" dirty="0"/>
              <a:t>作为操作系统，</a:t>
            </a:r>
            <a:r>
              <a:rPr lang="en-US" altLang="zh-CN" dirty="0"/>
              <a:t>Apache </a:t>
            </a:r>
            <a:r>
              <a:rPr lang="zh-CN" altLang="en-US" dirty="0"/>
              <a:t>作为 </a:t>
            </a:r>
            <a:r>
              <a:rPr lang="en-US" altLang="zh-CN" dirty="0"/>
              <a:t>Web </a:t>
            </a:r>
            <a:r>
              <a:rPr lang="zh-CN" altLang="en-US" dirty="0"/>
              <a:t>服务器，</a:t>
            </a:r>
            <a:r>
              <a:rPr lang="en-US" altLang="zh-CN" dirty="0"/>
              <a:t>MySQL </a:t>
            </a:r>
            <a:r>
              <a:rPr lang="zh-CN" altLang="en-US" dirty="0"/>
              <a:t>作为数据库，</a:t>
            </a:r>
            <a:r>
              <a:rPr lang="en-US" altLang="zh-CN" dirty="0"/>
              <a:t>PHP/Perl/Python</a:t>
            </a:r>
            <a:r>
              <a:rPr lang="zh-CN" altLang="en-US" dirty="0"/>
              <a:t>作为服务器端脚本解释器。</a:t>
            </a:r>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15</a:t>
            </a:fld>
            <a:endParaRPr lang="zh-CN" altLang="en-US"/>
          </a:p>
        </p:txBody>
      </p:sp>
    </p:spTree>
    <p:extLst>
      <p:ext uri="{BB962C8B-B14F-4D97-AF65-F5344CB8AC3E}">
        <p14:creationId xmlns:p14="http://schemas.microsoft.com/office/powerpoint/2010/main" val="16454467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SQLite </a:t>
            </a:r>
            <a:r>
              <a:rPr lang="zh-CN" altLang="en-US" dirty="0"/>
              <a:t>是一个 </a:t>
            </a:r>
            <a:r>
              <a:rPr lang="en-US" altLang="zh-CN" dirty="0"/>
              <a:t>C </a:t>
            </a:r>
            <a:r>
              <a:rPr lang="zh-CN" altLang="en-US" dirty="0"/>
              <a:t>语言库，它实现了一个小型、快速、自包含、高可靠性、全功能的 </a:t>
            </a:r>
            <a:r>
              <a:rPr lang="en-US" altLang="zh-CN" dirty="0"/>
              <a:t>SQL </a:t>
            </a:r>
            <a:r>
              <a:rPr lang="zh-CN" altLang="en-US" dirty="0"/>
              <a:t>数据库引擎。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SQLite </a:t>
            </a:r>
            <a:r>
              <a:rPr lang="zh-CN" altLang="en-US" dirty="0"/>
              <a:t>内置于所有手机和大多数计算机中，并捆绑在人们每天使用的无数其他应用程序中。</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b="0" i="0" dirty="0">
                <a:solidFill>
                  <a:srgbClr val="333333"/>
                </a:solidFill>
                <a:effectLst/>
                <a:latin typeface="Open Sans" panose="020B0604020202020204" pitchFamily="34" charset="0"/>
              </a:rPr>
              <a:t>SQLITE</a:t>
            </a:r>
            <a:r>
              <a:rPr lang="zh-CN" altLang="en-US" b="0" i="0" dirty="0">
                <a:solidFill>
                  <a:srgbClr val="333333"/>
                </a:solidFill>
                <a:effectLst/>
                <a:latin typeface="Open Sans" panose="020B0604020202020204" pitchFamily="34" charset="0"/>
              </a:rPr>
              <a:t>功能简约，小型化，</a:t>
            </a:r>
            <a:r>
              <a:rPr lang="zh-CN" altLang="en-US" dirty="0"/>
              <a:t>不需要太多的空间，因此，它可以用于存储小型到中型网站。</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同时它免设置和部署，能快速上手使用</a:t>
            </a:r>
            <a:endParaRPr lang="en-US" altLang="zh-CN" dirty="0"/>
          </a:p>
          <a:p>
            <a:r>
              <a:rPr lang="zh-CN" altLang="en-US" b="0" i="0" dirty="0">
                <a:solidFill>
                  <a:srgbClr val="333333"/>
                </a:solidFill>
                <a:effectLst/>
                <a:latin typeface="Open Sans" panose="020B0604020202020204" pitchFamily="34" charset="0"/>
              </a:rPr>
              <a:t>和</a:t>
            </a:r>
            <a:r>
              <a:rPr lang="en-US" altLang="zh-CN" b="0" i="0" dirty="0">
                <a:solidFill>
                  <a:srgbClr val="333333"/>
                </a:solidFill>
                <a:effectLst/>
                <a:latin typeface="Open Sans" panose="020B0604020202020204" pitchFamily="34" charset="0"/>
              </a:rPr>
              <a:t>MYSQL</a:t>
            </a:r>
            <a:r>
              <a:rPr lang="zh-CN" altLang="en-US" b="0" i="0" dirty="0">
                <a:solidFill>
                  <a:srgbClr val="333333"/>
                </a:solidFill>
                <a:effectLst/>
                <a:latin typeface="Open Sans" panose="020B0604020202020204" pitchFamily="34" charset="0"/>
              </a:rPr>
              <a:t>相比，功能全面，综合化，追求最大并发效率。而</a:t>
            </a:r>
            <a:r>
              <a:rPr lang="en-US" altLang="zh-CN" b="0" i="0" dirty="0">
                <a:solidFill>
                  <a:srgbClr val="333333"/>
                </a:solidFill>
                <a:effectLst/>
                <a:latin typeface="Open Sans" panose="020B0604020202020204" pitchFamily="34" charset="0"/>
              </a:rPr>
              <a:t>SQLite</a:t>
            </a:r>
            <a:r>
              <a:rPr lang="zh-CN" altLang="en-US" b="0" i="0" dirty="0">
                <a:solidFill>
                  <a:srgbClr val="333333"/>
                </a:solidFill>
                <a:effectLst/>
                <a:latin typeface="Open Sans" panose="020B0604020202020204" pitchFamily="34" charset="0"/>
              </a:rPr>
              <a:t>追求最大磁盘效率</a:t>
            </a:r>
            <a:endParaRPr lang="en-US" altLang="zh-CN" b="0" i="0" dirty="0">
              <a:solidFill>
                <a:srgbClr val="333333"/>
              </a:solidFill>
              <a:effectLst/>
              <a:latin typeface="Open Sans" panose="020B0604020202020204" pitchFamily="34" charset="0"/>
            </a:endParaRPr>
          </a:p>
        </p:txBody>
      </p:sp>
      <p:sp>
        <p:nvSpPr>
          <p:cNvPr id="4" name="灯片编号占位符 3"/>
          <p:cNvSpPr>
            <a:spLocks noGrp="1"/>
          </p:cNvSpPr>
          <p:nvPr>
            <p:ph type="sldNum" sz="quarter" idx="5"/>
          </p:nvPr>
        </p:nvSpPr>
        <p:spPr/>
        <p:txBody>
          <a:bodyPr/>
          <a:lstStyle/>
          <a:p>
            <a:fld id="{7990D1AB-2DF8-4949-8D12-111FA1213BD2}" type="slidenum">
              <a:rPr lang="zh-CN" altLang="en-US" smtClean="0"/>
              <a:t>16</a:t>
            </a:fld>
            <a:endParaRPr lang="zh-CN" altLang="en-US"/>
          </a:p>
        </p:txBody>
      </p:sp>
    </p:spTree>
    <p:extLst>
      <p:ext uri="{BB962C8B-B14F-4D97-AF65-F5344CB8AC3E}">
        <p14:creationId xmlns:p14="http://schemas.microsoft.com/office/powerpoint/2010/main" val="237217948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333333"/>
                </a:solidFill>
                <a:effectLst/>
                <a:latin typeface="verdana" panose="020B0604030504040204" pitchFamily="34" charset="0"/>
              </a:rPr>
              <a:t>Redis</a:t>
            </a:r>
            <a:r>
              <a:rPr lang="zh-CN" altLang="en-US" b="0" i="0" dirty="0">
                <a:solidFill>
                  <a:srgbClr val="333333"/>
                </a:solidFill>
                <a:effectLst/>
                <a:latin typeface="verdana" panose="020B0604030504040204" pitchFamily="34" charset="0"/>
              </a:rPr>
              <a:t>是现在最受欢迎的</a:t>
            </a:r>
            <a:r>
              <a:rPr lang="en-US" altLang="zh-CN" b="0" i="0" dirty="0">
                <a:solidFill>
                  <a:srgbClr val="333333"/>
                </a:solidFill>
                <a:effectLst/>
                <a:latin typeface="verdana" panose="020B0604030504040204" pitchFamily="34" charset="0"/>
              </a:rPr>
              <a:t>NoSQL</a:t>
            </a:r>
            <a:r>
              <a:rPr lang="zh-CN" altLang="en-US" b="0" i="0" dirty="0">
                <a:solidFill>
                  <a:srgbClr val="333333"/>
                </a:solidFill>
                <a:effectLst/>
                <a:latin typeface="verdana" panose="020B0604030504040204" pitchFamily="34" charset="0"/>
              </a:rPr>
              <a:t>数据库之一</a:t>
            </a:r>
            <a:endParaRPr lang="en-US" altLang="zh-CN" dirty="0"/>
          </a:p>
          <a:p>
            <a:r>
              <a:rPr lang="zh-CN" altLang="en-US" b="0" i="0" dirty="0">
                <a:solidFill>
                  <a:srgbClr val="333333"/>
                </a:solidFill>
                <a:effectLst/>
                <a:latin typeface="verdana" panose="020B0604030504040204" pitchFamily="34" charset="0"/>
              </a:rPr>
              <a:t>因为是</a:t>
            </a:r>
            <a:r>
              <a:rPr lang="en-US" altLang="zh-CN" sz="1200" b="0" dirty="0">
                <a:solidFill>
                  <a:srgbClr val="000000"/>
                </a:solidFill>
                <a:latin typeface="+mj-lt"/>
                <a:ea typeface="等线" panose="02010600030101010101" pitchFamily="2" charset="-122"/>
                <a:cs typeface="Times New Roman" panose="02020603050405020304" pitchFamily="18" charset="0"/>
              </a:rPr>
              <a:t>NoSQL </a:t>
            </a:r>
            <a:r>
              <a:rPr lang="zh-CN" altLang="en-US" sz="1200" b="0" dirty="0">
                <a:solidFill>
                  <a:srgbClr val="000000"/>
                </a:solidFill>
                <a:latin typeface="+mj-lt"/>
                <a:ea typeface="等线" panose="02010600030101010101" pitchFamily="2" charset="-122"/>
                <a:cs typeface="Times New Roman" panose="02020603050405020304" pitchFamily="18" charset="0"/>
              </a:rPr>
              <a:t>，</a:t>
            </a:r>
            <a:r>
              <a:rPr lang="zh-CN" altLang="en-US" b="0" i="0" dirty="0">
                <a:solidFill>
                  <a:srgbClr val="333333"/>
                </a:solidFill>
                <a:effectLst/>
                <a:latin typeface="verdana" panose="020B0604030504040204" pitchFamily="34" charset="0"/>
              </a:rPr>
              <a:t>支持分布式，并发处理的效率很高</a:t>
            </a:r>
            <a:endParaRPr lang="en-US" altLang="zh-CN" b="0" i="0" dirty="0">
              <a:solidFill>
                <a:srgbClr val="333333"/>
              </a:solidFill>
              <a:effectLst/>
              <a:latin typeface="verdana" panose="020B0604030504040204" pitchFamily="34" charset="0"/>
            </a:endParaRPr>
          </a:p>
          <a:p>
            <a:r>
              <a:rPr lang="zh-CN" altLang="en-US" b="0" dirty="0"/>
              <a:t>使用了</a:t>
            </a:r>
            <a:r>
              <a:rPr lang="en-US" altLang="zh-CN" b="0" dirty="0"/>
              <a:t>key-value</a:t>
            </a:r>
            <a:r>
              <a:rPr lang="zh-CN" altLang="en-US" b="0" dirty="0"/>
              <a:t>这种键值对数据存储，而关系型数据库使用表格结构。</a:t>
            </a:r>
            <a:endParaRPr lang="en-US" altLang="zh-CN" b="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它的数据库速度非常快，</a:t>
            </a:r>
            <a:r>
              <a:rPr lang="zh-CN" altLang="en-US" b="0" i="0" dirty="0">
                <a:effectLst/>
                <a:latin typeface="Roboto" panose="02000000000000000000" pitchFamily="2" charset="0"/>
              </a:rPr>
              <a:t>将数据存储在内存中。</a:t>
            </a:r>
            <a:r>
              <a:rPr lang="zh-CN" altLang="en-US" b="0" i="0" dirty="0">
                <a:solidFill>
                  <a:srgbClr val="4D4D4D"/>
                </a:solidFill>
                <a:effectLst/>
                <a:latin typeface="-apple-system"/>
              </a:rPr>
              <a:t>由于内存的读写速度远快于硬盘，因此</a:t>
            </a:r>
            <a:r>
              <a:rPr lang="en-US" altLang="zh-CN" b="0" i="0" dirty="0" err="1">
                <a:solidFill>
                  <a:srgbClr val="4D4D4D"/>
                </a:solidFill>
                <a:effectLst/>
                <a:latin typeface="-apple-system"/>
              </a:rPr>
              <a:t>Redis</a:t>
            </a:r>
            <a:r>
              <a:rPr lang="zh-CN" altLang="en-US" b="0" i="0" dirty="0">
                <a:solidFill>
                  <a:srgbClr val="4D4D4D"/>
                </a:solidFill>
                <a:effectLst/>
                <a:latin typeface="-apple-system"/>
              </a:rPr>
              <a:t>在性能上对比其他基于硬盘存储的数据库有非常明显的优势。</a:t>
            </a:r>
            <a:endParaRPr lang="en-US" altLang="zh-CN" b="0" i="0" dirty="0">
              <a:effectLst/>
              <a:latin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还支持哈希和字符串等数据类型，查询的性能也很高</a:t>
            </a:r>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17</a:t>
            </a:fld>
            <a:endParaRPr lang="zh-CN" altLang="en-US"/>
          </a:p>
        </p:txBody>
      </p:sp>
    </p:spTree>
    <p:extLst>
      <p:ext uri="{BB962C8B-B14F-4D97-AF65-F5344CB8AC3E}">
        <p14:creationId xmlns:p14="http://schemas.microsoft.com/office/powerpoint/2010/main" val="10313190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图数据库</a:t>
            </a:r>
            <a:r>
              <a:rPr lang="en-US" altLang="zh-CN" sz="1200" b="0" i="0" kern="1200" dirty="0">
                <a:solidFill>
                  <a:schemeClr val="tx1"/>
                </a:solidFill>
                <a:effectLst/>
                <a:latin typeface="+mn-lt"/>
                <a:ea typeface="+mn-ea"/>
                <a:cs typeface="+mn-cs"/>
              </a:rPr>
              <a:t>(Graph database)</a:t>
            </a:r>
            <a:r>
              <a:rPr lang="zh-CN" altLang="en-US" sz="1200" b="0" i="0" kern="1200" dirty="0">
                <a:solidFill>
                  <a:schemeClr val="tx1"/>
                </a:solidFill>
                <a:effectLst/>
                <a:latin typeface="+mn-lt"/>
                <a:ea typeface="+mn-ea"/>
                <a:cs typeface="+mn-cs"/>
              </a:rPr>
              <a:t>指的是</a:t>
            </a:r>
            <a:r>
              <a:rPr lang="zh-CN" altLang="en-US" sz="1200" b="1" i="0" kern="1200" dirty="0">
                <a:solidFill>
                  <a:schemeClr val="tx1"/>
                </a:solidFill>
                <a:effectLst/>
                <a:latin typeface="+mn-lt"/>
                <a:ea typeface="+mn-ea"/>
                <a:cs typeface="+mn-cs"/>
              </a:rPr>
              <a:t>以图数据结构的形式来存储和查询数据</a:t>
            </a:r>
            <a:r>
              <a:rPr lang="zh-CN" altLang="en-US" sz="1200" b="0" i="0" kern="1200" dirty="0">
                <a:solidFill>
                  <a:schemeClr val="tx1"/>
                </a:solidFill>
                <a:effectLst/>
                <a:latin typeface="+mn-lt"/>
                <a:ea typeface="+mn-ea"/>
                <a:cs typeface="+mn-cs"/>
              </a:rPr>
              <a:t>的数据库，有大容量服务器</a:t>
            </a:r>
            <a:endParaRPr lang="en-US" altLang="zh-CN" sz="1200" b="0" i="0" kern="1200" dirty="0">
              <a:solidFill>
                <a:schemeClr val="tx1"/>
              </a:solidFill>
              <a:effectLst/>
              <a:latin typeface="+mn-lt"/>
              <a:ea typeface="+mn-ea"/>
              <a:cs typeface="+mn-cs"/>
            </a:endParaRPr>
          </a:p>
          <a:p>
            <a:r>
              <a:rPr lang="zh-CN" altLang="en-US" b="0" i="0" dirty="0">
                <a:solidFill>
                  <a:srgbClr val="2D3748"/>
                </a:solidFill>
                <a:effectLst/>
                <a:latin typeface="Nunito Sans" pitchFamily="2" charset="0"/>
              </a:rPr>
              <a:t>图形数据库存储节点和关系而不是表或文档。</a:t>
            </a:r>
            <a:endParaRPr lang="en-US" altLang="zh-CN" sz="1200" b="0" i="0" kern="1200" dirty="0">
              <a:solidFill>
                <a:schemeClr val="tx1"/>
              </a:solidFill>
              <a:effectLst/>
              <a:latin typeface="+mn-lt"/>
              <a:ea typeface="+mn-ea"/>
              <a:cs typeface="+mn-cs"/>
            </a:endParaRPr>
          </a:p>
          <a:p>
            <a:r>
              <a:rPr lang="en-US" altLang="zh-CN" b="0" i="0" dirty="0">
                <a:solidFill>
                  <a:srgbClr val="2D3748"/>
                </a:solidFill>
                <a:effectLst/>
                <a:latin typeface="Nunito Sans" panose="020B0604020202020204" pitchFamily="2" charset="0"/>
              </a:rPr>
              <a:t>Neo4j</a:t>
            </a:r>
            <a:r>
              <a:rPr lang="zh-CN" altLang="en-US" b="0" i="0" dirty="0">
                <a:solidFill>
                  <a:srgbClr val="2D3748"/>
                </a:solidFill>
                <a:effectLst/>
                <a:latin typeface="Nunito Sans" panose="020B0604020202020204" pitchFamily="2" charset="0"/>
              </a:rPr>
              <a:t>使用了它自己的</a:t>
            </a:r>
            <a:r>
              <a:rPr lang="en-US" altLang="zh-CN" b="0" i="0" dirty="0">
                <a:solidFill>
                  <a:srgbClr val="2D3748"/>
                </a:solidFill>
                <a:effectLst/>
                <a:latin typeface="Nunito Sans" panose="020B0604020202020204" pitchFamily="2" charset="0"/>
              </a:rPr>
              <a:t> CQL</a:t>
            </a:r>
            <a:r>
              <a:rPr lang="zh-CN" altLang="en-US" b="0" i="0" baseline="0" dirty="0">
                <a:solidFill>
                  <a:srgbClr val="2D3748"/>
                </a:solidFill>
                <a:effectLst/>
                <a:latin typeface="Nunito Sans" panose="020B0604020202020204" pitchFamily="2" charset="0"/>
              </a:rPr>
              <a:t> </a:t>
            </a:r>
            <a:r>
              <a:rPr lang="zh-CN" altLang="en-US" b="0" i="0" dirty="0">
                <a:solidFill>
                  <a:srgbClr val="2D3748"/>
                </a:solidFill>
                <a:effectLst/>
                <a:latin typeface="Nunito Sans" panose="020B0604020202020204" pitchFamily="2" charset="0"/>
              </a:rPr>
              <a:t>图形查询语言，允许用户从图形数据库存储和检索数据。</a:t>
            </a:r>
            <a:endParaRPr lang="en-US" altLang="zh-CN" b="0" i="0" dirty="0">
              <a:solidFill>
                <a:srgbClr val="2D3748"/>
              </a:solidFill>
              <a:effectLst/>
              <a:latin typeface="Nunito Sans" panose="020B0604020202020204" pitchFamily="2" charset="0"/>
            </a:endParaRPr>
          </a:p>
          <a:p>
            <a:r>
              <a:rPr lang="zh-CN" altLang="en-US" b="0" i="0">
                <a:solidFill>
                  <a:srgbClr val="2D3748"/>
                </a:solidFill>
                <a:effectLst/>
                <a:latin typeface="Nunito Sans" panose="020B0604020202020204" pitchFamily="2" charset="0"/>
              </a:rPr>
              <a:t>容易表示连接</a:t>
            </a:r>
            <a:r>
              <a:rPr lang="zh-CN" altLang="en-US" b="0" i="0" dirty="0">
                <a:solidFill>
                  <a:srgbClr val="2D3748"/>
                </a:solidFill>
                <a:effectLst/>
                <a:latin typeface="Nunito Sans" panose="020B0604020202020204" pitchFamily="2" charset="0"/>
              </a:rPr>
              <a:t>关系的数据</a:t>
            </a:r>
            <a:endParaRPr lang="en-US" altLang="zh-CN" b="0" i="0" dirty="0">
              <a:solidFill>
                <a:srgbClr val="2D3748"/>
              </a:solidFill>
              <a:effectLst/>
              <a:latin typeface="Nunito Sans" panose="020B0604020202020204" pitchFamily="2" charset="0"/>
            </a:endParaRPr>
          </a:p>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18</a:t>
            </a:fld>
            <a:endParaRPr lang="zh-CN" altLang="en-US"/>
          </a:p>
        </p:txBody>
      </p:sp>
    </p:spTree>
    <p:extLst>
      <p:ext uri="{BB962C8B-B14F-4D97-AF65-F5344CB8AC3E}">
        <p14:creationId xmlns:p14="http://schemas.microsoft.com/office/powerpoint/2010/main" val="42836017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err="1">
                <a:solidFill>
                  <a:srgbClr val="333333"/>
                </a:solidFill>
                <a:effectLst/>
                <a:latin typeface="Helvetica Neue"/>
              </a:rPr>
              <a:t>OrientDB</a:t>
            </a:r>
            <a:r>
              <a:rPr lang="en-US" altLang="zh-CN" b="0" i="0" dirty="0">
                <a:solidFill>
                  <a:srgbClr val="333333"/>
                </a:solidFill>
                <a:effectLst/>
                <a:latin typeface="Helvetica Neue"/>
              </a:rPr>
              <a:t> </a:t>
            </a:r>
            <a:r>
              <a:rPr lang="zh-CN" altLang="en-US" b="0" i="0" dirty="0">
                <a:solidFill>
                  <a:srgbClr val="333333"/>
                </a:solidFill>
                <a:effectLst/>
                <a:latin typeface="Helvetica Neue"/>
              </a:rPr>
              <a:t>是一个多模型开源 </a:t>
            </a:r>
            <a:r>
              <a:rPr lang="en-US" altLang="zh-CN" b="0" i="0" dirty="0">
                <a:solidFill>
                  <a:srgbClr val="333333"/>
                </a:solidFill>
                <a:effectLst/>
                <a:latin typeface="Helvetica Neue"/>
              </a:rPr>
              <a:t>NoSQL DBMS</a:t>
            </a:r>
            <a:r>
              <a:rPr lang="zh-CN" altLang="en-US" b="0" i="0" dirty="0">
                <a:solidFill>
                  <a:srgbClr val="333333"/>
                </a:solidFill>
                <a:effectLst/>
                <a:latin typeface="Helvetica Neue"/>
              </a:rPr>
              <a:t>，它将图形的强大功能和文档的灵活性结合到一个可扩展的高性能操作数据库中。</a:t>
            </a:r>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19</a:t>
            </a:fld>
            <a:endParaRPr lang="zh-CN" altLang="en-US"/>
          </a:p>
        </p:txBody>
      </p:sp>
    </p:spTree>
    <p:extLst>
      <p:ext uri="{BB962C8B-B14F-4D97-AF65-F5344CB8AC3E}">
        <p14:creationId xmlns:p14="http://schemas.microsoft.com/office/powerpoint/2010/main" val="3497491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12529"/>
                </a:solidFill>
                <a:effectLst/>
                <a:latin typeface="-apple-system"/>
              </a:rPr>
              <a:t>phpMyAdmin </a:t>
            </a:r>
            <a:r>
              <a:rPr lang="zh-CN" altLang="en-US" b="0" i="0" dirty="0">
                <a:solidFill>
                  <a:srgbClr val="212529"/>
                </a:solidFill>
                <a:effectLst/>
                <a:latin typeface="-apple-system"/>
              </a:rPr>
              <a:t>是一个用</a:t>
            </a:r>
            <a:r>
              <a:rPr lang="en-US" altLang="zh-CN" b="0" i="0" u="none" strike="noStrike" dirty="0">
                <a:solidFill>
                  <a:srgbClr val="007BFF"/>
                </a:solidFill>
                <a:effectLst/>
                <a:latin typeface="-apple-system"/>
                <a:hlinkClick r:id="rId3"/>
              </a:rPr>
              <a:t>PHP</a:t>
            </a:r>
            <a:r>
              <a:rPr lang="zh-CN" altLang="en-US" b="0" i="0" dirty="0">
                <a:solidFill>
                  <a:srgbClr val="212529"/>
                </a:solidFill>
                <a:effectLst/>
                <a:latin typeface="-apple-system"/>
              </a:rPr>
              <a:t>编写的免费软件工具，旨在 通过 </a:t>
            </a:r>
            <a:r>
              <a:rPr lang="en-US" altLang="zh-CN" b="0" i="0" dirty="0">
                <a:solidFill>
                  <a:srgbClr val="212529"/>
                </a:solidFill>
                <a:effectLst/>
                <a:latin typeface="-apple-system"/>
              </a:rPr>
              <a:t>Web</a:t>
            </a:r>
            <a:r>
              <a:rPr lang="zh-CN" altLang="en-US" b="0" i="0" dirty="0">
                <a:solidFill>
                  <a:srgbClr val="212529"/>
                </a:solidFill>
                <a:effectLst/>
                <a:latin typeface="-apple-system"/>
              </a:rPr>
              <a:t>处理</a:t>
            </a:r>
            <a:r>
              <a:rPr lang="en-US" altLang="zh-CN" b="0" i="0" u="none" strike="noStrike" dirty="0">
                <a:solidFill>
                  <a:srgbClr val="007BFF"/>
                </a:solidFill>
                <a:effectLst/>
                <a:latin typeface="-apple-system"/>
                <a:hlinkClick r:id="rId4"/>
              </a:rPr>
              <a:t>MySQL</a:t>
            </a:r>
            <a:r>
              <a:rPr lang="zh-CN" altLang="en-US" b="0" i="0" u="none" strike="noStrike" dirty="0">
                <a:solidFill>
                  <a:srgbClr val="007BFF"/>
                </a:solidFill>
                <a:effectLst/>
                <a:latin typeface="-apple-system"/>
                <a:hlinkClick r:id="rId4"/>
              </a:rPr>
              <a:t>的管理。</a:t>
            </a:r>
            <a:r>
              <a:rPr lang="en-US" altLang="zh-CN" b="0" i="0" dirty="0">
                <a:solidFill>
                  <a:srgbClr val="212529"/>
                </a:solidFill>
                <a:effectLst/>
                <a:latin typeface="-apple-system"/>
              </a:rPr>
              <a:t>phpMyAdmin </a:t>
            </a:r>
            <a:r>
              <a:rPr lang="zh-CN" altLang="en-US" b="0" i="0" dirty="0">
                <a:solidFill>
                  <a:srgbClr val="212529"/>
                </a:solidFill>
                <a:effectLst/>
                <a:latin typeface="-apple-system"/>
              </a:rPr>
              <a:t>支持对 </a:t>
            </a:r>
            <a:r>
              <a:rPr lang="en-US" altLang="zh-CN" b="0" i="0" dirty="0">
                <a:solidFill>
                  <a:srgbClr val="212529"/>
                </a:solidFill>
                <a:effectLst/>
                <a:latin typeface="-apple-system"/>
              </a:rPr>
              <a:t>MySQL </a:t>
            </a:r>
            <a:r>
              <a:rPr lang="zh-CN" altLang="en-US" b="0" i="0" dirty="0">
                <a:solidFill>
                  <a:srgbClr val="212529"/>
                </a:solidFill>
                <a:effectLst/>
                <a:latin typeface="-apple-system"/>
              </a:rPr>
              <a:t>和 </a:t>
            </a:r>
            <a:r>
              <a:rPr lang="en-US" altLang="zh-CN" b="0" i="0" dirty="0">
                <a:solidFill>
                  <a:srgbClr val="212529"/>
                </a:solidFill>
                <a:effectLst/>
                <a:latin typeface="-apple-system"/>
              </a:rPr>
              <a:t>MariaDB </a:t>
            </a:r>
            <a:r>
              <a:rPr lang="zh-CN" altLang="en-US" b="0" i="0" dirty="0">
                <a:solidFill>
                  <a:srgbClr val="212529"/>
                </a:solidFill>
                <a:effectLst/>
                <a:latin typeface="-apple-system"/>
              </a:rPr>
              <a:t>的广泛操作</a:t>
            </a:r>
            <a:r>
              <a:rPr lang="en-US" altLang="zh-CN" b="0" i="0" dirty="0">
                <a:solidFill>
                  <a:srgbClr val="212529"/>
                </a:solidFill>
                <a:effectLst/>
                <a:latin typeface="-apple-system"/>
              </a:rPr>
              <a:t>.</a:t>
            </a:r>
          </a:p>
        </p:txBody>
      </p:sp>
      <p:sp>
        <p:nvSpPr>
          <p:cNvPr id="4" name="灯片编号占位符 3"/>
          <p:cNvSpPr>
            <a:spLocks noGrp="1"/>
          </p:cNvSpPr>
          <p:nvPr>
            <p:ph type="sldNum" sz="quarter" idx="5"/>
          </p:nvPr>
        </p:nvSpPr>
        <p:spPr/>
        <p:txBody>
          <a:bodyPr/>
          <a:lstStyle/>
          <a:p>
            <a:fld id="{7990D1AB-2DF8-4949-8D12-111FA1213BD2}" type="slidenum">
              <a:rPr lang="zh-CN" altLang="en-US" smtClean="0"/>
              <a:t>20</a:t>
            </a:fld>
            <a:endParaRPr lang="zh-CN" altLang="en-US"/>
          </a:p>
        </p:txBody>
      </p:sp>
    </p:spTree>
    <p:extLst>
      <p:ext uri="{BB962C8B-B14F-4D97-AF65-F5344CB8AC3E}">
        <p14:creationId xmlns:p14="http://schemas.microsoft.com/office/powerpoint/2010/main" val="6878037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161513"/>
                </a:solidFill>
                <a:effectLst/>
                <a:latin typeface="OracleSansVF"/>
              </a:rPr>
              <a:t>Oracle SQL Developer </a:t>
            </a:r>
            <a:r>
              <a:rPr lang="zh-CN" altLang="en-US" b="0" i="0" dirty="0">
                <a:solidFill>
                  <a:srgbClr val="161513"/>
                </a:solidFill>
                <a:effectLst/>
                <a:latin typeface="OracleSansVF"/>
              </a:rPr>
              <a:t>有简洁明了的图形化界面。</a:t>
            </a:r>
            <a:endParaRPr lang="en-US" altLang="zh-CN" b="0" i="0" dirty="0">
              <a:solidFill>
                <a:srgbClr val="161513"/>
              </a:solidFill>
              <a:effectLst/>
              <a:latin typeface="OracleSansVF"/>
            </a:endParaRPr>
          </a:p>
          <a:p>
            <a:r>
              <a:rPr lang="zh-CN" altLang="en-US" dirty="0"/>
              <a:t>查询所需的执行时间更短。</a:t>
            </a:r>
            <a:endParaRPr lang="en-US" altLang="zh-CN" dirty="0"/>
          </a:p>
          <a:p>
            <a:r>
              <a:rPr lang="zh-CN" altLang="en-US" dirty="0"/>
              <a:t>查询可以以多种格式运行和生成，如</a:t>
            </a:r>
            <a:r>
              <a:rPr lang="en-US" altLang="zh-CN" dirty="0"/>
              <a:t>HTML</a:t>
            </a:r>
            <a:r>
              <a:rPr lang="zh-CN" altLang="en-US" dirty="0"/>
              <a:t>、</a:t>
            </a:r>
            <a:r>
              <a:rPr lang="en-US" altLang="zh-CN" dirty="0"/>
              <a:t>PDF</a:t>
            </a:r>
            <a:r>
              <a:rPr lang="zh-CN" altLang="en-US" dirty="0"/>
              <a:t>、</a:t>
            </a:r>
            <a:r>
              <a:rPr lang="en-US" altLang="zh-CN" dirty="0"/>
              <a:t>XML</a:t>
            </a:r>
            <a:r>
              <a:rPr lang="zh-CN" altLang="en-US" dirty="0"/>
              <a:t>和</a:t>
            </a:r>
            <a:r>
              <a:rPr lang="en-US" altLang="zh-CN" dirty="0"/>
              <a:t>Excel</a:t>
            </a:r>
            <a:r>
              <a:rPr lang="zh-CN" altLang="en-US" dirty="0"/>
              <a:t>。</a:t>
            </a:r>
            <a:endParaRPr lang="en-US" altLang="zh-CN" dirty="0"/>
          </a:p>
          <a:p>
            <a:endParaRPr lang="en-US" altLang="zh-CN" dirty="0"/>
          </a:p>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21</a:t>
            </a:fld>
            <a:endParaRPr lang="zh-CN" altLang="en-US"/>
          </a:p>
        </p:txBody>
      </p:sp>
    </p:spTree>
    <p:extLst>
      <p:ext uri="{BB962C8B-B14F-4D97-AF65-F5344CB8AC3E}">
        <p14:creationId xmlns:p14="http://schemas.microsoft.com/office/powerpoint/2010/main" val="1377622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22</a:t>
            </a:fld>
            <a:endParaRPr lang="zh-CN" altLang="en-US"/>
          </a:p>
        </p:txBody>
      </p:sp>
    </p:spTree>
    <p:extLst>
      <p:ext uri="{BB962C8B-B14F-4D97-AF65-F5344CB8AC3E}">
        <p14:creationId xmlns:p14="http://schemas.microsoft.com/office/powerpoint/2010/main" val="7007070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altLang="zh-CN" dirty="0"/>
              <a:t>3-4</a:t>
            </a:r>
            <a:r>
              <a:rPr lang="zh-CN" altLang="en-US" dirty="0"/>
              <a:t>人组队，提前组队，确定好分工</a:t>
            </a:r>
            <a:endParaRPr lang="en-US" altLang="zh-CN" dirty="0"/>
          </a:p>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23</a:t>
            </a:fld>
            <a:endParaRPr lang="zh-CN" altLang="en-US"/>
          </a:p>
        </p:txBody>
      </p:sp>
    </p:spTree>
    <p:extLst>
      <p:ext uri="{BB962C8B-B14F-4D97-AF65-F5344CB8AC3E}">
        <p14:creationId xmlns:p14="http://schemas.microsoft.com/office/powerpoint/2010/main" val="12270292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r>
              <a:rPr lang="en-US" altLang="zh-CN" dirty="0"/>
              <a:t>3-4</a:t>
            </a:r>
            <a:r>
              <a:rPr lang="zh-CN" altLang="en-US" dirty="0"/>
              <a:t>人组队，提前组队，确定好分工</a:t>
            </a:r>
            <a:endParaRPr lang="en-US" altLang="zh-CN" dirty="0"/>
          </a:p>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24</a:t>
            </a:fld>
            <a:endParaRPr lang="zh-CN" altLang="en-US"/>
          </a:p>
        </p:txBody>
      </p:sp>
    </p:spTree>
    <p:extLst>
      <p:ext uri="{BB962C8B-B14F-4D97-AF65-F5344CB8AC3E}">
        <p14:creationId xmlns:p14="http://schemas.microsoft.com/office/powerpoint/2010/main" val="13759059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HTML: </a:t>
            </a:r>
            <a:r>
              <a:rPr lang="zh-CN" altLang="en-US" dirty="0"/>
              <a:t>代表超文本标记语言，是浏览器显示内容的代码结构。更具体地说是内容的载体。然后通过</a:t>
            </a:r>
            <a:r>
              <a:rPr lang="en-US" altLang="zh-CN" dirty="0"/>
              <a:t>CSS</a:t>
            </a:r>
            <a:r>
              <a:rPr lang="zh-CN" altLang="en-US" dirty="0"/>
              <a:t>和</a:t>
            </a:r>
            <a:r>
              <a:rPr lang="en-US" altLang="zh-CN" dirty="0"/>
              <a:t>JavaScript</a:t>
            </a:r>
            <a:r>
              <a:rPr lang="zh-CN" altLang="en-US" dirty="0"/>
              <a:t>等技术进行了增强和修改网页结构。</a:t>
            </a:r>
            <a:endParaRPr lang="en-US" altLang="zh-CN" dirty="0"/>
          </a:p>
          <a:p>
            <a:r>
              <a:rPr lang="en-US" altLang="zh-CN" dirty="0"/>
              <a:t>CSS</a:t>
            </a:r>
            <a:r>
              <a:rPr lang="zh-CN" altLang="en-US" dirty="0"/>
              <a:t>：是表现，相当于网页的外衣。用于控制</a:t>
            </a:r>
            <a:r>
              <a:rPr lang="en-US" altLang="zh-CN" dirty="0"/>
              <a:t>html</a:t>
            </a:r>
            <a:r>
              <a:rPr lang="zh-CN" altLang="en-US" dirty="0"/>
              <a:t>内容的样式和布局。比如字体大小、颜色变化、标题加入花里胡哨的背景和边框。</a:t>
            </a:r>
            <a:endParaRPr lang="en-US" altLang="zh-CN" dirty="0"/>
          </a:p>
          <a:p>
            <a:endParaRPr lang="en-US" altLang="zh-CN" dirty="0"/>
          </a:p>
          <a:p>
            <a:r>
              <a:rPr lang="en-US" altLang="zh-CN" dirty="0"/>
              <a:t>JavaScript</a:t>
            </a:r>
            <a:r>
              <a:rPr lang="zh-CN" altLang="en-US" dirty="0"/>
              <a:t>：用于控制不同元素的行为。</a:t>
            </a:r>
            <a:r>
              <a:rPr lang="en-US" altLang="zh-CN" dirty="0" err="1"/>
              <a:t>Javascript</a:t>
            </a:r>
            <a:r>
              <a:rPr lang="zh-CN" altLang="en-US" dirty="0"/>
              <a:t>处理网页设计和开发的逻辑。比如按钮被点击后执行什么工作（进入新页面？退出页面）、鼠标滑过弹出菜单、动画等交互。</a:t>
            </a:r>
            <a:endParaRPr lang="en-US" altLang="zh-CN" dirty="0"/>
          </a:p>
          <a:p>
            <a:r>
              <a:rPr lang="en-US" altLang="zh-CN" dirty="0"/>
              <a:t>JavaScript </a:t>
            </a:r>
            <a:r>
              <a:rPr lang="zh-CN" altLang="en-US" dirty="0"/>
              <a:t>和</a:t>
            </a:r>
            <a:r>
              <a:rPr lang="en-US" altLang="zh-CN" dirty="0"/>
              <a:t>Java</a:t>
            </a:r>
            <a:r>
              <a:rPr lang="zh-CN" altLang="en-US" dirty="0"/>
              <a:t>没有关系，</a:t>
            </a:r>
            <a:r>
              <a:rPr lang="en-US" altLang="zh-CN" b="0" i="0" dirty="0">
                <a:solidFill>
                  <a:srgbClr val="121212"/>
                </a:solidFill>
                <a:effectLst/>
                <a:latin typeface="-apple-system"/>
              </a:rPr>
              <a:t>Java</a:t>
            </a:r>
            <a:r>
              <a:rPr lang="zh-CN" altLang="en-US" b="0" i="0" dirty="0">
                <a:solidFill>
                  <a:srgbClr val="121212"/>
                </a:solidFill>
                <a:effectLst/>
                <a:latin typeface="-apple-system"/>
              </a:rPr>
              <a:t>是一种程序设计语言，</a:t>
            </a:r>
            <a:r>
              <a:rPr lang="en-US" altLang="zh-CN" b="0" i="0" dirty="0">
                <a:solidFill>
                  <a:srgbClr val="121212"/>
                </a:solidFill>
                <a:effectLst/>
                <a:latin typeface="-apple-system"/>
              </a:rPr>
              <a:t>JavaScript</a:t>
            </a:r>
            <a:r>
              <a:rPr lang="zh-CN" altLang="en-US" b="0" i="0" dirty="0">
                <a:solidFill>
                  <a:srgbClr val="121212"/>
                </a:solidFill>
                <a:effectLst/>
                <a:latin typeface="-apple-system"/>
              </a:rPr>
              <a:t>是客户端的脚本语言。</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25</a:t>
            </a:fld>
            <a:endParaRPr lang="zh-CN" altLang="en-US"/>
          </a:p>
        </p:txBody>
      </p:sp>
    </p:spTree>
    <p:extLst>
      <p:ext uri="{BB962C8B-B14F-4D97-AF65-F5344CB8AC3E}">
        <p14:creationId xmlns:p14="http://schemas.microsoft.com/office/powerpoint/2010/main" val="33040715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很经典的例子是说</a:t>
            </a:r>
            <a:r>
              <a:rPr lang="en-US" altLang="zh-CN" sz="1200" b="0" i="0" kern="1200" dirty="0">
                <a:solidFill>
                  <a:schemeClr val="tx1"/>
                </a:solidFill>
                <a:effectLst/>
                <a:latin typeface="+mn-lt"/>
                <a:ea typeface="+mn-ea"/>
                <a:cs typeface="+mn-cs"/>
              </a:rPr>
              <a:t>HTML</a:t>
            </a:r>
            <a:r>
              <a:rPr lang="zh-CN" altLang="en-US" sz="1200" b="0" i="0" kern="1200" dirty="0">
                <a:solidFill>
                  <a:schemeClr val="tx1"/>
                </a:solidFill>
                <a:effectLst/>
                <a:latin typeface="+mn-lt"/>
                <a:ea typeface="+mn-ea"/>
                <a:cs typeface="+mn-cs"/>
              </a:rPr>
              <a:t>就像 一个人的骨骼、器官，而</a:t>
            </a:r>
            <a:r>
              <a:rPr lang="en-US" altLang="zh-CN" sz="1200" b="0" i="0" kern="1200" dirty="0">
                <a:solidFill>
                  <a:schemeClr val="tx1"/>
                </a:solidFill>
                <a:effectLst/>
                <a:latin typeface="+mn-lt"/>
                <a:ea typeface="+mn-ea"/>
                <a:cs typeface="+mn-cs"/>
              </a:rPr>
              <a:t>CSS</a:t>
            </a:r>
            <a:r>
              <a:rPr lang="zh-CN" altLang="en-US" sz="1200" b="0" i="0" kern="1200" dirty="0">
                <a:solidFill>
                  <a:schemeClr val="tx1"/>
                </a:solidFill>
                <a:effectLst/>
                <a:latin typeface="+mn-lt"/>
                <a:ea typeface="+mn-ea"/>
                <a:cs typeface="+mn-cs"/>
              </a:rPr>
              <a:t>就是人的皮肤，有了这两样也就构成了一个植物人了，加上</a:t>
            </a:r>
            <a:r>
              <a:rPr lang="en-US" altLang="zh-CN" sz="1200" b="0" i="0" kern="1200" dirty="0" err="1">
                <a:solidFill>
                  <a:schemeClr val="tx1"/>
                </a:solidFill>
                <a:effectLst/>
                <a:latin typeface="+mn-lt"/>
                <a:ea typeface="+mn-ea"/>
                <a:cs typeface="+mn-cs"/>
              </a:rPr>
              <a:t>javascript</a:t>
            </a:r>
            <a:r>
              <a:rPr lang="zh-CN" altLang="en-US" sz="1200" b="0" i="0" kern="1200" dirty="0">
                <a:solidFill>
                  <a:schemeClr val="tx1"/>
                </a:solidFill>
                <a:effectLst/>
                <a:latin typeface="+mn-lt"/>
                <a:ea typeface="+mn-ea"/>
                <a:cs typeface="+mn-cs"/>
              </a:rPr>
              <a:t>这个植物人就可以对外界刺激做出反应，可以思考、运动。</a:t>
            </a:r>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26</a:t>
            </a:fld>
            <a:endParaRPr lang="zh-CN" altLang="en-US"/>
          </a:p>
        </p:txBody>
      </p:sp>
    </p:spTree>
    <p:extLst>
      <p:ext uri="{BB962C8B-B14F-4D97-AF65-F5344CB8AC3E}">
        <p14:creationId xmlns:p14="http://schemas.microsoft.com/office/powerpoint/2010/main" val="2457460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React:</a:t>
            </a:r>
            <a:r>
              <a:rPr lang="zh-CN" altLang="en-US" dirty="0"/>
              <a:t>的可重用组件确保了开发人员不必一遍又一遍地重写相同的代码。由于它的受欢迎程度，在网上有大量来自同行开发者的免费帮助。</a:t>
            </a:r>
            <a:endParaRPr lang="en-US" altLang="zh-CN"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27</a:t>
            </a:fld>
            <a:endParaRPr lang="zh-CN" altLang="en-US"/>
          </a:p>
        </p:txBody>
      </p:sp>
    </p:spTree>
    <p:extLst>
      <p:ext uri="{BB962C8B-B14F-4D97-AF65-F5344CB8AC3E}">
        <p14:creationId xmlns:p14="http://schemas.microsoft.com/office/powerpoint/2010/main" val="12691727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Vue:</a:t>
            </a:r>
            <a:r>
              <a:rPr lang="zh-CN" altLang="en-US" sz="1200" b="0" i="0" kern="1200" dirty="0">
                <a:solidFill>
                  <a:schemeClr val="tx1"/>
                </a:solidFill>
                <a:effectLst/>
                <a:latin typeface="+mn-lt"/>
                <a:ea typeface="+mn-ea"/>
                <a:cs typeface="+mn-cs"/>
              </a:rPr>
              <a:t>优秀的文档，适合初学者和经验丰富的开发人员。多年来发展起来的庞大工具生态系统。框架体积小，易学。</a:t>
            </a:r>
            <a:endParaRPr lang="en-US" altLang="zh-CN" sz="1200" b="0" i="0" kern="1200" dirty="0">
              <a:solidFill>
                <a:schemeClr val="tx1"/>
              </a:solidFill>
              <a:effectLst/>
              <a:latin typeface="+mn-lt"/>
              <a:ea typeface="+mn-ea"/>
              <a:cs typeface="+mn-cs"/>
            </a:endParaRPr>
          </a:p>
        </p:txBody>
      </p:sp>
      <p:sp>
        <p:nvSpPr>
          <p:cNvPr id="4" name="灯片编号占位符 3"/>
          <p:cNvSpPr>
            <a:spLocks noGrp="1"/>
          </p:cNvSpPr>
          <p:nvPr>
            <p:ph type="sldNum" sz="quarter" idx="5"/>
          </p:nvPr>
        </p:nvSpPr>
        <p:spPr/>
        <p:txBody>
          <a:bodyPr/>
          <a:lstStyle/>
          <a:p>
            <a:fld id="{7990D1AB-2DF8-4949-8D12-111FA1213BD2}" type="slidenum">
              <a:rPr lang="zh-CN" altLang="en-US" smtClean="0"/>
              <a:t>28</a:t>
            </a:fld>
            <a:endParaRPr lang="zh-CN" altLang="en-US"/>
          </a:p>
        </p:txBody>
      </p:sp>
    </p:spTree>
    <p:extLst>
      <p:ext uri="{BB962C8B-B14F-4D97-AF65-F5344CB8AC3E}">
        <p14:creationId xmlns:p14="http://schemas.microsoft.com/office/powerpoint/2010/main" val="30166888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Angular:</a:t>
            </a:r>
            <a:r>
              <a:rPr lang="zh-CN" altLang="en-US" sz="1200" b="0" i="0" kern="1200" dirty="0">
                <a:solidFill>
                  <a:schemeClr val="tx1"/>
                </a:solidFill>
                <a:effectLst/>
                <a:latin typeface="+mn-lt"/>
                <a:ea typeface="+mn-ea"/>
                <a:cs typeface="+mn-cs"/>
              </a:rPr>
              <a:t>极其复杂的</a:t>
            </a:r>
            <a:r>
              <a:rPr lang="en-US" altLang="zh-CN" sz="1200" b="0" i="0" kern="1200" dirty="0">
                <a:solidFill>
                  <a:schemeClr val="tx1"/>
                </a:solidFill>
                <a:effectLst/>
                <a:latin typeface="+mn-lt"/>
                <a:ea typeface="+mn-ea"/>
                <a:cs typeface="+mn-cs"/>
              </a:rPr>
              <a:t>web</a:t>
            </a:r>
            <a:r>
              <a:rPr lang="zh-CN" altLang="en-US" sz="1200" b="0" i="0" kern="1200" dirty="0">
                <a:solidFill>
                  <a:schemeClr val="tx1"/>
                </a:solidFill>
                <a:effectLst/>
                <a:latin typeface="+mn-lt"/>
                <a:ea typeface="+mn-ea"/>
                <a:cs typeface="+mn-cs"/>
              </a:rPr>
              <a:t>应用程序可以在企业规模上开发，可以与基于桌面的应用程序相匹敌。谷歌保证了对这个开源项目的长期支持，开发人员可以放心，它不会很快被放弃。</a:t>
            </a:r>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29</a:t>
            </a:fld>
            <a:endParaRPr lang="zh-CN" altLang="en-US"/>
          </a:p>
        </p:txBody>
      </p:sp>
    </p:spTree>
    <p:extLst>
      <p:ext uri="{BB962C8B-B14F-4D97-AF65-F5344CB8AC3E}">
        <p14:creationId xmlns:p14="http://schemas.microsoft.com/office/powerpoint/2010/main" val="57993800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30</a:t>
            </a:fld>
            <a:endParaRPr lang="zh-CN" altLang="en-US"/>
          </a:p>
        </p:txBody>
      </p:sp>
    </p:spTree>
    <p:extLst>
      <p:ext uri="{BB962C8B-B14F-4D97-AF65-F5344CB8AC3E}">
        <p14:creationId xmlns:p14="http://schemas.microsoft.com/office/powerpoint/2010/main" val="64641756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31</a:t>
            </a:fld>
            <a:endParaRPr lang="zh-CN" altLang="en-US"/>
          </a:p>
        </p:txBody>
      </p:sp>
    </p:spTree>
    <p:extLst>
      <p:ext uri="{BB962C8B-B14F-4D97-AF65-F5344CB8AC3E}">
        <p14:creationId xmlns:p14="http://schemas.microsoft.com/office/powerpoint/2010/main" val="28867036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32</a:t>
            </a:fld>
            <a:endParaRPr lang="zh-CN" altLang="en-US"/>
          </a:p>
        </p:txBody>
      </p:sp>
    </p:spTree>
    <p:extLst>
      <p:ext uri="{BB962C8B-B14F-4D97-AF65-F5344CB8AC3E}">
        <p14:creationId xmlns:p14="http://schemas.microsoft.com/office/powerpoint/2010/main" val="40943015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33</a:t>
            </a:fld>
            <a:endParaRPr lang="zh-CN" altLang="en-US"/>
          </a:p>
        </p:txBody>
      </p:sp>
    </p:spTree>
    <p:extLst>
      <p:ext uri="{BB962C8B-B14F-4D97-AF65-F5344CB8AC3E}">
        <p14:creationId xmlns:p14="http://schemas.microsoft.com/office/powerpoint/2010/main" val="216159707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34</a:t>
            </a:fld>
            <a:endParaRPr lang="zh-CN" altLang="en-US"/>
          </a:p>
        </p:txBody>
      </p:sp>
    </p:spTree>
    <p:extLst>
      <p:ext uri="{BB962C8B-B14F-4D97-AF65-F5344CB8AC3E}">
        <p14:creationId xmlns:p14="http://schemas.microsoft.com/office/powerpoint/2010/main" val="563881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35</a:t>
            </a:fld>
            <a:endParaRPr lang="zh-CN" altLang="en-US"/>
          </a:p>
        </p:txBody>
      </p:sp>
    </p:spTree>
    <p:extLst>
      <p:ext uri="{BB962C8B-B14F-4D97-AF65-F5344CB8AC3E}">
        <p14:creationId xmlns:p14="http://schemas.microsoft.com/office/powerpoint/2010/main" val="330461403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37</a:t>
            </a:fld>
            <a:endParaRPr lang="zh-CN" altLang="en-US"/>
          </a:p>
        </p:txBody>
      </p:sp>
    </p:spTree>
    <p:extLst>
      <p:ext uri="{BB962C8B-B14F-4D97-AF65-F5344CB8AC3E}">
        <p14:creationId xmlns:p14="http://schemas.microsoft.com/office/powerpoint/2010/main" val="29672679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设计视图是 </a:t>
            </a:r>
            <a:r>
              <a:rPr lang="en-US" altLang="zh-CN" dirty="0"/>
              <a:t>Access </a:t>
            </a:r>
            <a:r>
              <a:rPr lang="zh-CN" altLang="en-US" dirty="0"/>
              <a:t>中用于创建和修改表结构的专业界面，它比直接在数据表视图中工作提供了更精细的控制。通过设计视图，你可以：</a:t>
            </a:r>
          </a:p>
          <a:p>
            <a:r>
              <a:rPr lang="zh-CN" altLang="en-US" dirty="0"/>
              <a:t>定义每个字段的精确数据类型、设置详细的字段属性、指定主键和索引、添加字段说明文档、控制数据验证规则</a:t>
            </a:r>
          </a:p>
        </p:txBody>
      </p:sp>
      <p:sp>
        <p:nvSpPr>
          <p:cNvPr id="4" name="灯片编号占位符 3"/>
          <p:cNvSpPr>
            <a:spLocks noGrp="1"/>
          </p:cNvSpPr>
          <p:nvPr>
            <p:ph type="sldNum" sz="quarter" idx="5"/>
          </p:nvPr>
        </p:nvSpPr>
        <p:spPr/>
        <p:txBody>
          <a:bodyPr/>
          <a:lstStyle/>
          <a:p>
            <a:fld id="{7990D1AB-2DF8-4949-8D12-111FA1213BD2}" type="slidenum">
              <a:rPr lang="zh-CN" altLang="en-US" smtClean="0"/>
              <a:t>38</a:t>
            </a:fld>
            <a:endParaRPr lang="zh-CN" altLang="en-US"/>
          </a:p>
        </p:txBody>
      </p:sp>
    </p:spTree>
    <p:extLst>
      <p:ext uri="{BB962C8B-B14F-4D97-AF65-F5344CB8AC3E}">
        <p14:creationId xmlns:p14="http://schemas.microsoft.com/office/powerpoint/2010/main" val="19546513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39</a:t>
            </a:fld>
            <a:endParaRPr lang="zh-CN" altLang="en-US"/>
          </a:p>
        </p:txBody>
      </p:sp>
    </p:spTree>
    <p:extLst>
      <p:ext uri="{BB962C8B-B14F-4D97-AF65-F5344CB8AC3E}">
        <p14:creationId xmlns:p14="http://schemas.microsoft.com/office/powerpoint/2010/main" val="12304904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40</a:t>
            </a:fld>
            <a:endParaRPr lang="zh-CN" altLang="en-US"/>
          </a:p>
        </p:txBody>
      </p:sp>
    </p:spTree>
    <p:extLst>
      <p:ext uri="{BB962C8B-B14F-4D97-AF65-F5344CB8AC3E}">
        <p14:creationId xmlns:p14="http://schemas.microsoft.com/office/powerpoint/2010/main" val="303402130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41</a:t>
            </a:fld>
            <a:endParaRPr lang="zh-CN" altLang="en-US"/>
          </a:p>
        </p:txBody>
      </p:sp>
    </p:spTree>
    <p:extLst>
      <p:ext uri="{BB962C8B-B14F-4D97-AF65-F5344CB8AC3E}">
        <p14:creationId xmlns:p14="http://schemas.microsoft.com/office/powerpoint/2010/main" val="15880835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7990D1AB-2DF8-4949-8D12-111FA1213BD2}" type="slidenum">
              <a:rPr lang="zh-CN" altLang="en-US" smtClean="0"/>
              <a:t>42</a:t>
            </a:fld>
            <a:endParaRPr lang="zh-CN" altLang="en-US"/>
          </a:p>
        </p:txBody>
      </p:sp>
    </p:spTree>
    <p:extLst>
      <p:ext uri="{BB962C8B-B14F-4D97-AF65-F5344CB8AC3E}">
        <p14:creationId xmlns:p14="http://schemas.microsoft.com/office/powerpoint/2010/main" val="368369245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随机生成元组，并用</a:t>
            </a:r>
            <a:r>
              <a:rPr lang="en-US" altLang="zh-CN" dirty="0" err="1"/>
              <a:t>sql</a:t>
            </a:r>
            <a:r>
              <a:rPr lang="zh-CN" altLang="en-US" dirty="0"/>
              <a:t>插入到数据库中</a:t>
            </a:r>
          </a:p>
        </p:txBody>
      </p:sp>
      <p:sp>
        <p:nvSpPr>
          <p:cNvPr id="4" name="灯片编号占位符 3"/>
          <p:cNvSpPr>
            <a:spLocks noGrp="1"/>
          </p:cNvSpPr>
          <p:nvPr>
            <p:ph type="sldNum" sz="quarter" idx="5"/>
          </p:nvPr>
        </p:nvSpPr>
        <p:spPr/>
        <p:txBody>
          <a:bodyPr/>
          <a:lstStyle/>
          <a:p>
            <a:fld id="{7990D1AB-2DF8-4949-8D12-111FA1213BD2}" type="slidenum">
              <a:rPr lang="zh-CN" altLang="en-US" smtClean="0"/>
              <a:t>43</a:t>
            </a:fld>
            <a:endParaRPr lang="zh-CN" altLang="en-US"/>
          </a:p>
        </p:txBody>
      </p:sp>
    </p:spTree>
    <p:extLst>
      <p:ext uri="{BB962C8B-B14F-4D97-AF65-F5344CB8AC3E}">
        <p14:creationId xmlns:p14="http://schemas.microsoft.com/office/powerpoint/2010/main" val="29542625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990D1AB-2DF8-4949-8D12-111FA1213BD2}" type="slidenum">
              <a:rPr lang="zh-CN" altLang="en-US" smtClean="0"/>
              <a:t>44</a:t>
            </a:fld>
            <a:endParaRPr lang="zh-CN" altLang="en-US"/>
          </a:p>
        </p:txBody>
      </p:sp>
    </p:spTree>
    <p:extLst>
      <p:ext uri="{BB962C8B-B14F-4D97-AF65-F5344CB8AC3E}">
        <p14:creationId xmlns:p14="http://schemas.microsoft.com/office/powerpoint/2010/main" val="20428691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122363"/>
            <a:ext cx="103632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D17A10E1-28C3-455F-9FD1-F0B55423A67C}" type="datetime1">
              <a:rPr lang="en-US" altLang="zh-CN" smtClean="0"/>
              <a:t>10/9/2025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109509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A72D542C-FEC7-4D6C-837D-0E69C18E291B}" type="datetime1">
              <a:rPr lang="en-US" altLang="zh-CN" smtClean="0"/>
              <a:t>10/9/2025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31653452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Date Placeholder 3"/>
          <p:cNvSpPr>
            <a:spLocks noGrp="1"/>
          </p:cNvSpPr>
          <p:nvPr>
            <p:ph type="dt" sz="half" idx="10"/>
          </p:nvPr>
        </p:nvSpPr>
        <p:spPr/>
        <p:txBody>
          <a:bodyPr/>
          <a:lstStyle/>
          <a:p>
            <a:fld id="{6C3A9FBF-00A6-497B-A64A-9A9792F46983}" type="datetime1">
              <a:rPr lang="en-US" altLang="zh-CN" smtClean="0"/>
              <a:t>10/9/2025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62531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Date Placeholder 4"/>
          <p:cNvSpPr>
            <a:spLocks noGrp="1"/>
          </p:cNvSpPr>
          <p:nvPr>
            <p:ph type="dt" sz="half" idx="10"/>
          </p:nvPr>
        </p:nvSpPr>
        <p:spPr/>
        <p:txBody>
          <a:bodyPr/>
          <a:lstStyle/>
          <a:p>
            <a:fld id="{45EC6F49-1B4E-4891-A82E-D7B529793EF7}" type="datetime1">
              <a:rPr lang="en-US" altLang="zh-CN" smtClean="0"/>
              <a:t>10/9/2025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360131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Content Placeholder 3"/>
          <p:cNvSpPr>
            <a:spLocks noGrp="1"/>
          </p:cNvSpPr>
          <p:nvPr>
            <p:ph sz="half" idx="2"/>
          </p:nvPr>
        </p:nvSpPr>
        <p:spPr>
          <a:xfrm>
            <a:off x="839789"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Content Placeholder 5"/>
          <p:cNvSpPr>
            <a:spLocks noGrp="1"/>
          </p:cNvSpPr>
          <p:nvPr>
            <p:ph sz="quarter" idx="4"/>
          </p:nvPr>
        </p:nvSpPr>
        <p:spPr>
          <a:xfrm>
            <a:off x="6172201"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7" name="Date Placeholder 6"/>
          <p:cNvSpPr>
            <a:spLocks noGrp="1"/>
          </p:cNvSpPr>
          <p:nvPr>
            <p:ph type="dt" sz="half" idx="10"/>
          </p:nvPr>
        </p:nvSpPr>
        <p:spPr/>
        <p:txBody>
          <a:bodyPr/>
          <a:lstStyle/>
          <a:p>
            <a:fld id="{28D8CE51-E29B-4F19-80D0-BB742E860588}" type="datetime1">
              <a:rPr lang="en-US" altLang="zh-CN" smtClean="0"/>
              <a:t>10/9/2025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361631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D9E7FC2F-8F0A-4319-B1D1-15499CA0F6FA}" type="datetime1">
              <a:rPr lang="en-US" altLang="zh-CN" smtClean="0"/>
              <a:t>10/9/2025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269366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8BAB4E1-8FF2-4401-B349-18D525587C27}" type="datetime1">
              <a:rPr lang="en-US" altLang="zh-CN" smtClean="0"/>
              <a:t>10/9/2025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8997685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DA240272-ECCE-44F7-91EA-501758042665}" type="datetime1">
              <a:rPr lang="en-US" altLang="zh-CN" smtClean="0"/>
              <a:t>10/9/2025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1273195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Date Placeholder 4"/>
          <p:cNvSpPr>
            <a:spLocks noGrp="1"/>
          </p:cNvSpPr>
          <p:nvPr>
            <p:ph type="dt" sz="half" idx="10"/>
          </p:nvPr>
        </p:nvSpPr>
        <p:spPr/>
        <p:txBody>
          <a:bodyPr/>
          <a:lstStyle/>
          <a:p>
            <a:fld id="{46214F18-922E-4538-82BA-BCEA03EF97CA}" type="datetime1">
              <a:rPr lang="en-US" altLang="zh-CN" smtClean="0"/>
              <a:t>10/9/2025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2144721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8F73E8DB-618C-463E-B09F-3F6FDF6C2736}" type="datetime1">
              <a:rPr lang="en-US" altLang="zh-CN" smtClean="0"/>
              <a:t>10/9/2025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8638737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10"/>
          </p:nvPr>
        </p:nvSpPr>
        <p:spPr/>
        <p:txBody>
          <a:bodyPr/>
          <a:lstStyle/>
          <a:p>
            <a:fld id="{21E026B2-CDFD-44B0-8E44-FD7D4F4580D4}" type="datetime1">
              <a:rPr lang="en-US" altLang="zh-CN" smtClean="0"/>
              <a:t>10/9/2025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128F302-E557-4BC3-87C7-BCBD3AD1B54C}" type="slidenum">
              <a:rPr lang="en-US" smtClean="0"/>
              <a:t>‹#›</a:t>
            </a:fld>
            <a:endParaRPr lang="en-US"/>
          </a:p>
        </p:txBody>
      </p:sp>
    </p:spTree>
    <p:extLst>
      <p:ext uri="{BB962C8B-B14F-4D97-AF65-F5344CB8AC3E}">
        <p14:creationId xmlns:p14="http://schemas.microsoft.com/office/powerpoint/2010/main" val="34792644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3A0A23-103E-4560-9482-F8E1161F7818}" type="datetime1">
              <a:rPr lang="en-US" altLang="zh-CN" smtClean="0"/>
              <a:t>10/9/2025</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28F302-E557-4BC3-87C7-BCBD3AD1B54C}" type="slidenum">
              <a:rPr lang="en-US" smtClean="0"/>
              <a:t>‹#›</a:t>
            </a:fld>
            <a:endParaRPr lang="en-US"/>
          </a:p>
        </p:txBody>
      </p:sp>
    </p:spTree>
    <p:extLst>
      <p:ext uri="{BB962C8B-B14F-4D97-AF65-F5344CB8AC3E}">
        <p14:creationId xmlns:p14="http://schemas.microsoft.com/office/powerpoint/2010/main" val="20889676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hyperlink" Target="https://nic.seu.edu.cn/fwzn/rjzbh/wrzbh1.htm"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nic.seu.edu.cn/fwzn/rjzbh/wrzbh1/jhjjfa.htm" TargetMode="Externa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mysql.com/"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hyperlink" Target="https://sqlite.org/index.html"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hyperlink" Target="https://redis.io/"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neo4j.com/"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hyperlink" Target="https://orientdb.com/"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hyperlink" Target="https://www.phpmyadmin.net/"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www.oracle.com/database/technologies/appdev/sqldeveloper-landing.html"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29.gif"/><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xml"/><Relationship Id="rId5" Type="http://schemas.openxmlformats.org/officeDocument/2006/relationships/hyperlink" Target="https://www.quackit.com/microsoft_access/microsoft_access_2016/tutorial/" TargetMode="External"/><Relationship Id="rId4" Type="http://schemas.openxmlformats.org/officeDocument/2006/relationships/image" Target="../media/image36.png"/></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a:extLst>
              <a:ext uri="{FF2B5EF4-FFF2-40B4-BE49-F238E27FC236}">
                <a16:creationId xmlns:a16="http://schemas.microsoft.com/office/drawing/2014/main" id="{560522EF-52D9-4B65-D19C-9E9C092ED757}"/>
              </a:ext>
            </a:extLst>
          </p:cNvPr>
          <p:cNvSpPr/>
          <p:nvPr/>
        </p:nvSpPr>
        <p:spPr>
          <a:xfrm>
            <a:off x="1348740" y="2111998"/>
            <a:ext cx="949452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Projects of </a:t>
            </a:r>
            <a:r>
              <a:rPr lang="en-US" altLang="zh-CN" sz="6000" b="1" dirty="0" err="1">
                <a:solidFill>
                  <a:srgbClr val="33339B"/>
                </a:solidFill>
                <a:latin typeface="Times New Roman" panose="02020603050405020304" pitchFamily="18" charset="0"/>
                <a:cs typeface="Times New Roman" panose="02020603050405020304" pitchFamily="18" charset="0"/>
              </a:rPr>
              <a:t>DataBase</a:t>
            </a:r>
            <a:r>
              <a:rPr lang="en-US" altLang="zh-CN" sz="6000" b="1" dirty="0">
                <a:solidFill>
                  <a:srgbClr val="33339B"/>
                </a:solidFill>
                <a:latin typeface="Times New Roman" panose="02020603050405020304" pitchFamily="18" charset="0"/>
                <a:cs typeface="Times New Roman" panose="02020603050405020304" pitchFamily="18" charset="0"/>
              </a:rPr>
              <a:t> System </a:t>
            </a:r>
          </a:p>
        </p:txBody>
      </p:sp>
      <p:sp>
        <p:nvSpPr>
          <p:cNvPr id="11" name="文本框 10">
            <a:extLst>
              <a:ext uri="{FF2B5EF4-FFF2-40B4-BE49-F238E27FC236}">
                <a16:creationId xmlns:a16="http://schemas.microsoft.com/office/drawing/2014/main" id="{CED3387C-A638-D7B2-ACA0-E51011169E4F}"/>
              </a:ext>
            </a:extLst>
          </p:cNvPr>
          <p:cNvSpPr txBox="1"/>
          <p:nvPr/>
        </p:nvSpPr>
        <p:spPr>
          <a:xfrm>
            <a:off x="4130732" y="4571381"/>
            <a:ext cx="3629198"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TA: Jiawei Liu</a:t>
            </a:r>
          </a:p>
        </p:txBody>
      </p:sp>
      <p:sp>
        <p:nvSpPr>
          <p:cNvPr id="4" name="文本框 3">
            <a:extLst>
              <a:ext uri="{FF2B5EF4-FFF2-40B4-BE49-F238E27FC236}">
                <a16:creationId xmlns:a16="http://schemas.microsoft.com/office/drawing/2014/main" id="{A79FF2DE-6EBE-45CB-80EF-F02B7BA3C95D}"/>
              </a:ext>
            </a:extLst>
          </p:cNvPr>
          <p:cNvSpPr txBox="1"/>
          <p:nvPr/>
        </p:nvSpPr>
        <p:spPr>
          <a:xfrm>
            <a:off x="3394361" y="3495578"/>
            <a:ext cx="5354784"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Lecturer: Shuai Wang</a:t>
            </a:r>
          </a:p>
        </p:txBody>
      </p:sp>
    </p:spTree>
    <p:extLst>
      <p:ext uri="{BB962C8B-B14F-4D97-AF65-F5344CB8AC3E}">
        <p14:creationId xmlns:p14="http://schemas.microsoft.com/office/powerpoint/2010/main" val="8939963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10190101" y="6023951"/>
            <a:ext cx="2743200" cy="365125"/>
          </a:xfrm>
        </p:spPr>
        <p:txBody>
          <a:bodyPr/>
          <a:lstStyle/>
          <a:p>
            <a:pPr algn="l"/>
            <a:fld id="{9128F302-E557-4BC3-87C7-BCBD3AD1B54C}" type="slidenum">
              <a:rPr lang="en-US" sz="1100" smtClean="0"/>
              <a:pPr algn="l"/>
              <a:t>2</a:t>
            </a:fld>
            <a:endParaRPr lang="en-US" sz="1100" dirty="0"/>
          </a:p>
        </p:txBody>
      </p:sp>
      <p:sp>
        <p:nvSpPr>
          <p:cNvPr id="8" name="Rectangle 9">
            <a:extLst>
              <a:ext uri="{FF2B5EF4-FFF2-40B4-BE49-F238E27FC236}">
                <a16:creationId xmlns:a16="http://schemas.microsoft.com/office/drawing/2014/main" id="{332D3187-23A8-494A-8DD2-D433C95A4AB2}"/>
              </a:ext>
            </a:extLst>
          </p:cNvPr>
          <p:cNvSpPr/>
          <p:nvPr/>
        </p:nvSpPr>
        <p:spPr>
          <a:xfrm>
            <a:off x="1244018" y="1366496"/>
            <a:ext cx="7304318" cy="923330"/>
          </a:xfrm>
          <a:prstGeom prst="rect">
            <a:avLst/>
          </a:prstGeom>
        </p:spPr>
        <p:txBody>
          <a:bodyPr wrap="square">
            <a:spAutoFit/>
          </a:bodyPr>
          <a:lstStyle/>
          <a:p>
            <a:r>
              <a:rPr lang="en-US" sz="5400" b="1" dirty="0">
                <a:solidFill>
                  <a:srgbClr val="C00000"/>
                </a:solidFill>
                <a:latin typeface="Times New Roman" panose="02020603050405020304" pitchFamily="18" charset="0"/>
                <a:cs typeface="Times New Roman" panose="02020603050405020304" pitchFamily="18" charset="0"/>
              </a:rPr>
              <a:t>0 - Project Preparation</a:t>
            </a:r>
          </a:p>
        </p:txBody>
      </p:sp>
      <p:sp>
        <p:nvSpPr>
          <p:cNvPr id="3" name="Rectangle 9">
            <a:extLst>
              <a:ext uri="{FF2B5EF4-FFF2-40B4-BE49-F238E27FC236}">
                <a16:creationId xmlns:a16="http://schemas.microsoft.com/office/drawing/2014/main" id="{4DCBCD57-C351-66DA-DA10-C421D3459BF9}"/>
              </a:ext>
            </a:extLst>
          </p:cNvPr>
          <p:cNvSpPr/>
          <p:nvPr/>
        </p:nvSpPr>
        <p:spPr>
          <a:xfrm>
            <a:off x="1244018" y="2039417"/>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1 - Project One</a:t>
            </a:r>
          </a:p>
        </p:txBody>
      </p:sp>
      <p:sp>
        <p:nvSpPr>
          <p:cNvPr id="4" name="Rectangle 9">
            <a:extLst>
              <a:ext uri="{FF2B5EF4-FFF2-40B4-BE49-F238E27FC236}">
                <a16:creationId xmlns:a16="http://schemas.microsoft.com/office/drawing/2014/main" id="{9B8A3E54-642F-BEA5-6B39-06A8ED50055E}"/>
              </a:ext>
            </a:extLst>
          </p:cNvPr>
          <p:cNvSpPr/>
          <p:nvPr/>
        </p:nvSpPr>
        <p:spPr>
          <a:xfrm>
            <a:off x="1244018" y="2712338"/>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2 - Project </a:t>
            </a:r>
            <a:r>
              <a:rPr lang="en-US" altLang="zh-CN" sz="5400" b="1" dirty="0">
                <a:solidFill>
                  <a:schemeClr val="accent3"/>
                </a:solidFill>
                <a:latin typeface="Times New Roman" panose="02020603050405020304" pitchFamily="18" charset="0"/>
                <a:cs typeface="Times New Roman" panose="02020603050405020304" pitchFamily="18" charset="0"/>
              </a:rPr>
              <a:t>Two</a:t>
            </a:r>
            <a:endParaRPr lang="en-US" sz="5400" b="1" dirty="0">
              <a:solidFill>
                <a:schemeClr val="accent3"/>
              </a:solidFill>
              <a:latin typeface="Times New Roman" panose="02020603050405020304" pitchFamily="18" charset="0"/>
              <a:cs typeface="Times New Roman" panose="02020603050405020304" pitchFamily="18" charset="0"/>
            </a:endParaRPr>
          </a:p>
        </p:txBody>
      </p:sp>
      <p:sp>
        <p:nvSpPr>
          <p:cNvPr id="5" name="Rectangle 9">
            <a:extLst>
              <a:ext uri="{FF2B5EF4-FFF2-40B4-BE49-F238E27FC236}">
                <a16:creationId xmlns:a16="http://schemas.microsoft.com/office/drawing/2014/main" id="{8D729CDE-7146-E4D7-E6CF-097599F91D44}"/>
              </a:ext>
            </a:extLst>
          </p:cNvPr>
          <p:cNvSpPr/>
          <p:nvPr/>
        </p:nvSpPr>
        <p:spPr>
          <a:xfrm>
            <a:off x="1244018" y="3385259"/>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3 - Project </a:t>
            </a:r>
            <a:r>
              <a:rPr lang="en-US" altLang="zh-CN" sz="5400" b="1" dirty="0">
                <a:solidFill>
                  <a:schemeClr val="accent3"/>
                </a:solidFill>
                <a:latin typeface="Times New Roman" panose="02020603050405020304" pitchFamily="18" charset="0"/>
                <a:cs typeface="Times New Roman" panose="02020603050405020304" pitchFamily="18" charset="0"/>
              </a:rPr>
              <a:t>Three</a:t>
            </a:r>
            <a:endParaRPr lang="en-US" sz="5400" b="1" dirty="0">
              <a:solidFill>
                <a:schemeClr val="accent3"/>
              </a:solidFill>
              <a:latin typeface="Times New Roman" panose="02020603050405020304" pitchFamily="18" charset="0"/>
              <a:cs typeface="Times New Roman" panose="02020603050405020304" pitchFamily="18" charset="0"/>
            </a:endParaRPr>
          </a:p>
        </p:txBody>
      </p:sp>
      <p:sp>
        <p:nvSpPr>
          <p:cNvPr id="6" name="Rectangle 9">
            <a:extLst>
              <a:ext uri="{FF2B5EF4-FFF2-40B4-BE49-F238E27FC236}">
                <a16:creationId xmlns:a16="http://schemas.microsoft.com/office/drawing/2014/main" id="{081E4B27-2EF7-F31C-D8E6-C1DFCD8BE3AD}"/>
              </a:ext>
            </a:extLst>
          </p:cNvPr>
          <p:cNvSpPr/>
          <p:nvPr/>
        </p:nvSpPr>
        <p:spPr>
          <a:xfrm>
            <a:off x="1244018" y="4058180"/>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4 - Project </a:t>
            </a:r>
            <a:r>
              <a:rPr lang="en-US" altLang="zh-CN" sz="5400" b="1" dirty="0">
                <a:solidFill>
                  <a:schemeClr val="accent3"/>
                </a:solidFill>
                <a:latin typeface="Times New Roman" panose="02020603050405020304" pitchFamily="18" charset="0"/>
                <a:cs typeface="Times New Roman" panose="02020603050405020304" pitchFamily="18" charset="0"/>
              </a:rPr>
              <a:t>Four</a:t>
            </a:r>
            <a:endParaRPr lang="en-US" sz="5400" b="1" dirty="0">
              <a:solidFill>
                <a:schemeClr val="accent3"/>
              </a:solidFill>
              <a:latin typeface="Times New Roman" panose="02020603050405020304" pitchFamily="18" charset="0"/>
              <a:cs typeface="Times New Roman" panose="02020603050405020304" pitchFamily="18" charset="0"/>
            </a:endParaRPr>
          </a:p>
        </p:txBody>
      </p:sp>
      <p:sp>
        <p:nvSpPr>
          <p:cNvPr id="7" name="Rectangle 9">
            <a:extLst>
              <a:ext uri="{FF2B5EF4-FFF2-40B4-BE49-F238E27FC236}">
                <a16:creationId xmlns:a16="http://schemas.microsoft.com/office/drawing/2014/main" id="{9A67AF44-72F4-2599-D545-B2D2CFFEE17F}"/>
              </a:ext>
            </a:extLst>
          </p:cNvPr>
          <p:cNvSpPr/>
          <p:nvPr/>
        </p:nvSpPr>
        <p:spPr>
          <a:xfrm>
            <a:off x="1244018" y="4731101"/>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5 - Project </a:t>
            </a:r>
            <a:r>
              <a:rPr lang="en-US" altLang="zh-CN" sz="5400" b="1" dirty="0">
                <a:solidFill>
                  <a:schemeClr val="accent3"/>
                </a:solidFill>
                <a:latin typeface="Times New Roman" panose="02020603050405020304" pitchFamily="18" charset="0"/>
                <a:cs typeface="Times New Roman" panose="02020603050405020304" pitchFamily="18" charset="0"/>
              </a:rPr>
              <a:t>Five</a:t>
            </a:r>
            <a:endParaRPr lang="en-US" sz="5400" b="1" dirty="0">
              <a:solidFill>
                <a:schemeClr val="accent3"/>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4E4642DD-7780-D061-CE05-E9DD1A9290A6}"/>
              </a:ext>
            </a:extLst>
          </p:cNvPr>
          <p:cNvSpPr/>
          <p:nvPr/>
        </p:nvSpPr>
        <p:spPr>
          <a:xfrm>
            <a:off x="7254594" y="3587408"/>
            <a:ext cx="4144234" cy="769441"/>
          </a:xfrm>
          <a:prstGeom prst="rect">
            <a:avLst/>
          </a:prstGeom>
          <a:ln w="28575">
            <a:solidFill>
              <a:schemeClr val="tx1"/>
            </a:solidFill>
            <a:extLst>
              <a:ext uri="{C807C97D-BFC1-408E-A445-0C87EB9F89A2}">
                <ask:lineSketchStyleProps xmlns:ask="http://schemas.microsoft.com/office/drawing/2018/sketchyshapes" sd="2034817536">
                  <a:custGeom>
                    <a:avLst/>
                    <a:gdLst>
                      <a:gd name="connsiteX0" fmla="*/ 0 w 2453352"/>
                      <a:gd name="connsiteY0" fmla="*/ 0 h 2585323"/>
                      <a:gd name="connsiteX1" fmla="*/ 466137 w 2453352"/>
                      <a:gd name="connsiteY1" fmla="*/ 0 h 2585323"/>
                      <a:gd name="connsiteX2" fmla="*/ 907740 w 2453352"/>
                      <a:gd name="connsiteY2" fmla="*/ 0 h 2585323"/>
                      <a:gd name="connsiteX3" fmla="*/ 1398411 w 2453352"/>
                      <a:gd name="connsiteY3" fmla="*/ 0 h 2585323"/>
                      <a:gd name="connsiteX4" fmla="*/ 1840014 w 2453352"/>
                      <a:gd name="connsiteY4" fmla="*/ 0 h 2585323"/>
                      <a:gd name="connsiteX5" fmla="*/ 2453352 w 2453352"/>
                      <a:gd name="connsiteY5" fmla="*/ 0 h 2585323"/>
                      <a:gd name="connsiteX6" fmla="*/ 2453352 w 2453352"/>
                      <a:gd name="connsiteY6" fmla="*/ 542918 h 2585323"/>
                      <a:gd name="connsiteX7" fmla="*/ 2453352 w 2453352"/>
                      <a:gd name="connsiteY7" fmla="*/ 1008276 h 2585323"/>
                      <a:gd name="connsiteX8" fmla="*/ 2453352 w 2453352"/>
                      <a:gd name="connsiteY8" fmla="*/ 1447781 h 2585323"/>
                      <a:gd name="connsiteX9" fmla="*/ 2453352 w 2453352"/>
                      <a:gd name="connsiteY9" fmla="*/ 1990699 h 2585323"/>
                      <a:gd name="connsiteX10" fmla="*/ 2453352 w 2453352"/>
                      <a:gd name="connsiteY10" fmla="*/ 2585323 h 2585323"/>
                      <a:gd name="connsiteX11" fmla="*/ 1962682 w 2453352"/>
                      <a:gd name="connsiteY11" fmla="*/ 2585323 h 2585323"/>
                      <a:gd name="connsiteX12" fmla="*/ 1496545 w 2453352"/>
                      <a:gd name="connsiteY12" fmla="*/ 2585323 h 2585323"/>
                      <a:gd name="connsiteX13" fmla="*/ 981341 w 2453352"/>
                      <a:gd name="connsiteY13" fmla="*/ 2585323 h 2585323"/>
                      <a:gd name="connsiteX14" fmla="*/ 466137 w 2453352"/>
                      <a:gd name="connsiteY14" fmla="*/ 2585323 h 2585323"/>
                      <a:gd name="connsiteX15" fmla="*/ 0 w 2453352"/>
                      <a:gd name="connsiteY15" fmla="*/ 2585323 h 2585323"/>
                      <a:gd name="connsiteX16" fmla="*/ 0 w 2453352"/>
                      <a:gd name="connsiteY16" fmla="*/ 2042405 h 2585323"/>
                      <a:gd name="connsiteX17" fmla="*/ 0 w 2453352"/>
                      <a:gd name="connsiteY17" fmla="*/ 1473634 h 2585323"/>
                      <a:gd name="connsiteX18" fmla="*/ 0 w 2453352"/>
                      <a:gd name="connsiteY18" fmla="*/ 904863 h 2585323"/>
                      <a:gd name="connsiteX19" fmla="*/ 0 w 2453352"/>
                      <a:gd name="connsiteY19" fmla="*/ 0 h 2585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453352" h="2585323" fill="none" extrusionOk="0">
                        <a:moveTo>
                          <a:pt x="0" y="0"/>
                        </a:moveTo>
                        <a:cubicBezTo>
                          <a:pt x="139639" y="-31249"/>
                          <a:pt x="290982" y="30464"/>
                          <a:pt x="466137" y="0"/>
                        </a:cubicBezTo>
                        <a:cubicBezTo>
                          <a:pt x="641292" y="-30464"/>
                          <a:pt x="773106" y="49461"/>
                          <a:pt x="907740" y="0"/>
                        </a:cubicBezTo>
                        <a:cubicBezTo>
                          <a:pt x="1042374" y="-49461"/>
                          <a:pt x="1220689" y="33194"/>
                          <a:pt x="1398411" y="0"/>
                        </a:cubicBezTo>
                        <a:cubicBezTo>
                          <a:pt x="1576133" y="-33194"/>
                          <a:pt x="1732528" y="20960"/>
                          <a:pt x="1840014" y="0"/>
                        </a:cubicBezTo>
                        <a:cubicBezTo>
                          <a:pt x="1947500" y="-20960"/>
                          <a:pt x="2294076" y="15748"/>
                          <a:pt x="2453352" y="0"/>
                        </a:cubicBezTo>
                        <a:cubicBezTo>
                          <a:pt x="2508552" y="236416"/>
                          <a:pt x="2430910" y="395123"/>
                          <a:pt x="2453352" y="542918"/>
                        </a:cubicBezTo>
                        <a:cubicBezTo>
                          <a:pt x="2475794" y="690713"/>
                          <a:pt x="2436434" y="777416"/>
                          <a:pt x="2453352" y="1008276"/>
                        </a:cubicBezTo>
                        <a:cubicBezTo>
                          <a:pt x="2470270" y="1239136"/>
                          <a:pt x="2405722" y="1257361"/>
                          <a:pt x="2453352" y="1447781"/>
                        </a:cubicBezTo>
                        <a:cubicBezTo>
                          <a:pt x="2500982" y="1638201"/>
                          <a:pt x="2426537" y="1766203"/>
                          <a:pt x="2453352" y="1990699"/>
                        </a:cubicBezTo>
                        <a:cubicBezTo>
                          <a:pt x="2480167" y="2215195"/>
                          <a:pt x="2451168" y="2330419"/>
                          <a:pt x="2453352" y="2585323"/>
                        </a:cubicBezTo>
                        <a:cubicBezTo>
                          <a:pt x="2278407" y="2586296"/>
                          <a:pt x="2070071" y="2559162"/>
                          <a:pt x="1962682" y="2585323"/>
                        </a:cubicBezTo>
                        <a:cubicBezTo>
                          <a:pt x="1855293" y="2611484"/>
                          <a:pt x="1660761" y="2546874"/>
                          <a:pt x="1496545" y="2585323"/>
                        </a:cubicBezTo>
                        <a:cubicBezTo>
                          <a:pt x="1332329" y="2623772"/>
                          <a:pt x="1168755" y="2553822"/>
                          <a:pt x="981341" y="2585323"/>
                        </a:cubicBezTo>
                        <a:cubicBezTo>
                          <a:pt x="793927" y="2616824"/>
                          <a:pt x="713570" y="2541722"/>
                          <a:pt x="466137" y="2585323"/>
                        </a:cubicBezTo>
                        <a:cubicBezTo>
                          <a:pt x="218704" y="2628924"/>
                          <a:pt x="209682" y="2570865"/>
                          <a:pt x="0" y="2585323"/>
                        </a:cubicBezTo>
                        <a:cubicBezTo>
                          <a:pt x="-53676" y="2435597"/>
                          <a:pt x="54081" y="2234909"/>
                          <a:pt x="0" y="2042405"/>
                        </a:cubicBezTo>
                        <a:cubicBezTo>
                          <a:pt x="-54081" y="1849901"/>
                          <a:pt x="27790" y="1692359"/>
                          <a:pt x="0" y="1473634"/>
                        </a:cubicBezTo>
                        <a:cubicBezTo>
                          <a:pt x="-27790" y="1254909"/>
                          <a:pt x="56125" y="1140871"/>
                          <a:pt x="0" y="904863"/>
                        </a:cubicBezTo>
                        <a:cubicBezTo>
                          <a:pt x="-56125" y="668855"/>
                          <a:pt x="33412" y="297989"/>
                          <a:pt x="0" y="0"/>
                        </a:cubicBezTo>
                        <a:close/>
                      </a:path>
                      <a:path w="2453352" h="2585323" stroke="0" extrusionOk="0">
                        <a:moveTo>
                          <a:pt x="0" y="0"/>
                        </a:moveTo>
                        <a:cubicBezTo>
                          <a:pt x="158905" y="-7797"/>
                          <a:pt x="356300" y="27214"/>
                          <a:pt x="539737" y="0"/>
                        </a:cubicBezTo>
                        <a:cubicBezTo>
                          <a:pt x="723174" y="-27214"/>
                          <a:pt x="805918" y="15237"/>
                          <a:pt x="981341" y="0"/>
                        </a:cubicBezTo>
                        <a:cubicBezTo>
                          <a:pt x="1156764" y="-15237"/>
                          <a:pt x="1253148" y="34818"/>
                          <a:pt x="1447478" y="0"/>
                        </a:cubicBezTo>
                        <a:cubicBezTo>
                          <a:pt x="1641808" y="-34818"/>
                          <a:pt x="1706948" y="32959"/>
                          <a:pt x="1913615" y="0"/>
                        </a:cubicBezTo>
                        <a:cubicBezTo>
                          <a:pt x="2120282" y="-32959"/>
                          <a:pt x="2233794" y="50393"/>
                          <a:pt x="2453352" y="0"/>
                        </a:cubicBezTo>
                        <a:cubicBezTo>
                          <a:pt x="2513079" y="182777"/>
                          <a:pt x="2416696" y="283632"/>
                          <a:pt x="2453352" y="542918"/>
                        </a:cubicBezTo>
                        <a:cubicBezTo>
                          <a:pt x="2490008" y="802204"/>
                          <a:pt x="2428057" y="951289"/>
                          <a:pt x="2453352" y="1085836"/>
                        </a:cubicBezTo>
                        <a:cubicBezTo>
                          <a:pt x="2478647" y="1220383"/>
                          <a:pt x="2433184" y="1348364"/>
                          <a:pt x="2453352" y="1602900"/>
                        </a:cubicBezTo>
                        <a:cubicBezTo>
                          <a:pt x="2473520" y="1857436"/>
                          <a:pt x="2446477" y="1870443"/>
                          <a:pt x="2453352" y="2119965"/>
                        </a:cubicBezTo>
                        <a:cubicBezTo>
                          <a:pt x="2460227" y="2369487"/>
                          <a:pt x="2424062" y="2464413"/>
                          <a:pt x="2453352" y="2585323"/>
                        </a:cubicBezTo>
                        <a:cubicBezTo>
                          <a:pt x="2318602" y="2625244"/>
                          <a:pt x="2173695" y="2541996"/>
                          <a:pt x="2036282" y="2585323"/>
                        </a:cubicBezTo>
                        <a:cubicBezTo>
                          <a:pt x="1898869" y="2628650"/>
                          <a:pt x="1707531" y="2583885"/>
                          <a:pt x="1545612" y="2585323"/>
                        </a:cubicBezTo>
                        <a:cubicBezTo>
                          <a:pt x="1383693" y="2586761"/>
                          <a:pt x="1206105" y="2562644"/>
                          <a:pt x="1104008" y="2585323"/>
                        </a:cubicBezTo>
                        <a:cubicBezTo>
                          <a:pt x="1001911" y="2608002"/>
                          <a:pt x="770067" y="2554475"/>
                          <a:pt x="662405" y="2585323"/>
                        </a:cubicBezTo>
                        <a:cubicBezTo>
                          <a:pt x="554743" y="2616171"/>
                          <a:pt x="311577" y="2539972"/>
                          <a:pt x="0" y="2585323"/>
                        </a:cubicBezTo>
                        <a:cubicBezTo>
                          <a:pt x="-31317" y="2433985"/>
                          <a:pt x="40622" y="2197058"/>
                          <a:pt x="0" y="2094112"/>
                        </a:cubicBezTo>
                        <a:cubicBezTo>
                          <a:pt x="-40622" y="1991166"/>
                          <a:pt x="50797" y="1701001"/>
                          <a:pt x="0" y="1551194"/>
                        </a:cubicBezTo>
                        <a:cubicBezTo>
                          <a:pt x="-50797" y="1401387"/>
                          <a:pt x="13000" y="1276404"/>
                          <a:pt x="0" y="1059982"/>
                        </a:cubicBezTo>
                        <a:cubicBezTo>
                          <a:pt x="-13000" y="843560"/>
                          <a:pt x="12415" y="744083"/>
                          <a:pt x="0" y="568771"/>
                        </a:cubicBezTo>
                        <a:cubicBezTo>
                          <a:pt x="-12415" y="393459"/>
                          <a:pt x="5644" y="261369"/>
                          <a:pt x="0" y="0"/>
                        </a:cubicBezTo>
                        <a:close/>
                      </a:path>
                    </a:pathLst>
                  </a:custGeom>
                  <ask:type>
                    <ask:lineSketchNone/>
                  </ask:type>
                </ask:lineSketchStyleProps>
              </a:ext>
            </a:extLst>
          </a:ln>
          <a:effectLst>
            <a:outerShdw blurRad="50800" dist="38100" dir="2700000" algn="tl" rotWithShape="0">
              <a:prstClr val="black">
                <a:alpha val="40000"/>
              </a:prstClr>
            </a:outerShdw>
          </a:effectLst>
        </p:spPr>
        <p:txBody>
          <a:bodyPr wrap="square">
            <a:spAutoFit/>
          </a:bodyPr>
          <a:lstStyle/>
          <a:p>
            <a:pPr algn="ctr"/>
            <a:r>
              <a:rPr lang="en-US" altLang="zh-CN" sz="4400" b="1" dirty="0">
                <a:latin typeface="Times New Roman" panose="02020603050405020304" pitchFamily="18" charset="0"/>
                <a:cs typeface="Times New Roman" panose="02020603050405020304" pitchFamily="18" charset="0"/>
              </a:rPr>
              <a:t>Every 2 Week</a:t>
            </a:r>
            <a:endParaRPr lang="en-US" sz="4400" b="1" dirty="0">
              <a:latin typeface="Times New Roman" panose="02020603050405020304" pitchFamily="18" charset="0"/>
              <a:cs typeface="Times New Roman" panose="02020603050405020304" pitchFamily="18" charset="0"/>
            </a:endParaRPr>
          </a:p>
        </p:txBody>
      </p:sp>
      <p:sp>
        <p:nvSpPr>
          <p:cNvPr id="13" name="Rectangle 9">
            <a:extLst>
              <a:ext uri="{FF2B5EF4-FFF2-40B4-BE49-F238E27FC236}">
                <a16:creationId xmlns:a16="http://schemas.microsoft.com/office/drawing/2014/main" id="{560522EF-52D9-4B65-D19C-9E9C092ED757}"/>
              </a:ext>
            </a:extLst>
          </p:cNvPr>
          <p:cNvSpPr/>
          <p:nvPr/>
        </p:nvSpPr>
        <p:spPr>
          <a:xfrm>
            <a:off x="486173" y="205503"/>
            <a:ext cx="6032939"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Projects Outline</a:t>
            </a:r>
          </a:p>
        </p:txBody>
      </p:sp>
      <p:sp>
        <p:nvSpPr>
          <p:cNvPr id="9" name="Rectangle 9">
            <a:extLst>
              <a:ext uri="{FF2B5EF4-FFF2-40B4-BE49-F238E27FC236}">
                <a16:creationId xmlns:a16="http://schemas.microsoft.com/office/drawing/2014/main" id="{5790C9D0-82E9-6BD3-D571-A37AA9BACDD5}"/>
              </a:ext>
            </a:extLst>
          </p:cNvPr>
          <p:cNvSpPr/>
          <p:nvPr/>
        </p:nvSpPr>
        <p:spPr>
          <a:xfrm>
            <a:off x="1244018" y="5491504"/>
            <a:ext cx="7304318" cy="923330"/>
          </a:xfrm>
          <a:prstGeom prst="rect">
            <a:avLst/>
          </a:prstGeom>
        </p:spPr>
        <p:txBody>
          <a:bodyPr wrap="square">
            <a:spAutoFit/>
          </a:bodyPr>
          <a:lstStyle/>
          <a:p>
            <a:r>
              <a:rPr lang="en-US" sz="5400" b="1" dirty="0">
                <a:solidFill>
                  <a:schemeClr val="accent3"/>
                </a:solidFill>
                <a:latin typeface="Times New Roman" panose="02020603050405020304" pitchFamily="18" charset="0"/>
                <a:cs typeface="Times New Roman" panose="02020603050405020304" pitchFamily="18" charset="0"/>
              </a:rPr>
              <a:t>6 - Project </a:t>
            </a:r>
            <a:r>
              <a:rPr lang="en-US" altLang="zh-CN" sz="5400" b="1" dirty="0">
                <a:solidFill>
                  <a:schemeClr val="accent3"/>
                </a:solidFill>
                <a:latin typeface="Times New Roman" panose="02020603050405020304" pitchFamily="18" charset="0"/>
                <a:cs typeface="Times New Roman" panose="02020603050405020304" pitchFamily="18" charset="0"/>
              </a:rPr>
              <a:t>Six</a:t>
            </a:r>
            <a:endParaRPr lang="en-US" sz="5400" b="1" dirty="0">
              <a:solidFill>
                <a:schemeClr val="accent3"/>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765637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3</a:t>
            </a:fld>
            <a:endParaRPr lang="en-US" dirty="0"/>
          </a:p>
        </p:txBody>
      </p:sp>
      <p:sp>
        <p:nvSpPr>
          <p:cNvPr id="10" name="Rectangle 9">
            <a:extLst>
              <a:ext uri="{FF2B5EF4-FFF2-40B4-BE49-F238E27FC236}">
                <a16:creationId xmlns:a16="http://schemas.microsoft.com/office/drawing/2014/main" id="{4357240D-CD8E-9B76-09DC-277985C5C2D8}"/>
              </a:ext>
            </a:extLst>
          </p:cNvPr>
          <p:cNvSpPr/>
          <p:nvPr/>
        </p:nvSpPr>
        <p:spPr>
          <a:xfrm>
            <a:off x="838200" y="1432201"/>
            <a:ext cx="9561050" cy="4708981"/>
          </a:xfrm>
          <a:prstGeom prst="rect">
            <a:avLst/>
          </a:prstGeom>
        </p:spPr>
        <p:txBody>
          <a:bodyPr wrap="square">
            <a:spAutoFit/>
          </a:bodyPr>
          <a:lstStyle/>
          <a:p>
            <a:pPr marL="1028700" indent="-1028700">
              <a:buFont typeface="+mj-lt"/>
              <a:buAutoNum type="romanUcPeriod"/>
            </a:pPr>
            <a:r>
              <a:rPr lang="en-US" altLang="zh-CN" sz="6000" b="1" u="sng" dirty="0">
                <a:solidFill>
                  <a:schemeClr val="bg2">
                    <a:lumMod val="10000"/>
                  </a:schemeClr>
                </a:solidFill>
                <a:effectLst>
                  <a:outerShdw blurRad="38100" dist="38100" dir="2700000" algn="tl">
                    <a:srgbClr val="000000">
                      <a:alpha val="43137"/>
                    </a:srgbClr>
                  </a:outerShdw>
                </a:effectLst>
                <a:latin typeface="+mj-lt"/>
                <a:cs typeface="Times New Roman" panose="02020603050405020304" pitchFamily="18" charset="0"/>
              </a:rPr>
              <a:t>Project Rules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Software Preparation</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Some Common DBMS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Frontend Technology</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One Preview</a:t>
            </a:r>
            <a:endParaRPr lang="en-US" altLang="zh-CN" sz="6000" b="1" dirty="0">
              <a:solidFill>
                <a:schemeClr val="bg2">
                  <a:lumMod val="10000"/>
                </a:schemeClr>
              </a:solidFill>
              <a:latin typeface="+mj-lt"/>
              <a:cs typeface="Times New Roman" panose="02020603050405020304" pitchFamily="18" charset="0"/>
            </a:endParaRPr>
          </a:p>
        </p:txBody>
      </p:sp>
      <p:sp>
        <p:nvSpPr>
          <p:cNvPr id="3" name="Rectangle 9">
            <a:extLst>
              <a:ext uri="{FF2B5EF4-FFF2-40B4-BE49-F238E27FC236}">
                <a16:creationId xmlns:a16="http://schemas.microsoft.com/office/drawing/2014/main" id="{D2F0A02F-50C8-DFB8-46B3-67D040FCF552}"/>
              </a:ext>
            </a:extLst>
          </p:cNvPr>
          <p:cNvSpPr/>
          <p:nvPr/>
        </p:nvSpPr>
        <p:spPr>
          <a:xfrm>
            <a:off x="2035172" y="161151"/>
            <a:ext cx="8958411" cy="1107996"/>
          </a:xfrm>
          <a:prstGeom prst="rect">
            <a:avLst/>
          </a:prstGeom>
        </p:spPr>
        <p:txBody>
          <a:bodyPr wrap="square">
            <a:spAutoFit/>
          </a:bodyPr>
          <a:lstStyle/>
          <a:p>
            <a:r>
              <a:rPr lang="en-US" sz="6600" b="1" dirty="0">
                <a:solidFill>
                  <a:srgbClr val="C00000"/>
                </a:solidFill>
                <a:latin typeface="Times New Roman" panose="02020603050405020304" pitchFamily="18" charset="0"/>
                <a:cs typeface="Times New Roman" panose="02020603050405020304" pitchFamily="18" charset="0"/>
              </a:rPr>
              <a:t>0 - Project Preparation</a:t>
            </a:r>
          </a:p>
        </p:txBody>
      </p:sp>
    </p:spTree>
    <p:extLst>
      <p:ext uri="{BB962C8B-B14F-4D97-AF65-F5344CB8AC3E}">
        <p14:creationId xmlns:p14="http://schemas.microsoft.com/office/powerpoint/2010/main" val="184733586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C673E2C6-A29F-4D36-8FD6-82D6BE20276F}"/>
              </a:ext>
            </a:extLst>
          </p:cNvPr>
          <p:cNvSpPr/>
          <p:nvPr/>
        </p:nvSpPr>
        <p:spPr>
          <a:xfrm>
            <a:off x="264122" y="1736167"/>
            <a:ext cx="10004264" cy="646331"/>
          </a:xfrm>
          <a:prstGeom prst="rect">
            <a:avLst/>
          </a:prstGeom>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3600" b="1" dirty="0">
                <a:latin typeface="Times New Roman" panose="02020603050405020304" pitchFamily="18" charset="0"/>
                <a:ea typeface="DengXian" panose="02010600030101010101" pitchFamily="2" charset="-122"/>
              </a:rPr>
              <a:t>【Grading Criteria】</a:t>
            </a:r>
            <a:endParaRPr lang="en-US" sz="3600" b="1" dirty="0">
              <a:latin typeface="Times New Roman" panose="02020603050405020304" pitchFamily="18" charset="0"/>
              <a:ea typeface="DengXian" panose="02010600030101010101" pitchFamily="2" charset="-122"/>
            </a:endParaRPr>
          </a:p>
        </p:txBody>
      </p:sp>
      <p:sp>
        <p:nvSpPr>
          <p:cNvPr id="3" name="Rectangle 9">
            <a:extLst>
              <a:ext uri="{FF2B5EF4-FFF2-40B4-BE49-F238E27FC236}">
                <a16:creationId xmlns:a16="http://schemas.microsoft.com/office/drawing/2014/main" id="{5C81069E-F1E6-CFE1-C772-6D0525FC5A20}"/>
              </a:ext>
            </a:extLst>
          </p:cNvPr>
          <p:cNvSpPr/>
          <p:nvPr/>
        </p:nvSpPr>
        <p:spPr>
          <a:xfrm>
            <a:off x="486173" y="205503"/>
            <a:ext cx="6032939"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 Rules</a:t>
            </a:r>
          </a:p>
        </p:txBody>
      </p:sp>
      <p:sp>
        <p:nvSpPr>
          <p:cNvPr id="6" name="文本框 5">
            <a:extLst>
              <a:ext uri="{FF2B5EF4-FFF2-40B4-BE49-F238E27FC236}">
                <a16:creationId xmlns:a16="http://schemas.microsoft.com/office/drawing/2014/main" id="{368868A8-4596-6AA7-D5F9-2926BFBA91F6}"/>
              </a:ext>
            </a:extLst>
          </p:cNvPr>
          <p:cNvSpPr txBox="1"/>
          <p:nvPr/>
        </p:nvSpPr>
        <p:spPr>
          <a:xfrm>
            <a:off x="486173" y="3244397"/>
            <a:ext cx="11796542" cy="1231106"/>
          </a:xfrm>
          <a:prstGeom prst="rect">
            <a:avLst/>
          </a:prstGeom>
          <a:noFill/>
        </p:spPr>
        <p:txBody>
          <a:bodyPr wrap="square">
            <a:spAutoFit/>
          </a:bodyPr>
          <a:lstStyle/>
          <a:p>
            <a:pPr marL="457200" indent="-457200">
              <a:spcBef>
                <a:spcPts val="600"/>
              </a:spcBef>
              <a:spcAft>
                <a:spcPts val="600"/>
              </a:spcAft>
              <a:buFont typeface="Wingdings" panose="05000000000000000000" pitchFamily="2" charset="2"/>
              <a:buChar char="ü"/>
            </a:pPr>
            <a:r>
              <a:rPr lang="en-US" altLang="zh-CN" sz="3200" b="1" dirty="0">
                <a:latin typeface="微软雅黑" panose="020B0503020204020204" pitchFamily="34" charset="-122"/>
                <a:ea typeface="微软雅黑" panose="020B0503020204020204" pitchFamily="34" charset="-122"/>
              </a:rPr>
              <a:t>Mid </a:t>
            </a:r>
            <a:r>
              <a:rPr lang="en-US" altLang="zh-CN" sz="3200" b="1" dirty="0">
                <a:effectLst/>
                <a:latin typeface="微软雅黑" panose="020B0503020204020204" pitchFamily="34" charset="-122"/>
                <a:ea typeface="微软雅黑" panose="020B0503020204020204" pitchFamily="34" charset="-122"/>
              </a:rPr>
              <a:t>Exam + Lab Work + Others :</a:t>
            </a:r>
            <a:r>
              <a:rPr lang="en-US" altLang="zh-CN" sz="3200" dirty="0">
                <a:effectLst/>
                <a:latin typeface="微软雅黑" panose="020B0503020204020204" pitchFamily="34" charset="-122"/>
                <a:ea typeface="微软雅黑" panose="020B0503020204020204" pitchFamily="34" charset="-122"/>
              </a:rPr>
              <a:t> 30% </a:t>
            </a:r>
          </a:p>
          <a:p>
            <a:pPr marL="457200" indent="-457200">
              <a:spcBef>
                <a:spcPts val="600"/>
              </a:spcBef>
              <a:spcAft>
                <a:spcPts val="600"/>
              </a:spcAft>
              <a:buFont typeface="Wingdings" panose="05000000000000000000" pitchFamily="2" charset="2"/>
              <a:buChar char="ü"/>
            </a:pPr>
            <a:r>
              <a:rPr lang="en-US" altLang="zh-CN" sz="3200" b="1" dirty="0">
                <a:latin typeface="微软雅黑" panose="020B0503020204020204" pitchFamily="34" charset="-122"/>
                <a:ea typeface="微软雅黑" panose="020B0503020204020204" pitchFamily="34" charset="-122"/>
              </a:rPr>
              <a:t>Final Exam:</a:t>
            </a:r>
            <a:r>
              <a:rPr lang="zh-CN" altLang="en-US" sz="3200" b="1" dirty="0">
                <a:latin typeface="微软雅黑" panose="020B0503020204020204" pitchFamily="34" charset="-122"/>
                <a:ea typeface="微软雅黑" panose="020B0503020204020204" pitchFamily="34" charset="-122"/>
              </a:rPr>
              <a:t> </a:t>
            </a:r>
            <a:r>
              <a:rPr lang="en-US" altLang="zh-CN" sz="3200" dirty="0">
                <a:effectLst/>
                <a:latin typeface="微软雅黑" panose="020B0503020204020204" pitchFamily="34" charset="-122"/>
                <a:ea typeface="微软雅黑" panose="020B0503020204020204" pitchFamily="34" charset="-122"/>
              </a:rPr>
              <a:t>70% </a:t>
            </a:r>
          </a:p>
        </p:txBody>
      </p:sp>
    </p:spTree>
    <p:extLst>
      <p:ext uri="{BB962C8B-B14F-4D97-AF65-F5344CB8AC3E}">
        <p14:creationId xmlns:p14="http://schemas.microsoft.com/office/powerpoint/2010/main" val="2385563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
            <a:extLst>
              <a:ext uri="{FF2B5EF4-FFF2-40B4-BE49-F238E27FC236}">
                <a16:creationId xmlns:a16="http://schemas.microsoft.com/office/drawing/2014/main" id="{A68BA784-4778-1337-720E-5FEE05B0B49B}"/>
              </a:ext>
            </a:extLst>
          </p:cNvPr>
          <p:cNvSpPr/>
          <p:nvPr/>
        </p:nvSpPr>
        <p:spPr>
          <a:xfrm>
            <a:off x="264122" y="1699355"/>
            <a:ext cx="10004264" cy="646331"/>
          </a:xfrm>
          <a:prstGeom prst="rect">
            <a:avLst/>
          </a:prstGeom>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3600" b="1" dirty="0">
                <a:latin typeface="Times New Roman" panose="02020603050405020304" pitchFamily="18" charset="0"/>
                <a:ea typeface="DengXian" panose="02010600030101010101" pitchFamily="2" charset="-122"/>
              </a:rPr>
              <a:t>【</a:t>
            </a:r>
            <a:r>
              <a:rPr lang="en-US" altLang="zh-CN" sz="3600" b="1" dirty="0" err="1">
                <a:latin typeface="Times New Roman" panose="02020603050405020304" pitchFamily="18" charset="0"/>
                <a:ea typeface="DengXian" panose="02010600030101010101" pitchFamily="2" charset="-122"/>
              </a:rPr>
              <a:t>DeadLine</a:t>
            </a:r>
            <a:r>
              <a:rPr lang="en-US" altLang="zh-CN" sz="3600" b="1" dirty="0">
                <a:latin typeface="Times New Roman" panose="02020603050405020304" pitchFamily="18" charset="0"/>
                <a:ea typeface="DengXian" panose="02010600030101010101" pitchFamily="2" charset="-122"/>
              </a:rPr>
              <a:t>】</a:t>
            </a:r>
            <a:endParaRPr lang="en-US" sz="3600" b="1" dirty="0">
              <a:latin typeface="Times New Roman" panose="02020603050405020304" pitchFamily="18" charset="0"/>
              <a:ea typeface="DengXian" panose="02010600030101010101" pitchFamily="2" charset="-122"/>
            </a:endParaRPr>
          </a:p>
        </p:txBody>
      </p:sp>
      <p:sp>
        <p:nvSpPr>
          <p:cNvPr id="3" name="Rectangle 9">
            <a:extLst>
              <a:ext uri="{FF2B5EF4-FFF2-40B4-BE49-F238E27FC236}">
                <a16:creationId xmlns:a16="http://schemas.microsoft.com/office/drawing/2014/main" id="{5C81069E-F1E6-CFE1-C772-6D0525FC5A20}"/>
              </a:ext>
            </a:extLst>
          </p:cNvPr>
          <p:cNvSpPr/>
          <p:nvPr/>
        </p:nvSpPr>
        <p:spPr>
          <a:xfrm>
            <a:off x="486173" y="205503"/>
            <a:ext cx="6032939"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 Rules</a:t>
            </a:r>
          </a:p>
        </p:txBody>
      </p:sp>
      <p:sp>
        <p:nvSpPr>
          <p:cNvPr id="8" name="Rectangle 4">
            <a:extLst>
              <a:ext uri="{FF2B5EF4-FFF2-40B4-BE49-F238E27FC236}">
                <a16:creationId xmlns:a16="http://schemas.microsoft.com/office/drawing/2014/main" id="{95D31E1C-2A3A-F5B6-48E7-2A841ADDBD2D}"/>
              </a:ext>
            </a:extLst>
          </p:cNvPr>
          <p:cNvSpPr/>
          <p:nvPr/>
        </p:nvSpPr>
        <p:spPr>
          <a:xfrm>
            <a:off x="1154583" y="2823876"/>
            <a:ext cx="9631182" cy="835613"/>
          </a:xfrm>
          <a:prstGeom prst="rect">
            <a:avLst/>
          </a:prstGeom>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pPr>
            <a:r>
              <a:rPr lang="en-US" sz="3600" b="1" dirty="0">
                <a:latin typeface="Times New Roman" panose="02020603050405020304" pitchFamily="18" charset="0"/>
                <a:ea typeface="DengXian" panose="02010600030101010101" pitchFamily="2" charset="-122"/>
                <a:cs typeface="Times New Roman" panose="02020603050405020304" pitchFamily="18" charset="0"/>
              </a:rPr>
              <a:t>			</a:t>
            </a:r>
            <a:r>
              <a:rPr lang="en-US" altLang="zh-CN" sz="3600" b="1" i="0" dirty="0">
                <a:solidFill>
                  <a:srgbClr val="C00000"/>
                </a:solidFill>
                <a:effectLst/>
                <a:latin typeface="Times New Roman" panose="02020603050405020304" pitchFamily="18" charset="0"/>
                <a:cs typeface="Times New Roman" panose="02020603050405020304" pitchFamily="18" charset="0"/>
              </a:rPr>
              <a:t>Before 23:59 of the next Project</a:t>
            </a:r>
            <a:r>
              <a:rPr lang="en-US" altLang="zh-CN" sz="3600" b="1" dirty="0">
                <a:solidFill>
                  <a:srgbClr val="C00000"/>
                </a:solidFill>
                <a:latin typeface="Times New Roman" panose="02020603050405020304" pitchFamily="18" charset="0"/>
                <a:cs typeface="Times New Roman" panose="02020603050405020304" pitchFamily="18" charset="0"/>
              </a:rPr>
              <a:t>.</a:t>
            </a:r>
            <a:endParaRPr lang="en-US" altLang="zh-CN" sz="3600" b="1" i="0" dirty="0">
              <a:solidFill>
                <a:srgbClr val="C00000"/>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080550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5C81069E-F1E6-CFE1-C772-6D0525FC5A20}"/>
              </a:ext>
            </a:extLst>
          </p:cNvPr>
          <p:cNvSpPr/>
          <p:nvPr/>
        </p:nvSpPr>
        <p:spPr>
          <a:xfrm>
            <a:off x="486173" y="205503"/>
            <a:ext cx="6032939"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 Rules</a:t>
            </a:r>
          </a:p>
        </p:txBody>
      </p:sp>
      <p:sp>
        <p:nvSpPr>
          <p:cNvPr id="12" name="Rectangle 4">
            <a:extLst>
              <a:ext uri="{FF2B5EF4-FFF2-40B4-BE49-F238E27FC236}">
                <a16:creationId xmlns:a16="http://schemas.microsoft.com/office/drawing/2014/main" id="{BFBA75C3-DE80-5D12-BF23-7804D97A4EA0}"/>
              </a:ext>
            </a:extLst>
          </p:cNvPr>
          <p:cNvSpPr/>
          <p:nvPr/>
        </p:nvSpPr>
        <p:spPr>
          <a:xfrm>
            <a:off x="264122" y="1551472"/>
            <a:ext cx="10004264" cy="646331"/>
          </a:xfrm>
          <a:prstGeom prst="rect">
            <a:avLst/>
          </a:prstGeom>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3600" b="1" dirty="0">
                <a:latin typeface="Times New Roman" panose="02020603050405020304" pitchFamily="18" charset="0"/>
                <a:ea typeface="DengXian" panose="02010600030101010101" pitchFamily="2" charset="-122"/>
              </a:rPr>
              <a:t>【Grace Day Policy】</a:t>
            </a:r>
            <a:endParaRPr lang="en-US" sz="3600" b="1" dirty="0">
              <a:latin typeface="Times New Roman" panose="02020603050405020304" pitchFamily="18" charset="0"/>
              <a:ea typeface="DengXian" panose="02010600030101010101" pitchFamily="2" charset="-122"/>
            </a:endParaRPr>
          </a:p>
        </p:txBody>
      </p:sp>
      <p:sp>
        <p:nvSpPr>
          <p:cNvPr id="5" name="文本框 4">
            <a:extLst>
              <a:ext uri="{FF2B5EF4-FFF2-40B4-BE49-F238E27FC236}">
                <a16:creationId xmlns:a16="http://schemas.microsoft.com/office/drawing/2014/main" id="{A884077A-BC6E-7C44-E796-84E1A4B8ECE0}"/>
              </a:ext>
            </a:extLst>
          </p:cNvPr>
          <p:cNvSpPr txBox="1"/>
          <p:nvPr/>
        </p:nvSpPr>
        <p:spPr>
          <a:xfrm>
            <a:off x="486173" y="2528110"/>
            <a:ext cx="10707804" cy="295850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If you have a Grace Day Policy, you can ask for a project to delay a day’s acceptance.  </a:t>
            </a:r>
          </a:p>
          <a:p>
            <a:pPr marL="457200" indent="-457200">
              <a:lnSpc>
                <a:spcPct val="150000"/>
              </a:lnSpc>
              <a:buFont typeface="Arial" panose="020B0604020202020204" pitchFamily="34" charset="0"/>
              <a:buChar char="•"/>
            </a:pP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You can </a:t>
            </a:r>
            <a:r>
              <a:rPr lang="en-US" altLang="zh-CN" sz="3200" b="1" dirty="0">
                <a:latin typeface="Times New Roman" panose="02020603050405020304" pitchFamily="18" charset="0"/>
                <a:ea typeface="DengXian" panose="02010600030101010101" pitchFamily="2" charset="-122"/>
              </a:rPr>
              <a:t>only use Grace Day Policy once in a project</a:t>
            </a: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  </a:t>
            </a:r>
          </a:p>
          <a:p>
            <a:pPr marL="457200" indent="-457200">
              <a:lnSpc>
                <a:spcPct val="150000"/>
              </a:lnSpc>
              <a:buFont typeface="Arial" panose="020B0604020202020204" pitchFamily="34" charset="0"/>
              <a:buChar char="•"/>
            </a:pPr>
            <a:r>
              <a:rPr lang="en-US" altLang="zh-CN" sz="3200" b="1" dirty="0">
                <a:solidFill>
                  <a:srgbClr val="C00000"/>
                </a:solidFill>
                <a:latin typeface="Times New Roman" panose="02020603050405020304" pitchFamily="18" charset="0"/>
                <a:ea typeface="DengXian" panose="02010600030101010101" pitchFamily="2" charset="-122"/>
                <a:cs typeface="Times New Roman" panose="02020603050405020304" pitchFamily="18" charset="0"/>
              </a:rPr>
              <a:t>Earn them from the class.</a:t>
            </a:r>
          </a:p>
        </p:txBody>
      </p:sp>
    </p:spTree>
    <p:extLst>
      <p:ext uri="{BB962C8B-B14F-4D97-AF65-F5344CB8AC3E}">
        <p14:creationId xmlns:p14="http://schemas.microsoft.com/office/powerpoint/2010/main" val="266805856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5C81069E-F1E6-CFE1-C772-6D0525FC5A20}"/>
              </a:ext>
            </a:extLst>
          </p:cNvPr>
          <p:cNvSpPr/>
          <p:nvPr/>
        </p:nvSpPr>
        <p:spPr>
          <a:xfrm>
            <a:off x="486173" y="205503"/>
            <a:ext cx="6032939"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 Rules</a:t>
            </a:r>
          </a:p>
        </p:txBody>
      </p:sp>
      <p:sp>
        <p:nvSpPr>
          <p:cNvPr id="12" name="Rectangle 4">
            <a:extLst>
              <a:ext uri="{FF2B5EF4-FFF2-40B4-BE49-F238E27FC236}">
                <a16:creationId xmlns:a16="http://schemas.microsoft.com/office/drawing/2014/main" id="{BFBA75C3-DE80-5D12-BF23-7804D97A4EA0}"/>
              </a:ext>
            </a:extLst>
          </p:cNvPr>
          <p:cNvSpPr/>
          <p:nvPr/>
        </p:nvSpPr>
        <p:spPr>
          <a:xfrm>
            <a:off x="274513" y="1478667"/>
            <a:ext cx="10004264" cy="646331"/>
          </a:xfrm>
          <a:prstGeom prst="rect">
            <a:avLst/>
          </a:prstGeom>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ltLang="zh-CN" sz="3600" b="1" dirty="0">
                <a:latin typeface="Times New Roman" panose="02020603050405020304" pitchFamily="18" charset="0"/>
                <a:ea typeface="DengXian" panose="02010600030101010101" pitchFamily="2" charset="-122"/>
              </a:rPr>
              <a:t>【</a:t>
            </a:r>
            <a:r>
              <a:rPr lang="en-US" altLang="zh-CN" sz="3600" b="1" dirty="0" err="1">
                <a:latin typeface="Times New Roman" panose="02020603050405020304" pitchFamily="18" charset="0"/>
                <a:ea typeface="DengXian" panose="02010600030101010101" pitchFamily="2" charset="-122"/>
              </a:rPr>
              <a:t>Submitt</a:t>
            </a:r>
            <a:r>
              <a:rPr lang="en-US" altLang="zh-CN" sz="3600" b="1" dirty="0">
                <a:latin typeface="Times New Roman" panose="02020603050405020304" pitchFamily="18" charset="0"/>
                <a:ea typeface="DengXian" panose="02010600030101010101" pitchFamily="2" charset="-122"/>
              </a:rPr>
              <a:t> Assignment】</a:t>
            </a:r>
            <a:endParaRPr lang="en-US" sz="3600" b="1" dirty="0">
              <a:latin typeface="Times New Roman" panose="02020603050405020304" pitchFamily="18" charset="0"/>
              <a:ea typeface="DengXian" panose="02010600030101010101" pitchFamily="2" charset="-122"/>
            </a:endParaRPr>
          </a:p>
        </p:txBody>
      </p:sp>
      <p:sp>
        <p:nvSpPr>
          <p:cNvPr id="5" name="文本框 4">
            <a:extLst>
              <a:ext uri="{FF2B5EF4-FFF2-40B4-BE49-F238E27FC236}">
                <a16:creationId xmlns:a16="http://schemas.microsoft.com/office/drawing/2014/main" id="{A884077A-BC6E-7C44-E796-84E1A4B8ECE0}"/>
              </a:ext>
            </a:extLst>
          </p:cNvPr>
          <p:cNvSpPr txBox="1"/>
          <p:nvPr/>
        </p:nvSpPr>
        <p:spPr>
          <a:xfrm>
            <a:off x="649128" y="2206152"/>
            <a:ext cx="11217289" cy="370768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Send the lab report and experimental results required by the project to the email address </a:t>
            </a:r>
            <a:r>
              <a:rPr lang="zh-CN" altLang="en-US" sz="3200" b="1" dirty="0">
                <a:latin typeface="Times New Roman" panose="02020603050405020304" pitchFamily="18" charset="0"/>
                <a:ea typeface="DengXian" panose="02010600030101010101" pitchFamily="2" charset="-122"/>
                <a:cs typeface="Times New Roman" panose="02020603050405020304" pitchFamily="18" charset="0"/>
              </a:rPr>
              <a:t>“</a:t>
            </a:r>
            <a:r>
              <a:rPr lang="en-US" altLang="zh-CN" sz="3200" b="1" u="sng" dirty="0">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liujoy@seu.edu.cn</a:t>
            </a:r>
            <a:r>
              <a:rPr lang="zh-CN" altLang="en-US" sz="3200" b="1" dirty="0">
                <a:latin typeface="Times New Roman" panose="02020603050405020304" pitchFamily="18" charset="0"/>
                <a:ea typeface="DengXian" panose="02010600030101010101" pitchFamily="2" charset="-122"/>
                <a:cs typeface="Times New Roman" panose="02020603050405020304" pitchFamily="18" charset="0"/>
              </a:rPr>
              <a:t>”</a:t>
            </a: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 with the title “</a:t>
            </a:r>
            <a:r>
              <a:rPr lang="en-US" altLang="zh-CN" sz="3200" b="1" dirty="0" err="1">
                <a:solidFill>
                  <a:srgbClr val="C00000"/>
                </a:solidFill>
                <a:latin typeface="Times New Roman" panose="02020603050405020304" pitchFamily="18" charset="0"/>
                <a:ea typeface="DengXian" panose="02010600030101010101" pitchFamily="2" charset="-122"/>
                <a:cs typeface="Times New Roman" panose="02020603050405020304" pitchFamily="18" charset="0"/>
              </a:rPr>
              <a:t>StudentNumber</a:t>
            </a:r>
            <a:r>
              <a:rPr lang="en-US" altLang="zh-CN" sz="3200" b="1" dirty="0">
                <a:solidFill>
                  <a:srgbClr val="C00000"/>
                </a:solidFill>
                <a:latin typeface="Times New Roman" panose="02020603050405020304" pitchFamily="18" charset="0"/>
                <a:ea typeface="DengXian" panose="02010600030101010101" pitchFamily="2" charset="-122"/>
                <a:cs typeface="Times New Roman" panose="02020603050405020304" pitchFamily="18" charset="0"/>
              </a:rPr>
              <a:t>-Name-Project-X</a:t>
            </a:r>
            <a:r>
              <a:rPr lang="en-US" altLang="zh-CN" sz="3200" b="1" dirty="0">
                <a:latin typeface="Times New Roman" panose="02020603050405020304" pitchFamily="18" charset="0"/>
                <a:ea typeface="DengXian" panose="02010600030101010101" pitchFamily="2" charset="-122"/>
                <a:cs typeface="Times New Roman" panose="02020603050405020304" pitchFamily="18" charset="0"/>
              </a:rPr>
              <a:t>” and the lab report will be used as the basis for the rating. </a:t>
            </a:r>
          </a:p>
          <a:p>
            <a:pPr marL="457200" indent="-457200">
              <a:lnSpc>
                <a:spcPct val="150000"/>
              </a:lnSpc>
              <a:buFont typeface="Arial" panose="020B0604020202020204" pitchFamily="34" charset="0"/>
              <a:buChar char="•"/>
            </a:pPr>
            <a:r>
              <a:rPr lang="en-US" altLang="zh-CN"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For Example</a:t>
            </a:r>
            <a:r>
              <a:rPr lang="zh-CN" altLang="en-US"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a:t>
            </a:r>
            <a:r>
              <a:rPr lang="en-US" altLang="zh-CN"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71117315-</a:t>
            </a:r>
            <a:r>
              <a:rPr lang="zh-CN" altLang="en-US"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凌泰炜</a:t>
            </a:r>
            <a:r>
              <a:rPr lang="en-US" altLang="zh-CN"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-Project-1</a:t>
            </a:r>
            <a:r>
              <a:rPr lang="zh-CN" altLang="en-US"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rPr>
              <a:t>“</a:t>
            </a:r>
            <a:endParaRPr lang="en-US" altLang="zh-CN" sz="3200" b="1" dirty="0">
              <a:solidFill>
                <a:schemeClr val="tx1">
                  <a:lumMod val="50000"/>
                  <a:lumOff val="50000"/>
                </a:schemeClr>
              </a:solidFill>
              <a:latin typeface="Times New Roman" panose="02020603050405020304" pitchFamily="18"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42817579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8</a:t>
            </a:fld>
            <a:endParaRPr lang="en-US" dirty="0"/>
          </a:p>
        </p:txBody>
      </p:sp>
      <p:sp>
        <p:nvSpPr>
          <p:cNvPr id="4" name="Rectangle 9">
            <a:extLst>
              <a:ext uri="{FF2B5EF4-FFF2-40B4-BE49-F238E27FC236}">
                <a16:creationId xmlns:a16="http://schemas.microsoft.com/office/drawing/2014/main" id="{1AC0B806-6387-F2FD-44AC-0977F94B3639}"/>
              </a:ext>
            </a:extLst>
          </p:cNvPr>
          <p:cNvSpPr/>
          <p:nvPr/>
        </p:nvSpPr>
        <p:spPr>
          <a:xfrm>
            <a:off x="1220208" y="1579346"/>
            <a:ext cx="10329978" cy="4708981"/>
          </a:xfrm>
          <a:prstGeom prst="rect">
            <a:avLst/>
          </a:prstGeom>
        </p:spPr>
        <p:txBody>
          <a:bodyPr wrap="square">
            <a:spAutoFit/>
          </a:bodyPr>
          <a:lstStyle/>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Rules</a:t>
            </a:r>
          </a:p>
          <a:p>
            <a:pPr marL="1028700" indent="-1028700">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Software Preparation</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Some Common DBMS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Frontend Technology</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One Preview</a:t>
            </a:r>
          </a:p>
        </p:txBody>
      </p:sp>
      <p:sp>
        <p:nvSpPr>
          <p:cNvPr id="5" name="Rectangle 9">
            <a:extLst>
              <a:ext uri="{FF2B5EF4-FFF2-40B4-BE49-F238E27FC236}">
                <a16:creationId xmlns:a16="http://schemas.microsoft.com/office/drawing/2014/main" id="{ED97F58D-5B98-CA43-942A-D7CC4CE6819C}"/>
              </a:ext>
            </a:extLst>
          </p:cNvPr>
          <p:cNvSpPr/>
          <p:nvPr/>
        </p:nvSpPr>
        <p:spPr>
          <a:xfrm>
            <a:off x="814963" y="351693"/>
            <a:ext cx="10562074" cy="1015663"/>
          </a:xfrm>
          <a:prstGeom prst="rect">
            <a:avLst/>
          </a:prstGeom>
        </p:spPr>
        <p:txBody>
          <a:bodyPr wrap="square">
            <a:spAutoFit/>
          </a:bodyPr>
          <a:lstStyle/>
          <a:p>
            <a:pPr algn="ctr"/>
            <a:r>
              <a:rPr lang="en-US" sz="6000" b="1" dirty="0">
                <a:solidFill>
                  <a:srgbClr val="C00000"/>
                </a:solidFill>
                <a:latin typeface="Times New Roman" panose="02020603050405020304" pitchFamily="18" charset="0"/>
                <a:cs typeface="Times New Roman" panose="02020603050405020304" pitchFamily="18" charset="0"/>
              </a:rPr>
              <a:t>0-Project Preparation</a:t>
            </a:r>
          </a:p>
        </p:txBody>
      </p:sp>
    </p:spTree>
    <p:extLst>
      <p:ext uri="{BB962C8B-B14F-4D97-AF65-F5344CB8AC3E}">
        <p14:creationId xmlns:p14="http://schemas.microsoft.com/office/powerpoint/2010/main" val="84705017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9095048C-14A5-1564-8D9C-5C33D3667C29}"/>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About Access </a:t>
            </a:r>
          </a:p>
        </p:txBody>
      </p:sp>
      <p:sp>
        <p:nvSpPr>
          <p:cNvPr id="5" name="文本框 4">
            <a:extLst>
              <a:ext uri="{FF2B5EF4-FFF2-40B4-BE49-F238E27FC236}">
                <a16:creationId xmlns:a16="http://schemas.microsoft.com/office/drawing/2014/main" id="{C45197CF-0D94-4386-84E2-2D0E3E378B6A}"/>
              </a:ext>
            </a:extLst>
          </p:cNvPr>
          <p:cNvSpPr txBox="1"/>
          <p:nvPr/>
        </p:nvSpPr>
        <p:spPr>
          <a:xfrm>
            <a:off x="486172" y="1659284"/>
            <a:ext cx="11401028" cy="2246769"/>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altLang="zh-CN" sz="2800"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A</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database management system (DBMS) </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from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Microsoft</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altLang="zh-CN" sz="2800"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C</a:t>
            </a:r>
            <a:r>
              <a:rPr kumimoji="0" lang="en-US" altLang="zh-CN" sz="2800" i="0" u="none" strike="noStrike" kern="1200" cap="none" spc="0" normalizeH="0" baseline="0" noProof="0" dirty="0" err="1">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ombines</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the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relational Access Database Engine (ACE) </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with a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graphical user interface</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software-development tools</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A member of the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Microsoft Office </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Microsoft 365 </a:t>
            </a:r>
            <a:r>
              <a:rPr kumimoji="0" lang="en-US" altLang="zh-CN" sz="2800"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suite of application.</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grpSp>
        <p:nvGrpSpPr>
          <p:cNvPr id="12" name="组合 11">
            <a:extLst>
              <a:ext uri="{FF2B5EF4-FFF2-40B4-BE49-F238E27FC236}">
                <a16:creationId xmlns:a16="http://schemas.microsoft.com/office/drawing/2014/main" id="{478F60C6-8092-40CD-9C9E-2A75BFCEACA0}"/>
              </a:ext>
            </a:extLst>
          </p:cNvPr>
          <p:cNvGrpSpPr/>
          <p:nvPr/>
        </p:nvGrpSpPr>
        <p:grpSpPr>
          <a:xfrm>
            <a:off x="8579428" y="4272718"/>
            <a:ext cx="1956954" cy="1714500"/>
            <a:chOff x="827810" y="1315120"/>
            <a:chExt cx="1956954" cy="1714500"/>
          </a:xfrm>
        </p:grpSpPr>
        <p:pic>
          <p:nvPicPr>
            <p:cNvPr id="16" name="Picture 4" descr="undefined">
              <a:extLst>
                <a:ext uri="{FF2B5EF4-FFF2-40B4-BE49-F238E27FC236}">
                  <a16:creationId xmlns:a16="http://schemas.microsoft.com/office/drawing/2014/main" id="{9FE7AE3B-DBE7-42C8-9D46-4F1DB6BBF7FB}"/>
                </a:ext>
              </a:extLst>
            </p:cNvPr>
            <p:cNvPicPr>
              <a:picLocks noChangeAspect="1" noChangeArrowheads="1"/>
            </p:cNvPicPr>
            <p:nvPr/>
          </p:nvPicPr>
          <p:blipFill>
            <a:blip r:embed="rId3" cstate="hqprint">
              <a:extLst>
                <a:ext uri="{28A0092B-C50C-407E-A947-70E740481C1C}">
                  <a14:useLocalDpi xmlns:a14="http://schemas.microsoft.com/office/drawing/2010/main" val="0"/>
                </a:ext>
              </a:extLst>
            </a:blip>
            <a:srcRect/>
            <a:stretch>
              <a:fillRect/>
            </a:stretch>
          </p:blipFill>
          <p:spPr bwMode="auto">
            <a:xfrm>
              <a:off x="1331711" y="1628668"/>
              <a:ext cx="873091" cy="852566"/>
            </a:xfrm>
            <a:prstGeom prst="rect">
              <a:avLst/>
            </a:prstGeom>
            <a:noFill/>
            <a:extLst>
              <a:ext uri="{909E8E84-426E-40DD-AFC4-6F175D3DCCD1}">
                <a14:hiddenFill xmlns:a14="http://schemas.microsoft.com/office/drawing/2010/main">
                  <a:solidFill>
                    <a:srgbClr val="FFFFFF"/>
                  </a:solidFill>
                </a14:hiddenFill>
              </a:ext>
            </a:extLst>
          </p:spPr>
        </p:pic>
        <p:sp>
          <p:nvSpPr>
            <p:cNvPr id="17" name="文本框 16">
              <a:extLst>
                <a:ext uri="{FF2B5EF4-FFF2-40B4-BE49-F238E27FC236}">
                  <a16:creationId xmlns:a16="http://schemas.microsoft.com/office/drawing/2014/main" id="{A4BAC31F-AED2-4CC1-8FE0-94FDC2E30B0F}"/>
                </a:ext>
              </a:extLst>
            </p:cNvPr>
            <p:cNvSpPr txBox="1"/>
            <p:nvPr/>
          </p:nvSpPr>
          <p:spPr>
            <a:xfrm>
              <a:off x="942109" y="2481234"/>
              <a:ext cx="1842655" cy="369332"/>
            </a:xfrm>
            <a:prstGeom prst="rect">
              <a:avLst/>
            </a:prstGeom>
            <a:noFill/>
          </p:spPr>
          <p:txBody>
            <a:bodyPr wrap="square">
              <a:spAutoFit/>
            </a:bodyPr>
            <a:lstStyle/>
            <a:p>
              <a:r>
                <a:rPr kumimoji="0" lang="en-US" altLang="zh-CN"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Microsoft Access </a:t>
              </a:r>
              <a:endParaRPr lang="zh-CN" altLang="en-US" sz="1200" dirty="0">
                <a:latin typeface="Times New Roman" panose="02020603050405020304" pitchFamily="18" charset="0"/>
                <a:cs typeface="Times New Roman" panose="02020603050405020304" pitchFamily="18" charset="0"/>
              </a:endParaRPr>
            </a:p>
          </p:txBody>
        </p:sp>
        <p:sp>
          <p:nvSpPr>
            <p:cNvPr id="10" name="矩形 9">
              <a:extLst>
                <a:ext uri="{FF2B5EF4-FFF2-40B4-BE49-F238E27FC236}">
                  <a16:creationId xmlns:a16="http://schemas.microsoft.com/office/drawing/2014/main" id="{2539962F-ED9E-49E6-99CF-CE4E417CB052}"/>
                </a:ext>
              </a:extLst>
            </p:cNvPr>
            <p:cNvSpPr/>
            <p:nvPr/>
          </p:nvSpPr>
          <p:spPr>
            <a:xfrm>
              <a:off x="827810" y="1315120"/>
              <a:ext cx="1956954" cy="1714500"/>
            </a:xfrm>
            <a:prstGeom prst="rect">
              <a:avLst/>
            </a:prstGeom>
            <a:noFill/>
            <a:ln w="63500">
              <a:solidFill>
                <a:srgbClr val="AF203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06092516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9">
            <a:extLst>
              <a:ext uri="{FF2B5EF4-FFF2-40B4-BE49-F238E27FC236}">
                <a16:creationId xmlns:a16="http://schemas.microsoft.com/office/drawing/2014/main" id="{5C81069E-F1E6-CFE1-C772-6D0525FC5A20}"/>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Download MS Access from SEU </a:t>
            </a:r>
          </a:p>
        </p:txBody>
      </p:sp>
      <p:grpSp>
        <p:nvGrpSpPr>
          <p:cNvPr id="44" name="组合 43">
            <a:extLst>
              <a:ext uri="{FF2B5EF4-FFF2-40B4-BE49-F238E27FC236}">
                <a16:creationId xmlns:a16="http://schemas.microsoft.com/office/drawing/2014/main" id="{504A2732-1FB4-4D13-BB90-133E1E2D6076}"/>
              </a:ext>
            </a:extLst>
          </p:cNvPr>
          <p:cNvGrpSpPr/>
          <p:nvPr/>
        </p:nvGrpSpPr>
        <p:grpSpPr>
          <a:xfrm>
            <a:off x="794725" y="1620982"/>
            <a:ext cx="10602549" cy="5031515"/>
            <a:chOff x="287123" y="1221167"/>
            <a:chExt cx="11617754" cy="5481293"/>
          </a:xfrm>
        </p:grpSpPr>
        <p:pic>
          <p:nvPicPr>
            <p:cNvPr id="6" name="图片 5">
              <a:extLst>
                <a:ext uri="{FF2B5EF4-FFF2-40B4-BE49-F238E27FC236}">
                  <a16:creationId xmlns:a16="http://schemas.microsoft.com/office/drawing/2014/main" id="{F670A4AE-5383-4433-89B4-E3617035F027}"/>
                </a:ext>
              </a:extLst>
            </p:cNvPr>
            <p:cNvPicPr>
              <a:picLocks noChangeAspect="1"/>
            </p:cNvPicPr>
            <p:nvPr/>
          </p:nvPicPr>
          <p:blipFill>
            <a:blip r:embed="rId3"/>
            <a:stretch>
              <a:fillRect/>
            </a:stretch>
          </p:blipFill>
          <p:spPr>
            <a:xfrm>
              <a:off x="287123" y="1641765"/>
              <a:ext cx="5521395" cy="1817236"/>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cxnSp>
          <p:nvCxnSpPr>
            <p:cNvPr id="12" name="直接箭头连接符 11">
              <a:extLst>
                <a:ext uri="{FF2B5EF4-FFF2-40B4-BE49-F238E27FC236}">
                  <a16:creationId xmlns:a16="http://schemas.microsoft.com/office/drawing/2014/main" id="{12B32821-2C19-45F4-8BE8-020F1B895C8B}"/>
                </a:ext>
              </a:extLst>
            </p:cNvPr>
            <p:cNvCxnSpPr>
              <a:cxnSpLocks/>
            </p:cNvCxnSpPr>
            <p:nvPr/>
          </p:nvCxnSpPr>
          <p:spPr>
            <a:xfrm>
              <a:off x="2964694" y="1221167"/>
              <a:ext cx="0" cy="420598"/>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18" name="图片 17">
              <a:extLst>
                <a:ext uri="{FF2B5EF4-FFF2-40B4-BE49-F238E27FC236}">
                  <a16:creationId xmlns:a16="http://schemas.microsoft.com/office/drawing/2014/main" id="{B9162806-6A7C-4128-BAB9-708FC0B5A151}"/>
                </a:ext>
              </a:extLst>
            </p:cNvPr>
            <p:cNvPicPr>
              <a:picLocks noChangeAspect="1"/>
            </p:cNvPicPr>
            <p:nvPr/>
          </p:nvPicPr>
          <p:blipFill rotWithShape="1">
            <a:blip r:embed="rId4"/>
            <a:srcRect t="2157" r="2671"/>
            <a:stretch/>
          </p:blipFill>
          <p:spPr>
            <a:xfrm>
              <a:off x="6383483" y="1490018"/>
              <a:ext cx="5521394" cy="2120730"/>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pic>
          <p:nvPicPr>
            <p:cNvPr id="23" name="图片 22">
              <a:extLst>
                <a:ext uri="{FF2B5EF4-FFF2-40B4-BE49-F238E27FC236}">
                  <a16:creationId xmlns:a16="http://schemas.microsoft.com/office/drawing/2014/main" id="{6DD3D924-8CA3-41B9-8753-1A97F2607AB3}"/>
                </a:ext>
              </a:extLst>
            </p:cNvPr>
            <p:cNvPicPr>
              <a:picLocks noChangeAspect="1"/>
            </p:cNvPicPr>
            <p:nvPr/>
          </p:nvPicPr>
          <p:blipFill rotWithShape="1">
            <a:blip r:embed="rId5"/>
            <a:srcRect r="2594"/>
            <a:stretch/>
          </p:blipFill>
          <p:spPr>
            <a:xfrm>
              <a:off x="6383481" y="4108200"/>
              <a:ext cx="5521395" cy="2120730"/>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cxnSp>
          <p:nvCxnSpPr>
            <p:cNvPr id="27" name="直接箭头连接符 26">
              <a:extLst>
                <a:ext uri="{FF2B5EF4-FFF2-40B4-BE49-F238E27FC236}">
                  <a16:creationId xmlns:a16="http://schemas.microsoft.com/office/drawing/2014/main" id="{940DD118-8E86-4757-9524-36AD49FC8825}"/>
                </a:ext>
              </a:extLst>
            </p:cNvPr>
            <p:cNvCxnSpPr>
              <a:cxnSpLocks/>
              <a:stCxn id="6" idx="3"/>
              <a:endCxn id="18" idx="1"/>
            </p:cNvCxnSpPr>
            <p:nvPr/>
          </p:nvCxnSpPr>
          <p:spPr>
            <a:xfrm>
              <a:off x="5808518" y="2550383"/>
              <a:ext cx="574965" cy="0"/>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1F618EB4-8813-4B49-82F3-74A5F933901E}"/>
                </a:ext>
              </a:extLst>
            </p:cNvPr>
            <p:cNvCxnSpPr>
              <a:cxnSpLocks/>
              <a:stCxn id="18" idx="2"/>
              <a:endCxn id="23" idx="0"/>
            </p:cNvCxnSpPr>
            <p:nvPr/>
          </p:nvCxnSpPr>
          <p:spPr>
            <a:xfrm flipH="1">
              <a:off x="9144179" y="3610748"/>
              <a:ext cx="1" cy="497452"/>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38" name="图片 37">
              <a:extLst>
                <a:ext uri="{FF2B5EF4-FFF2-40B4-BE49-F238E27FC236}">
                  <a16:creationId xmlns:a16="http://schemas.microsoft.com/office/drawing/2014/main" id="{E72A8389-7C20-49A1-A6E3-02263039B349}"/>
                </a:ext>
              </a:extLst>
            </p:cNvPr>
            <p:cNvPicPr>
              <a:picLocks noChangeAspect="1"/>
            </p:cNvPicPr>
            <p:nvPr/>
          </p:nvPicPr>
          <p:blipFill rotWithShape="1">
            <a:blip r:embed="rId6"/>
            <a:srcRect r="1794"/>
            <a:stretch/>
          </p:blipFill>
          <p:spPr>
            <a:xfrm>
              <a:off x="287125" y="3651631"/>
              <a:ext cx="5521393" cy="3050829"/>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cxnSp>
          <p:nvCxnSpPr>
            <p:cNvPr id="39" name="直接箭头连接符 38">
              <a:extLst>
                <a:ext uri="{FF2B5EF4-FFF2-40B4-BE49-F238E27FC236}">
                  <a16:creationId xmlns:a16="http://schemas.microsoft.com/office/drawing/2014/main" id="{F77BCD71-6754-482D-9D06-D020D4A1F44B}"/>
                </a:ext>
              </a:extLst>
            </p:cNvPr>
            <p:cNvCxnSpPr>
              <a:cxnSpLocks/>
              <a:stCxn id="23" idx="1"/>
              <a:endCxn id="38" idx="3"/>
            </p:cNvCxnSpPr>
            <p:nvPr/>
          </p:nvCxnSpPr>
          <p:spPr>
            <a:xfrm flipH="1">
              <a:off x="5808518" y="5168565"/>
              <a:ext cx="574963" cy="8481"/>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grpSp>
      <p:sp>
        <p:nvSpPr>
          <p:cNvPr id="46" name="文本框 45">
            <a:extLst>
              <a:ext uri="{FF2B5EF4-FFF2-40B4-BE49-F238E27FC236}">
                <a16:creationId xmlns:a16="http://schemas.microsoft.com/office/drawing/2014/main" id="{9FC63173-4CDA-4115-8648-71DDFC400F48}"/>
              </a:ext>
            </a:extLst>
          </p:cNvPr>
          <p:cNvSpPr txBox="1"/>
          <p:nvPr/>
        </p:nvSpPr>
        <p:spPr>
          <a:xfrm>
            <a:off x="3316717" y="1196429"/>
            <a:ext cx="6151418" cy="369332"/>
          </a:xfrm>
          <a:prstGeom prst="rect">
            <a:avLst/>
          </a:prstGeom>
          <a:noFill/>
        </p:spPr>
        <p:txBody>
          <a:bodyPr wrap="square">
            <a:spAutoFit/>
          </a:bodyPr>
          <a:lstStyle/>
          <a:p>
            <a:r>
              <a:rPr lang="zh-CN" altLang="en-US" dirty="0">
                <a:hlinkClick r:id="rId7"/>
              </a:rPr>
              <a:t>微软正版化</a:t>
            </a:r>
            <a:r>
              <a:rPr lang="en-US" altLang="zh-CN" dirty="0">
                <a:hlinkClick r:id="rId7"/>
              </a:rPr>
              <a:t>-</a:t>
            </a:r>
            <a:r>
              <a:rPr lang="zh-CN" altLang="en-US" dirty="0">
                <a:hlinkClick r:id="rId7"/>
              </a:rPr>
              <a:t>东南大学网络与信息中心 </a:t>
            </a:r>
            <a:r>
              <a:rPr lang="en-US" altLang="zh-CN" dirty="0">
                <a:hlinkClick r:id="rId7"/>
              </a:rPr>
              <a:t>(seu.edu.cn)</a:t>
            </a:r>
            <a:endParaRPr lang="zh-CN" altLang="en-US" dirty="0"/>
          </a:p>
        </p:txBody>
      </p:sp>
    </p:spTree>
    <p:extLst>
      <p:ext uri="{BB962C8B-B14F-4D97-AF65-F5344CB8AC3E}">
        <p14:creationId xmlns:p14="http://schemas.microsoft.com/office/powerpoint/2010/main" val="29179303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9095048C-14A5-1564-8D9C-5C33D3667C29}"/>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Download MS Access from SEU </a:t>
            </a:r>
          </a:p>
        </p:txBody>
      </p:sp>
      <p:pic>
        <p:nvPicPr>
          <p:cNvPr id="3" name="图片 2">
            <a:extLst>
              <a:ext uri="{FF2B5EF4-FFF2-40B4-BE49-F238E27FC236}">
                <a16:creationId xmlns:a16="http://schemas.microsoft.com/office/drawing/2014/main" id="{7C877E6A-BBF5-4B9A-9587-C3A663504C0F}"/>
              </a:ext>
            </a:extLst>
          </p:cNvPr>
          <p:cNvPicPr>
            <a:picLocks noChangeAspect="1"/>
          </p:cNvPicPr>
          <p:nvPr/>
        </p:nvPicPr>
        <p:blipFill>
          <a:blip r:embed="rId3"/>
          <a:stretch>
            <a:fillRect/>
          </a:stretch>
        </p:blipFill>
        <p:spPr>
          <a:xfrm>
            <a:off x="1025492" y="1716689"/>
            <a:ext cx="4114286" cy="2553975"/>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pic>
        <p:nvPicPr>
          <p:cNvPr id="7" name="图片 6">
            <a:extLst>
              <a:ext uri="{FF2B5EF4-FFF2-40B4-BE49-F238E27FC236}">
                <a16:creationId xmlns:a16="http://schemas.microsoft.com/office/drawing/2014/main" id="{29888CC7-93DB-4123-864D-6FF20FA6A525}"/>
              </a:ext>
            </a:extLst>
          </p:cNvPr>
          <p:cNvPicPr>
            <a:picLocks noChangeAspect="1"/>
          </p:cNvPicPr>
          <p:nvPr/>
        </p:nvPicPr>
        <p:blipFill>
          <a:blip r:embed="rId4"/>
          <a:stretch>
            <a:fillRect/>
          </a:stretch>
        </p:blipFill>
        <p:spPr>
          <a:xfrm>
            <a:off x="318216" y="5448319"/>
            <a:ext cx="6838095" cy="304762"/>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cxnSp>
        <p:nvCxnSpPr>
          <p:cNvPr id="9" name="直接箭头连接符 8">
            <a:extLst>
              <a:ext uri="{FF2B5EF4-FFF2-40B4-BE49-F238E27FC236}">
                <a16:creationId xmlns:a16="http://schemas.microsoft.com/office/drawing/2014/main" id="{699C1B17-B893-4771-88F1-5B732FBF27A8}"/>
              </a:ext>
            </a:extLst>
          </p:cNvPr>
          <p:cNvCxnSpPr>
            <a:cxnSpLocks/>
            <a:stCxn id="3" idx="2"/>
          </p:cNvCxnSpPr>
          <p:nvPr/>
        </p:nvCxnSpPr>
        <p:spPr>
          <a:xfrm>
            <a:off x="3082635" y="4270664"/>
            <a:ext cx="0" cy="1091045"/>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12" name="图片 11">
            <a:extLst>
              <a:ext uri="{FF2B5EF4-FFF2-40B4-BE49-F238E27FC236}">
                <a16:creationId xmlns:a16="http://schemas.microsoft.com/office/drawing/2014/main" id="{4521E773-B75A-45CF-AC62-1C1F390D97EE}"/>
              </a:ext>
            </a:extLst>
          </p:cNvPr>
          <p:cNvPicPr>
            <a:picLocks noChangeAspect="1"/>
          </p:cNvPicPr>
          <p:nvPr/>
        </p:nvPicPr>
        <p:blipFill>
          <a:blip r:embed="rId5"/>
          <a:stretch>
            <a:fillRect/>
          </a:stretch>
        </p:blipFill>
        <p:spPr>
          <a:xfrm>
            <a:off x="8407260" y="5286414"/>
            <a:ext cx="2380952" cy="628571"/>
          </a:xfrm>
          <a:prstGeom prst="rect">
            <a:avLst/>
          </a:prstGeom>
          <a:ln w="38100" cap="sq">
            <a:solidFill>
              <a:schemeClr val="accent1">
                <a:lumMod val="75000"/>
              </a:schemeClr>
            </a:solidFill>
            <a:prstDash val="solid"/>
            <a:miter lim="800000"/>
          </a:ln>
          <a:effectLst>
            <a:outerShdw blurRad="50800" dist="38100" dir="2700000" algn="tl" rotWithShape="0">
              <a:srgbClr val="000000">
                <a:alpha val="43000"/>
              </a:srgbClr>
            </a:outerShdw>
          </a:effectLst>
        </p:spPr>
      </p:pic>
      <p:cxnSp>
        <p:nvCxnSpPr>
          <p:cNvPr id="18" name="直接箭头连接符 17">
            <a:extLst>
              <a:ext uri="{FF2B5EF4-FFF2-40B4-BE49-F238E27FC236}">
                <a16:creationId xmlns:a16="http://schemas.microsoft.com/office/drawing/2014/main" id="{AA1F9C93-027E-4F00-9D0C-9CB4AA3E895C}"/>
              </a:ext>
            </a:extLst>
          </p:cNvPr>
          <p:cNvCxnSpPr>
            <a:cxnSpLocks/>
            <a:endCxn id="12" idx="1"/>
          </p:cNvCxnSpPr>
          <p:nvPr/>
        </p:nvCxnSpPr>
        <p:spPr>
          <a:xfrm>
            <a:off x="7232510" y="5600700"/>
            <a:ext cx="1174750" cy="0"/>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19" name="图片 18">
            <a:extLst>
              <a:ext uri="{FF2B5EF4-FFF2-40B4-BE49-F238E27FC236}">
                <a16:creationId xmlns:a16="http://schemas.microsoft.com/office/drawing/2014/main" id="{983F0B95-ED47-43E1-9F71-8A701B6CEC64}"/>
              </a:ext>
            </a:extLst>
          </p:cNvPr>
          <p:cNvPicPr>
            <a:picLocks noChangeAspect="1"/>
          </p:cNvPicPr>
          <p:nvPr/>
        </p:nvPicPr>
        <p:blipFill>
          <a:blip r:embed="rId6"/>
          <a:stretch>
            <a:fillRect/>
          </a:stretch>
        </p:blipFill>
        <p:spPr>
          <a:xfrm>
            <a:off x="5823620" y="2216634"/>
            <a:ext cx="6114286" cy="1761905"/>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cxnSp>
        <p:nvCxnSpPr>
          <p:cNvPr id="24" name="直接箭头连接符 23">
            <a:extLst>
              <a:ext uri="{FF2B5EF4-FFF2-40B4-BE49-F238E27FC236}">
                <a16:creationId xmlns:a16="http://schemas.microsoft.com/office/drawing/2014/main" id="{A104C62E-22FA-4DCE-94A7-6D23D5C8A496}"/>
              </a:ext>
            </a:extLst>
          </p:cNvPr>
          <p:cNvCxnSpPr>
            <a:cxnSpLocks/>
            <a:stCxn id="12" idx="0"/>
          </p:cNvCxnSpPr>
          <p:nvPr/>
        </p:nvCxnSpPr>
        <p:spPr>
          <a:xfrm flipV="1">
            <a:off x="9597736" y="3978539"/>
            <a:ext cx="0" cy="1307875"/>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646360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9095048C-14A5-1564-8D9C-5C33D3667C29}"/>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Download MS Access from SEU </a:t>
            </a:r>
          </a:p>
        </p:txBody>
      </p:sp>
      <p:pic>
        <p:nvPicPr>
          <p:cNvPr id="23" name="图片 22">
            <a:extLst>
              <a:ext uri="{FF2B5EF4-FFF2-40B4-BE49-F238E27FC236}">
                <a16:creationId xmlns:a16="http://schemas.microsoft.com/office/drawing/2014/main" id="{D8217C44-3409-7263-B25C-6B5A4359CD26}"/>
              </a:ext>
            </a:extLst>
          </p:cNvPr>
          <p:cNvPicPr>
            <a:picLocks noChangeAspect="1"/>
          </p:cNvPicPr>
          <p:nvPr/>
        </p:nvPicPr>
        <p:blipFill>
          <a:blip r:embed="rId3"/>
          <a:stretch>
            <a:fillRect/>
          </a:stretch>
        </p:blipFill>
        <p:spPr>
          <a:xfrm>
            <a:off x="3817369" y="5379022"/>
            <a:ext cx="4829273" cy="767724"/>
          </a:xfrm>
          <a:prstGeom prst="roundRect">
            <a:avLst>
              <a:gd name="adj" fmla="val 29518"/>
            </a:avLst>
          </a:prstGeom>
          <a:solidFill>
            <a:srgbClr val="FFFFFF">
              <a:shade val="85000"/>
            </a:srgbClr>
          </a:solidFill>
          <a:ln>
            <a:noFill/>
          </a:ln>
          <a:effectLst>
            <a:reflection blurRad="12700" stA="38000" endPos="28000" dist="5000" dir="5400000" sy="-100000" algn="bl" rotWithShape="0"/>
          </a:effectLst>
        </p:spPr>
      </p:pic>
      <p:pic>
        <p:nvPicPr>
          <p:cNvPr id="6" name="图片 5">
            <a:extLst>
              <a:ext uri="{FF2B5EF4-FFF2-40B4-BE49-F238E27FC236}">
                <a16:creationId xmlns:a16="http://schemas.microsoft.com/office/drawing/2014/main" id="{CAAF131A-46FB-4022-99EA-7AE9ED772F5D}"/>
              </a:ext>
            </a:extLst>
          </p:cNvPr>
          <p:cNvPicPr>
            <a:picLocks noChangeAspect="1"/>
          </p:cNvPicPr>
          <p:nvPr/>
        </p:nvPicPr>
        <p:blipFill>
          <a:blip r:embed="rId4"/>
          <a:stretch>
            <a:fillRect/>
          </a:stretch>
        </p:blipFill>
        <p:spPr>
          <a:xfrm>
            <a:off x="3635466" y="1545610"/>
            <a:ext cx="5193081" cy="3462054"/>
          </a:xfrm>
          <a:prstGeom prst="rect">
            <a:avLst/>
          </a:prstGeom>
          <a:ln w="38100" cap="sq">
            <a:solidFill>
              <a:srgbClr val="FF5511"/>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7232790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9095048C-14A5-1564-8D9C-5C33D3667C29}"/>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Activate MS Access from SEU </a:t>
            </a:r>
          </a:p>
        </p:txBody>
      </p:sp>
      <p:pic>
        <p:nvPicPr>
          <p:cNvPr id="5" name="图片 4">
            <a:extLst>
              <a:ext uri="{FF2B5EF4-FFF2-40B4-BE49-F238E27FC236}">
                <a16:creationId xmlns:a16="http://schemas.microsoft.com/office/drawing/2014/main" id="{0320EB41-09B8-43F7-9C72-1D16B1B9F1CC}"/>
              </a:ext>
            </a:extLst>
          </p:cNvPr>
          <p:cNvPicPr>
            <a:picLocks noChangeAspect="1"/>
          </p:cNvPicPr>
          <p:nvPr/>
        </p:nvPicPr>
        <p:blipFill>
          <a:blip r:embed="rId3"/>
          <a:stretch>
            <a:fillRect/>
          </a:stretch>
        </p:blipFill>
        <p:spPr>
          <a:xfrm>
            <a:off x="1025628" y="1889331"/>
            <a:ext cx="5853767" cy="2018194"/>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pic>
        <p:nvPicPr>
          <p:cNvPr id="3" name="图片 2">
            <a:extLst>
              <a:ext uri="{FF2B5EF4-FFF2-40B4-BE49-F238E27FC236}">
                <a16:creationId xmlns:a16="http://schemas.microsoft.com/office/drawing/2014/main" id="{8548BA61-0022-48AC-9D35-C0617417BD54}"/>
              </a:ext>
            </a:extLst>
          </p:cNvPr>
          <p:cNvPicPr>
            <a:picLocks noChangeAspect="1"/>
          </p:cNvPicPr>
          <p:nvPr/>
        </p:nvPicPr>
        <p:blipFill rotWithShape="1">
          <a:blip r:embed="rId4"/>
          <a:srcRect t="3890" r="1942" b="-1"/>
          <a:stretch/>
        </p:blipFill>
        <p:spPr>
          <a:xfrm>
            <a:off x="1025627" y="4851924"/>
            <a:ext cx="5853767" cy="931162"/>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sp>
        <p:nvSpPr>
          <p:cNvPr id="9" name="文本框 8">
            <a:extLst>
              <a:ext uri="{FF2B5EF4-FFF2-40B4-BE49-F238E27FC236}">
                <a16:creationId xmlns:a16="http://schemas.microsoft.com/office/drawing/2014/main" id="{CECD5677-6270-49FD-A7DA-C79598CAA762}"/>
              </a:ext>
            </a:extLst>
          </p:cNvPr>
          <p:cNvSpPr txBox="1"/>
          <p:nvPr/>
        </p:nvSpPr>
        <p:spPr>
          <a:xfrm>
            <a:off x="3318775" y="1329416"/>
            <a:ext cx="6147302" cy="369332"/>
          </a:xfrm>
          <a:prstGeom prst="rect">
            <a:avLst/>
          </a:prstGeom>
          <a:noFill/>
        </p:spPr>
        <p:txBody>
          <a:bodyPr wrap="square">
            <a:spAutoFit/>
          </a:bodyPr>
          <a:lstStyle/>
          <a:p>
            <a:r>
              <a:rPr lang="zh-CN" altLang="en-US" dirty="0">
                <a:hlinkClick r:id="rId5"/>
              </a:rPr>
              <a:t>激活解决方案</a:t>
            </a:r>
            <a:r>
              <a:rPr lang="en-US" altLang="zh-CN" dirty="0">
                <a:hlinkClick r:id="rId5"/>
              </a:rPr>
              <a:t>-</a:t>
            </a:r>
            <a:r>
              <a:rPr lang="zh-CN" altLang="en-US" dirty="0">
                <a:hlinkClick r:id="rId5"/>
              </a:rPr>
              <a:t>东南大学网络与信息中心 </a:t>
            </a:r>
            <a:r>
              <a:rPr lang="en-US" altLang="zh-CN" dirty="0">
                <a:hlinkClick r:id="rId5"/>
              </a:rPr>
              <a:t>(seu.edu.cn)</a:t>
            </a:r>
            <a:endParaRPr lang="zh-CN" altLang="en-US" dirty="0"/>
          </a:p>
        </p:txBody>
      </p:sp>
      <p:pic>
        <p:nvPicPr>
          <p:cNvPr id="8" name="图片 7">
            <a:extLst>
              <a:ext uri="{FF2B5EF4-FFF2-40B4-BE49-F238E27FC236}">
                <a16:creationId xmlns:a16="http://schemas.microsoft.com/office/drawing/2014/main" id="{4A48DD8C-E1C7-436C-A877-7574A84934CA}"/>
              </a:ext>
            </a:extLst>
          </p:cNvPr>
          <p:cNvPicPr>
            <a:picLocks noChangeAspect="1"/>
          </p:cNvPicPr>
          <p:nvPr/>
        </p:nvPicPr>
        <p:blipFill>
          <a:blip r:embed="rId6"/>
          <a:stretch>
            <a:fillRect/>
          </a:stretch>
        </p:blipFill>
        <p:spPr>
          <a:xfrm>
            <a:off x="8490802" y="4431820"/>
            <a:ext cx="2261020" cy="2193527"/>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cxnSp>
        <p:nvCxnSpPr>
          <p:cNvPr id="12" name="直接箭头连接符 11">
            <a:extLst>
              <a:ext uri="{FF2B5EF4-FFF2-40B4-BE49-F238E27FC236}">
                <a16:creationId xmlns:a16="http://schemas.microsoft.com/office/drawing/2014/main" id="{CCADBDBA-2E72-4208-8619-16F0B9576623}"/>
              </a:ext>
            </a:extLst>
          </p:cNvPr>
          <p:cNvCxnSpPr>
            <a:cxnSpLocks/>
          </p:cNvCxnSpPr>
          <p:nvPr/>
        </p:nvCxnSpPr>
        <p:spPr>
          <a:xfrm>
            <a:off x="3952512" y="4025220"/>
            <a:ext cx="0" cy="683434"/>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7DD4D5FD-2D08-4571-A630-AC1154DB667E}"/>
              </a:ext>
            </a:extLst>
          </p:cNvPr>
          <p:cNvCxnSpPr>
            <a:cxnSpLocks/>
          </p:cNvCxnSpPr>
          <p:nvPr/>
        </p:nvCxnSpPr>
        <p:spPr>
          <a:xfrm>
            <a:off x="7092556" y="5317505"/>
            <a:ext cx="1254733" cy="0"/>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17" name="图片 16">
            <a:extLst>
              <a:ext uri="{FF2B5EF4-FFF2-40B4-BE49-F238E27FC236}">
                <a16:creationId xmlns:a16="http://schemas.microsoft.com/office/drawing/2014/main" id="{057E560E-F9FE-455E-AAC3-6CF050AE18F4}"/>
              </a:ext>
            </a:extLst>
          </p:cNvPr>
          <p:cNvPicPr>
            <a:picLocks noChangeAspect="1"/>
          </p:cNvPicPr>
          <p:nvPr/>
        </p:nvPicPr>
        <p:blipFill>
          <a:blip r:embed="rId7"/>
          <a:stretch>
            <a:fillRect/>
          </a:stretch>
        </p:blipFill>
        <p:spPr>
          <a:xfrm>
            <a:off x="8422667" y="1944165"/>
            <a:ext cx="2397291" cy="1963360"/>
          </a:xfrm>
          <a:prstGeom prst="rect">
            <a:avLst/>
          </a:prstGeom>
          <a:ln w="38100" cap="sq">
            <a:solidFill>
              <a:schemeClr val="accent1"/>
            </a:solidFill>
            <a:prstDash val="solid"/>
            <a:miter lim="800000"/>
          </a:ln>
          <a:effectLst>
            <a:outerShdw blurRad="50800" dist="38100" dir="2700000" algn="tl" rotWithShape="0">
              <a:srgbClr val="000000">
                <a:alpha val="43000"/>
              </a:srgbClr>
            </a:outerShdw>
          </a:effectLst>
        </p:spPr>
      </p:pic>
      <p:cxnSp>
        <p:nvCxnSpPr>
          <p:cNvPr id="22" name="直接箭头连接符 21">
            <a:extLst>
              <a:ext uri="{FF2B5EF4-FFF2-40B4-BE49-F238E27FC236}">
                <a16:creationId xmlns:a16="http://schemas.microsoft.com/office/drawing/2014/main" id="{5BDC8C5B-9877-4776-9F16-9D45836E2D2C}"/>
              </a:ext>
            </a:extLst>
          </p:cNvPr>
          <p:cNvCxnSpPr>
            <a:cxnSpLocks/>
            <a:stCxn id="8" idx="0"/>
            <a:endCxn id="17" idx="2"/>
          </p:cNvCxnSpPr>
          <p:nvPr/>
        </p:nvCxnSpPr>
        <p:spPr>
          <a:xfrm flipV="1">
            <a:off x="9621312" y="3907525"/>
            <a:ext cx="1" cy="524295"/>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03390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14</a:t>
            </a:fld>
            <a:endParaRPr lang="en-US" dirty="0"/>
          </a:p>
        </p:txBody>
      </p:sp>
      <p:sp>
        <p:nvSpPr>
          <p:cNvPr id="4" name="Rectangle 9">
            <a:extLst>
              <a:ext uri="{FF2B5EF4-FFF2-40B4-BE49-F238E27FC236}">
                <a16:creationId xmlns:a16="http://schemas.microsoft.com/office/drawing/2014/main" id="{1AC0B806-6387-F2FD-44AC-0977F94B3639}"/>
              </a:ext>
            </a:extLst>
          </p:cNvPr>
          <p:cNvSpPr/>
          <p:nvPr/>
        </p:nvSpPr>
        <p:spPr>
          <a:xfrm>
            <a:off x="1499461" y="1367356"/>
            <a:ext cx="9567977" cy="4708981"/>
          </a:xfrm>
          <a:prstGeom prst="rect">
            <a:avLst/>
          </a:prstGeom>
        </p:spPr>
        <p:txBody>
          <a:bodyPr wrap="square">
            <a:spAutoFit/>
          </a:bodyPr>
          <a:lstStyle/>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Rules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Software Preparation</a:t>
            </a:r>
          </a:p>
          <a:p>
            <a:pPr marL="1028700" indent="-1028700">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Some Common DBMS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Frontend Technology</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One Preview</a:t>
            </a:r>
            <a:endParaRPr lang="en-US" altLang="zh-CN" sz="6000" b="1" dirty="0">
              <a:solidFill>
                <a:schemeClr val="bg2">
                  <a:lumMod val="10000"/>
                </a:schemeClr>
              </a:solidFill>
              <a:latin typeface="+mj-lt"/>
              <a:cs typeface="Times New Roman" panose="02020603050405020304" pitchFamily="18" charset="0"/>
            </a:endParaRPr>
          </a:p>
        </p:txBody>
      </p:sp>
      <p:sp>
        <p:nvSpPr>
          <p:cNvPr id="5" name="Rectangle 9">
            <a:extLst>
              <a:ext uri="{FF2B5EF4-FFF2-40B4-BE49-F238E27FC236}">
                <a16:creationId xmlns:a16="http://schemas.microsoft.com/office/drawing/2014/main" id="{7106F1A5-75AF-66EF-949F-FDF721B8E2AD}"/>
              </a:ext>
            </a:extLst>
          </p:cNvPr>
          <p:cNvSpPr/>
          <p:nvPr/>
        </p:nvSpPr>
        <p:spPr>
          <a:xfrm>
            <a:off x="814963" y="351693"/>
            <a:ext cx="10562074" cy="1015663"/>
          </a:xfrm>
          <a:prstGeom prst="rect">
            <a:avLst/>
          </a:prstGeom>
        </p:spPr>
        <p:txBody>
          <a:bodyPr wrap="square">
            <a:spAutoFit/>
          </a:bodyPr>
          <a:lstStyle/>
          <a:p>
            <a:pPr algn="ctr"/>
            <a:r>
              <a:rPr lang="en-US" sz="6000" b="1" dirty="0">
                <a:solidFill>
                  <a:srgbClr val="C00000"/>
                </a:solidFill>
                <a:latin typeface="Times New Roman" panose="02020603050405020304" pitchFamily="18" charset="0"/>
                <a:cs typeface="Times New Roman" panose="02020603050405020304" pitchFamily="18" charset="0"/>
              </a:rPr>
              <a:t>0-Project Preparation</a:t>
            </a:r>
          </a:p>
        </p:txBody>
      </p:sp>
    </p:spTree>
    <p:extLst>
      <p:ext uri="{BB962C8B-B14F-4D97-AF65-F5344CB8AC3E}">
        <p14:creationId xmlns:p14="http://schemas.microsoft.com/office/powerpoint/2010/main" val="31262013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F8EED5A-CF9C-316C-199B-621AB7ED9E65}"/>
              </a:ext>
            </a:extLst>
          </p:cNvPr>
          <p:cNvSpPr/>
          <p:nvPr/>
        </p:nvSpPr>
        <p:spPr>
          <a:xfrm>
            <a:off x="580861" y="353384"/>
            <a:ext cx="4405667"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1. MySQL </a:t>
            </a:r>
          </a:p>
        </p:txBody>
      </p:sp>
      <p:sp>
        <p:nvSpPr>
          <p:cNvPr id="3" name="文本框 2">
            <a:extLst>
              <a:ext uri="{FF2B5EF4-FFF2-40B4-BE49-F238E27FC236}">
                <a16:creationId xmlns:a16="http://schemas.microsoft.com/office/drawing/2014/main" id="{0058CC4B-7F51-8661-926A-B017C3B9629D}"/>
              </a:ext>
            </a:extLst>
          </p:cNvPr>
          <p:cNvSpPr txBox="1"/>
          <p:nvPr/>
        </p:nvSpPr>
        <p:spPr>
          <a:xfrm>
            <a:off x="580861" y="1460218"/>
            <a:ext cx="10609952" cy="5262979"/>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Latest version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8</a:t>
            </a:r>
            <a:r>
              <a:rPr lang="en-US" altLang="zh-CN" sz="2800" b="1" dirty="0">
                <a:solidFill>
                  <a:srgbClr val="000000"/>
                </a:solidFill>
                <a:latin typeface="+mj-lt"/>
                <a:ea typeface="等线" panose="02010600030101010101" pitchFamily="2" charset="-122"/>
                <a:cs typeface="Times New Roman" panose="02020603050405020304" pitchFamily="18" charset="0"/>
              </a:rPr>
              <a:t>.0</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The language used is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 and C++.</a:t>
            </a:r>
            <a:endPar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endParaRPr>
          </a:p>
          <a:p>
            <a:pPr marR="0" lvl="0" algn="l" defTabSz="457200" rtl="0" eaLnBrk="1" fontAlgn="auto" latinLnBrk="0" hangingPunct="1">
              <a:lnSpc>
                <a:spcPct val="100000"/>
              </a:lnSpc>
              <a:spcBef>
                <a:spcPts val="0"/>
              </a:spcBef>
              <a:spcAft>
                <a:spcPts val="0"/>
              </a:spcAft>
              <a:buClrTx/>
              <a:buSzTx/>
              <a:tabLst/>
              <a:defRPr/>
            </a:pP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    R</a:t>
            </a:r>
            <a:r>
              <a:rPr kumimoji="0" lang="en-US" altLang="zh-CN" sz="2800" b="1" i="0" u="none" strike="noStrike" kern="1200" cap="none" spc="0" normalizeH="0" baseline="0" noProof="0" dirty="0" err="1">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elational</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 database.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Works on many different platforms </a:t>
            </a:r>
            <a:r>
              <a:rPr lang="en-US" altLang="zh-CN" sz="2800" dirty="0">
                <a:solidFill>
                  <a:srgbClr val="000000"/>
                </a:solidFill>
                <a:latin typeface="+mj-lt"/>
                <a:ea typeface="等线" panose="02010600030101010101" pitchFamily="2" charset="-122"/>
                <a:cs typeface="Times New Roman" panose="02020603050405020304" pitchFamily="18" charset="0"/>
              </a:rPr>
              <a:t>:</a:t>
            </a:r>
            <a:r>
              <a:rPr lang="zh-CN" altLang="en-US" sz="2800" dirty="0">
                <a:solidFill>
                  <a:srgbClr val="000000"/>
                </a:solidFill>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Linux /Windows /</a:t>
            </a:r>
            <a:r>
              <a:rPr lang="en-US" altLang="zh-CN" sz="2800" dirty="0">
                <a:solidFill>
                  <a:srgbClr val="000000"/>
                </a:solidFill>
                <a:latin typeface="+mj-lt"/>
                <a:ea typeface="等线" panose="02010600030101010101" pitchFamily="2" charset="-122"/>
                <a:cs typeface="Times New Roman" panose="02020603050405020304" pitchFamily="18" charset="0"/>
              </a:rPr>
              <a:t>S</a:t>
            </a:r>
            <a:r>
              <a:rPr kumimoji="0" lang="en-US" altLang="zh-CN" sz="2800" i="0" u="none" strike="noStrike" kern="1200" cap="none" spc="0" normalizeH="0" baseline="0" noProof="0" dirty="0" err="1">
                <a:ln>
                  <a:noFill/>
                </a:ln>
                <a:solidFill>
                  <a:srgbClr val="000000"/>
                </a:solidFill>
                <a:effectLst/>
                <a:uLnTx/>
                <a:uFillTx/>
                <a:latin typeface="+mj-lt"/>
                <a:ea typeface="等线" panose="02010600030101010101" pitchFamily="2" charset="-122"/>
                <a:cs typeface="Times New Roman" panose="02020603050405020304" pitchFamily="18" charset="0"/>
              </a:rPr>
              <a:t>olaris</a:t>
            </a:r>
            <a:r>
              <a:rPr lang="en-US" altLang="zh-CN" sz="2800" dirty="0">
                <a:solidFill>
                  <a:srgbClr val="000000"/>
                </a:solidFill>
                <a:latin typeface="+mj-lt"/>
                <a:ea typeface="等线" panose="02010600030101010101" pitchFamily="2" charset="-122"/>
                <a:cs typeface="Times New Roman" panose="02020603050405020304" pitchFamily="18" charset="0"/>
              </a:rPr>
              <a:t>…</a:t>
            </a: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Few features of this tool are: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lang="en-US" altLang="zh-CN" sz="2800" dirty="0">
                <a:solidFill>
                  <a:srgbClr val="000000"/>
                </a:solidFill>
                <a:latin typeface="+mj-lt"/>
                <a:ea typeface="等线" panose="02010600030101010101" pitchFamily="2" charset="-122"/>
                <a:cs typeface="Times New Roman" panose="02020603050405020304" pitchFamily="18" charset="0"/>
              </a:rPr>
              <a:t>(1)</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High-speed data processing</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a:t>
            </a:r>
            <a:r>
              <a:rPr lang="en-US" altLang="zh-CN" sz="2800" dirty="0">
                <a:solidFill>
                  <a:srgbClr val="000000"/>
                </a:solidFill>
                <a:latin typeface="+mj-lt"/>
                <a:ea typeface="等线" panose="02010600030101010101" pitchFamily="2" charset="-122"/>
                <a:cs typeface="Times New Roman" panose="02020603050405020304" pitchFamily="18" charset="0"/>
              </a:rPr>
              <a:t>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(2)U</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se of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triggers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increases productivity, with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rollback</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commit</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helps in data recovery if required.</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Costs: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lang="en-US" altLang="zh-CN" sz="2800" i="0" dirty="0">
                <a:solidFill>
                  <a:srgbClr val="121212"/>
                </a:solidFill>
                <a:effectLst/>
                <a:latin typeface="-apple-system"/>
              </a:rPr>
              <a:t> </a:t>
            </a:r>
            <a:r>
              <a:rPr lang="en-US" altLang="zh-CN" sz="2800" b="1" i="0" dirty="0">
                <a:solidFill>
                  <a:srgbClr val="121212"/>
                </a:solidFill>
                <a:effectLst/>
                <a:latin typeface="+mj-lt"/>
                <a:ea typeface="Roboto" panose="02000000000000000000" pitchFamily="2" charset="0"/>
              </a:rPr>
              <a:t>Open-source</a:t>
            </a:r>
            <a:r>
              <a:rPr lang="en-US" altLang="zh-CN" sz="2800" i="0" dirty="0">
                <a:solidFill>
                  <a:srgbClr val="121212"/>
                </a:solidFill>
                <a:effectLst/>
                <a:latin typeface="+mj-lt"/>
                <a:ea typeface="Roboto" panose="02000000000000000000" pitchFamily="2" charset="0"/>
              </a:rPr>
              <a:t> and free for </a:t>
            </a:r>
            <a:r>
              <a:rPr lang="en-US" altLang="zh-CN" sz="2800" b="1" i="0" dirty="0">
                <a:solidFill>
                  <a:srgbClr val="121212"/>
                </a:solidFill>
                <a:effectLst/>
                <a:latin typeface="+mj-lt"/>
                <a:ea typeface="Roboto" panose="02000000000000000000" pitchFamily="2" charset="0"/>
              </a:rPr>
              <a:t>Community Server</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p>
          <a:p>
            <a:pPr lvl="3">
              <a:defRPr/>
            </a:pPr>
            <a:r>
              <a:rPr lang="en-US" altLang="zh-CN" sz="2800" b="1" dirty="0">
                <a:latin typeface="+mj-lt"/>
              </a:rPr>
              <a:t>C</a:t>
            </a:r>
            <a:r>
              <a:rPr lang="en-US" altLang="zh-CN" sz="2800" b="1" i="0" dirty="0">
                <a:effectLst/>
                <a:latin typeface="+mj-lt"/>
              </a:rPr>
              <a:t>ommercial</a:t>
            </a:r>
            <a:r>
              <a:rPr lang="en-US" altLang="zh-CN" sz="2800" i="0" dirty="0">
                <a:effectLst/>
                <a:latin typeface="+mj-lt"/>
              </a:rPr>
              <a:t> fees for </a:t>
            </a:r>
            <a:r>
              <a:rPr lang="en-US" altLang="zh-CN" sz="2800" b="1" i="0" dirty="0">
                <a:solidFill>
                  <a:srgbClr val="121212"/>
                </a:solidFill>
                <a:effectLst/>
                <a:latin typeface="+mj-lt"/>
              </a:rPr>
              <a:t>Enterprise Edition</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Website:</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hlinkClick r:id="rId3"/>
              </a:rPr>
              <a:t>MySQL</a:t>
            </a: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8FB60CAD-5AC2-130F-58F8-D53925D473C3}"/>
              </a:ext>
            </a:extLst>
          </p:cNvPr>
          <p:cNvPicPr>
            <a:picLocks noChangeAspect="1"/>
          </p:cNvPicPr>
          <p:nvPr/>
        </p:nvPicPr>
        <p:blipFill>
          <a:blip r:embed="rId4"/>
          <a:stretch>
            <a:fillRect/>
          </a:stretch>
        </p:blipFill>
        <p:spPr>
          <a:xfrm>
            <a:off x="9457358" y="5032724"/>
            <a:ext cx="2031641" cy="1382257"/>
          </a:xfrm>
          <a:prstGeom prst="rect">
            <a:avLst/>
          </a:prstGeom>
          <a:ln w="38100" cap="sq">
            <a:solidFill>
              <a:srgbClr val="00738E"/>
            </a:solidFill>
            <a:prstDash val="solid"/>
            <a:miter lim="800000"/>
          </a:ln>
          <a:effectLst>
            <a:outerShdw blurRad="50800" dist="38100" dir="2700000" algn="tl" rotWithShape="0">
              <a:srgbClr val="000000">
                <a:alpha val="43000"/>
              </a:srgbClr>
            </a:outerShdw>
          </a:effectLst>
        </p:spPr>
      </p:pic>
      <p:sp>
        <p:nvSpPr>
          <p:cNvPr id="6" name="文本框 5">
            <a:extLst>
              <a:ext uri="{FF2B5EF4-FFF2-40B4-BE49-F238E27FC236}">
                <a16:creationId xmlns:a16="http://schemas.microsoft.com/office/drawing/2014/main" id="{1FFB213E-6D31-42BA-800E-DB68ABEE0644}"/>
              </a:ext>
            </a:extLst>
          </p:cNvPr>
          <p:cNvSpPr txBox="1"/>
          <p:nvPr/>
        </p:nvSpPr>
        <p:spPr>
          <a:xfrm>
            <a:off x="7370191" y="4936117"/>
            <a:ext cx="1990626" cy="461665"/>
          </a:xfrm>
          <a:prstGeom prst="rect">
            <a:avLst/>
          </a:prstGeom>
          <a:noFill/>
        </p:spPr>
        <p:txBody>
          <a:bodyPr wrap="square">
            <a:spAutoFit/>
          </a:bodyPr>
          <a:lstStyle/>
          <a:p>
            <a:r>
              <a:rPr lang="zh-CN" altLang="en-US" sz="2400" b="1" dirty="0">
                <a:solidFill>
                  <a:schemeClr val="accent1"/>
                </a:solidFill>
                <a:latin typeface="微软雅黑" panose="020B0503020204020204" pitchFamily="34" charset="-122"/>
                <a:ea typeface="微软雅黑" panose="020B0503020204020204" pitchFamily="34" charset="-122"/>
                <a:cs typeface="Times New Roman" panose="02020603050405020304" pitchFamily="18" charset="0"/>
              </a:rPr>
              <a:t>“</a:t>
            </a:r>
            <a:r>
              <a:rPr kumimoji="0" lang="en-US" altLang="zh-CN" sz="2400" b="1" i="0" u="none" strike="noStrike" kern="1200" cap="none" spc="0" normalizeH="0" baseline="0" noProof="0" dirty="0">
                <a:ln>
                  <a:noFill/>
                </a:ln>
                <a:solidFill>
                  <a:schemeClr val="accent1"/>
                </a:solidFill>
                <a:effectLst/>
                <a:uLnTx/>
                <a:uFillTx/>
                <a:latin typeface="微软雅黑" panose="020B0503020204020204" pitchFamily="34" charset="-122"/>
                <a:ea typeface="微软雅黑" panose="020B0503020204020204" pitchFamily="34" charset="-122"/>
                <a:cs typeface="Times New Roman" panose="02020603050405020304" pitchFamily="18" charset="0"/>
              </a:rPr>
              <a:t>LAMP</a:t>
            </a:r>
            <a:r>
              <a:rPr kumimoji="0" lang="zh-CN" altLang="en-US" sz="2400" b="1" i="0" u="none" strike="noStrike" kern="1200" cap="none" spc="0" normalizeH="0" baseline="0" noProof="0" dirty="0">
                <a:ln>
                  <a:noFill/>
                </a:ln>
                <a:solidFill>
                  <a:schemeClr val="accent1"/>
                </a:solidFill>
                <a:effectLst/>
                <a:uLnTx/>
                <a:uFillTx/>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2400" dirty="0">
              <a:solidFill>
                <a:schemeClr val="accent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4676257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E1C1B43-2952-55FD-FB59-FC79F94D9F17}"/>
              </a:ext>
            </a:extLst>
          </p:cNvPr>
          <p:cNvSpPr txBox="1"/>
          <p:nvPr/>
        </p:nvSpPr>
        <p:spPr>
          <a:xfrm>
            <a:off x="415581" y="1246498"/>
            <a:ext cx="10632633" cy="5262979"/>
          </a:xfrm>
          <a:prstGeom prst="rect">
            <a:avLst/>
          </a:prstGeom>
          <a:noFill/>
        </p:spPr>
        <p:txBody>
          <a:bodyPr wrap="square">
            <a:spAutoFit/>
          </a:bodyPr>
          <a:lstStyle/>
          <a:p>
            <a:pPr marL="342900" indent="-342900">
              <a:buFont typeface="Wingdings" panose="05000000000000000000" pitchFamily="2" charset="2"/>
              <a:buChar char="§"/>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The latest release version is 3.39.3. C</a:t>
            </a:r>
            <a:r>
              <a:rPr kumimoji="0" lang="en-US" altLang="zh-CN" sz="2800" b="1" i="0" u="none" strike="noStrike" kern="1200" cap="none" spc="0" normalizeH="0" baseline="0" noProof="0" dirty="0">
                <a:ln>
                  <a:noFill/>
                </a:ln>
                <a:solidFill>
                  <a:srgbClr val="000000"/>
                </a:solidFill>
                <a:effectLst/>
                <a:uLnTx/>
                <a:uFillTx/>
                <a:latin typeface="+mj-lt"/>
                <a:ea typeface="+mn-ea"/>
                <a:cs typeface="Times New Roman" panose="02020603050405020304" pitchFamily="18" charset="0"/>
              </a:rPr>
              <a:t>oded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cs typeface="Times New Roman" panose="02020603050405020304" pitchFamily="18" charset="0"/>
              </a:rPr>
              <a:t>C language</a:t>
            </a:r>
            <a:r>
              <a:rPr kumimoji="0" lang="en-US" altLang="zh-CN" sz="2800" b="1" i="0" u="none" strike="noStrike" kern="1200" cap="none" spc="0" normalizeH="0" baseline="0" noProof="0" dirty="0">
                <a:ln>
                  <a:noFill/>
                </a:ln>
                <a:solidFill>
                  <a:srgbClr val="000000"/>
                </a:solidFill>
                <a:effectLst/>
                <a:uLnTx/>
                <a:uFillTx/>
                <a:latin typeface="+mj-lt"/>
                <a:ea typeface="+mn-ea"/>
                <a:cs typeface="Times New Roman" panose="02020603050405020304" pitchFamily="18" charset="0"/>
              </a:rPr>
              <a:t>.</a:t>
            </a:r>
            <a:endParaRPr lang="en-US" altLang="zh-CN" sz="2800" b="1" dirty="0">
              <a:solidFill>
                <a:srgbClr val="000000"/>
              </a:solidFill>
              <a:latin typeface="+mj-lt"/>
              <a:cs typeface="Times New Roman" panose="02020603050405020304" pitchFamily="18" charset="0"/>
            </a:endParaRPr>
          </a:p>
          <a:p>
            <a:pPr>
              <a:defRPr/>
            </a:pPr>
            <a:r>
              <a:rPr lang="en-US" altLang="zh-CN" sz="2800" b="1" dirty="0">
                <a:solidFill>
                  <a:srgbClr val="000000"/>
                </a:solidFill>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mj-lt"/>
                <a:ea typeface="+mn-ea"/>
                <a:cs typeface="Times New Roman" panose="02020603050405020304" pitchFamily="18" charset="0"/>
              </a:rPr>
              <a:t>It is mainly used as a database system for mobiles. It can work on Linux, Windows, and Mac operating systems.</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mn-ea"/>
              <a:cs typeface="Times New Roman" panose="02020603050405020304" pitchFamily="18" charset="0"/>
            </a:endParaRPr>
          </a:p>
          <a:p>
            <a:pPr marL="342900" indent="-342900">
              <a:buFont typeface="Wingdings" panose="05000000000000000000" pitchFamily="2" charset="2"/>
              <a:buChar char="§"/>
              <a:defRPr/>
            </a:pPr>
            <a:r>
              <a:rPr lang="en-US" altLang="zh-CN" sz="2800" b="1" dirty="0">
                <a:solidFill>
                  <a:srgbClr val="000000"/>
                </a:solidFill>
                <a:latin typeface="+mj-lt"/>
                <a:cs typeface="Times New Roman" panose="02020603050405020304" pitchFamily="18" charset="0"/>
              </a:rPr>
              <a:t>Few features of this tool are:</a:t>
            </a:r>
          </a:p>
          <a:p>
            <a:pPr>
              <a:defRPr/>
            </a:pPr>
            <a:r>
              <a:rPr lang="en-US" altLang="zh-CN" sz="2800" b="1" dirty="0">
                <a:solidFill>
                  <a:srgbClr val="000000"/>
                </a:solidFill>
                <a:latin typeface="+mj-lt"/>
                <a:cs typeface="Times New Roman" panose="02020603050405020304" pitchFamily="18" charset="0"/>
              </a:rPr>
              <a:t>    (1) </a:t>
            </a:r>
            <a:r>
              <a:rPr lang="en-US" altLang="zh-CN" sz="2800" dirty="0">
                <a:solidFill>
                  <a:srgbClr val="000000"/>
                </a:solidFill>
                <a:latin typeface="+mj-lt"/>
                <a:cs typeface="Times New Roman" panose="02020603050405020304" pitchFamily="18" charset="0"/>
              </a:rPr>
              <a:t>C</a:t>
            </a:r>
            <a:r>
              <a:rPr lang="en-US" altLang="zh-CN" sz="2800" b="0" i="0" dirty="0">
                <a:effectLst/>
                <a:latin typeface="+mj-lt"/>
              </a:rPr>
              <a:t>oncise functionality, small size</a:t>
            </a:r>
            <a:r>
              <a:rPr lang="en-US" altLang="zh-CN" sz="2800" b="1" dirty="0">
                <a:solidFill>
                  <a:srgbClr val="000000"/>
                </a:solidFill>
                <a:latin typeface="+mj-lt"/>
                <a:cs typeface="Times New Roman" panose="02020603050405020304" pitchFamily="18" charset="0"/>
              </a:rPr>
              <a:t>. </a:t>
            </a:r>
          </a:p>
          <a:p>
            <a:pPr>
              <a:defRPr/>
            </a:pPr>
            <a:r>
              <a:rPr lang="en-US" altLang="zh-CN" sz="2800" b="1" dirty="0">
                <a:solidFill>
                  <a:srgbClr val="000000"/>
                </a:solidFill>
                <a:latin typeface="+mj-lt"/>
                <a:cs typeface="Times New Roman" panose="02020603050405020304" pitchFamily="18" charset="0"/>
              </a:rPr>
              <a:t>    (2) Don’t need much space</a:t>
            </a:r>
          </a:p>
          <a:p>
            <a:pPr>
              <a:defRPr/>
            </a:pPr>
            <a:r>
              <a:rPr lang="en-US" altLang="zh-CN" sz="2800" b="1" dirty="0">
                <a:solidFill>
                  <a:srgbClr val="000000"/>
                </a:solidFill>
                <a:latin typeface="+mj-lt"/>
                <a:cs typeface="Times New Roman" panose="02020603050405020304" pitchFamily="18" charset="0"/>
              </a:rPr>
              <a:t>    (3) Fast and don’t need to set up.</a:t>
            </a:r>
          </a:p>
          <a:p>
            <a:pPr>
              <a:defRPr/>
            </a:pPr>
            <a:endParaRPr lang="en-US" altLang="zh-CN" sz="2800" b="1" dirty="0">
              <a:solidFill>
                <a:srgbClr val="000000"/>
              </a:solidFill>
              <a:latin typeface="+mj-lt"/>
              <a:cs typeface="Times New Roman" panose="02020603050405020304" pitchFamily="18" charset="0"/>
            </a:endParaRPr>
          </a:p>
          <a:p>
            <a:pPr marL="342900" indent="-342900">
              <a:buFont typeface="Wingdings" panose="05000000000000000000" pitchFamily="2" charset="2"/>
              <a:buChar char="§"/>
              <a:defRPr/>
            </a:pPr>
            <a:r>
              <a:rPr lang="en-US" altLang="zh-CN" sz="2800" b="1" dirty="0">
                <a:solidFill>
                  <a:srgbClr val="000000"/>
                </a:solidFill>
                <a:latin typeface="+mj-lt"/>
                <a:cs typeface="Times New Roman" panose="02020603050405020304" pitchFamily="18" charset="0"/>
              </a:rPr>
              <a:t>Costs: It’s an open-source tool.</a:t>
            </a:r>
          </a:p>
          <a:p>
            <a:pPr marL="342900" indent="-342900">
              <a:buFont typeface="Wingdings" panose="05000000000000000000" pitchFamily="2" charset="2"/>
              <a:buChar char="§"/>
              <a:defRPr/>
            </a:pPr>
            <a:endParaRPr lang="en-US" altLang="zh-CN" sz="2800" b="1" dirty="0">
              <a:solidFill>
                <a:srgbClr val="000000"/>
              </a:solidFill>
              <a:latin typeface="+mj-lt"/>
              <a:cs typeface="Times New Roman" panose="02020603050405020304" pitchFamily="18" charset="0"/>
            </a:endParaRPr>
          </a:p>
          <a:p>
            <a:pPr marL="342900" indent="-342900">
              <a:buFont typeface="Wingdings" panose="05000000000000000000" pitchFamily="2" charset="2"/>
              <a:buChar char="§"/>
              <a:defRPr/>
            </a:pPr>
            <a:r>
              <a:rPr lang="en-US" altLang="zh-CN" sz="2800" b="1" dirty="0">
                <a:solidFill>
                  <a:srgbClr val="000000"/>
                </a:solidFill>
                <a:latin typeface="+mj-lt"/>
                <a:cs typeface="Times New Roman" panose="02020603050405020304" pitchFamily="18" charset="0"/>
              </a:rPr>
              <a:t>Website: </a:t>
            </a:r>
            <a:r>
              <a:rPr lang="en-US" altLang="zh-CN" sz="2800" b="1" dirty="0">
                <a:solidFill>
                  <a:srgbClr val="000000"/>
                </a:solidFill>
                <a:latin typeface="+mj-lt"/>
                <a:cs typeface="Times New Roman" panose="02020603050405020304" pitchFamily="18" charset="0"/>
                <a:hlinkClick r:id="rId3"/>
              </a:rPr>
              <a:t>SQLite</a:t>
            </a:r>
            <a:endParaRPr lang="en-US" altLang="zh-CN" sz="2800" b="1" dirty="0">
              <a:solidFill>
                <a:srgbClr val="000000"/>
              </a:solidFill>
              <a:latin typeface="+mj-lt"/>
              <a:cs typeface="Times New Roman" panose="02020603050405020304" pitchFamily="18" charset="0"/>
            </a:endParaRPr>
          </a:p>
        </p:txBody>
      </p:sp>
      <p:sp>
        <p:nvSpPr>
          <p:cNvPr id="3" name="Rectangle 6">
            <a:extLst>
              <a:ext uri="{FF2B5EF4-FFF2-40B4-BE49-F238E27FC236}">
                <a16:creationId xmlns:a16="http://schemas.microsoft.com/office/drawing/2014/main" id="{FEF9982F-0B57-32E6-54BE-3CFBBE4AE994}"/>
              </a:ext>
            </a:extLst>
          </p:cNvPr>
          <p:cNvSpPr/>
          <p:nvPr/>
        </p:nvSpPr>
        <p:spPr>
          <a:xfrm>
            <a:off x="580861" y="230835"/>
            <a:ext cx="4405667"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2. SQLite </a:t>
            </a:r>
          </a:p>
        </p:txBody>
      </p:sp>
      <p:pic>
        <p:nvPicPr>
          <p:cNvPr id="5" name="图片 4">
            <a:extLst>
              <a:ext uri="{FF2B5EF4-FFF2-40B4-BE49-F238E27FC236}">
                <a16:creationId xmlns:a16="http://schemas.microsoft.com/office/drawing/2014/main" id="{7045F829-CF73-1700-BF7E-D8B60022A6F7}"/>
              </a:ext>
            </a:extLst>
          </p:cNvPr>
          <p:cNvPicPr>
            <a:picLocks noChangeAspect="1"/>
          </p:cNvPicPr>
          <p:nvPr/>
        </p:nvPicPr>
        <p:blipFill>
          <a:blip r:embed="rId4"/>
          <a:stretch>
            <a:fillRect/>
          </a:stretch>
        </p:blipFill>
        <p:spPr>
          <a:xfrm>
            <a:off x="8058663" y="4817586"/>
            <a:ext cx="2597683" cy="1159519"/>
          </a:xfrm>
          <a:prstGeom prst="rect">
            <a:avLst/>
          </a:prstGeom>
          <a:ln w="38100" cap="sq">
            <a:solidFill>
              <a:srgbClr val="044A6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977022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6BCD2F59-4BAB-AF56-8BC7-528927B58350}"/>
              </a:ext>
            </a:extLst>
          </p:cNvPr>
          <p:cNvSpPr txBox="1"/>
          <p:nvPr/>
        </p:nvSpPr>
        <p:spPr>
          <a:xfrm>
            <a:off x="411179" y="1152231"/>
            <a:ext cx="10331355" cy="5693866"/>
          </a:xfrm>
          <a:prstGeom prst="rect">
            <a:avLst/>
          </a:prstGeom>
          <a:noFill/>
        </p:spPr>
        <p:txBody>
          <a:bodyPr wrap="square">
            <a:spAutoFit/>
          </a:bodyPr>
          <a:lstStyle/>
          <a:p>
            <a:pPr marL="342900" indent="-342900">
              <a:buFont typeface="Wingdings" panose="05000000000000000000" pitchFamily="2" charset="2"/>
              <a:buChar char="§"/>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The latest stable release is 7.0.4.</a:t>
            </a:r>
            <a:r>
              <a:rPr lang="en-US" altLang="zh-CN" sz="2800" b="1" dirty="0">
                <a:solidFill>
                  <a:srgbClr val="000000"/>
                </a:solidFill>
                <a:latin typeface="+mj-lt"/>
                <a:ea typeface="等线" panose="02010600030101010101" pitchFamily="2" charset="-122"/>
                <a:cs typeface="Times New Roman" panose="02020603050405020304" pitchFamily="18" charset="0"/>
              </a:rPr>
              <a:t> </a:t>
            </a:r>
          </a:p>
          <a:p>
            <a:pPr>
              <a:defRPr/>
            </a:pP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    NoSQL</a:t>
            </a:r>
            <a:r>
              <a:rPr lang="en-US" altLang="zh-CN" sz="2800" b="1" dirty="0">
                <a:solidFill>
                  <a:srgbClr val="000000"/>
                </a:solidFill>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work on Windows and Linux operating systems. It is coded in ANSI C language.</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Few features of this tool are:</a:t>
            </a:r>
          </a:p>
          <a:p>
            <a:pPr marR="0" lvl="0" algn="l" defTabSz="457200" rtl="0" eaLnBrk="1" fontAlgn="auto" latinLnBrk="0" hangingPunct="1">
              <a:lnSpc>
                <a:spcPct val="100000"/>
              </a:lnSpc>
              <a:spcBef>
                <a:spcPts val="0"/>
              </a:spcBef>
              <a:spcAft>
                <a:spcPts val="0"/>
              </a:spcAft>
              <a:buClrTx/>
              <a:buSzTx/>
              <a:tabLst/>
              <a:defRPr/>
            </a:pPr>
            <a:r>
              <a:rPr lang="en-US" altLang="zh-CN" sz="2800" dirty="0">
                <a:latin typeface="+mj-lt"/>
              </a:rPr>
              <a:t>    (1) </a:t>
            </a:r>
            <a:r>
              <a:rPr lang="en-US" altLang="zh-CN" sz="2800" b="0" i="0" dirty="0">
                <a:effectLst/>
                <a:latin typeface="+mj-lt"/>
              </a:rPr>
              <a:t>supports </a:t>
            </a:r>
            <a:r>
              <a:rPr lang="en-US" altLang="zh-CN" sz="2800" b="1" i="0" dirty="0">
                <a:effectLst/>
                <a:latin typeface="Times New Roman" panose="02020603050405020304" pitchFamily="18" charset="0"/>
                <a:cs typeface="Times New Roman" panose="02020603050405020304" pitchFamily="18" charset="0"/>
              </a:rPr>
              <a:t>distributed systems</a:t>
            </a:r>
            <a:r>
              <a:rPr lang="en-US" altLang="zh-CN" sz="2800" b="0" i="0" dirty="0">
                <a:effectLst/>
                <a:latin typeface="+mj-lt"/>
              </a:rPr>
              <a:t>.</a:t>
            </a:r>
          </a:p>
          <a:p>
            <a:pPr marR="0" lvl="0" algn="l" defTabSz="457200" rtl="0" eaLnBrk="1" fontAlgn="auto" latinLnBrk="0" hangingPunct="1">
              <a:lnSpc>
                <a:spcPct val="100000"/>
              </a:lnSpc>
              <a:spcBef>
                <a:spcPts val="0"/>
              </a:spcBef>
              <a:spcAft>
                <a:spcPts val="0"/>
              </a:spcAft>
              <a:buClrTx/>
              <a:buSzTx/>
              <a:tabLst/>
              <a:defRPr/>
            </a:pPr>
            <a:r>
              <a:rPr kumimoji="0" lang="en-US" altLang="zh-CN" sz="2800" u="none" strike="noStrike" kern="1200" cap="none" spc="0" normalizeH="0" baseline="0" noProof="0" dirty="0">
                <a:ln>
                  <a:noFill/>
                </a:ln>
                <a:solidFill>
                  <a:srgbClr val="000000"/>
                </a:solidFill>
                <a:uLnTx/>
                <a:uFillTx/>
                <a:latin typeface="+mj-lt"/>
                <a:ea typeface="等线" panose="02010600030101010101" pitchFamily="2" charset="-122"/>
                <a:cs typeface="Times New Roman" panose="02020603050405020304" pitchFamily="18" charset="0"/>
              </a:rPr>
              <a:t>    </a:t>
            </a:r>
            <a:r>
              <a:rPr lang="en-US" altLang="zh-CN" sz="2800" dirty="0">
                <a:solidFill>
                  <a:srgbClr val="000000"/>
                </a:solidFill>
                <a:latin typeface="+mj-lt"/>
                <a:ea typeface="等线" panose="02010600030101010101" pitchFamily="2" charset="-122"/>
                <a:cs typeface="Times New Roman" panose="02020603050405020304" pitchFamily="18" charset="0"/>
              </a:rPr>
              <a:t>(2) </a:t>
            </a:r>
            <a:r>
              <a:rPr lang="en-US" altLang="zh-CN" sz="2800" b="1" i="0" dirty="0">
                <a:effectLst/>
                <a:latin typeface="Times New Roman" panose="02020603050405020304" pitchFamily="18" charset="0"/>
                <a:cs typeface="Times New Roman" panose="02020603050405020304" pitchFamily="18" charset="0"/>
              </a:rPr>
              <a:t>key-value</a:t>
            </a:r>
            <a:r>
              <a:rPr lang="en-US" altLang="zh-CN" sz="2800" b="0" i="0" dirty="0">
                <a:effectLst/>
                <a:latin typeface="+mj-lt"/>
              </a:rPr>
              <a:t> storage system</a:t>
            </a:r>
          </a:p>
          <a:p>
            <a:pPr marR="0" lvl="0" algn="l" defTabSz="457200" rtl="0" eaLnBrk="1" fontAlgn="auto" latinLnBrk="0" hangingPunct="1">
              <a:lnSpc>
                <a:spcPct val="100000"/>
              </a:lnSpc>
              <a:spcBef>
                <a:spcPts val="0"/>
              </a:spcBef>
              <a:spcAft>
                <a:spcPts val="0"/>
              </a:spcAft>
              <a:buClrTx/>
              <a:buSzTx/>
              <a:tabLst/>
              <a:defRPr/>
            </a:pPr>
            <a:r>
              <a:rPr kumimoji="0" lang="en-US" altLang="zh-CN" sz="2800" u="none" strike="noStrike" kern="1200" cap="none" spc="0" normalizeH="0" baseline="0" noProof="0" dirty="0">
                <a:ln>
                  <a:noFill/>
                </a:ln>
                <a:solidFill>
                  <a:srgbClr val="000000"/>
                </a:solidFill>
                <a:uLnTx/>
                <a:uFillTx/>
                <a:latin typeface="+mj-lt"/>
                <a:ea typeface="等线" panose="02010600030101010101" pitchFamily="2" charset="-122"/>
                <a:cs typeface="Times New Roman" panose="02020603050405020304" pitchFamily="18" charset="0"/>
              </a:rPr>
              <a:t>    (3) </a:t>
            </a:r>
            <a:r>
              <a:rPr lang="en-US" altLang="zh-CN" sz="2800" b="1" i="0" dirty="0">
                <a:effectLst/>
                <a:latin typeface="Times New Roman" panose="02020603050405020304" pitchFamily="18" charset="0"/>
                <a:cs typeface="Times New Roman" panose="02020603050405020304" pitchFamily="18" charset="0"/>
              </a:rPr>
              <a:t>high processing speed</a:t>
            </a:r>
            <a:r>
              <a:rPr lang="en-US" altLang="zh-CN" sz="2800" b="0" i="0" dirty="0">
                <a:effectLst/>
                <a:latin typeface="+mj-lt"/>
              </a:rPr>
              <a:t>.</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data types like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hashes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strings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are also supported.</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Costs: It’s an open-source tool.</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Website: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hlinkClick r:id="rId3"/>
              </a:rPr>
              <a:t>Redis</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sp>
        <p:nvSpPr>
          <p:cNvPr id="3" name="Rectangle 6">
            <a:extLst>
              <a:ext uri="{FF2B5EF4-FFF2-40B4-BE49-F238E27FC236}">
                <a16:creationId xmlns:a16="http://schemas.microsoft.com/office/drawing/2014/main" id="{56594B31-CCBD-0734-6D5F-D9B0F4B533D4}"/>
              </a:ext>
            </a:extLst>
          </p:cNvPr>
          <p:cNvSpPr/>
          <p:nvPr/>
        </p:nvSpPr>
        <p:spPr>
          <a:xfrm>
            <a:off x="411179" y="136568"/>
            <a:ext cx="4405667"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3. Redis</a:t>
            </a:r>
          </a:p>
        </p:txBody>
      </p:sp>
      <p:pic>
        <p:nvPicPr>
          <p:cNvPr id="5" name="图片 4">
            <a:extLst>
              <a:ext uri="{FF2B5EF4-FFF2-40B4-BE49-F238E27FC236}">
                <a16:creationId xmlns:a16="http://schemas.microsoft.com/office/drawing/2014/main" id="{2F79B3E4-676D-4123-1C83-EFBAD1504501}"/>
              </a:ext>
            </a:extLst>
          </p:cNvPr>
          <p:cNvPicPr>
            <a:picLocks noChangeAspect="1"/>
          </p:cNvPicPr>
          <p:nvPr/>
        </p:nvPicPr>
        <p:blipFill>
          <a:blip r:embed="rId4"/>
          <a:stretch>
            <a:fillRect/>
          </a:stretch>
        </p:blipFill>
        <p:spPr>
          <a:xfrm>
            <a:off x="8471743" y="5230917"/>
            <a:ext cx="2412052" cy="1113256"/>
          </a:xfrm>
          <a:prstGeom prst="rect">
            <a:avLst/>
          </a:prstGeom>
          <a:ln w="38100" cap="sq">
            <a:solidFill>
              <a:srgbClr val="DC382C"/>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189298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C0061AF-D4F9-2849-6C58-A7E17FB31EB3}"/>
              </a:ext>
            </a:extLst>
          </p:cNvPr>
          <p:cNvSpPr/>
          <p:nvPr/>
        </p:nvSpPr>
        <p:spPr>
          <a:xfrm>
            <a:off x="345191" y="0"/>
            <a:ext cx="4405667"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4. </a:t>
            </a:r>
            <a:r>
              <a:rPr lang="en-US" altLang="zh-CN" sz="6000" b="1" dirty="0">
                <a:solidFill>
                  <a:srgbClr val="33339B"/>
                </a:solidFill>
                <a:latin typeface="Times New Roman" panose="02020603050405020304" pitchFamily="18" charset="0"/>
                <a:cs typeface="Times New Roman" panose="02020603050405020304" pitchFamily="18" charset="0"/>
              </a:rPr>
              <a:t>Neo4j</a:t>
            </a:r>
            <a:endParaRPr lang="en-US" sz="6000" b="1" dirty="0">
              <a:solidFill>
                <a:srgbClr val="33339B"/>
              </a:solidFill>
              <a:latin typeface="Times New Roman" panose="02020603050405020304" pitchFamily="18" charset="0"/>
              <a:cs typeface="Times New Roman" panose="02020603050405020304" pitchFamily="18" charset="0"/>
            </a:endParaRPr>
          </a:p>
        </p:txBody>
      </p:sp>
      <p:sp>
        <p:nvSpPr>
          <p:cNvPr id="15" name="文本框 14">
            <a:extLst>
              <a:ext uri="{FF2B5EF4-FFF2-40B4-BE49-F238E27FC236}">
                <a16:creationId xmlns:a16="http://schemas.microsoft.com/office/drawing/2014/main" id="{A2CC891B-A7F9-46EB-B79E-472BC992A6E8}"/>
              </a:ext>
            </a:extLst>
          </p:cNvPr>
          <p:cNvSpPr txBox="1"/>
          <p:nvPr/>
        </p:nvSpPr>
        <p:spPr>
          <a:xfrm>
            <a:off x="354293" y="1015663"/>
            <a:ext cx="10143182" cy="5693866"/>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The latest stable version is 5.12. </a:t>
            </a:r>
            <a:r>
              <a:rPr lang="en-US" altLang="zh-CN" sz="2800" dirty="0">
                <a:solidFill>
                  <a:srgbClr val="000000"/>
                </a:solidFill>
                <a:latin typeface="+mj-lt"/>
                <a:ea typeface="等线" panose="02010600030101010101" pitchFamily="2" charset="-122"/>
                <a:cs typeface="Times New Roman" panose="02020603050405020304" pitchFamily="18" charset="0"/>
              </a:rPr>
              <a:t>C</a:t>
            </a:r>
            <a:r>
              <a:rPr kumimoji="0" lang="en-US" altLang="zh-CN" sz="2800" i="0" u="none" strike="noStrike" kern="1200" cap="none" spc="0" normalizeH="0" baseline="0" noProof="0" dirty="0" err="1">
                <a:ln>
                  <a:noFill/>
                </a:ln>
                <a:solidFill>
                  <a:srgbClr val="000000"/>
                </a:solidFill>
                <a:effectLst/>
                <a:uLnTx/>
                <a:uFillTx/>
                <a:latin typeface="+mj-lt"/>
                <a:ea typeface="等线" panose="02010600030101010101" pitchFamily="2" charset="-122"/>
                <a:cs typeface="Times New Roman" panose="02020603050405020304" pitchFamily="18" charset="0"/>
              </a:rPr>
              <a:t>oded</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Java</a:t>
            </a:r>
          </a:p>
          <a:p>
            <a:pPr marR="0" lvl="0" algn="l" defTabSz="457200" rtl="0" eaLnBrk="1" fontAlgn="auto" latinLnBrk="0" hangingPunct="1">
              <a:lnSpc>
                <a:spcPct val="100000"/>
              </a:lnSpc>
              <a:spcBef>
                <a:spcPts val="0"/>
              </a:spcBef>
              <a:spcAft>
                <a:spcPts val="0"/>
              </a:spcAft>
              <a:buClrTx/>
              <a:buSzTx/>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a:t>
            </a: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Graph database(NoSQL)</a:t>
            </a:r>
            <a:r>
              <a:rPr lang="en-US" altLang="zh-CN" sz="2800"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a:t>
            </a:r>
            <a:r>
              <a:rPr lang="zh-CN" altLang="en-US" sz="2800"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 </a:t>
            </a:r>
            <a:r>
              <a:rPr lang="en-US" altLang="zh-CN" sz="2800" dirty="0">
                <a:solidFill>
                  <a:srgbClr val="000000"/>
                </a:solidFill>
                <a:latin typeface="+mj-lt"/>
                <a:ea typeface="等线" panose="02010600030101010101" pitchFamily="2" charset="-122"/>
                <a:cs typeface="Times New Roman" panose="02020603050405020304" pitchFamily="18" charset="0"/>
              </a:rPr>
              <a:t>used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on Windows and Linux/Unix operating systems.</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Few features of this tool are: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(1)Stores data in the form of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graphs</a:t>
            </a:r>
            <a:r>
              <a:rPr lang="en-US" altLang="zh-CN" sz="2800" dirty="0">
                <a:solidFill>
                  <a:srgbClr val="000000"/>
                </a:solidFill>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nodes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edges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attributes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of nodes and edges).</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(2)Using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Cypher query language (CQL),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easy to learn.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(3) easy to represent and manage data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connected relationships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Costs:</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lang="en-US" altLang="zh-CN" sz="2800" i="0" dirty="0">
                <a:solidFill>
                  <a:srgbClr val="121212"/>
                </a:solidFill>
                <a:effectLst/>
                <a:latin typeface="-apple-system"/>
              </a:rPr>
              <a:t> </a:t>
            </a:r>
            <a:r>
              <a:rPr lang="en-US" altLang="zh-CN" sz="2800" i="0" dirty="0">
                <a:solidFill>
                  <a:srgbClr val="121212"/>
                </a:solidFill>
                <a:effectLst/>
                <a:latin typeface="Roboto" panose="02000000000000000000" pitchFamily="2" charset="0"/>
                <a:ea typeface="Roboto" panose="02000000000000000000" pitchFamily="2" charset="0"/>
              </a:rPr>
              <a:t>Open-source and free for Community Server</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p>
          <a:p>
            <a:pPr lvl="3">
              <a:defRPr/>
            </a:pPr>
            <a:r>
              <a:rPr lang="en-US" altLang="zh-CN" sz="2800" dirty="0">
                <a:latin typeface="Roboto" panose="02000000000000000000" pitchFamily="2" charset="0"/>
              </a:rPr>
              <a:t>C</a:t>
            </a:r>
            <a:r>
              <a:rPr lang="en-US" altLang="zh-CN" sz="2800" i="0" dirty="0">
                <a:effectLst/>
                <a:latin typeface="Roboto" panose="02000000000000000000" pitchFamily="2" charset="0"/>
              </a:rPr>
              <a:t>ommercial fees for </a:t>
            </a:r>
            <a:r>
              <a:rPr lang="en-US" altLang="zh-CN" sz="2800" i="0" dirty="0">
                <a:solidFill>
                  <a:srgbClr val="121212"/>
                </a:solidFill>
                <a:effectLst/>
                <a:latin typeface="-apple-system"/>
              </a:rPr>
              <a:t>Enterprise Edition</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Website: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hlinkClick r:id="rId3"/>
              </a:rPr>
              <a:t>Neo4j</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pic>
        <p:nvPicPr>
          <p:cNvPr id="4" name="图片 3">
            <a:extLst>
              <a:ext uri="{FF2B5EF4-FFF2-40B4-BE49-F238E27FC236}">
                <a16:creationId xmlns:a16="http://schemas.microsoft.com/office/drawing/2014/main" id="{8F11609A-CF12-5552-7A28-B6CFF28A3C59}"/>
              </a:ext>
            </a:extLst>
          </p:cNvPr>
          <p:cNvPicPr>
            <a:picLocks noChangeAspect="1"/>
          </p:cNvPicPr>
          <p:nvPr/>
        </p:nvPicPr>
        <p:blipFill>
          <a:blip r:embed="rId4"/>
          <a:stretch>
            <a:fillRect/>
          </a:stretch>
        </p:blipFill>
        <p:spPr>
          <a:xfrm>
            <a:off x="9365793" y="5350195"/>
            <a:ext cx="2263365" cy="1180282"/>
          </a:xfrm>
          <a:prstGeom prst="rect">
            <a:avLst/>
          </a:prstGeom>
          <a:ln w="38100" cap="sq">
            <a:solidFill>
              <a:srgbClr val="018BFF"/>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8216053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C0061AF-D4F9-2849-6C58-A7E17FB31EB3}"/>
              </a:ext>
            </a:extLst>
          </p:cNvPr>
          <p:cNvSpPr/>
          <p:nvPr/>
        </p:nvSpPr>
        <p:spPr>
          <a:xfrm>
            <a:off x="580861" y="353384"/>
            <a:ext cx="4405667"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5. </a:t>
            </a:r>
            <a:r>
              <a:rPr kumimoji="0" lang="en-US" altLang="zh-CN" sz="6000" b="1" i="0" u="none" strike="noStrike" kern="1200" cap="none" spc="0" normalizeH="0" baseline="0" noProof="0" dirty="0">
                <a:ln>
                  <a:noFill/>
                </a:ln>
                <a:solidFill>
                  <a:srgbClr val="33339B"/>
                </a:solidFill>
                <a:effectLst/>
                <a:uLnTx/>
                <a:uFillTx/>
                <a:latin typeface="Times New Roman" panose="02020603050405020304" pitchFamily="18" charset="0"/>
                <a:ea typeface="+mn-ea"/>
                <a:cs typeface="Times New Roman" panose="02020603050405020304" pitchFamily="18" charset="0"/>
              </a:rPr>
              <a:t>OrientDB</a:t>
            </a:r>
            <a:endParaRPr lang="en-US" sz="6000" b="1" dirty="0">
              <a:solidFill>
                <a:srgbClr val="33339B"/>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80D2A5E3-4AD1-B544-4088-F7280ED4A88C}"/>
              </a:ext>
            </a:extLst>
          </p:cNvPr>
          <p:cNvSpPr txBox="1"/>
          <p:nvPr/>
        </p:nvSpPr>
        <p:spPr>
          <a:xfrm>
            <a:off x="580861" y="1524480"/>
            <a:ext cx="10184125" cy="4832092"/>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The latest stable version is 3.2.23. It is coded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Java</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language</a:t>
            </a:r>
          </a:p>
          <a:p>
            <a:pPr marR="0" lvl="0" algn="l" defTabSz="457200" rtl="0" eaLnBrk="1" fontAlgn="auto" latinLnBrk="0" hangingPunct="1">
              <a:lnSpc>
                <a:spcPct val="100000"/>
              </a:lnSpc>
              <a:spcBef>
                <a:spcPts val="0"/>
              </a:spcBef>
              <a:spcAft>
                <a:spcPts val="0"/>
              </a:spcAft>
              <a:buClrTx/>
              <a:buSzTx/>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NoSQL</a:t>
            </a:r>
            <a:r>
              <a:rPr lang="en-US" altLang="zh-CN" sz="2800"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 ,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used on Windows and Linux platforms.</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Few features of this tool are:</a:t>
            </a:r>
          </a:p>
          <a:p>
            <a:pPr marL="0" marR="0" lvl="0" indent="0" defTabSz="457200" rtl="0" eaLnBrk="1" fontAlgn="auto" latinLnBrk="0" hangingPunct="1">
              <a:lnSpc>
                <a:spcPct val="100000"/>
              </a:lnSpc>
              <a:spcBef>
                <a:spcPts val="0"/>
              </a:spcBef>
              <a:spcAft>
                <a:spcPts val="0"/>
              </a:spcAft>
              <a:buClrTx/>
              <a:buSzTx/>
              <a:buFontTx/>
              <a:buNone/>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(1) A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graphical database</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p>
          <a:p>
            <a:pPr marL="0" marR="0" lvl="0" indent="0" defTabSz="457200" rtl="0" eaLnBrk="1" fontAlgn="auto" latinLnBrk="0" hangingPunct="1">
              <a:lnSpc>
                <a:spcPct val="100000"/>
              </a:lnSpc>
              <a:spcBef>
                <a:spcPts val="0"/>
              </a:spcBef>
              <a:spcAft>
                <a:spcPts val="0"/>
              </a:spcAft>
              <a:buClrTx/>
              <a:buSzTx/>
              <a:buFontTx/>
              <a:buNone/>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(2)</a:t>
            </a:r>
            <a:r>
              <a:rPr lang="en-US" altLang="zh-CN" sz="2800" dirty="0">
                <a:solidFill>
                  <a:srgbClr val="000000"/>
                </a:solidFill>
                <a:latin typeface="+mj-lt"/>
                <a:ea typeface="等线" panose="02010600030101010101" pitchFamily="2" charset="-122"/>
                <a:cs typeface="Times New Roman" panose="02020603050405020304" pitchFamily="18" charset="0"/>
              </a:rPr>
              <a:t> W</a:t>
            </a:r>
            <a:r>
              <a:rPr kumimoji="0" lang="en-US" altLang="zh-CN" sz="2800" i="0" u="none" strike="noStrike" kern="1200" cap="none" spc="0" normalizeH="0" baseline="0" noProof="0" dirty="0" err="1">
                <a:ln>
                  <a:noFill/>
                </a:ln>
                <a:solidFill>
                  <a:srgbClr val="000000"/>
                </a:solidFill>
                <a:effectLst/>
                <a:uLnTx/>
                <a:uFillTx/>
                <a:latin typeface="+mj-lt"/>
                <a:ea typeface="等线" panose="02010600030101010101" pitchFamily="2" charset="-122"/>
                <a:cs typeface="Times New Roman" panose="02020603050405020304" pitchFamily="18" charset="0"/>
              </a:rPr>
              <a:t>idely</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used across big data market and in real-time web-based applications.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Costs: It’s an open-source tool.</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Website: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hlinkClick r:id="rId3"/>
              </a:rPr>
              <a:t>OrientDB</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pic>
        <p:nvPicPr>
          <p:cNvPr id="5" name="图片 4">
            <a:extLst>
              <a:ext uri="{FF2B5EF4-FFF2-40B4-BE49-F238E27FC236}">
                <a16:creationId xmlns:a16="http://schemas.microsoft.com/office/drawing/2014/main" id="{F12E2606-183A-7BCD-512E-E959B7EF4A67}"/>
              </a:ext>
            </a:extLst>
          </p:cNvPr>
          <p:cNvPicPr>
            <a:picLocks noChangeAspect="1"/>
          </p:cNvPicPr>
          <p:nvPr/>
        </p:nvPicPr>
        <p:blipFill>
          <a:blip r:embed="rId4"/>
          <a:stretch>
            <a:fillRect/>
          </a:stretch>
        </p:blipFill>
        <p:spPr>
          <a:xfrm>
            <a:off x="8436130" y="5267398"/>
            <a:ext cx="2495451" cy="1089174"/>
          </a:xfrm>
          <a:prstGeom prst="rect">
            <a:avLst/>
          </a:prstGeom>
          <a:ln w="38100" cap="sq">
            <a:solidFill>
              <a:srgbClr val="FC6B36"/>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948725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C0061AF-D4F9-2849-6C58-A7E17FB31EB3}"/>
              </a:ext>
            </a:extLst>
          </p:cNvPr>
          <p:cNvSpPr/>
          <p:nvPr/>
        </p:nvSpPr>
        <p:spPr>
          <a:xfrm>
            <a:off x="580861" y="353384"/>
            <a:ext cx="5819939"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6000" b="1" dirty="0">
                <a:solidFill>
                  <a:srgbClr val="33339B"/>
                </a:solidFill>
                <a:latin typeface="Times New Roman" panose="02020603050405020304" pitchFamily="18" charset="0"/>
                <a:cs typeface="Times New Roman" panose="02020603050405020304" pitchFamily="18" charset="0"/>
              </a:rPr>
              <a:t>6. phpMyAdmin </a:t>
            </a:r>
          </a:p>
        </p:txBody>
      </p:sp>
      <p:sp>
        <p:nvSpPr>
          <p:cNvPr id="5" name="文本框 4">
            <a:extLst>
              <a:ext uri="{FF2B5EF4-FFF2-40B4-BE49-F238E27FC236}">
                <a16:creationId xmlns:a16="http://schemas.microsoft.com/office/drawing/2014/main" id="{847997E0-470B-D3D1-8AD9-017E25E32FBD}"/>
              </a:ext>
            </a:extLst>
          </p:cNvPr>
          <p:cNvSpPr txBox="1"/>
          <p:nvPr/>
        </p:nvSpPr>
        <p:spPr>
          <a:xfrm>
            <a:off x="839788" y="1557338"/>
            <a:ext cx="11414078" cy="4832092"/>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The latest stable release is 5.2.1. It is coded primarily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PHP</a:t>
            </a:r>
            <a:r>
              <a:rPr lang="en-US" altLang="zh-CN" sz="2800" b="1" dirty="0">
                <a:solidFill>
                  <a:srgbClr val="000000"/>
                </a:solidFill>
                <a:latin typeface="+mj-lt"/>
                <a:ea typeface="等线" panose="02010600030101010101" pitchFamily="2" charset="-122"/>
                <a:cs typeface="Times New Roman" panose="02020603050405020304" pitchFamily="18" charset="0"/>
              </a:rPr>
              <a:t>.</a:t>
            </a: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R="0" lvl="0" algn="l" defTabSz="457200" rtl="0" eaLnBrk="1" fontAlgn="auto" latinLnBrk="0" hangingPunct="1">
              <a:lnSpc>
                <a:spcPct val="100000"/>
              </a:lnSpc>
              <a:spcBef>
                <a:spcPts val="0"/>
              </a:spcBef>
              <a:spcAft>
                <a:spcPts val="0"/>
              </a:spcAft>
              <a:buClrTx/>
              <a:buSzTx/>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It can work on Windows and Linux operating systems. </a:t>
            </a:r>
          </a:p>
          <a:p>
            <a:pPr marR="0" lvl="0" algn="l" defTabSz="457200" rtl="0" eaLnBrk="1" fontAlgn="auto" latinLnBrk="0" hangingPunct="1">
              <a:lnSpc>
                <a:spcPct val="100000"/>
              </a:lnSpc>
              <a:spcBef>
                <a:spcPts val="0"/>
              </a:spcBef>
              <a:spcAft>
                <a:spcPts val="0"/>
              </a:spcAft>
              <a:buClrTx/>
              <a:buSzTx/>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Few features of this tool are:</a:t>
            </a:r>
          </a:p>
          <a:p>
            <a:pPr marR="0" lvl="0" algn="l" defTabSz="457200" rtl="0" eaLnBrk="1" fontAlgn="auto" latinLnBrk="0" hangingPunct="1">
              <a:lnSpc>
                <a:spcPct val="100000"/>
              </a:lnSpc>
              <a:spcBef>
                <a:spcPts val="0"/>
              </a:spcBef>
              <a:spcAft>
                <a:spcPts val="0"/>
              </a:spcAft>
              <a:buClrTx/>
              <a:buSzTx/>
              <a:tabLst/>
              <a:defRPr/>
            </a:pPr>
            <a:r>
              <a:rPr lang="en-US" altLang="zh-CN" sz="2800" dirty="0">
                <a:solidFill>
                  <a:srgbClr val="000000"/>
                </a:solidFill>
                <a:latin typeface="+mj-lt"/>
                <a:ea typeface="等线" panose="02010600030101010101" pitchFamily="2" charset="-122"/>
                <a:cs typeface="Times New Roman" panose="02020603050405020304" pitchFamily="18" charset="0"/>
              </a:rPr>
              <a:t>    (1) Use the </a:t>
            </a: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web interface </a:t>
            </a:r>
            <a:r>
              <a:rPr lang="en-US" altLang="zh-CN" sz="2800" dirty="0">
                <a:solidFill>
                  <a:srgbClr val="000000"/>
                </a:solidFill>
                <a:latin typeface="+mj-lt"/>
                <a:ea typeface="等线" panose="02010600030101010101" pitchFamily="2" charset="-122"/>
                <a:cs typeface="Times New Roman" panose="02020603050405020304" pitchFamily="18" charset="0"/>
              </a:rPr>
              <a:t>to manage </a:t>
            </a:r>
            <a:r>
              <a:rPr lang="en-US" altLang="zh-CN" sz="2800" b="1" dirty="0">
                <a:solidFill>
                  <a:srgbClr val="000000"/>
                </a:solidFill>
                <a:latin typeface="Times New Roman" panose="02020603050405020304" pitchFamily="18" charset="0"/>
                <a:ea typeface="等线" panose="02010600030101010101" pitchFamily="2" charset="-122"/>
                <a:cs typeface="Times New Roman" panose="02020603050405020304" pitchFamily="18" charset="0"/>
              </a:rPr>
              <a:t>MySQL databases.</a:t>
            </a:r>
            <a:endPar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(2)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Interface</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is user-friendly, data can be exported in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CSV</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SQL</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XML</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files and it can be imported from both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CSV</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and </a:t>
            </a:r>
            <a:r>
              <a:rPr kumimoji="0" lang="en-US" altLang="zh-CN" sz="2800" b="1" i="0" u="none" strike="noStrike" kern="1200" cap="none" spc="0" normalizeH="0" baseline="0" noProof="0" dirty="0">
                <a:ln>
                  <a:noFill/>
                </a:ln>
                <a:solidFill>
                  <a:srgbClr val="000000"/>
                </a:solidFill>
                <a:effectLst/>
                <a:uLnTx/>
                <a:uFillTx/>
                <a:latin typeface="Times New Roman" panose="02020603050405020304" pitchFamily="18" charset="0"/>
                <a:ea typeface="等线" panose="02010600030101010101" pitchFamily="2" charset="-122"/>
                <a:cs typeface="Times New Roman" panose="02020603050405020304" pitchFamily="18" charset="0"/>
              </a:rPr>
              <a:t>SQL</a:t>
            </a:r>
            <a:r>
              <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 file formats.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Costs: It’s an open-source tool.</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rPr>
              <a:t>Website: </a:t>
            </a:r>
            <a:r>
              <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hlinkClick r:id="rId3"/>
              </a:rPr>
              <a:t>phpMyAdmin</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pic>
        <p:nvPicPr>
          <p:cNvPr id="7" name="图片 6">
            <a:extLst>
              <a:ext uri="{FF2B5EF4-FFF2-40B4-BE49-F238E27FC236}">
                <a16:creationId xmlns:a16="http://schemas.microsoft.com/office/drawing/2014/main" id="{35DF450A-E5D0-AC6E-7FF2-A0B67FE1865A}"/>
              </a:ext>
            </a:extLst>
          </p:cNvPr>
          <p:cNvPicPr>
            <a:picLocks noChangeAspect="1"/>
          </p:cNvPicPr>
          <p:nvPr/>
        </p:nvPicPr>
        <p:blipFill>
          <a:blip r:embed="rId4"/>
          <a:stretch>
            <a:fillRect/>
          </a:stretch>
        </p:blipFill>
        <p:spPr>
          <a:xfrm>
            <a:off x="8445552" y="4994566"/>
            <a:ext cx="2513600" cy="1592982"/>
          </a:xfrm>
          <a:prstGeom prst="rect">
            <a:avLst/>
          </a:prstGeom>
          <a:ln w="38100" cap="sq">
            <a:solidFill>
              <a:srgbClr val="F89F14"/>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1451035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a:extLst>
              <a:ext uri="{FF2B5EF4-FFF2-40B4-BE49-F238E27FC236}">
                <a16:creationId xmlns:a16="http://schemas.microsoft.com/office/drawing/2014/main" id="{641636A8-5C0E-FADC-2EE7-88A53AEB4E72}"/>
              </a:ext>
            </a:extLst>
          </p:cNvPr>
          <p:cNvSpPr/>
          <p:nvPr/>
        </p:nvSpPr>
        <p:spPr>
          <a:xfrm>
            <a:off x="580861" y="353384"/>
            <a:ext cx="6925408" cy="1015663"/>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zh-CN" sz="6000" b="1" i="0" u="none" strike="noStrike" kern="1200" cap="none" spc="0" normalizeH="0" baseline="0" noProof="0" dirty="0">
                <a:ln>
                  <a:noFill/>
                </a:ln>
                <a:solidFill>
                  <a:srgbClr val="33339B"/>
                </a:solidFill>
                <a:effectLst/>
                <a:uLnTx/>
                <a:uFillTx/>
                <a:latin typeface="Times New Roman" panose="02020603050405020304" pitchFamily="18" charset="0"/>
                <a:ea typeface="+mn-ea"/>
                <a:cs typeface="Times New Roman" panose="02020603050405020304" pitchFamily="18" charset="0"/>
              </a:rPr>
              <a:t>7. SQL Developer </a:t>
            </a:r>
          </a:p>
        </p:txBody>
      </p:sp>
      <p:sp>
        <p:nvSpPr>
          <p:cNvPr id="15" name="文本框 14">
            <a:extLst>
              <a:ext uri="{FF2B5EF4-FFF2-40B4-BE49-F238E27FC236}">
                <a16:creationId xmlns:a16="http://schemas.microsoft.com/office/drawing/2014/main" id="{A2CC891B-A7F9-46EB-B79E-472BC992A6E8}"/>
              </a:ext>
            </a:extLst>
          </p:cNvPr>
          <p:cNvSpPr txBox="1"/>
          <p:nvPr/>
        </p:nvSpPr>
        <p:spPr>
          <a:xfrm>
            <a:off x="670106" y="1369047"/>
            <a:ext cx="10347898" cy="5262979"/>
          </a:xfrm>
          <a:prstGeom prst="rect">
            <a:avLst/>
          </a:prstGeom>
          <a:noFill/>
        </p:spPr>
        <p:txBody>
          <a:bodyPr wrap="square">
            <a:spAutoFit/>
          </a:bodyPr>
          <a:lstStyle>
            <a:defPPr>
              <a:defRPr lang="en-US"/>
            </a:defPPr>
            <a:lvl1pPr marL="342900" marR="0" lvl="0" indent="-342900" fontAlgn="auto">
              <a:lnSpc>
                <a:spcPct val="100000"/>
              </a:lnSpc>
              <a:spcBef>
                <a:spcPts val="0"/>
              </a:spcBef>
              <a:spcAft>
                <a:spcPts val="0"/>
              </a:spcAft>
              <a:buClrTx/>
              <a:buSzTx/>
              <a:buFont typeface="Wingdings" panose="05000000000000000000" pitchFamily="2" charset="2"/>
              <a:buChar char="§"/>
              <a:tabLst/>
              <a:defRPr kumimoji="0" sz="2800" b="1" i="0" u="none" strike="noStrike" cap="none" spc="0" normalizeH="0" baseline="0">
                <a:ln>
                  <a:noFill/>
                </a:ln>
                <a:solidFill>
                  <a:srgbClr val="000000"/>
                </a:solidFill>
                <a:effectLst/>
                <a:uLnTx/>
                <a:uFillTx/>
                <a:latin typeface="+mj-lt"/>
                <a:ea typeface="等线" panose="02010600030101010101" pitchFamily="2" charset="-122"/>
                <a:cs typeface="Times New Roman" panose="02020603050405020304" pitchFamily="18" charset="0"/>
              </a:defRPr>
            </a:lvl1pPr>
          </a:lstStyle>
          <a:p>
            <a:r>
              <a:rPr lang="en-US" altLang="zh-CN" b="0" dirty="0"/>
              <a:t>The latest stable release is 23.1. It is coded in </a:t>
            </a:r>
            <a:r>
              <a:rPr lang="en-US" altLang="zh-CN" dirty="0">
                <a:latin typeface="Times New Roman" panose="02020603050405020304" pitchFamily="18" charset="0"/>
              </a:rPr>
              <a:t>Java</a:t>
            </a:r>
            <a:r>
              <a:rPr lang="en-US" altLang="zh-CN" b="0" dirty="0"/>
              <a:t>.</a:t>
            </a:r>
          </a:p>
          <a:p>
            <a:pPr marL="0" indent="0">
              <a:buNone/>
            </a:pPr>
            <a:r>
              <a:rPr lang="en-US" altLang="zh-CN" b="0" dirty="0"/>
              <a:t>	It can work on Windows and Linux operating systems.</a:t>
            </a:r>
          </a:p>
          <a:p>
            <a:endParaRPr lang="en-US" altLang="zh-CN" dirty="0"/>
          </a:p>
          <a:p>
            <a:r>
              <a:rPr lang="en-US" altLang="zh-CN" b="0" dirty="0"/>
              <a:t>Few features of this tool are:</a:t>
            </a:r>
          </a:p>
          <a:p>
            <a:pPr marL="0" indent="0">
              <a:buNone/>
            </a:pPr>
            <a:r>
              <a:rPr lang="en-US" altLang="zh-CN" b="0" dirty="0"/>
              <a:t>     (1) </a:t>
            </a:r>
            <a:r>
              <a:rPr lang="en-US" altLang="zh-CN" dirty="0">
                <a:latin typeface="Times New Roman" panose="02020603050405020304" pitchFamily="18" charset="0"/>
              </a:rPr>
              <a:t>Graphical interface</a:t>
            </a:r>
            <a:r>
              <a:rPr lang="en-US" altLang="zh-CN" b="0" dirty="0"/>
              <a:t>.</a:t>
            </a:r>
          </a:p>
          <a:p>
            <a:pPr marL="0" indent="0">
              <a:buNone/>
            </a:pPr>
            <a:r>
              <a:rPr lang="en-US" altLang="zh-CN" b="0" dirty="0"/>
              <a:t>     (2) Less execution time. </a:t>
            </a:r>
          </a:p>
          <a:p>
            <a:pPr marL="0" indent="0">
              <a:buNone/>
            </a:pPr>
            <a:r>
              <a:rPr lang="en-US" altLang="zh-CN" b="0" dirty="0"/>
              <a:t>     (3) Queries can be run and generated in </a:t>
            </a:r>
            <a:r>
              <a:rPr lang="en-US" altLang="zh-CN" dirty="0">
                <a:latin typeface="Times New Roman" panose="02020603050405020304" pitchFamily="18" charset="0"/>
              </a:rPr>
              <a:t>many formats </a:t>
            </a:r>
            <a:r>
              <a:rPr lang="en-US" altLang="zh-CN" b="0" dirty="0"/>
              <a:t>such as HTML, PDF, XML, and Excel.</a:t>
            </a:r>
          </a:p>
          <a:p>
            <a:endParaRPr lang="en-US" altLang="zh-CN" dirty="0"/>
          </a:p>
          <a:p>
            <a:r>
              <a:rPr lang="en-US" altLang="zh-CN" dirty="0"/>
              <a:t>Costs: It’s an open-source tool.</a:t>
            </a:r>
          </a:p>
          <a:p>
            <a:endParaRPr lang="en-US" altLang="zh-CN" dirty="0"/>
          </a:p>
          <a:p>
            <a:r>
              <a:rPr lang="en-US" altLang="zh-CN" dirty="0"/>
              <a:t>Website: </a:t>
            </a:r>
            <a:r>
              <a:rPr lang="en-US" altLang="zh-CN" dirty="0">
                <a:hlinkClick r:id="rId3"/>
              </a:rPr>
              <a:t>SQL Developer</a:t>
            </a:r>
            <a:endParaRPr lang="en-US" altLang="zh-CN" dirty="0"/>
          </a:p>
        </p:txBody>
      </p:sp>
      <p:pic>
        <p:nvPicPr>
          <p:cNvPr id="5" name="图片 4">
            <a:extLst>
              <a:ext uri="{FF2B5EF4-FFF2-40B4-BE49-F238E27FC236}">
                <a16:creationId xmlns:a16="http://schemas.microsoft.com/office/drawing/2014/main" id="{78A6DDA0-4788-BCA8-C66B-ED20FB767183}"/>
              </a:ext>
            </a:extLst>
          </p:cNvPr>
          <p:cNvPicPr>
            <a:picLocks noChangeAspect="1"/>
          </p:cNvPicPr>
          <p:nvPr/>
        </p:nvPicPr>
        <p:blipFill>
          <a:blip r:embed="rId4"/>
          <a:stretch>
            <a:fillRect/>
          </a:stretch>
        </p:blipFill>
        <p:spPr>
          <a:xfrm>
            <a:off x="9031436" y="5189785"/>
            <a:ext cx="1313559" cy="1221378"/>
          </a:xfrm>
          <a:prstGeom prst="rect">
            <a:avLst/>
          </a:prstGeom>
          <a:ln w="38100" cap="sq">
            <a:solidFill>
              <a:srgbClr val="C74634"/>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50544112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22</a:t>
            </a:fld>
            <a:endParaRPr lang="en-US" dirty="0"/>
          </a:p>
        </p:txBody>
      </p:sp>
      <p:sp>
        <p:nvSpPr>
          <p:cNvPr id="4" name="Rectangle 9">
            <a:extLst>
              <a:ext uri="{FF2B5EF4-FFF2-40B4-BE49-F238E27FC236}">
                <a16:creationId xmlns:a16="http://schemas.microsoft.com/office/drawing/2014/main" id="{1AC0B806-6387-F2FD-44AC-0977F94B3639}"/>
              </a:ext>
            </a:extLst>
          </p:cNvPr>
          <p:cNvSpPr/>
          <p:nvPr/>
        </p:nvSpPr>
        <p:spPr>
          <a:xfrm>
            <a:off x="1465783" y="1432201"/>
            <a:ext cx="10448849" cy="4708981"/>
          </a:xfrm>
          <a:prstGeom prst="rect">
            <a:avLst/>
          </a:prstGeom>
        </p:spPr>
        <p:txBody>
          <a:bodyPr wrap="square">
            <a:spAutoFit/>
          </a:bodyPr>
          <a:lstStyle/>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Rules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Software Preparation</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Some Common DBMS</a:t>
            </a:r>
          </a:p>
          <a:p>
            <a:pPr marL="1028700" indent="-1028700">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Frontend Technology</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Project One Preview</a:t>
            </a:r>
            <a:endParaRPr lang="en-US" altLang="zh-CN" sz="6000" b="1" dirty="0">
              <a:solidFill>
                <a:schemeClr val="bg2">
                  <a:lumMod val="10000"/>
                </a:schemeClr>
              </a:solidFill>
              <a:latin typeface="+mj-lt"/>
              <a:cs typeface="Times New Roman" panose="02020603050405020304" pitchFamily="18" charset="0"/>
            </a:endParaRPr>
          </a:p>
        </p:txBody>
      </p:sp>
      <p:sp>
        <p:nvSpPr>
          <p:cNvPr id="5" name="Rectangle 9">
            <a:extLst>
              <a:ext uri="{FF2B5EF4-FFF2-40B4-BE49-F238E27FC236}">
                <a16:creationId xmlns:a16="http://schemas.microsoft.com/office/drawing/2014/main" id="{7106F1A5-75AF-66EF-949F-FDF721B8E2AD}"/>
              </a:ext>
            </a:extLst>
          </p:cNvPr>
          <p:cNvSpPr/>
          <p:nvPr/>
        </p:nvSpPr>
        <p:spPr>
          <a:xfrm>
            <a:off x="814963" y="351693"/>
            <a:ext cx="10562074" cy="1015663"/>
          </a:xfrm>
          <a:prstGeom prst="rect">
            <a:avLst/>
          </a:prstGeom>
        </p:spPr>
        <p:txBody>
          <a:bodyPr wrap="square">
            <a:spAutoFit/>
          </a:bodyPr>
          <a:lstStyle/>
          <a:p>
            <a:pPr algn="ctr"/>
            <a:r>
              <a:rPr lang="en-US" sz="6000" b="1" dirty="0">
                <a:solidFill>
                  <a:srgbClr val="C00000"/>
                </a:solidFill>
                <a:latin typeface="Times New Roman" panose="02020603050405020304" pitchFamily="18" charset="0"/>
                <a:cs typeface="Times New Roman" panose="02020603050405020304" pitchFamily="18" charset="0"/>
              </a:rPr>
              <a:t>0-Project Preparation</a:t>
            </a:r>
          </a:p>
        </p:txBody>
      </p:sp>
    </p:spTree>
    <p:extLst>
      <p:ext uri="{BB962C8B-B14F-4D97-AF65-F5344CB8AC3E}">
        <p14:creationId xmlns:p14="http://schemas.microsoft.com/office/powerpoint/2010/main" val="1423038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a:extLst>
              <a:ext uri="{FF2B5EF4-FFF2-40B4-BE49-F238E27FC236}">
                <a16:creationId xmlns:a16="http://schemas.microsoft.com/office/drawing/2014/main" id="{CDD196F6-1D01-78B9-BCC6-82A023159B4D}"/>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About Project Six</a:t>
            </a:r>
          </a:p>
        </p:txBody>
      </p:sp>
      <p:sp>
        <p:nvSpPr>
          <p:cNvPr id="8" name="文本框 7">
            <a:extLst>
              <a:ext uri="{FF2B5EF4-FFF2-40B4-BE49-F238E27FC236}">
                <a16:creationId xmlns:a16="http://schemas.microsoft.com/office/drawing/2014/main" id="{9A042C11-2DED-2236-E99C-0B9F6CA530AD}"/>
              </a:ext>
            </a:extLst>
          </p:cNvPr>
          <p:cNvSpPr txBox="1"/>
          <p:nvPr/>
        </p:nvSpPr>
        <p:spPr>
          <a:xfrm>
            <a:off x="289859" y="1522065"/>
            <a:ext cx="11612281" cy="707886"/>
          </a:xfrm>
          <a:prstGeom prst="rect">
            <a:avLst/>
          </a:prstGeom>
          <a:noFill/>
        </p:spPr>
        <p:txBody>
          <a:bodyPr wrap="none" rtlCol="0">
            <a:spAutoFit/>
          </a:bodyPr>
          <a:lstStyle/>
          <a:p>
            <a:pPr marL="571500" indent="-571500">
              <a:buFont typeface="Arial" panose="020B0604020202020204" pitchFamily="34" charset="0"/>
              <a:buChar char="•"/>
            </a:pPr>
            <a:r>
              <a:rPr lang="en-US" altLang="zh-CN" sz="4000" b="1" i="0" dirty="0">
                <a:solidFill>
                  <a:srgbClr val="2A2B2E"/>
                </a:solidFill>
                <a:effectLst/>
                <a:latin typeface="+mj-lt"/>
              </a:rPr>
              <a:t>Unlike Project One-Five, Project Six is a </a:t>
            </a:r>
            <a:r>
              <a:rPr lang="en-US" altLang="zh-CN" sz="4000" b="1" i="0" dirty="0">
                <a:solidFill>
                  <a:srgbClr val="C00000"/>
                </a:solidFill>
                <a:effectLst/>
                <a:latin typeface="+mj-lt"/>
              </a:rPr>
              <a:t>TEAM</a:t>
            </a:r>
            <a:r>
              <a:rPr lang="en-US" altLang="zh-CN" sz="4000" b="1" i="0" dirty="0">
                <a:solidFill>
                  <a:srgbClr val="2A2B2E"/>
                </a:solidFill>
                <a:effectLst/>
                <a:latin typeface="+mj-lt"/>
              </a:rPr>
              <a:t> project</a:t>
            </a:r>
          </a:p>
        </p:txBody>
      </p:sp>
      <p:sp>
        <p:nvSpPr>
          <p:cNvPr id="9" name="文本框 8">
            <a:extLst>
              <a:ext uri="{FF2B5EF4-FFF2-40B4-BE49-F238E27FC236}">
                <a16:creationId xmlns:a16="http://schemas.microsoft.com/office/drawing/2014/main" id="{55837BC5-F795-807E-704A-50E3FFAD042E}"/>
              </a:ext>
            </a:extLst>
          </p:cNvPr>
          <p:cNvSpPr txBox="1"/>
          <p:nvPr/>
        </p:nvSpPr>
        <p:spPr>
          <a:xfrm>
            <a:off x="289859" y="2360141"/>
            <a:ext cx="11468524" cy="707886"/>
          </a:xfrm>
          <a:prstGeom prst="rect">
            <a:avLst/>
          </a:prstGeom>
          <a:noFill/>
        </p:spPr>
        <p:txBody>
          <a:bodyPr wrap="none" rtlCol="0">
            <a:spAutoFit/>
          </a:bodyPr>
          <a:lstStyle/>
          <a:p>
            <a:pPr marL="571500" indent="-571500">
              <a:buFont typeface="Arial" panose="020B0604020202020204" pitchFamily="34" charset="0"/>
              <a:buChar char="•"/>
            </a:pPr>
            <a:r>
              <a:rPr lang="en-US" altLang="zh-CN" sz="4000" b="1" i="0" dirty="0">
                <a:solidFill>
                  <a:srgbClr val="2A2B2E"/>
                </a:solidFill>
                <a:effectLst/>
                <a:latin typeface="+mj-lt"/>
              </a:rPr>
              <a:t>In Project Six</a:t>
            </a:r>
            <a:r>
              <a:rPr lang="en-US" altLang="zh-CN" sz="4000" b="1" dirty="0">
                <a:solidFill>
                  <a:srgbClr val="2A2B2E"/>
                </a:solidFill>
                <a:latin typeface="+mj-lt"/>
              </a:rPr>
              <a:t>, you need to use  Frontend Technology</a:t>
            </a:r>
            <a:endParaRPr lang="en-US" altLang="zh-CN" sz="4000" b="1" i="0" dirty="0">
              <a:solidFill>
                <a:srgbClr val="2A2B2E"/>
              </a:solidFill>
              <a:effectLst/>
              <a:latin typeface="+mj-lt"/>
            </a:endParaRPr>
          </a:p>
        </p:txBody>
      </p:sp>
      <p:grpSp>
        <p:nvGrpSpPr>
          <p:cNvPr id="16" name="组合 15">
            <a:extLst>
              <a:ext uri="{FF2B5EF4-FFF2-40B4-BE49-F238E27FC236}">
                <a16:creationId xmlns:a16="http://schemas.microsoft.com/office/drawing/2014/main" id="{9C9AF9A5-7406-53B0-966C-47FAF20F455A}"/>
              </a:ext>
            </a:extLst>
          </p:cNvPr>
          <p:cNvGrpSpPr/>
          <p:nvPr/>
        </p:nvGrpSpPr>
        <p:grpSpPr>
          <a:xfrm>
            <a:off x="869744" y="3543079"/>
            <a:ext cx="10452511" cy="2421460"/>
            <a:chOff x="174300" y="3370083"/>
            <a:chExt cx="11843400" cy="2743677"/>
          </a:xfrm>
        </p:grpSpPr>
        <p:pic>
          <p:nvPicPr>
            <p:cNvPr id="11" name="图片 10">
              <a:extLst>
                <a:ext uri="{FF2B5EF4-FFF2-40B4-BE49-F238E27FC236}">
                  <a16:creationId xmlns:a16="http://schemas.microsoft.com/office/drawing/2014/main" id="{83182068-79D7-48D7-A3B7-E5DF86DDC17C}"/>
                </a:ext>
              </a:extLst>
            </p:cNvPr>
            <p:cNvPicPr>
              <a:picLocks noChangeAspect="1"/>
            </p:cNvPicPr>
            <p:nvPr/>
          </p:nvPicPr>
          <p:blipFill>
            <a:blip r:embed="rId3"/>
            <a:stretch>
              <a:fillRect/>
            </a:stretch>
          </p:blipFill>
          <p:spPr>
            <a:xfrm>
              <a:off x="174300" y="3370084"/>
              <a:ext cx="3830594" cy="2743676"/>
            </a:xfrm>
            <a:prstGeom prst="rect">
              <a:avLst/>
            </a:prstGeom>
            <a:ln>
              <a:solidFill>
                <a:schemeClr val="bg1">
                  <a:lumMod val="75000"/>
                </a:schemeClr>
              </a:solidFill>
            </a:ln>
          </p:spPr>
        </p:pic>
        <p:pic>
          <p:nvPicPr>
            <p:cNvPr id="13" name="图片 12">
              <a:extLst>
                <a:ext uri="{FF2B5EF4-FFF2-40B4-BE49-F238E27FC236}">
                  <a16:creationId xmlns:a16="http://schemas.microsoft.com/office/drawing/2014/main" id="{5E026BE0-5BBC-9B26-1BC6-3F47DE4408CD}"/>
                </a:ext>
              </a:extLst>
            </p:cNvPr>
            <p:cNvPicPr>
              <a:picLocks noChangeAspect="1"/>
            </p:cNvPicPr>
            <p:nvPr/>
          </p:nvPicPr>
          <p:blipFill>
            <a:blip r:embed="rId4"/>
            <a:stretch>
              <a:fillRect/>
            </a:stretch>
          </p:blipFill>
          <p:spPr>
            <a:xfrm>
              <a:off x="4212400" y="3370083"/>
              <a:ext cx="3129171" cy="2743677"/>
            </a:xfrm>
            <a:prstGeom prst="rect">
              <a:avLst/>
            </a:prstGeom>
            <a:ln>
              <a:solidFill>
                <a:schemeClr val="bg1">
                  <a:lumMod val="75000"/>
                </a:schemeClr>
              </a:solidFill>
            </a:ln>
          </p:spPr>
        </p:pic>
        <p:pic>
          <p:nvPicPr>
            <p:cNvPr id="15" name="图片 14">
              <a:extLst>
                <a:ext uri="{FF2B5EF4-FFF2-40B4-BE49-F238E27FC236}">
                  <a16:creationId xmlns:a16="http://schemas.microsoft.com/office/drawing/2014/main" id="{A5113385-0260-E1AB-1E9B-E4AF36D37915}"/>
                </a:ext>
              </a:extLst>
            </p:cNvPr>
            <p:cNvPicPr>
              <a:picLocks noChangeAspect="1"/>
            </p:cNvPicPr>
            <p:nvPr/>
          </p:nvPicPr>
          <p:blipFill>
            <a:blip r:embed="rId5"/>
            <a:stretch>
              <a:fillRect/>
            </a:stretch>
          </p:blipFill>
          <p:spPr>
            <a:xfrm>
              <a:off x="7512064" y="3370083"/>
              <a:ext cx="4505636" cy="2743676"/>
            </a:xfrm>
            <a:prstGeom prst="rect">
              <a:avLst/>
            </a:prstGeom>
            <a:ln>
              <a:solidFill>
                <a:schemeClr val="bg1">
                  <a:lumMod val="75000"/>
                </a:schemeClr>
              </a:solidFill>
            </a:ln>
          </p:spPr>
        </p:pic>
      </p:grpSp>
    </p:spTree>
    <p:extLst>
      <p:ext uri="{BB962C8B-B14F-4D97-AF65-F5344CB8AC3E}">
        <p14:creationId xmlns:p14="http://schemas.microsoft.com/office/powerpoint/2010/main" val="22373570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a:extLst>
              <a:ext uri="{FF2B5EF4-FFF2-40B4-BE49-F238E27FC236}">
                <a16:creationId xmlns:a16="http://schemas.microsoft.com/office/drawing/2014/main" id="{CDD196F6-1D01-78B9-BCC6-82A023159B4D}"/>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About Project Six</a:t>
            </a:r>
          </a:p>
        </p:txBody>
      </p:sp>
      <p:pic>
        <p:nvPicPr>
          <p:cNvPr id="3" name="图片 2">
            <a:extLst>
              <a:ext uri="{FF2B5EF4-FFF2-40B4-BE49-F238E27FC236}">
                <a16:creationId xmlns:a16="http://schemas.microsoft.com/office/drawing/2014/main" id="{A326E15E-CA86-4A36-964D-2FBF86741083}"/>
              </a:ext>
            </a:extLst>
          </p:cNvPr>
          <p:cNvPicPr>
            <a:picLocks noChangeAspect="1"/>
          </p:cNvPicPr>
          <p:nvPr/>
        </p:nvPicPr>
        <p:blipFill>
          <a:blip r:embed="rId3"/>
          <a:stretch>
            <a:fillRect/>
          </a:stretch>
        </p:blipFill>
        <p:spPr>
          <a:xfrm>
            <a:off x="3859451" y="3338257"/>
            <a:ext cx="4473097" cy="2936882"/>
          </a:xfrm>
          <a:prstGeom prst="rect">
            <a:avLst/>
          </a:prstGeom>
          <a:ln w="38100" cap="sq">
            <a:solidFill>
              <a:srgbClr val="FF2832"/>
            </a:solidFill>
            <a:prstDash val="solid"/>
            <a:miter lim="800000"/>
          </a:ln>
          <a:effectLst>
            <a:outerShdw blurRad="50800" dist="38100" dir="2700000" algn="tl" rotWithShape="0">
              <a:srgbClr val="000000">
                <a:alpha val="43000"/>
              </a:srgbClr>
            </a:outerShdw>
          </a:effectLst>
        </p:spPr>
      </p:pic>
      <p:sp>
        <p:nvSpPr>
          <p:cNvPr id="12" name="矩形 11">
            <a:extLst>
              <a:ext uri="{FF2B5EF4-FFF2-40B4-BE49-F238E27FC236}">
                <a16:creationId xmlns:a16="http://schemas.microsoft.com/office/drawing/2014/main" id="{3DCA6587-2477-45D8-B022-84A2C84D5187}"/>
              </a:ext>
            </a:extLst>
          </p:cNvPr>
          <p:cNvSpPr/>
          <p:nvPr/>
        </p:nvSpPr>
        <p:spPr>
          <a:xfrm>
            <a:off x="486173" y="1189347"/>
            <a:ext cx="8940435" cy="1938992"/>
          </a:xfrm>
          <a:prstGeom prst="rect">
            <a:avLst/>
          </a:prstGeom>
        </p:spPr>
        <p:txBody>
          <a:bodyPr wrap="square">
            <a:spAutoFit/>
          </a:bodyPr>
          <a:lstStyle/>
          <a:p>
            <a:pPr marL="457200" indent="-457200">
              <a:buFont typeface="Wingdings" panose="05000000000000000000" pitchFamily="2" charset="2"/>
              <a:buChar char="ü"/>
            </a:pPr>
            <a:r>
              <a:rPr lang="en-US" sz="4000" b="1" dirty="0">
                <a:solidFill>
                  <a:srgbClr val="C00000"/>
                </a:solidFill>
                <a:latin typeface="Times New Roman" panose="02020603050405020304" pitchFamily="18" charset="0"/>
                <a:cs typeface="Times New Roman" panose="02020603050405020304" pitchFamily="18" charset="0"/>
              </a:rPr>
              <a:t>“ Internet </a:t>
            </a:r>
            <a:r>
              <a:rPr lang="en-US" altLang="zh-CN" sz="4000" b="1" dirty="0">
                <a:solidFill>
                  <a:srgbClr val="C00000"/>
                </a:solidFill>
                <a:latin typeface="Times New Roman" panose="02020603050405020304" pitchFamily="18" charset="0"/>
                <a:cs typeface="Times New Roman" panose="02020603050405020304" pitchFamily="18" charset="0"/>
              </a:rPr>
              <a:t>B</a:t>
            </a:r>
            <a:r>
              <a:rPr lang="en-US" sz="4000" b="1" dirty="0">
                <a:solidFill>
                  <a:srgbClr val="C00000"/>
                </a:solidFill>
                <a:latin typeface="Times New Roman" panose="02020603050405020304" pitchFamily="18" charset="0"/>
                <a:cs typeface="Times New Roman" panose="02020603050405020304" pitchFamily="18" charset="0"/>
              </a:rPr>
              <a:t>ookstore ”</a:t>
            </a:r>
          </a:p>
          <a:p>
            <a:pPr marL="914400" lvl="1" indent="-457200">
              <a:buFont typeface="Arial" panose="020B0604020202020204" pitchFamily="34" charset="0"/>
              <a:buChar char="•"/>
            </a:pPr>
            <a:r>
              <a:rPr lang="en-US" sz="4000" b="1" dirty="0">
                <a:solidFill>
                  <a:srgbClr val="000000"/>
                </a:solidFill>
                <a:latin typeface="Times New Roman" panose="02020603050405020304" pitchFamily="18" charset="0"/>
                <a:cs typeface="Times New Roman" panose="02020603050405020304" pitchFamily="18" charset="0"/>
              </a:rPr>
              <a:t>B/S or C/S </a:t>
            </a:r>
          </a:p>
          <a:p>
            <a:pPr marL="914400" lvl="1" indent="-457200">
              <a:buFont typeface="Arial" panose="020B0604020202020204" pitchFamily="34" charset="0"/>
              <a:buChar char="•"/>
            </a:pPr>
            <a:r>
              <a:rPr lang="en-US" sz="4000" b="1" dirty="0">
                <a:solidFill>
                  <a:srgbClr val="000000"/>
                </a:solidFill>
                <a:latin typeface="Times New Roman" panose="02020603050405020304" pitchFamily="18" charset="0"/>
                <a:cs typeface="Times New Roman" panose="02020603050405020304" pitchFamily="18" charset="0"/>
              </a:rPr>
              <a:t>Database: Access , MySQL , …</a:t>
            </a:r>
          </a:p>
        </p:txBody>
      </p:sp>
    </p:spTree>
    <p:extLst>
      <p:ext uri="{BB962C8B-B14F-4D97-AF65-F5344CB8AC3E}">
        <p14:creationId xmlns:p14="http://schemas.microsoft.com/office/powerpoint/2010/main" val="349506196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a:extLst>
              <a:ext uri="{FF2B5EF4-FFF2-40B4-BE49-F238E27FC236}">
                <a16:creationId xmlns:a16="http://schemas.microsoft.com/office/drawing/2014/main" id="{A2CC891B-A7F9-46EB-B79E-472BC992A6E8}"/>
              </a:ext>
            </a:extLst>
          </p:cNvPr>
          <p:cNvSpPr txBox="1"/>
          <p:nvPr/>
        </p:nvSpPr>
        <p:spPr>
          <a:xfrm>
            <a:off x="757717" y="1818392"/>
            <a:ext cx="11080055" cy="3970318"/>
          </a:xfrm>
          <a:prstGeom prst="rect">
            <a:avLst/>
          </a:prstGeom>
          <a:noFill/>
        </p:spPr>
        <p:txBody>
          <a:bodyPr wrap="square">
            <a:spAutoFit/>
          </a:bodyPr>
          <a:lstStyle/>
          <a:p>
            <a:pPr marL="342900" lvl="0" indent="-342900">
              <a:buFont typeface="Wingdings" panose="05000000000000000000" pitchFamily="2" charset="2"/>
              <a:buChar char="§"/>
              <a:defRPr/>
            </a:pPr>
            <a:r>
              <a:rPr lang="en-US" altLang="zh-CN" sz="2800" b="1" dirty="0">
                <a:solidFill>
                  <a:srgbClr val="C00000"/>
                </a:solidFill>
                <a:latin typeface="+mj-lt"/>
                <a:cs typeface="Times New Roman" panose="02020603050405020304" pitchFamily="18" charset="0"/>
              </a:rPr>
              <a:t>HTML </a:t>
            </a:r>
          </a:p>
          <a:p>
            <a:pPr lvl="0">
              <a:defRPr/>
            </a:pPr>
            <a:r>
              <a:rPr lang="en-US" altLang="zh-CN" sz="2800" b="1" dirty="0">
                <a:solidFill>
                  <a:srgbClr val="000000"/>
                </a:solidFill>
                <a:latin typeface="+mj-lt"/>
                <a:cs typeface="Times New Roman" panose="02020603050405020304" pitchFamily="18" charset="0"/>
              </a:rPr>
              <a:t>	</a:t>
            </a:r>
            <a:r>
              <a:rPr lang="en-US" altLang="zh-CN" sz="2800" b="1" dirty="0">
                <a:solidFill>
                  <a:srgbClr val="000000"/>
                </a:solidFill>
                <a:latin typeface="Times New Roman" panose="02020603050405020304" pitchFamily="18" charset="0"/>
                <a:cs typeface="Times New Roman" panose="02020603050405020304" pitchFamily="18" charset="0"/>
              </a:rPr>
              <a:t>HTML</a:t>
            </a:r>
            <a:r>
              <a:rPr lang="en-US" altLang="zh-CN" sz="2800" dirty="0">
                <a:solidFill>
                  <a:srgbClr val="000000"/>
                </a:solidFill>
                <a:latin typeface="+mj-lt"/>
                <a:cs typeface="Times New Roman" panose="02020603050405020304" pitchFamily="18" charset="0"/>
              </a:rPr>
              <a:t> provides the </a:t>
            </a:r>
            <a:r>
              <a:rPr lang="en-US" altLang="zh-CN" sz="2800" b="1" u="sng" dirty="0">
                <a:solidFill>
                  <a:srgbClr val="000000"/>
                </a:solidFill>
                <a:latin typeface="Times New Roman" panose="02020603050405020304" pitchFamily="18" charset="0"/>
                <a:cs typeface="Times New Roman" panose="02020603050405020304" pitchFamily="18" charset="0"/>
              </a:rPr>
              <a:t>basic structure </a:t>
            </a:r>
            <a:r>
              <a:rPr lang="en-US" altLang="zh-CN" sz="2800" dirty="0">
                <a:solidFill>
                  <a:srgbClr val="000000"/>
                </a:solidFill>
                <a:latin typeface="+mj-lt"/>
                <a:cs typeface="Times New Roman" panose="02020603050405020304" pitchFamily="18" charset="0"/>
              </a:rPr>
              <a:t>of sites, which is enhanced and modified by other technologies like </a:t>
            </a:r>
            <a:r>
              <a:rPr lang="en-US" altLang="zh-CN" sz="2800" b="1" dirty="0">
                <a:solidFill>
                  <a:srgbClr val="000000"/>
                </a:solidFill>
                <a:latin typeface="Times New Roman" panose="02020603050405020304" pitchFamily="18" charset="0"/>
                <a:cs typeface="Times New Roman" panose="02020603050405020304" pitchFamily="18" charset="0"/>
              </a:rPr>
              <a:t>CSS</a:t>
            </a:r>
            <a:r>
              <a:rPr lang="en-US" altLang="zh-CN" sz="2800" dirty="0">
                <a:solidFill>
                  <a:srgbClr val="000000"/>
                </a:solidFill>
                <a:latin typeface="+mj-lt"/>
                <a:cs typeface="Times New Roman" panose="02020603050405020304" pitchFamily="18" charset="0"/>
              </a:rPr>
              <a:t> and </a:t>
            </a:r>
            <a:r>
              <a:rPr lang="en-US" altLang="zh-CN" sz="2800" b="1" dirty="0">
                <a:solidFill>
                  <a:srgbClr val="000000"/>
                </a:solidFill>
                <a:latin typeface="Times New Roman" panose="02020603050405020304" pitchFamily="18" charset="0"/>
                <a:cs typeface="Times New Roman" panose="02020603050405020304" pitchFamily="18" charset="0"/>
              </a:rPr>
              <a:t>JavaScript</a:t>
            </a:r>
            <a:r>
              <a:rPr lang="en-US" altLang="zh-CN" sz="2800" dirty="0">
                <a:solidFill>
                  <a:srgbClr val="000000"/>
                </a:solidFill>
                <a:latin typeface="+mj-lt"/>
                <a:cs typeface="Times New Roman" panose="02020603050405020304" pitchFamily="18" charset="0"/>
              </a:rPr>
              <a:t>.</a:t>
            </a:r>
          </a:p>
          <a:p>
            <a:pPr marL="342900" lvl="0" indent="-342900">
              <a:buFont typeface="Wingdings" panose="05000000000000000000" pitchFamily="2" charset="2"/>
              <a:buChar char="§"/>
              <a:defRPr/>
            </a:pPr>
            <a:endParaRPr lang="en-US" altLang="zh-CN" sz="2800" b="1" dirty="0">
              <a:solidFill>
                <a:srgbClr val="000000"/>
              </a:solidFill>
              <a:latin typeface="+mj-lt"/>
              <a:cs typeface="Times New Roman" panose="02020603050405020304" pitchFamily="18" charset="0"/>
            </a:endParaRPr>
          </a:p>
          <a:p>
            <a:pPr marL="342900" lvl="0" indent="-342900">
              <a:buFont typeface="Wingdings" panose="05000000000000000000" pitchFamily="2" charset="2"/>
              <a:buChar char="§"/>
              <a:defRPr/>
            </a:pPr>
            <a:r>
              <a:rPr lang="en-US" altLang="zh-CN" sz="2800" b="1" dirty="0">
                <a:solidFill>
                  <a:srgbClr val="C00000"/>
                </a:solidFill>
                <a:latin typeface="+mj-lt"/>
                <a:cs typeface="Times New Roman" panose="02020603050405020304" pitchFamily="18" charset="0"/>
              </a:rPr>
              <a:t>CSS</a:t>
            </a:r>
          </a:p>
          <a:p>
            <a:pPr lvl="1">
              <a:defRPr/>
            </a:pPr>
            <a:r>
              <a:rPr lang="en-US" altLang="zh-CN" sz="2800" b="1" dirty="0">
                <a:solidFill>
                  <a:srgbClr val="000000"/>
                </a:solidFill>
                <a:latin typeface="Times New Roman" panose="02020603050405020304" pitchFamily="18" charset="0"/>
                <a:cs typeface="Times New Roman" panose="02020603050405020304" pitchFamily="18" charset="0"/>
              </a:rPr>
              <a:t>CSS</a:t>
            </a:r>
            <a:r>
              <a:rPr lang="en-US" altLang="zh-CN" sz="2800" dirty="0">
                <a:solidFill>
                  <a:srgbClr val="000000"/>
                </a:solidFill>
                <a:latin typeface="+mj-lt"/>
                <a:cs typeface="Times New Roman" panose="02020603050405020304" pitchFamily="18" charset="0"/>
              </a:rPr>
              <a:t> is used to control </a:t>
            </a:r>
            <a:r>
              <a:rPr lang="en-US" altLang="zh-CN" sz="2800" b="1" u="sng" dirty="0">
                <a:solidFill>
                  <a:srgbClr val="000000"/>
                </a:solidFill>
                <a:latin typeface="Times New Roman" panose="02020603050405020304" pitchFamily="18" charset="0"/>
                <a:cs typeface="Times New Roman" panose="02020603050405020304" pitchFamily="18" charset="0"/>
              </a:rPr>
              <a:t>presentation, formatting, and layout</a:t>
            </a:r>
            <a:r>
              <a:rPr lang="en-US" altLang="zh-CN" sz="2800" b="1" dirty="0">
                <a:solidFill>
                  <a:srgbClr val="000000"/>
                </a:solidFill>
                <a:latin typeface="+mj-lt"/>
                <a:cs typeface="Times New Roman" panose="02020603050405020304" pitchFamily="18" charset="0"/>
              </a:rPr>
              <a:t>.</a:t>
            </a:r>
          </a:p>
          <a:p>
            <a:pPr marL="342900" lvl="0" indent="-342900">
              <a:buFont typeface="Wingdings" panose="05000000000000000000" pitchFamily="2" charset="2"/>
              <a:buChar char="§"/>
              <a:defRPr/>
            </a:pPr>
            <a:endParaRPr lang="en-US" altLang="zh-CN" sz="2800" b="1" dirty="0">
              <a:solidFill>
                <a:srgbClr val="000000"/>
              </a:solidFill>
              <a:latin typeface="+mj-lt"/>
              <a:cs typeface="Times New Roman" panose="02020603050405020304" pitchFamily="18" charset="0"/>
            </a:endParaRPr>
          </a:p>
          <a:p>
            <a:pPr marL="342900" lvl="0" indent="-342900">
              <a:buFont typeface="Wingdings" panose="05000000000000000000" pitchFamily="2" charset="2"/>
              <a:buChar char="§"/>
              <a:defRPr/>
            </a:pPr>
            <a:r>
              <a:rPr lang="en-US" altLang="zh-CN" sz="2800" b="1" dirty="0">
                <a:solidFill>
                  <a:srgbClr val="C00000"/>
                </a:solidFill>
                <a:latin typeface="+mj-lt"/>
                <a:cs typeface="Times New Roman" panose="02020603050405020304" pitchFamily="18" charset="0"/>
              </a:rPr>
              <a:t>JavaScript </a:t>
            </a:r>
          </a:p>
          <a:p>
            <a:pPr lvl="0">
              <a:defRPr/>
            </a:pPr>
            <a:r>
              <a:rPr lang="en-US" altLang="zh-CN" sz="2800" b="1" dirty="0">
                <a:solidFill>
                  <a:srgbClr val="000000"/>
                </a:solidFill>
                <a:latin typeface="+mj-lt"/>
                <a:cs typeface="Times New Roman" panose="02020603050405020304" pitchFamily="18" charset="0"/>
              </a:rPr>
              <a:t>	</a:t>
            </a:r>
            <a:r>
              <a:rPr lang="en-US" altLang="zh-CN" sz="2800" b="1" dirty="0">
                <a:solidFill>
                  <a:srgbClr val="000000"/>
                </a:solidFill>
                <a:latin typeface="Times New Roman" panose="02020603050405020304" pitchFamily="18" charset="0"/>
                <a:cs typeface="Times New Roman" panose="02020603050405020304" pitchFamily="18" charset="0"/>
              </a:rPr>
              <a:t>JavaScript</a:t>
            </a:r>
            <a:r>
              <a:rPr lang="en-US" altLang="zh-CN" sz="2800" dirty="0">
                <a:solidFill>
                  <a:srgbClr val="000000"/>
                </a:solidFill>
                <a:latin typeface="+mj-lt"/>
                <a:cs typeface="Times New Roman" panose="02020603050405020304" pitchFamily="18" charset="0"/>
              </a:rPr>
              <a:t> is used to control the </a:t>
            </a:r>
            <a:r>
              <a:rPr lang="en-US" altLang="zh-CN" sz="2800" b="1" u="sng" dirty="0">
                <a:solidFill>
                  <a:srgbClr val="000000"/>
                </a:solidFill>
                <a:latin typeface="Times New Roman" panose="02020603050405020304" pitchFamily="18" charset="0"/>
                <a:cs typeface="Times New Roman" panose="02020603050405020304" pitchFamily="18" charset="0"/>
              </a:rPr>
              <a:t>behavior of different elements</a:t>
            </a:r>
            <a:r>
              <a:rPr lang="en-US" altLang="zh-CN" sz="2800" dirty="0">
                <a:solidFill>
                  <a:srgbClr val="000000"/>
                </a:solidFill>
                <a:latin typeface="+mj-lt"/>
                <a:cs typeface="Times New Roman" panose="02020603050405020304" pitchFamily="18" charset="0"/>
              </a:rPr>
              <a:t>.</a:t>
            </a:r>
            <a:endParaRPr kumimoji="0" lang="en-US" altLang="zh-CN" sz="2800"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p:txBody>
      </p:sp>
      <p:sp>
        <p:nvSpPr>
          <p:cNvPr id="2" name="Rectangle 9">
            <a:extLst>
              <a:ext uri="{FF2B5EF4-FFF2-40B4-BE49-F238E27FC236}">
                <a16:creationId xmlns:a16="http://schemas.microsoft.com/office/drawing/2014/main" id="{CF264814-69E3-A71F-BF6F-9DF26B6118FF}"/>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Frontend Technology </a:t>
            </a:r>
          </a:p>
        </p:txBody>
      </p:sp>
    </p:spTree>
    <p:extLst>
      <p:ext uri="{BB962C8B-B14F-4D97-AF65-F5344CB8AC3E}">
        <p14:creationId xmlns:p14="http://schemas.microsoft.com/office/powerpoint/2010/main" val="237780482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xample of HTML with no CSS resulting in an unformatted HubSpot blog post">
            <a:extLst>
              <a:ext uri="{FF2B5EF4-FFF2-40B4-BE49-F238E27FC236}">
                <a16:creationId xmlns:a16="http://schemas.microsoft.com/office/drawing/2014/main" id="{DEAA69F2-02E0-4E5F-A458-CDF44963CE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5535" y="1835941"/>
            <a:ext cx="3498272" cy="3186119"/>
          </a:xfrm>
          <a:prstGeom prst="rect">
            <a:avLst/>
          </a:prstGeom>
          <a:noFill/>
          <a:ln w="19050">
            <a:solidFill>
              <a:schemeClr val="bg1">
                <a:lumMod val="75000"/>
              </a:schemeClr>
            </a:solidFill>
          </a:ln>
          <a:extLst>
            <a:ext uri="{909E8E84-426E-40DD-AFC4-6F175D3DCCD1}">
              <a14:hiddenFill xmlns:a14="http://schemas.microsoft.com/office/drawing/2010/main">
                <a:solidFill>
                  <a:srgbClr val="FFFFFF"/>
                </a:solidFill>
              </a14:hiddenFill>
            </a:ext>
          </a:extLst>
        </p:spPr>
      </p:pic>
      <p:sp>
        <p:nvSpPr>
          <p:cNvPr id="2" name="Rectangle 9">
            <a:extLst>
              <a:ext uri="{FF2B5EF4-FFF2-40B4-BE49-F238E27FC236}">
                <a16:creationId xmlns:a16="http://schemas.microsoft.com/office/drawing/2014/main" id="{66FE160F-BE2D-0AE6-3B75-FDC61B71449B}"/>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Frontend Technology </a:t>
            </a:r>
          </a:p>
        </p:txBody>
      </p:sp>
      <p:sp>
        <p:nvSpPr>
          <p:cNvPr id="4" name="文本框 3">
            <a:extLst>
              <a:ext uri="{FF2B5EF4-FFF2-40B4-BE49-F238E27FC236}">
                <a16:creationId xmlns:a16="http://schemas.microsoft.com/office/drawing/2014/main" id="{20A95DF9-10D5-F601-5CCC-B20520853FA6}"/>
              </a:ext>
            </a:extLst>
          </p:cNvPr>
          <p:cNvSpPr txBox="1"/>
          <p:nvPr/>
        </p:nvSpPr>
        <p:spPr>
          <a:xfrm>
            <a:off x="1063101" y="5237340"/>
            <a:ext cx="2023139" cy="584775"/>
          </a:xfrm>
          <a:prstGeom prst="rect">
            <a:avLst/>
          </a:prstGeom>
          <a:noFill/>
        </p:spPr>
        <p:txBody>
          <a:bodyPr wrap="square">
            <a:spAutoFit/>
          </a:bodyPr>
          <a:lstStyle/>
          <a:p>
            <a:r>
              <a:rPr lang="en-US" altLang="zh-CN" sz="3200" b="1" dirty="0">
                <a:solidFill>
                  <a:srgbClr val="000000"/>
                </a:solidFill>
                <a:latin typeface="+mj-lt"/>
                <a:cs typeface="Times New Roman" panose="02020603050405020304" pitchFamily="18" charset="0"/>
              </a:rPr>
              <a:t>Only HTML </a:t>
            </a:r>
            <a:endParaRPr lang="zh-CN" altLang="en-US" sz="3200" dirty="0"/>
          </a:p>
        </p:txBody>
      </p:sp>
      <p:pic>
        <p:nvPicPr>
          <p:cNvPr id="5" name="图片 4">
            <a:extLst>
              <a:ext uri="{FF2B5EF4-FFF2-40B4-BE49-F238E27FC236}">
                <a16:creationId xmlns:a16="http://schemas.microsoft.com/office/drawing/2014/main" id="{1B45E1F7-F970-E4FE-2D12-727B2331E6A7}"/>
              </a:ext>
            </a:extLst>
          </p:cNvPr>
          <p:cNvPicPr>
            <a:picLocks noChangeAspect="1"/>
          </p:cNvPicPr>
          <p:nvPr/>
        </p:nvPicPr>
        <p:blipFill>
          <a:blip r:embed="rId4"/>
          <a:stretch>
            <a:fillRect/>
          </a:stretch>
        </p:blipFill>
        <p:spPr>
          <a:xfrm>
            <a:off x="3924576" y="1835940"/>
            <a:ext cx="3698174" cy="3186119"/>
          </a:xfrm>
          <a:prstGeom prst="rect">
            <a:avLst/>
          </a:prstGeom>
          <a:ln w="19050">
            <a:solidFill>
              <a:srgbClr val="33339B"/>
            </a:solidFill>
          </a:ln>
        </p:spPr>
      </p:pic>
      <p:sp>
        <p:nvSpPr>
          <p:cNvPr id="6" name="文本框 5">
            <a:extLst>
              <a:ext uri="{FF2B5EF4-FFF2-40B4-BE49-F238E27FC236}">
                <a16:creationId xmlns:a16="http://schemas.microsoft.com/office/drawing/2014/main" id="{6CC7B889-2580-DF03-472E-6BB2F51A4A25}"/>
              </a:ext>
            </a:extLst>
          </p:cNvPr>
          <p:cNvSpPr txBox="1"/>
          <p:nvPr/>
        </p:nvSpPr>
        <p:spPr>
          <a:xfrm>
            <a:off x="4298652" y="5237340"/>
            <a:ext cx="3004191" cy="1077218"/>
          </a:xfrm>
          <a:prstGeom prst="rect">
            <a:avLst/>
          </a:prstGeom>
          <a:noFill/>
        </p:spPr>
        <p:txBody>
          <a:bodyPr wrap="square">
            <a:spAutoFit/>
          </a:bodyPr>
          <a:lstStyle/>
          <a:p>
            <a:pPr algn="ctr"/>
            <a:r>
              <a:rPr lang="en-US" altLang="zh-CN" sz="3200" b="1" dirty="0">
                <a:solidFill>
                  <a:srgbClr val="33339B"/>
                </a:solidFill>
                <a:latin typeface="+mj-lt"/>
                <a:cs typeface="Times New Roman" panose="02020603050405020304" pitchFamily="18" charset="0"/>
              </a:rPr>
              <a:t>Enhanced by </a:t>
            </a:r>
          </a:p>
          <a:p>
            <a:pPr algn="ctr"/>
            <a:r>
              <a:rPr lang="en-US" altLang="zh-CN" sz="3200" b="1" dirty="0">
                <a:solidFill>
                  <a:srgbClr val="33339B"/>
                </a:solidFill>
                <a:latin typeface="+mj-lt"/>
                <a:cs typeface="Times New Roman" panose="02020603050405020304" pitchFamily="18" charset="0"/>
              </a:rPr>
              <a:t>CSS</a:t>
            </a:r>
            <a:endParaRPr lang="zh-CN" altLang="en-US" sz="3200" dirty="0">
              <a:solidFill>
                <a:srgbClr val="33339B"/>
              </a:solidFill>
            </a:endParaRPr>
          </a:p>
        </p:txBody>
      </p:sp>
      <p:pic>
        <p:nvPicPr>
          <p:cNvPr id="8" name="图片 7">
            <a:extLst>
              <a:ext uri="{FF2B5EF4-FFF2-40B4-BE49-F238E27FC236}">
                <a16:creationId xmlns:a16="http://schemas.microsoft.com/office/drawing/2014/main" id="{D5D28BDB-390C-D2C9-BC82-D7B6EEB82214}"/>
              </a:ext>
            </a:extLst>
          </p:cNvPr>
          <p:cNvPicPr>
            <a:picLocks noChangeAspect="1"/>
          </p:cNvPicPr>
          <p:nvPr/>
        </p:nvPicPr>
        <p:blipFill rotWithShape="1">
          <a:blip r:embed="rId5">
            <a:extLst>
              <a:ext uri="{28A0092B-C50C-407E-A947-70E740481C1C}">
                <a14:useLocalDpi xmlns:a14="http://schemas.microsoft.com/office/drawing/2010/main" val="0"/>
              </a:ext>
            </a:extLst>
          </a:blip>
          <a:srcRect l="802" r="7837"/>
          <a:stretch/>
        </p:blipFill>
        <p:spPr>
          <a:xfrm>
            <a:off x="7757420" y="1835940"/>
            <a:ext cx="4131136" cy="3186119"/>
          </a:xfrm>
          <a:prstGeom prst="rect">
            <a:avLst/>
          </a:prstGeom>
          <a:ln w="19050">
            <a:solidFill>
              <a:srgbClr val="C00000"/>
            </a:solidFill>
          </a:ln>
        </p:spPr>
      </p:pic>
      <p:sp>
        <p:nvSpPr>
          <p:cNvPr id="9" name="文本框 8">
            <a:extLst>
              <a:ext uri="{FF2B5EF4-FFF2-40B4-BE49-F238E27FC236}">
                <a16:creationId xmlns:a16="http://schemas.microsoft.com/office/drawing/2014/main" id="{6FCD7564-F1CB-2BBC-F735-35F4A692F789}"/>
              </a:ext>
            </a:extLst>
          </p:cNvPr>
          <p:cNvSpPr txBox="1"/>
          <p:nvPr/>
        </p:nvSpPr>
        <p:spPr>
          <a:xfrm>
            <a:off x="6747279" y="5237340"/>
            <a:ext cx="6151418" cy="1077218"/>
          </a:xfrm>
          <a:prstGeom prst="rect">
            <a:avLst/>
          </a:prstGeom>
          <a:noFill/>
        </p:spPr>
        <p:txBody>
          <a:bodyPr wrap="square">
            <a:spAutoFit/>
          </a:bodyPr>
          <a:lstStyle/>
          <a:p>
            <a:pPr algn="ctr"/>
            <a:r>
              <a:rPr lang="en-US" altLang="zh-CN" sz="3200" b="1" dirty="0">
                <a:solidFill>
                  <a:srgbClr val="C00000"/>
                </a:solidFill>
                <a:latin typeface="+mj-lt"/>
                <a:cs typeface="Times New Roman" panose="02020603050405020304" pitchFamily="18" charset="0"/>
              </a:rPr>
              <a:t>Enhanced by </a:t>
            </a:r>
          </a:p>
          <a:p>
            <a:pPr algn="ctr"/>
            <a:r>
              <a:rPr lang="en-US" altLang="zh-CN" sz="3200" b="1" dirty="0">
                <a:solidFill>
                  <a:srgbClr val="C00000"/>
                </a:solidFill>
                <a:latin typeface="+mj-lt"/>
                <a:cs typeface="Times New Roman" panose="02020603050405020304" pitchFamily="18" charset="0"/>
              </a:rPr>
              <a:t>CSS and JavaScript</a:t>
            </a:r>
            <a:endParaRPr lang="zh-CN" altLang="en-US" sz="3200" dirty="0">
              <a:solidFill>
                <a:srgbClr val="C00000"/>
              </a:solidFill>
            </a:endParaRPr>
          </a:p>
        </p:txBody>
      </p:sp>
    </p:spTree>
    <p:extLst>
      <p:ext uri="{BB962C8B-B14F-4D97-AF65-F5344CB8AC3E}">
        <p14:creationId xmlns:p14="http://schemas.microsoft.com/office/powerpoint/2010/main" val="23838052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a:extLst>
              <a:ext uri="{FF2B5EF4-FFF2-40B4-BE49-F238E27FC236}">
                <a16:creationId xmlns:a16="http://schemas.microsoft.com/office/drawing/2014/main" id="{A2CC891B-A7F9-46EB-B79E-472BC992A6E8}"/>
              </a:ext>
            </a:extLst>
          </p:cNvPr>
          <p:cNvSpPr txBox="1"/>
          <p:nvPr/>
        </p:nvSpPr>
        <p:spPr>
          <a:xfrm>
            <a:off x="902043" y="1221166"/>
            <a:ext cx="10602097" cy="1815882"/>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altLang="zh-CN" sz="2800" b="1" i="0" u="none" strike="noStrike" kern="1200" cap="none" spc="0" normalizeH="0" baseline="0" noProof="0" dirty="0">
                <a:ln>
                  <a:noFill/>
                </a:ln>
                <a:solidFill>
                  <a:srgbClr val="C00000"/>
                </a:solidFill>
                <a:effectLst/>
                <a:uLnTx/>
                <a:uFillTx/>
                <a:latin typeface="+mj-lt"/>
                <a:ea typeface="等线" panose="02010600030101010101" pitchFamily="2" charset="-122"/>
                <a:cs typeface="Times New Roman" panose="02020603050405020304" pitchFamily="18" charset="0"/>
              </a:rPr>
              <a:t>React</a:t>
            </a:r>
          </a:p>
          <a:p>
            <a:pPr lvl="0">
              <a:defRPr/>
            </a:pPr>
            <a:r>
              <a:rPr lang="en-US" altLang="zh-CN" sz="2800" b="1" dirty="0">
                <a:solidFill>
                  <a:srgbClr val="000000"/>
                </a:solidFill>
                <a:latin typeface="+mj-lt"/>
                <a:cs typeface="Times New Roman" panose="02020603050405020304" pitchFamily="18" charset="0"/>
              </a:rPr>
              <a:t>	React's reusable components ensure that developers don’t have to rewrite the same code over and over again.</a:t>
            </a:r>
            <a:endParaRPr kumimoji="0" lang="en-US" altLang="zh-CN" sz="2800" b="1" i="0" u="none" strike="noStrike" kern="1200" cap="none" spc="0" normalizeH="0" baseline="0" noProof="0" dirty="0">
              <a:ln>
                <a:noFill/>
              </a:ln>
              <a:solidFill>
                <a:srgbClr val="000000"/>
              </a:solidFill>
              <a:effectLst/>
              <a:uLnTx/>
              <a:uFillTx/>
              <a:latin typeface="+mj-lt"/>
              <a:ea typeface="等线" panose="02010600030101010101" pitchFamily="2" charset="-122"/>
              <a:cs typeface="Times New Roman" panose="02020603050405020304" pitchFamily="18" charset="0"/>
            </a:endParaRP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lang="en-US" altLang="zh-CN" sz="2800" b="1" dirty="0">
              <a:solidFill>
                <a:srgbClr val="000000"/>
              </a:solidFill>
              <a:latin typeface="+mj-lt"/>
              <a:ea typeface="等线" panose="02010600030101010101" pitchFamily="2" charset="-122"/>
              <a:cs typeface="Times New Roman" panose="02020603050405020304" pitchFamily="18" charset="0"/>
            </a:endParaRPr>
          </a:p>
        </p:txBody>
      </p:sp>
      <p:sp>
        <p:nvSpPr>
          <p:cNvPr id="2" name="Rectangle 9">
            <a:extLst>
              <a:ext uri="{FF2B5EF4-FFF2-40B4-BE49-F238E27FC236}">
                <a16:creationId xmlns:a16="http://schemas.microsoft.com/office/drawing/2014/main" id="{C818B790-0102-CE6D-6602-AC444943582A}"/>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Framework Tools</a:t>
            </a:r>
          </a:p>
        </p:txBody>
      </p:sp>
      <p:pic>
        <p:nvPicPr>
          <p:cNvPr id="4" name="图片 3">
            <a:extLst>
              <a:ext uri="{FF2B5EF4-FFF2-40B4-BE49-F238E27FC236}">
                <a16:creationId xmlns:a16="http://schemas.microsoft.com/office/drawing/2014/main" id="{7DA285D0-D364-6CFE-76CA-C15C299CD2FD}"/>
              </a:ext>
            </a:extLst>
          </p:cNvPr>
          <p:cNvPicPr>
            <a:picLocks noChangeAspect="1"/>
          </p:cNvPicPr>
          <p:nvPr/>
        </p:nvPicPr>
        <p:blipFill>
          <a:blip r:embed="rId3"/>
          <a:stretch>
            <a:fillRect/>
          </a:stretch>
        </p:blipFill>
        <p:spPr>
          <a:xfrm>
            <a:off x="2607276" y="2776005"/>
            <a:ext cx="6977449" cy="3568678"/>
          </a:xfrm>
          <a:prstGeom prst="rect">
            <a:avLst/>
          </a:prstGeom>
          <a:ln w="28575">
            <a:solidFill>
              <a:schemeClr val="bg1">
                <a:lumMod val="50000"/>
              </a:schemeClr>
            </a:solidFill>
          </a:ln>
        </p:spPr>
      </p:pic>
    </p:spTree>
    <p:extLst>
      <p:ext uri="{BB962C8B-B14F-4D97-AF65-F5344CB8AC3E}">
        <p14:creationId xmlns:p14="http://schemas.microsoft.com/office/powerpoint/2010/main" val="224287480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a:extLst>
              <a:ext uri="{FF2B5EF4-FFF2-40B4-BE49-F238E27FC236}">
                <a16:creationId xmlns:a16="http://schemas.microsoft.com/office/drawing/2014/main" id="{A2CC891B-A7F9-46EB-B79E-472BC992A6E8}"/>
              </a:ext>
            </a:extLst>
          </p:cNvPr>
          <p:cNvSpPr txBox="1"/>
          <p:nvPr/>
        </p:nvSpPr>
        <p:spPr>
          <a:xfrm>
            <a:off x="902043" y="1221166"/>
            <a:ext cx="10602097" cy="2246769"/>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altLang="zh-CN" sz="2800" b="1" dirty="0">
                <a:solidFill>
                  <a:srgbClr val="C00000"/>
                </a:solidFill>
                <a:latin typeface="+mj-lt"/>
                <a:ea typeface="等线" panose="02010600030101010101" pitchFamily="2" charset="-122"/>
                <a:cs typeface="Times New Roman" panose="02020603050405020304" pitchFamily="18" charset="0"/>
              </a:rPr>
              <a:t>Vue</a:t>
            </a:r>
          </a:p>
          <a:p>
            <a:pPr lvl="0">
              <a:defRPr/>
            </a:pPr>
            <a:r>
              <a:rPr lang="en-US" altLang="zh-CN" sz="2800" b="1" dirty="0">
                <a:solidFill>
                  <a:srgbClr val="000000"/>
                </a:solidFill>
                <a:latin typeface="+mj-lt"/>
                <a:cs typeface="Times New Roman" panose="02020603050405020304" pitchFamily="18" charset="0"/>
              </a:rPr>
              <a:t>	Excellent documentation and intended for beginners and seasoned developers alike; An extensive tooling ecosystem that has grown over the years.</a:t>
            </a:r>
          </a:p>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endParaRPr lang="en-US" altLang="zh-CN" sz="2800" b="1" dirty="0">
              <a:solidFill>
                <a:srgbClr val="000000"/>
              </a:solidFill>
              <a:latin typeface="+mj-lt"/>
              <a:ea typeface="等线" panose="02010600030101010101" pitchFamily="2" charset="-122"/>
              <a:cs typeface="Times New Roman" panose="02020603050405020304" pitchFamily="18" charset="0"/>
            </a:endParaRPr>
          </a:p>
        </p:txBody>
      </p:sp>
      <p:sp>
        <p:nvSpPr>
          <p:cNvPr id="2" name="Rectangle 9">
            <a:extLst>
              <a:ext uri="{FF2B5EF4-FFF2-40B4-BE49-F238E27FC236}">
                <a16:creationId xmlns:a16="http://schemas.microsoft.com/office/drawing/2014/main" id="{C818B790-0102-CE6D-6602-AC444943582A}"/>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Framework Tools</a:t>
            </a:r>
          </a:p>
        </p:txBody>
      </p:sp>
      <p:pic>
        <p:nvPicPr>
          <p:cNvPr id="5" name="图片 4">
            <a:extLst>
              <a:ext uri="{FF2B5EF4-FFF2-40B4-BE49-F238E27FC236}">
                <a16:creationId xmlns:a16="http://schemas.microsoft.com/office/drawing/2014/main" id="{A3261D27-AAB6-264D-CAAE-5F762DA5E554}"/>
              </a:ext>
            </a:extLst>
          </p:cNvPr>
          <p:cNvPicPr>
            <a:picLocks noChangeAspect="1"/>
          </p:cNvPicPr>
          <p:nvPr/>
        </p:nvPicPr>
        <p:blipFill>
          <a:blip r:embed="rId3"/>
          <a:stretch>
            <a:fillRect/>
          </a:stretch>
        </p:blipFill>
        <p:spPr>
          <a:xfrm>
            <a:off x="1740857" y="3180679"/>
            <a:ext cx="8710287" cy="3055021"/>
          </a:xfrm>
          <a:prstGeom prst="rect">
            <a:avLst/>
          </a:prstGeom>
          <a:ln w="28575">
            <a:solidFill>
              <a:schemeClr val="bg1">
                <a:lumMod val="50000"/>
              </a:schemeClr>
            </a:solidFill>
          </a:ln>
        </p:spPr>
      </p:pic>
    </p:spTree>
    <p:extLst>
      <p:ext uri="{BB962C8B-B14F-4D97-AF65-F5344CB8AC3E}">
        <p14:creationId xmlns:p14="http://schemas.microsoft.com/office/powerpoint/2010/main" val="155601230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a:extLst>
              <a:ext uri="{FF2B5EF4-FFF2-40B4-BE49-F238E27FC236}">
                <a16:creationId xmlns:a16="http://schemas.microsoft.com/office/drawing/2014/main" id="{A2CC891B-A7F9-46EB-B79E-472BC992A6E8}"/>
              </a:ext>
            </a:extLst>
          </p:cNvPr>
          <p:cNvSpPr txBox="1"/>
          <p:nvPr/>
        </p:nvSpPr>
        <p:spPr>
          <a:xfrm>
            <a:off x="902043" y="1245880"/>
            <a:ext cx="10602097" cy="1384995"/>
          </a:xfrm>
          <a:prstGeom prst="rect">
            <a:avLst/>
          </a:prstGeom>
          <a:noFill/>
        </p:spPr>
        <p:txBody>
          <a:bodyPr wrap="square">
            <a:spAutoFit/>
          </a:bodyPr>
          <a:lstStyle/>
          <a:p>
            <a:pPr marL="342900" marR="0" lvl="0" indent="-342900" algn="l" defTabSz="4572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altLang="zh-CN" sz="2800" b="1" dirty="0">
                <a:solidFill>
                  <a:srgbClr val="C00000"/>
                </a:solidFill>
                <a:latin typeface="+mj-lt"/>
                <a:ea typeface="等线" panose="02010600030101010101" pitchFamily="2" charset="-122"/>
                <a:cs typeface="Times New Roman" panose="02020603050405020304" pitchFamily="18" charset="0"/>
              </a:rPr>
              <a:t>Angular</a:t>
            </a:r>
          </a:p>
          <a:p>
            <a:pPr lvl="0">
              <a:defRPr/>
            </a:pPr>
            <a:r>
              <a:rPr lang="en-US" altLang="zh-CN" sz="2800" b="1" dirty="0">
                <a:solidFill>
                  <a:srgbClr val="000000"/>
                </a:solidFill>
                <a:latin typeface="+mj-lt"/>
                <a:ea typeface="等线" panose="02010600030101010101" pitchFamily="2" charset="-122"/>
                <a:cs typeface="Times New Roman" panose="02020603050405020304" pitchFamily="18" charset="0"/>
              </a:rPr>
              <a:t>	</a:t>
            </a:r>
            <a:r>
              <a:rPr lang="en-US" altLang="zh-CN" sz="2800" b="1" dirty="0">
                <a:solidFill>
                  <a:srgbClr val="000000"/>
                </a:solidFill>
                <a:latin typeface="+mj-lt"/>
                <a:cs typeface="Times New Roman" panose="02020603050405020304" pitchFamily="18" charset="0"/>
              </a:rPr>
              <a:t>Extremely complex web apps can be developed on the 	enterprise scale that rival desktop-based applications.</a:t>
            </a:r>
            <a:endParaRPr lang="en-US" altLang="zh-CN" sz="2800" b="1" dirty="0">
              <a:solidFill>
                <a:srgbClr val="000000"/>
              </a:solidFill>
              <a:latin typeface="+mj-lt"/>
              <a:ea typeface="等线" panose="02010600030101010101" pitchFamily="2" charset="-122"/>
              <a:cs typeface="Times New Roman" panose="02020603050405020304" pitchFamily="18" charset="0"/>
            </a:endParaRPr>
          </a:p>
        </p:txBody>
      </p:sp>
      <p:sp>
        <p:nvSpPr>
          <p:cNvPr id="2" name="Rectangle 9">
            <a:extLst>
              <a:ext uri="{FF2B5EF4-FFF2-40B4-BE49-F238E27FC236}">
                <a16:creationId xmlns:a16="http://schemas.microsoft.com/office/drawing/2014/main" id="{C818B790-0102-CE6D-6602-AC444943582A}"/>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Framework Tools</a:t>
            </a:r>
          </a:p>
        </p:txBody>
      </p:sp>
      <p:pic>
        <p:nvPicPr>
          <p:cNvPr id="7" name="图片 6">
            <a:extLst>
              <a:ext uri="{FF2B5EF4-FFF2-40B4-BE49-F238E27FC236}">
                <a16:creationId xmlns:a16="http://schemas.microsoft.com/office/drawing/2014/main" id="{B40F6385-762B-BF38-796E-DC7CA0EED68A}"/>
              </a:ext>
            </a:extLst>
          </p:cNvPr>
          <p:cNvPicPr>
            <a:picLocks noChangeAspect="1"/>
          </p:cNvPicPr>
          <p:nvPr/>
        </p:nvPicPr>
        <p:blipFill>
          <a:blip r:embed="rId3"/>
          <a:stretch>
            <a:fillRect/>
          </a:stretch>
        </p:blipFill>
        <p:spPr>
          <a:xfrm>
            <a:off x="1887024" y="2975504"/>
            <a:ext cx="8417953" cy="3178160"/>
          </a:xfrm>
          <a:prstGeom prst="rect">
            <a:avLst/>
          </a:prstGeom>
          <a:ln w="28575">
            <a:solidFill>
              <a:schemeClr val="bg1">
                <a:lumMod val="50000"/>
              </a:schemeClr>
            </a:solidFill>
          </a:ln>
        </p:spPr>
      </p:pic>
    </p:spTree>
    <p:extLst>
      <p:ext uri="{BB962C8B-B14F-4D97-AF65-F5344CB8AC3E}">
        <p14:creationId xmlns:p14="http://schemas.microsoft.com/office/powerpoint/2010/main" val="138903659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文本框 14">
            <a:extLst>
              <a:ext uri="{FF2B5EF4-FFF2-40B4-BE49-F238E27FC236}">
                <a16:creationId xmlns:a16="http://schemas.microsoft.com/office/drawing/2014/main" id="{A2CC891B-A7F9-46EB-B79E-472BC992A6E8}"/>
              </a:ext>
            </a:extLst>
          </p:cNvPr>
          <p:cNvSpPr txBox="1"/>
          <p:nvPr/>
        </p:nvSpPr>
        <p:spPr>
          <a:xfrm>
            <a:off x="742658" y="1458412"/>
            <a:ext cx="10706684" cy="4524315"/>
          </a:xfrm>
          <a:prstGeom prst="rect">
            <a:avLst/>
          </a:prstGeom>
          <a:noFill/>
        </p:spPr>
        <p:txBody>
          <a:bodyPr wrap="square">
            <a:spAutoFit/>
          </a:bodyPr>
          <a:lstStyle/>
          <a:p>
            <a:pPr marL="342900" lvl="0" indent="-342900">
              <a:buFont typeface="Wingdings" panose="05000000000000000000" pitchFamily="2" charset="2"/>
              <a:buChar char="§"/>
              <a:defRPr/>
            </a:pPr>
            <a:r>
              <a:rPr lang="en-US" altLang="zh-CN" sz="3600" b="1" dirty="0">
                <a:solidFill>
                  <a:srgbClr val="C00000"/>
                </a:solidFill>
                <a:latin typeface="+mj-lt"/>
                <a:cs typeface="Times New Roman" panose="02020603050405020304" pitchFamily="18" charset="0"/>
              </a:rPr>
              <a:t>Frontend</a:t>
            </a:r>
          </a:p>
          <a:p>
            <a:pPr lvl="0">
              <a:defRPr/>
            </a:pPr>
            <a:r>
              <a:rPr lang="en-US" altLang="zh-CN" sz="3600" b="1" dirty="0">
                <a:solidFill>
                  <a:srgbClr val="000000"/>
                </a:solidFill>
                <a:latin typeface="+mj-lt"/>
                <a:cs typeface="Times New Roman" panose="02020603050405020304" pitchFamily="18" charset="0"/>
              </a:rPr>
              <a:t>	 WebStorm, Visual Studio Code, Adobe Dreamweaver</a:t>
            </a:r>
          </a:p>
          <a:p>
            <a:pPr lvl="0">
              <a:defRPr/>
            </a:pPr>
            <a:endParaRPr lang="en-US" altLang="zh-CN" sz="3600" b="1" dirty="0">
              <a:solidFill>
                <a:srgbClr val="000000"/>
              </a:solidFill>
              <a:latin typeface="+mj-lt"/>
              <a:cs typeface="Times New Roman" panose="02020603050405020304" pitchFamily="18" charset="0"/>
            </a:endParaRPr>
          </a:p>
          <a:p>
            <a:pPr marL="342900" indent="-342900">
              <a:buFont typeface="Wingdings" panose="05000000000000000000" pitchFamily="2" charset="2"/>
              <a:buChar char="§"/>
              <a:defRPr/>
            </a:pPr>
            <a:r>
              <a:rPr lang="en-US" altLang="zh-CN" sz="3600" b="1" dirty="0">
                <a:solidFill>
                  <a:srgbClr val="C00000"/>
                </a:solidFill>
                <a:latin typeface="+mj-lt"/>
                <a:cs typeface="Times New Roman" panose="02020603050405020304" pitchFamily="18" charset="0"/>
              </a:rPr>
              <a:t>Backend</a:t>
            </a:r>
          </a:p>
          <a:p>
            <a:pPr lvl="1">
              <a:defRPr/>
            </a:pPr>
            <a:r>
              <a:rPr lang="en-US" altLang="zh-CN" sz="3600" b="1" dirty="0">
                <a:solidFill>
                  <a:srgbClr val="000000"/>
                </a:solidFill>
                <a:latin typeface="+mj-lt"/>
                <a:cs typeface="Times New Roman" panose="02020603050405020304" pitchFamily="18" charset="0"/>
              </a:rPr>
              <a:t>IDEA</a:t>
            </a:r>
          </a:p>
          <a:p>
            <a:pPr marL="342900" indent="-342900">
              <a:buFont typeface="Wingdings" panose="05000000000000000000" pitchFamily="2" charset="2"/>
              <a:buChar char="§"/>
              <a:defRPr/>
            </a:pPr>
            <a:endParaRPr lang="en-US" altLang="zh-CN" sz="3600" b="1" dirty="0">
              <a:solidFill>
                <a:srgbClr val="000000"/>
              </a:solidFill>
              <a:latin typeface="+mj-lt"/>
              <a:cs typeface="Times New Roman" panose="02020603050405020304" pitchFamily="18" charset="0"/>
            </a:endParaRPr>
          </a:p>
          <a:p>
            <a:pPr marL="342900" lvl="0" indent="-342900">
              <a:buFont typeface="Wingdings" panose="05000000000000000000" pitchFamily="2" charset="2"/>
              <a:buChar char="§"/>
              <a:defRPr/>
            </a:pPr>
            <a:r>
              <a:rPr lang="en-US" altLang="zh-CN" sz="3600" b="1" dirty="0">
                <a:solidFill>
                  <a:srgbClr val="C00000"/>
                </a:solidFill>
                <a:latin typeface="+mj-lt"/>
                <a:cs typeface="Times New Roman" panose="02020603050405020304" pitchFamily="18" charset="0"/>
              </a:rPr>
              <a:t>Collaboration</a:t>
            </a:r>
          </a:p>
          <a:p>
            <a:pPr lvl="0">
              <a:defRPr/>
            </a:pPr>
            <a:r>
              <a:rPr lang="en-US" altLang="zh-CN" sz="3600" b="1" dirty="0">
                <a:solidFill>
                  <a:srgbClr val="000000"/>
                </a:solidFill>
                <a:latin typeface="+mj-lt"/>
                <a:cs typeface="Times New Roman" panose="02020603050405020304" pitchFamily="18" charset="0"/>
              </a:rPr>
              <a:t>	GitHub	</a:t>
            </a:r>
          </a:p>
        </p:txBody>
      </p:sp>
      <p:sp>
        <p:nvSpPr>
          <p:cNvPr id="2" name="Rectangle 9">
            <a:extLst>
              <a:ext uri="{FF2B5EF4-FFF2-40B4-BE49-F238E27FC236}">
                <a16:creationId xmlns:a16="http://schemas.microsoft.com/office/drawing/2014/main" id="{05CA8D67-48C7-5E3A-5900-312BC5E2FB96}"/>
              </a:ext>
            </a:extLst>
          </p:cNvPr>
          <p:cNvSpPr/>
          <p:nvPr/>
        </p:nvSpPr>
        <p:spPr>
          <a:xfrm>
            <a:off x="486173" y="205503"/>
            <a:ext cx="118125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Development Tools</a:t>
            </a:r>
          </a:p>
        </p:txBody>
      </p:sp>
    </p:spTree>
    <p:extLst>
      <p:ext uri="{BB962C8B-B14F-4D97-AF65-F5344CB8AC3E}">
        <p14:creationId xmlns:p14="http://schemas.microsoft.com/office/powerpoint/2010/main" val="160520012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31</a:t>
            </a:fld>
            <a:endParaRPr lang="en-US" dirty="0"/>
          </a:p>
        </p:txBody>
      </p:sp>
      <p:sp>
        <p:nvSpPr>
          <p:cNvPr id="4" name="Rectangle 9">
            <a:extLst>
              <a:ext uri="{FF2B5EF4-FFF2-40B4-BE49-F238E27FC236}">
                <a16:creationId xmlns:a16="http://schemas.microsoft.com/office/drawing/2014/main" id="{1AC0B806-6387-F2FD-44AC-0977F94B3639}"/>
              </a:ext>
            </a:extLst>
          </p:cNvPr>
          <p:cNvSpPr/>
          <p:nvPr/>
        </p:nvSpPr>
        <p:spPr>
          <a:xfrm>
            <a:off x="1480474" y="1367356"/>
            <a:ext cx="10415414" cy="4708981"/>
          </a:xfrm>
          <a:prstGeom prst="rect">
            <a:avLst/>
          </a:prstGeom>
        </p:spPr>
        <p:txBody>
          <a:bodyPr wrap="square">
            <a:spAutoFit/>
          </a:bodyPr>
          <a:lstStyle/>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Introduce Myself and Rules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Software Preparation</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Some Common DBMS</a:t>
            </a:r>
          </a:p>
          <a:p>
            <a:pPr marL="1028700" indent="-1028700">
              <a:buFont typeface="+mj-lt"/>
              <a:buAutoNum type="romanUcPeriod"/>
            </a:pPr>
            <a:r>
              <a:rPr lang="en-US" altLang="zh-CN" sz="6000" b="1" dirty="0">
                <a:solidFill>
                  <a:schemeClr val="tx1">
                    <a:lumMod val="50000"/>
                    <a:lumOff val="50000"/>
                  </a:schemeClr>
                </a:solidFill>
                <a:latin typeface="+mj-lt"/>
                <a:cs typeface="Times New Roman" panose="02020603050405020304" pitchFamily="18" charset="0"/>
              </a:rPr>
              <a:t>Frontend Technology</a:t>
            </a:r>
          </a:p>
          <a:p>
            <a:pPr marL="1028700" indent="-1028700">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Project One Preview</a:t>
            </a:r>
            <a:endParaRPr lang="en-US" altLang="zh-CN" sz="6000" b="1" dirty="0">
              <a:solidFill>
                <a:schemeClr val="bg2">
                  <a:lumMod val="10000"/>
                </a:schemeClr>
              </a:solidFill>
              <a:latin typeface="+mj-lt"/>
              <a:cs typeface="Times New Roman" panose="02020603050405020304" pitchFamily="18" charset="0"/>
            </a:endParaRPr>
          </a:p>
        </p:txBody>
      </p:sp>
      <p:sp>
        <p:nvSpPr>
          <p:cNvPr id="5" name="Rectangle 9">
            <a:extLst>
              <a:ext uri="{FF2B5EF4-FFF2-40B4-BE49-F238E27FC236}">
                <a16:creationId xmlns:a16="http://schemas.microsoft.com/office/drawing/2014/main" id="{7106F1A5-75AF-66EF-949F-FDF721B8E2AD}"/>
              </a:ext>
            </a:extLst>
          </p:cNvPr>
          <p:cNvSpPr/>
          <p:nvPr/>
        </p:nvSpPr>
        <p:spPr>
          <a:xfrm>
            <a:off x="814963" y="351693"/>
            <a:ext cx="10562074" cy="1015663"/>
          </a:xfrm>
          <a:prstGeom prst="rect">
            <a:avLst/>
          </a:prstGeom>
        </p:spPr>
        <p:txBody>
          <a:bodyPr wrap="square">
            <a:spAutoFit/>
          </a:bodyPr>
          <a:lstStyle/>
          <a:p>
            <a:pPr algn="ctr"/>
            <a:r>
              <a:rPr lang="en-US" sz="6000" b="1" dirty="0">
                <a:solidFill>
                  <a:srgbClr val="C00000"/>
                </a:solidFill>
                <a:latin typeface="Times New Roman" panose="02020603050405020304" pitchFamily="18" charset="0"/>
                <a:cs typeface="Times New Roman" panose="02020603050405020304" pitchFamily="18" charset="0"/>
              </a:rPr>
              <a:t>0-Project Preparation</a:t>
            </a:r>
          </a:p>
        </p:txBody>
      </p:sp>
    </p:spTree>
    <p:extLst>
      <p:ext uri="{BB962C8B-B14F-4D97-AF65-F5344CB8AC3E}">
        <p14:creationId xmlns:p14="http://schemas.microsoft.com/office/powerpoint/2010/main" val="85308662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08EE9303-F6A7-9DD9-3466-A8B381F0C060}"/>
              </a:ext>
            </a:extLst>
          </p:cNvPr>
          <p:cNvSpPr txBox="1"/>
          <p:nvPr/>
        </p:nvSpPr>
        <p:spPr>
          <a:xfrm>
            <a:off x="1140006" y="1358647"/>
            <a:ext cx="9911988" cy="4613571"/>
          </a:xfrm>
          <a:prstGeom prst="rect">
            <a:avLst/>
          </a:prstGeom>
          <a:noFill/>
        </p:spPr>
        <p:txBody>
          <a:bodyPr wrap="square">
            <a:spAutoFit/>
          </a:bodyPr>
          <a:lstStyle/>
          <a:p>
            <a:pPr marL="457200" lvl="0" indent="-457200">
              <a:lnSpc>
                <a:spcPct val="150000"/>
              </a:lnSpc>
              <a:buFont typeface="Wingdings" panose="05000000000000000000" pitchFamily="2" charset="2"/>
              <a:buChar char="Ø"/>
              <a:defRPr/>
            </a:pPr>
            <a:r>
              <a:rPr lang="en-US" altLang="zh-CN" sz="4000" b="1" dirty="0">
                <a:solidFill>
                  <a:srgbClr val="000000"/>
                </a:solidFill>
                <a:latin typeface="+mj-lt"/>
                <a:cs typeface="Times New Roman" panose="02020603050405020304" pitchFamily="18" charset="0"/>
              </a:rPr>
              <a:t>Create a Database</a:t>
            </a:r>
          </a:p>
          <a:p>
            <a:pPr marL="457200" indent="-457200">
              <a:lnSpc>
                <a:spcPct val="150000"/>
              </a:lnSpc>
              <a:buFont typeface="Wingdings" panose="05000000000000000000" pitchFamily="2" charset="2"/>
              <a:buChar char="Ø"/>
              <a:defRPr/>
            </a:pPr>
            <a:r>
              <a:rPr lang="en-US" altLang="zh-CN" sz="4000" b="1" dirty="0">
                <a:solidFill>
                  <a:srgbClr val="000000"/>
                </a:solidFill>
                <a:latin typeface="+mj-lt"/>
                <a:cs typeface="Times New Roman" panose="02020603050405020304" pitchFamily="18" charset="0"/>
              </a:rPr>
              <a:t>Create a Table</a:t>
            </a:r>
          </a:p>
          <a:p>
            <a:pPr marL="457200" lvl="0" indent="-457200">
              <a:lnSpc>
                <a:spcPct val="150000"/>
              </a:lnSpc>
              <a:buFont typeface="Wingdings" panose="05000000000000000000" pitchFamily="2" charset="2"/>
              <a:buChar char="Ø"/>
              <a:defRPr/>
            </a:pPr>
            <a:r>
              <a:rPr lang="en-US" altLang="zh-CN" sz="4000" b="1" dirty="0">
                <a:solidFill>
                  <a:srgbClr val="000000"/>
                </a:solidFill>
                <a:latin typeface="+mj-lt"/>
                <a:cs typeface="Times New Roman" panose="02020603050405020304" pitchFamily="18" charset="0"/>
              </a:rPr>
              <a:t>Set the Field Properties for an Existing Table</a:t>
            </a:r>
          </a:p>
          <a:p>
            <a:pPr marL="457200" lvl="0" indent="-457200">
              <a:lnSpc>
                <a:spcPct val="150000"/>
              </a:lnSpc>
              <a:buFont typeface="Wingdings" panose="05000000000000000000" pitchFamily="2" charset="2"/>
              <a:buChar char="Ø"/>
              <a:defRPr/>
            </a:pPr>
            <a:r>
              <a:rPr lang="en-US" altLang="zh-CN" sz="4000" b="1" dirty="0">
                <a:solidFill>
                  <a:srgbClr val="000000"/>
                </a:solidFill>
                <a:latin typeface="+mj-lt"/>
                <a:cs typeface="Times New Roman" panose="02020603050405020304" pitchFamily="18" charset="0"/>
              </a:rPr>
              <a:t>Add Data to a Table	</a:t>
            </a:r>
          </a:p>
          <a:p>
            <a:pPr marL="457200" lvl="0" indent="-457200">
              <a:lnSpc>
                <a:spcPct val="150000"/>
              </a:lnSpc>
              <a:buFont typeface="Wingdings" panose="05000000000000000000" pitchFamily="2" charset="2"/>
              <a:buChar char="Ø"/>
              <a:defRPr/>
            </a:pPr>
            <a:r>
              <a:rPr lang="en-US" altLang="zh-CN" sz="4000" b="1" dirty="0">
                <a:solidFill>
                  <a:srgbClr val="000000"/>
                </a:solidFill>
                <a:latin typeface="+mj-lt"/>
                <a:cs typeface="Times New Roman" panose="02020603050405020304" pitchFamily="18" charset="0"/>
              </a:rPr>
              <a:t>Import Data into </a:t>
            </a:r>
            <a:r>
              <a:rPr lang="en-US" altLang="zh-CN" sz="4000" b="1" dirty="0">
                <a:solidFill>
                  <a:srgbClr val="C00000"/>
                </a:solidFill>
                <a:latin typeface="+mj-lt"/>
                <a:cs typeface="Times New Roman" panose="02020603050405020304" pitchFamily="18" charset="0"/>
              </a:rPr>
              <a:t>Access</a:t>
            </a:r>
          </a:p>
        </p:txBody>
      </p:sp>
      <p:sp>
        <p:nvSpPr>
          <p:cNvPr id="8" name="Rectangle 9">
            <a:extLst>
              <a:ext uri="{FF2B5EF4-FFF2-40B4-BE49-F238E27FC236}">
                <a16:creationId xmlns:a16="http://schemas.microsoft.com/office/drawing/2014/main" id="{9C7373A1-353D-FC3D-8C80-CBA38D160029}"/>
              </a:ext>
            </a:extLst>
          </p:cNvPr>
          <p:cNvSpPr/>
          <p:nvPr/>
        </p:nvSpPr>
        <p:spPr>
          <a:xfrm>
            <a:off x="486173" y="205503"/>
            <a:ext cx="8889321"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Project One Preview</a:t>
            </a:r>
          </a:p>
        </p:txBody>
      </p:sp>
    </p:spTree>
    <p:extLst>
      <p:ext uri="{BB962C8B-B14F-4D97-AF65-F5344CB8AC3E}">
        <p14:creationId xmlns:p14="http://schemas.microsoft.com/office/powerpoint/2010/main" val="420540195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a:extLst>
              <a:ext uri="{FF2B5EF4-FFF2-40B4-BE49-F238E27FC236}">
                <a16:creationId xmlns:a16="http://schemas.microsoft.com/office/drawing/2014/main" id="{560522EF-52D9-4B65-D19C-9E9C092ED757}"/>
              </a:ext>
            </a:extLst>
          </p:cNvPr>
          <p:cNvSpPr/>
          <p:nvPr/>
        </p:nvSpPr>
        <p:spPr>
          <a:xfrm>
            <a:off x="1198071" y="2111998"/>
            <a:ext cx="9494520" cy="1015663"/>
          </a:xfrm>
          <a:prstGeom prst="rect">
            <a:avLst/>
          </a:prstGeom>
        </p:spPr>
        <p:txBody>
          <a:bodyPr wrap="square">
            <a:spAutoFit/>
          </a:bodyPr>
          <a:lstStyle/>
          <a:p>
            <a:pPr algn="ctr"/>
            <a:r>
              <a:rPr lang="en-US" altLang="zh-CN" sz="6000" b="1" dirty="0">
                <a:solidFill>
                  <a:srgbClr val="33339B"/>
                </a:solidFill>
                <a:latin typeface="Times New Roman" panose="02020603050405020304" pitchFamily="18" charset="0"/>
                <a:cs typeface="Times New Roman" panose="02020603050405020304" pitchFamily="18" charset="0"/>
              </a:rPr>
              <a:t>Project 1 </a:t>
            </a:r>
          </a:p>
        </p:txBody>
      </p:sp>
      <p:sp>
        <p:nvSpPr>
          <p:cNvPr id="11" name="文本框 10">
            <a:extLst>
              <a:ext uri="{FF2B5EF4-FFF2-40B4-BE49-F238E27FC236}">
                <a16:creationId xmlns:a16="http://schemas.microsoft.com/office/drawing/2014/main" id="{CED3387C-A638-D7B2-ACA0-E51011169E4F}"/>
              </a:ext>
            </a:extLst>
          </p:cNvPr>
          <p:cNvSpPr txBox="1"/>
          <p:nvPr/>
        </p:nvSpPr>
        <p:spPr>
          <a:xfrm>
            <a:off x="4130732" y="4571381"/>
            <a:ext cx="3629198"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TA: Jiawei Liu</a:t>
            </a:r>
          </a:p>
        </p:txBody>
      </p:sp>
      <p:sp>
        <p:nvSpPr>
          <p:cNvPr id="4" name="文本框 3">
            <a:extLst>
              <a:ext uri="{FF2B5EF4-FFF2-40B4-BE49-F238E27FC236}">
                <a16:creationId xmlns:a16="http://schemas.microsoft.com/office/drawing/2014/main" id="{A79FF2DE-6EBE-45CB-80EF-F02B7BA3C95D}"/>
              </a:ext>
            </a:extLst>
          </p:cNvPr>
          <p:cNvSpPr txBox="1"/>
          <p:nvPr/>
        </p:nvSpPr>
        <p:spPr>
          <a:xfrm>
            <a:off x="3304307" y="3495578"/>
            <a:ext cx="5105402" cy="707886"/>
          </a:xfrm>
          <a:prstGeom prst="rect">
            <a:avLst/>
          </a:prstGeom>
          <a:noFill/>
        </p:spPr>
        <p:txBody>
          <a:bodyPr wrap="square" rtlCol="0">
            <a:spAutoFit/>
          </a:bodyPr>
          <a:lstStyle/>
          <a:p>
            <a:r>
              <a:rPr lang="en-US" altLang="zh-CN" sz="4000" b="1" dirty="0">
                <a:latin typeface="Times New Roman" panose="02020603050405020304" pitchFamily="18" charset="0"/>
                <a:cs typeface="Times New Roman" panose="02020603050405020304" pitchFamily="18" charset="0"/>
              </a:rPr>
              <a:t>Lecturer: Shuai Wang</a:t>
            </a:r>
          </a:p>
        </p:txBody>
      </p:sp>
    </p:spTree>
    <p:extLst>
      <p:ext uri="{BB962C8B-B14F-4D97-AF65-F5344CB8AC3E}">
        <p14:creationId xmlns:p14="http://schemas.microsoft.com/office/powerpoint/2010/main" val="21354878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a:extLst>
              <a:ext uri="{FF2B5EF4-FFF2-40B4-BE49-F238E27FC236}">
                <a16:creationId xmlns:a16="http://schemas.microsoft.com/office/drawing/2014/main" id="{7D89991E-24EE-34F9-B73E-D65B80DCFB55}"/>
              </a:ext>
            </a:extLst>
          </p:cNvPr>
          <p:cNvSpPr/>
          <p:nvPr/>
        </p:nvSpPr>
        <p:spPr>
          <a:xfrm>
            <a:off x="546412" y="378537"/>
            <a:ext cx="10462909" cy="707886"/>
          </a:xfrm>
          <a:prstGeom prst="rect">
            <a:avLst/>
          </a:prstGeom>
        </p:spPr>
        <p:txBody>
          <a:bodyPr wrap="square">
            <a:spAutoFit/>
          </a:bodyPr>
          <a:lstStyle/>
          <a:p>
            <a:r>
              <a:rPr lang="en-US" altLang="zh-CN" sz="4000" b="1" dirty="0">
                <a:solidFill>
                  <a:srgbClr val="33339B"/>
                </a:solidFill>
                <a:latin typeface="Times New Roman" panose="02020603050405020304" pitchFamily="18" charset="0"/>
                <a:cs typeface="Times New Roman" panose="02020603050405020304" pitchFamily="18" charset="0"/>
              </a:rPr>
              <a:t>Requirements for submitting the assignment</a:t>
            </a:r>
          </a:p>
        </p:txBody>
      </p:sp>
      <p:sp>
        <p:nvSpPr>
          <p:cNvPr id="2" name="Rectangle 1">
            <a:extLst>
              <a:ext uri="{FF2B5EF4-FFF2-40B4-BE49-F238E27FC236}">
                <a16:creationId xmlns:a16="http://schemas.microsoft.com/office/drawing/2014/main" id="{457B17A4-A116-4951-B682-60901FBE49A6}"/>
              </a:ext>
            </a:extLst>
          </p:cNvPr>
          <p:cNvSpPr/>
          <p:nvPr/>
        </p:nvSpPr>
        <p:spPr>
          <a:xfrm>
            <a:off x="1277354" y="5586911"/>
            <a:ext cx="9477274" cy="769441"/>
          </a:xfrm>
          <a:prstGeom prst="rect">
            <a:avLst/>
          </a:prstGeom>
          <a:ln>
            <a:solidFill>
              <a:srgbClr val="C00000"/>
            </a:solidFill>
          </a:ln>
        </p:spPr>
        <p:txBody>
          <a:bodyPr wrap="none">
            <a:spAutoFit/>
          </a:bodyPr>
          <a:lstStyle/>
          <a:p>
            <a:r>
              <a:rPr lang="en-US" sz="4400" b="1" dirty="0">
                <a:solidFill>
                  <a:srgbClr val="C00000"/>
                </a:solidFill>
                <a:highlight>
                  <a:srgbClr val="FFFF00"/>
                </a:highlight>
                <a:latin typeface="Times New Roman" panose="02020603050405020304" pitchFamily="18" charset="0"/>
                <a:cs typeface="Times New Roman" panose="02020603050405020304" pitchFamily="18" charset="0"/>
              </a:rPr>
              <a:t>Deadline:</a:t>
            </a:r>
            <a:r>
              <a:rPr lang="zh-CN" altLang="en-US" sz="4400" b="1" dirty="0">
                <a:solidFill>
                  <a:srgbClr val="C00000"/>
                </a:solidFill>
                <a:highlight>
                  <a:srgbClr val="FFFF00"/>
                </a:highlight>
                <a:latin typeface="Times New Roman" panose="02020603050405020304" pitchFamily="18" charset="0"/>
                <a:cs typeface="Times New Roman" panose="02020603050405020304" pitchFamily="18" charset="0"/>
              </a:rPr>
              <a:t> </a:t>
            </a:r>
            <a:r>
              <a:rPr lang="en-US" altLang="zh-CN" sz="4400" b="1" dirty="0">
                <a:solidFill>
                  <a:srgbClr val="C00000"/>
                </a:solidFill>
                <a:highlight>
                  <a:srgbClr val="FFFF00"/>
                </a:highlight>
                <a:latin typeface="Times New Roman" panose="02020603050405020304" pitchFamily="18" charset="0"/>
                <a:cs typeface="Times New Roman" panose="02020603050405020304" pitchFamily="18" charset="0"/>
              </a:rPr>
              <a:t>Beijing time, 10.23, 24:00:00</a:t>
            </a:r>
            <a:endParaRPr lang="en-US" sz="4400" b="1" dirty="0">
              <a:solidFill>
                <a:srgbClr val="C00000"/>
              </a:solidFill>
              <a:highlight>
                <a:srgbClr val="FFFF00"/>
              </a:highlight>
              <a:latin typeface="Times New Roman" panose="02020603050405020304" pitchFamily="18" charset="0"/>
              <a:cs typeface="Times New Roman" panose="02020603050405020304" pitchFamily="18" charset="0"/>
            </a:endParaRPr>
          </a:p>
        </p:txBody>
      </p:sp>
      <p:sp>
        <p:nvSpPr>
          <p:cNvPr id="3" name="灯片编号占位符 2">
            <a:extLst>
              <a:ext uri="{FF2B5EF4-FFF2-40B4-BE49-F238E27FC236}">
                <a16:creationId xmlns:a16="http://schemas.microsoft.com/office/drawing/2014/main" id="{D0A8FF96-F473-4283-B263-9D4DB6E0E44D}"/>
              </a:ext>
            </a:extLst>
          </p:cNvPr>
          <p:cNvSpPr>
            <a:spLocks noGrp="1"/>
          </p:cNvSpPr>
          <p:nvPr>
            <p:ph type="sldNum" sz="quarter" idx="12"/>
          </p:nvPr>
        </p:nvSpPr>
        <p:spPr/>
        <p:txBody>
          <a:bodyPr/>
          <a:lstStyle/>
          <a:p>
            <a:fld id="{9128F302-E557-4BC3-87C7-BCBD3AD1B54C}" type="slidenum">
              <a:rPr lang="en-US" smtClean="0"/>
              <a:t>34</a:t>
            </a:fld>
            <a:endParaRPr lang="en-US" dirty="0"/>
          </a:p>
        </p:txBody>
      </p:sp>
      <p:sp>
        <p:nvSpPr>
          <p:cNvPr id="7" name="文本框 6">
            <a:extLst>
              <a:ext uri="{FF2B5EF4-FFF2-40B4-BE49-F238E27FC236}">
                <a16:creationId xmlns:a16="http://schemas.microsoft.com/office/drawing/2014/main" id="{E83EFD8F-C723-E342-0471-4D6B0B02135C}"/>
              </a:ext>
            </a:extLst>
          </p:cNvPr>
          <p:cNvSpPr txBox="1"/>
          <p:nvPr/>
        </p:nvSpPr>
        <p:spPr>
          <a:xfrm>
            <a:off x="546411" y="1082976"/>
            <a:ext cx="10462910" cy="444801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altLang="zh-CN" sz="3200" b="1" dirty="0">
                <a:latin typeface="微软雅黑" panose="020B0503020204020204" pitchFamily="34" charset="-122"/>
                <a:ea typeface="微软雅黑" panose="020B0503020204020204" pitchFamily="34" charset="-122"/>
                <a:cs typeface="Times New Roman" panose="02020603050405020304" pitchFamily="18" charset="0"/>
              </a:rPr>
              <a:t>Email address : </a:t>
            </a:r>
            <a:r>
              <a:rPr lang="en-US" altLang="zh-CN" sz="3200" b="1" u="sng" dirty="0">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liujoy@seu.edu.cn</a:t>
            </a:r>
            <a:endParaRPr lang="en-US" altLang="zh-CN" sz="3200" b="1" i="1" u="sng" dirty="0">
              <a:solidFill>
                <a:srgbClr val="33339B"/>
              </a:solidFill>
              <a:latin typeface="+mj-lt"/>
              <a:ea typeface="DengXian" panose="02010600030101010101" pitchFamily="2" charset="-122"/>
            </a:endParaRPr>
          </a:p>
          <a:p>
            <a:pPr marL="457200" indent="-457200">
              <a:lnSpc>
                <a:spcPct val="150000"/>
              </a:lnSpc>
              <a:buFont typeface="Arial" panose="020B0604020202020204" pitchFamily="34" charset="0"/>
              <a:buChar char="•"/>
            </a:pPr>
            <a:r>
              <a:rPr lang="en-US" altLang="zh-CN" sz="3200" b="1"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File name format :</a:t>
            </a:r>
            <a:r>
              <a:rPr lang="en-US" altLang="zh-CN" sz="3200" b="1" dirty="0">
                <a:latin typeface="微软雅黑" panose="020B0503020204020204" pitchFamily="34" charset="-122"/>
                <a:ea typeface="微软雅黑" panose="020B0503020204020204" pitchFamily="34" charset="-122"/>
              </a:rPr>
              <a:t> </a:t>
            </a:r>
            <a:r>
              <a:rPr lang="en-US" altLang="zh-CN" sz="3200" b="1" dirty="0" err="1">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StudentNumber</a:t>
            </a:r>
            <a:r>
              <a:rPr lang="en-US" altLang="zh-CN" sz="3200" b="1" dirty="0">
                <a:solidFill>
                  <a:srgbClr val="33339B"/>
                </a:solidFill>
                <a:latin typeface="Times New Roman" panose="02020603050405020304" pitchFamily="18" charset="0"/>
                <a:ea typeface="DengXian" panose="02010600030101010101" pitchFamily="2" charset="-122"/>
                <a:cs typeface="Times New Roman" panose="02020603050405020304" pitchFamily="18" charset="0"/>
              </a:rPr>
              <a:t>-Name-Project-X</a:t>
            </a:r>
            <a:endParaRPr lang="en-US" altLang="zh-CN" sz="3200" b="1" dirty="0">
              <a:solidFill>
                <a:srgbClr val="33339B"/>
              </a:solidFill>
              <a:latin typeface="+mj-lt"/>
              <a:ea typeface="DengXian" panose="02010600030101010101" pitchFamily="2" charset="-122"/>
            </a:endParaRPr>
          </a:p>
          <a:p>
            <a:pPr lvl="1">
              <a:lnSpc>
                <a:spcPct val="150000"/>
              </a:lnSpc>
            </a:pPr>
            <a:r>
              <a:rPr lang="en-US" altLang="zh-CN" sz="3200" b="1" dirty="0">
                <a:latin typeface="+mj-lt"/>
                <a:ea typeface="DengXian" panose="02010600030101010101" pitchFamily="2" charset="-122"/>
              </a:rPr>
              <a:t>	</a:t>
            </a:r>
            <a:r>
              <a:rPr lang="en-US" altLang="zh-CN" sz="3200" dirty="0">
                <a:latin typeface="微软雅黑" panose="020B0503020204020204" pitchFamily="34" charset="-122"/>
                <a:ea typeface="微软雅黑" panose="020B0503020204020204" pitchFamily="34" charset="-122"/>
              </a:rPr>
              <a:t>example </a:t>
            </a:r>
            <a:r>
              <a:rPr lang="en-US" altLang="zh-CN" sz="3200" dirty="0">
                <a:latin typeface="+mj-lt"/>
                <a:ea typeface="DengXian" panose="02010600030101010101" pitchFamily="2" charset="-122"/>
              </a:rPr>
              <a:t>: </a:t>
            </a:r>
            <a:r>
              <a:rPr lang="en-US" altLang="zh-CN"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71121000-</a:t>
            </a:r>
            <a:r>
              <a:rPr lang="zh-CN" altLang="en-US"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张三</a:t>
            </a:r>
            <a:r>
              <a:rPr lang="en-US" altLang="zh-CN" sz="3200" i="1" dirty="0">
                <a:solidFill>
                  <a:srgbClr val="33339B"/>
                </a:solidFill>
                <a:latin typeface="微软雅黑" panose="020B0503020204020204" pitchFamily="34" charset="-122"/>
                <a:ea typeface="微软雅黑" panose="020B0503020204020204" pitchFamily="34" charset="-122"/>
                <a:cs typeface="Times New Roman" panose="02020603050405020304" pitchFamily="18" charset="0"/>
              </a:rPr>
              <a:t>-Project-1.zip</a:t>
            </a:r>
          </a:p>
          <a:p>
            <a:pPr marL="457200" indent="-457200">
              <a:lnSpc>
                <a:spcPct val="150000"/>
              </a:lnSpc>
              <a:buFont typeface="Arial" panose="020B0604020202020204" pitchFamily="34" charset="0"/>
              <a:buChar char="•"/>
            </a:pPr>
            <a:r>
              <a:rPr lang="en-US" altLang="zh-CN" sz="3200" b="1" dirty="0">
                <a:latin typeface="微软雅黑" panose="020B0503020204020204" pitchFamily="34" charset="-122"/>
                <a:ea typeface="微软雅黑" panose="020B0503020204020204" pitchFamily="34" charset="-122"/>
              </a:rPr>
              <a:t>Including :</a:t>
            </a:r>
          </a:p>
          <a:p>
            <a:pPr>
              <a:lnSpc>
                <a:spcPct val="150000"/>
              </a:lnSpc>
            </a:pPr>
            <a:r>
              <a:rPr lang="en-US" altLang="zh-CN" sz="3200" dirty="0">
                <a:solidFill>
                  <a:srgbClr val="00B0F0"/>
                </a:solidFill>
                <a:latin typeface="+mj-lt"/>
                <a:cs typeface="Times New Roman" panose="02020603050405020304" pitchFamily="18" charset="0"/>
              </a:rPr>
              <a:t>		</a:t>
            </a:r>
            <a:r>
              <a:rPr lang="en-US" altLang="zh-CN" sz="3200" b="1" i="1" dirty="0">
                <a:solidFill>
                  <a:srgbClr val="33339B"/>
                </a:solidFill>
                <a:latin typeface="+mj-lt"/>
                <a:ea typeface="DengXian" panose="02010600030101010101" pitchFamily="2" charset="-122"/>
              </a:rPr>
              <a:t>report_A1.doc / report_A1.docx</a:t>
            </a:r>
          </a:p>
          <a:p>
            <a:pPr>
              <a:lnSpc>
                <a:spcPct val="150000"/>
              </a:lnSpc>
            </a:pPr>
            <a:r>
              <a:rPr lang="en-US" altLang="zh-CN" sz="3200" b="1" i="1" dirty="0">
                <a:solidFill>
                  <a:srgbClr val="33339B"/>
                </a:solidFill>
                <a:latin typeface="+mj-lt"/>
                <a:ea typeface="DengXian" panose="02010600030101010101" pitchFamily="2" charset="-122"/>
              </a:rPr>
              <a:t>     	    university_A1.mdb / university_A1.accdb</a:t>
            </a:r>
          </a:p>
        </p:txBody>
      </p:sp>
      <p:pic>
        <p:nvPicPr>
          <p:cNvPr id="14" name="图片 13">
            <a:extLst>
              <a:ext uri="{FF2B5EF4-FFF2-40B4-BE49-F238E27FC236}">
                <a16:creationId xmlns:a16="http://schemas.microsoft.com/office/drawing/2014/main" id="{EBFD19A9-392E-9338-1EE6-1FB50E255B67}"/>
              </a:ext>
            </a:extLst>
          </p:cNvPr>
          <p:cNvPicPr>
            <a:picLocks noChangeAspect="1"/>
          </p:cNvPicPr>
          <p:nvPr/>
        </p:nvPicPr>
        <p:blipFill>
          <a:blip r:embed="rId3"/>
          <a:stretch>
            <a:fillRect/>
          </a:stretch>
        </p:blipFill>
        <p:spPr>
          <a:xfrm>
            <a:off x="8326065" y="4446321"/>
            <a:ext cx="2683256" cy="790069"/>
          </a:xfrm>
          <a:prstGeom prst="rect">
            <a:avLst/>
          </a:prstGeom>
          <a:ln>
            <a:solidFill>
              <a:schemeClr val="accent1">
                <a:lumMod val="50000"/>
              </a:schemeClr>
            </a:solidFill>
          </a:ln>
        </p:spPr>
      </p:pic>
    </p:spTree>
    <p:extLst>
      <p:ext uri="{BB962C8B-B14F-4D97-AF65-F5344CB8AC3E}">
        <p14:creationId xmlns:p14="http://schemas.microsoft.com/office/powerpoint/2010/main" val="9396328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35</a:t>
            </a:fld>
            <a:endParaRPr lang="en-US" dirty="0"/>
          </a:p>
        </p:txBody>
      </p:sp>
      <p:sp>
        <p:nvSpPr>
          <p:cNvPr id="10" name="Rectangle 9">
            <a:extLst>
              <a:ext uri="{FF2B5EF4-FFF2-40B4-BE49-F238E27FC236}">
                <a16:creationId xmlns:a16="http://schemas.microsoft.com/office/drawing/2014/main" id="{4357240D-CD8E-9B76-09DC-277985C5C2D8}"/>
              </a:ext>
            </a:extLst>
          </p:cNvPr>
          <p:cNvSpPr/>
          <p:nvPr/>
        </p:nvSpPr>
        <p:spPr>
          <a:xfrm>
            <a:off x="539853" y="1742893"/>
            <a:ext cx="11112294" cy="4104200"/>
          </a:xfrm>
          <a:prstGeom prst="rect">
            <a:avLst/>
          </a:prstGeom>
        </p:spPr>
        <p:txBody>
          <a:bodyPr wrap="square">
            <a:spAutoFit/>
          </a:bodyPr>
          <a:lstStyle/>
          <a:p>
            <a:pPr marL="1028700" indent="-1028700">
              <a:lnSpc>
                <a:spcPct val="150000"/>
              </a:lnSpc>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Tutorial with Project Examples</a:t>
            </a:r>
          </a:p>
          <a:p>
            <a:pPr marL="1028700" indent="-1028700">
              <a:lnSpc>
                <a:spcPct val="150000"/>
              </a:lnSpc>
              <a:buFont typeface="+mj-lt"/>
              <a:buAutoNum type="romanUcPeriod"/>
            </a:pPr>
            <a:r>
              <a:rPr lang="en-US" altLang="zh-CN" sz="6000" b="1" dirty="0">
                <a:solidFill>
                  <a:schemeClr val="bg1">
                    <a:lumMod val="50000"/>
                  </a:schemeClr>
                </a:solidFill>
                <a:latin typeface="+mj-lt"/>
                <a:cs typeface="Times New Roman" panose="02020603050405020304" pitchFamily="18" charset="0"/>
              </a:rPr>
              <a:t>Assignment</a:t>
            </a:r>
          </a:p>
          <a:p>
            <a:pPr algn="ctr">
              <a:lnSpc>
                <a:spcPct val="150000"/>
              </a:lnSpc>
            </a:pPr>
            <a:endParaRPr lang="en-US" altLang="zh-CN" sz="6000" b="1" dirty="0">
              <a:solidFill>
                <a:schemeClr val="bg2">
                  <a:lumMod val="10000"/>
                </a:schemeClr>
              </a:solidFill>
              <a:latin typeface="+mj-lt"/>
              <a:cs typeface="Times New Roman" panose="02020603050405020304" pitchFamily="18" charset="0"/>
            </a:endParaRPr>
          </a:p>
        </p:txBody>
      </p:sp>
      <p:sp>
        <p:nvSpPr>
          <p:cNvPr id="3" name="Rectangle 9">
            <a:extLst>
              <a:ext uri="{FF2B5EF4-FFF2-40B4-BE49-F238E27FC236}">
                <a16:creationId xmlns:a16="http://schemas.microsoft.com/office/drawing/2014/main" id="{D2F0A02F-50C8-DFB8-46B3-67D040FCF552}"/>
              </a:ext>
            </a:extLst>
          </p:cNvPr>
          <p:cNvSpPr/>
          <p:nvPr/>
        </p:nvSpPr>
        <p:spPr>
          <a:xfrm>
            <a:off x="814963" y="452096"/>
            <a:ext cx="10562074" cy="1107996"/>
          </a:xfrm>
          <a:prstGeom prst="rect">
            <a:avLst/>
          </a:prstGeom>
        </p:spPr>
        <p:txBody>
          <a:bodyPr wrap="square">
            <a:spAutoFit/>
          </a:bodyPr>
          <a:lstStyle/>
          <a:p>
            <a:pPr algn="ctr"/>
            <a:r>
              <a:rPr lang="en-US" altLang="zh-CN" sz="6600" b="1" dirty="0">
                <a:solidFill>
                  <a:srgbClr val="C00000"/>
                </a:solidFill>
                <a:latin typeface="Times New Roman" panose="02020603050405020304" pitchFamily="18" charset="0"/>
                <a:cs typeface="Times New Roman" panose="02020603050405020304" pitchFamily="18" charset="0"/>
              </a:rPr>
              <a:t>Project 1</a:t>
            </a:r>
          </a:p>
        </p:txBody>
      </p:sp>
    </p:spTree>
    <p:extLst>
      <p:ext uri="{BB962C8B-B14F-4D97-AF65-F5344CB8AC3E}">
        <p14:creationId xmlns:p14="http://schemas.microsoft.com/office/powerpoint/2010/main" val="361812963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85D4C00-A47F-405B-8741-3518A806FCB6}"/>
              </a:ext>
            </a:extLst>
          </p:cNvPr>
          <p:cNvSpPr/>
          <p:nvPr/>
        </p:nvSpPr>
        <p:spPr>
          <a:xfrm>
            <a:off x="486172" y="1057847"/>
            <a:ext cx="4707058"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Create a Database</a:t>
            </a:r>
          </a:p>
        </p:txBody>
      </p:sp>
      <p:sp>
        <p:nvSpPr>
          <p:cNvPr id="8" name="Rectangle 7">
            <a:extLst>
              <a:ext uri="{FF2B5EF4-FFF2-40B4-BE49-F238E27FC236}">
                <a16:creationId xmlns:a16="http://schemas.microsoft.com/office/drawing/2014/main" id="{E1865E37-CAFC-4B09-8C98-47DC5BF47C67}"/>
              </a:ext>
            </a:extLst>
          </p:cNvPr>
          <p:cNvSpPr/>
          <p:nvPr/>
        </p:nvSpPr>
        <p:spPr>
          <a:xfrm>
            <a:off x="1918203" y="2279772"/>
            <a:ext cx="7709418" cy="523220"/>
          </a:xfrm>
          <a:prstGeom prst="rect">
            <a:avLst/>
          </a:prstGeom>
        </p:spPr>
        <p:txBody>
          <a:bodyPr wrap="none">
            <a:spAutoFit/>
          </a:bodyPr>
          <a:lstStyle/>
          <a:p>
            <a:r>
              <a:rPr lang="en-US" altLang="en-US" sz="2800" b="1" dirty="0">
                <a:latin typeface="+mj-lt"/>
                <a:ea typeface="Kadwa"/>
                <a:cs typeface="Times New Roman" panose="02020603050405020304" pitchFamily="18" charset="0"/>
              </a:rPr>
              <a:t>1.1.1</a:t>
            </a:r>
            <a:r>
              <a:rPr lang="en-US" sz="2800" b="1" dirty="0">
                <a:latin typeface="+mj-lt"/>
                <a:cs typeface="Times New Roman" panose="02020603050405020304" pitchFamily="18" charset="0"/>
              </a:rPr>
              <a:t> From the File  &gt;  Open  &gt;  Choose One Database</a:t>
            </a:r>
          </a:p>
        </p:txBody>
      </p:sp>
      <p:sp>
        <p:nvSpPr>
          <p:cNvPr id="10" name="Rectangle 9">
            <a:extLst>
              <a:ext uri="{FF2B5EF4-FFF2-40B4-BE49-F238E27FC236}">
                <a16:creationId xmlns:a16="http://schemas.microsoft.com/office/drawing/2014/main" id="{A067A08B-E744-4D16-A3EF-89CB0C8D60FF}"/>
              </a:ext>
            </a:extLst>
          </p:cNvPr>
          <p:cNvSpPr/>
          <p:nvPr/>
        </p:nvSpPr>
        <p:spPr>
          <a:xfrm>
            <a:off x="1918203" y="2732529"/>
            <a:ext cx="7612661" cy="523220"/>
          </a:xfrm>
          <a:prstGeom prst="rect">
            <a:avLst/>
          </a:prstGeom>
        </p:spPr>
        <p:txBody>
          <a:bodyPr wrap="none">
            <a:spAutoFit/>
          </a:bodyPr>
          <a:lstStyle/>
          <a:p>
            <a:pPr lvl="0" eaLnBrk="0" fontAlgn="base" hangingPunct="0">
              <a:spcBef>
                <a:spcPct val="0"/>
              </a:spcBef>
              <a:spcAft>
                <a:spcPct val="0"/>
              </a:spcAft>
            </a:pPr>
            <a:r>
              <a:rPr lang="en-US" altLang="en-US" sz="2800" b="1" dirty="0">
                <a:latin typeface="+mj-lt"/>
                <a:ea typeface="Kadwa"/>
                <a:cs typeface="Times New Roman" panose="02020603050405020304" pitchFamily="18" charset="0"/>
              </a:rPr>
              <a:t>1.1.2 From the File  &gt;  New </a:t>
            </a:r>
            <a:r>
              <a:rPr lang="en-US" altLang="zh-CN" sz="2800" b="1" dirty="0">
                <a:latin typeface="+mj-lt"/>
                <a:ea typeface="Kadwa"/>
                <a:cs typeface="Times New Roman" panose="02020603050405020304" pitchFamily="18" charset="0"/>
              </a:rPr>
              <a:t>Folder &gt;  Blank Database </a:t>
            </a:r>
            <a:endParaRPr lang="en-US" altLang="en-US" sz="2800" b="1" dirty="0">
              <a:latin typeface="+mj-lt"/>
              <a:ea typeface="Kadwa"/>
              <a:cs typeface="Times New Roman" panose="02020603050405020304" pitchFamily="18" charset="0"/>
            </a:endParaRPr>
          </a:p>
        </p:txBody>
      </p:sp>
      <p:sp>
        <p:nvSpPr>
          <p:cNvPr id="11" name="Rectangle 10">
            <a:extLst>
              <a:ext uri="{FF2B5EF4-FFF2-40B4-BE49-F238E27FC236}">
                <a16:creationId xmlns:a16="http://schemas.microsoft.com/office/drawing/2014/main" id="{2D75061C-CA57-44E8-9318-9B7B1A132CC2}"/>
              </a:ext>
            </a:extLst>
          </p:cNvPr>
          <p:cNvSpPr/>
          <p:nvPr/>
        </p:nvSpPr>
        <p:spPr>
          <a:xfrm>
            <a:off x="1428291" y="3617026"/>
            <a:ext cx="3970511" cy="584775"/>
          </a:xfrm>
          <a:prstGeom prst="rect">
            <a:avLst/>
          </a:prstGeom>
        </p:spPr>
        <p:txBody>
          <a:bodyPr wrap="none">
            <a:spAutoFit/>
          </a:bodyPr>
          <a:lstStyle/>
          <a:p>
            <a:r>
              <a:rPr lang="en-US" sz="3200" b="1" dirty="0">
                <a:latin typeface="+mj-lt"/>
                <a:cs typeface="Times New Roman" panose="02020603050405020304" pitchFamily="18" charset="0"/>
              </a:rPr>
              <a:t>1.2 Name the Database</a:t>
            </a:r>
          </a:p>
        </p:txBody>
      </p:sp>
      <p:sp>
        <p:nvSpPr>
          <p:cNvPr id="9" name="Rectangle 8">
            <a:extLst>
              <a:ext uri="{FF2B5EF4-FFF2-40B4-BE49-F238E27FC236}">
                <a16:creationId xmlns:a16="http://schemas.microsoft.com/office/drawing/2014/main" id="{128E55C2-AECB-413B-AC1F-99B53B0D7530}"/>
              </a:ext>
            </a:extLst>
          </p:cNvPr>
          <p:cNvSpPr/>
          <p:nvPr/>
        </p:nvSpPr>
        <p:spPr>
          <a:xfrm>
            <a:off x="1428291" y="1694997"/>
            <a:ext cx="4784836" cy="584775"/>
          </a:xfrm>
          <a:prstGeom prst="rect">
            <a:avLst/>
          </a:prstGeom>
        </p:spPr>
        <p:txBody>
          <a:bodyPr wrap="none">
            <a:spAutoFit/>
          </a:bodyPr>
          <a:lstStyle/>
          <a:p>
            <a:r>
              <a:rPr lang="en-US" sz="3200" b="1" dirty="0">
                <a:latin typeface="+mj-lt"/>
                <a:cs typeface="Times New Roman" panose="02020603050405020304" pitchFamily="18" charset="0"/>
              </a:rPr>
              <a:t>1.1 Select a Blank Database </a:t>
            </a:r>
          </a:p>
        </p:txBody>
      </p:sp>
      <p:sp>
        <p:nvSpPr>
          <p:cNvPr id="2" name="灯片编号占位符 1">
            <a:extLst>
              <a:ext uri="{FF2B5EF4-FFF2-40B4-BE49-F238E27FC236}">
                <a16:creationId xmlns:a16="http://schemas.microsoft.com/office/drawing/2014/main" id="{A83FCC30-B35A-48FA-B6B3-A3B3531DEC52}"/>
              </a:ext>
            </a:extLst>
          </p:cNvPr>
          <p:cNvSpPr>
            <a:spLocks noGrp="1"/>
          </p:cNvSpPr>
          <p:nvPr>
            <p:ph type="sldNum" sz="quarter" idx="12"/>
          </p:nvPr>
        </p:nvSpPr>
        <p:spPr/>
        <p:txBody>
          <a:bodyPr/>
          <a:lstStyle/>
          <a:p>
            <a:fld id="{9128F302-E557-4BC3-87C7-BCBD3AD1B54C}" type="slidenum">
              <a:rPr lang="en-US" smtClean="0"/>
              <a:t>36</a:t>
            </a:fld>
            <a:endParaRPr lang="en-US"/>
          </a:p>
        </p:txBody>
      </p:sp>
      <p:sp>
        <p:nvSpPr>
          <p:cNvPr id="3" name="Rectangle 9">
            <a:extLst>
              <a:ext uri="{FF2B5EF4-FFF2-40B4-BE49-F238E27FC236}">
                <a16:creationId xmlns:a16="http://schemas.microsoft.com/office/drawing/2014/main" id="{0EFE2376-731C-2691-DC44-8647A60415BD}"/>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sp>
        <p:nvSpPr>
          <p:cNvPr id="4" name="文本框 3">
            <a:extLst>
              <a:ext uri="{FF2B5EF4-FFF2-40B4-BE49-F238E27FC236}">
                <a16:creationId xmlns:a16="http://schemas.microsoft.com/office/drawing/2014/main" id="{DE37D10A-356C-9323-2F82-496E8A00B7EC}"/>
              </a:ext>
            </a:extLst>
          </p:cNvPr>
          <p:cNvSpPr txBox="1"/>
          <p:nvPr/>
        </p:nvSpPr>
        <p:spPr>
          <a:xfrm>
            <a:off x="10206741" y="5894687"/>
            <a:ext cx="1600200" cy="461665"/>
          </a:xfrm>
          <a:prstGeom prst="rect">
            <a:avLst/>
          </a:prstGeom>
          <a:noFill/>
        </p:spPr>
        <p:txBody>
          <a:bodyPr wrap="square" rtlCol="0">
            <a:spAutoFit/>
          </a:bodyPr>
          <a:lstStyle/>
          <a:p>
            <a:r>
              <a:rPr lang="en-US" altLang="zh-CN" sz="2400" dirty="0">
                <a:solidFill>
                  <a:srgbClr val="00B050"/>
                </a:solidFill>
                <a:effectLst>
                  <a:outerShdw blurRad="38100" dist="38100" dir="2700000" algn="tl">
                    <a:srgbClr val="000000">
                      <a:alpha val="43137"/>
                    </a:srgbClr>
                  </a:outerShdw>
                </a:effectLst>
                <a:latin typeface="Lucida Calligraphy" panose="03010101010101010101" pitchFamily="66" charset="0"/>
              </a:rPr>
              <a:t>Easy Job</a:t>
            </a:r>
            <a:endParaRPr lang="zh-CN" altLang="en-US" sz="2400" dirty="0">
              <a:solidFill>
                <a:srgbClr val="00B050"/>
              </a:solidFill>
              <a:effectLst>
                <a:outerShdw blurRad="38100" dist="38100" dir="2700000" algn="tl">
                  <a:srgbClr val="000000">
                    <a:alpha val="43137"/>
                  </a:srgbClr>
                </a:outerShdw>
              </a:effectLst>
              <a:latin typeface="Lucida Calligraphy" panose="03010101010101010101" pitchFamily="66" charset="0"/>
            </a:endParaRPr>
          </a:p>
        </p:txBody>
      </p:sp>
      <p:pic>
        <p:nvPicPr>
          <p:cNvPr id="6" name="图片 5">
            <a:extLst>
              <a:ext uri="{FF2B5EF4-FFF2-40B4-BE49-F238E27FC236}">
                <a16:creationId xmlns:a16="http://schemas.microsoft.com/office/drawing/2014/main" id="{ED2631B7-9AAA-4385-8DF5-10655FE7FBB3}"/>
              </a:ext>
            </a:extLst>
          </p:cNvPr>
          <p:cNvPicPr>
            <a:picLocks noChangeAspect="1"/>
          </p:cNvPicPr>
          <p:nvPr/>
        </p:nvPicPr>
        <p:blipFill>
          <a:blip r:embed="rId2"/>
          <a:stretch>
            <a:fillRect/>
          </a:stretch>
        </p:blipFill>
        <p:spPr>
          <a:xfrm>
            <a:off x="9627621" y="2936712"/>
            <a:ext cx="1018550" cy="108392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3" name="图片 12">
            <a:extLst>
              <a:ext uri="{FF2B5EF4-FFF2-40B4-BE49-F238E27FC236}">
                <a16:creationId xmlns:a16="http://schemas.microsoft.com/office/drawing/2014/main" id="{C84544AB-4FF7-4181-AC5F-6FC74A973200}"/>
              </a:ext>
            </a:extLst>
          </p:cNvPr>
          <p:cNvPicPr>
            <a:picLocks noChangeAspect="1"/>
          </p:cNvPicPr>
          <p:nvPr/>
        </p:nvPicPr>
        <p:blipFill>
          <a:blip r:embed="rId3"/>
          <a:stretch>
            <a:fillRect/>
          </a:stretch>
        </p:blipFill>
        <p:spPr>
          <a:xfrm>
            <a:off x="9627621" y="1884298"/>
            <a:ext cx="1018551" cy="9312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5" name="图片 14">
            <a:extLst>
              <a:ext uri="{FF2B5EF4-FFF2-40B4-BE49-F238E27FC236}">
                <a16:creationId xmlns:a16="http://schemas.microsoft.com/office/drawing/2014/main" id="{E565BDD3-50F4-4C15-BAA5-9CE381D4591C}"/>
              </a:ext>
            </a:extLst>
          </p:cNvPr>
          <p:cNvPicPr>
            <a:picLocks noChangeAspect="1"/>
          </p:cNvPicPr>
          <p:nvPr/>
        </p:nvPicPr>
        <p:blipFill>
          <a:blip r:embed="rId4"/>
          <a:stretch>
            <a:fillRect/>
          </a:stretch>
        </p:blipFill>
        <p:spPr>
          <a:xfrm>
            <a:off x="2373140" y="4334225"/>
            <a:ext cx="3465658" cy="193440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7" name="文本框 16">
            <a:extLst>
              <a:ext uri="{FF2B5EF4-FFF2-40B4-BE49-F238E27FC236}">
                <a16:creationId xmlns:a16="http://schemas.microsoft.com/office/drawing/2014/main" id="{3712B2E8-E23C-4011-BE51-45BF56D793E9}"/>
              </a:ext>
            </a:extLst>
          </p:cNvPr>
          <p:cNvSpPr txBox="1"/>
          <p:nvPr/>
        </p:nvSpPr>
        <p:spPr>
          <a:xfrm>
            <a:off x="5364479" y="1304464"/>
            <a:ext cx="6096000" cy="369332"/>
          </a:xfrm>
          <a:prstGeom prst="rect">
            <a:avLst/>
          </a:prstGeom>
          <a:noFill/>
        </p:spPr>
        <p:txBody>
          <a:bodyPr wrap="square">
            <a:spAutoFit/>
          </a:bodyPr>
          <a:lstStyle/>
          <a:p>
            <a:r>
              <a:rPr lang="en-US" altLang="zh-CN" dirty="0">
                <a:hlinkClick r:id="rId5"/>
              </a:rPr>
              <a:t>Microsoft Access 2016 Tutorial (quackit.com)</a:t>
            </a:r>
            <a:endParaRPr lang="zh-CN" altLang="en-US" dirty="0"/>
          </a:p>
        </p:txBody>
      </p:sp>
    </p:spTree>
    <p:extLst>
      <p:ext uri="{BB962C8B-B14F-4D97-AF65-F5344CB8AC3E}">
        <p14:creationId xmlns:p14="http://schemas.microsoft.com/office/powerpoint/2010/main" val="35243736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组合 13">
            <a:extLst>
              <a:ext uri="{FF2B5EF4-FFF2-40B4-BE49-F238E27FC236}">
                <a16:creationId xmlns:a16="http://schemas.microsoft.com/office/drawing/2014/main" id="{A3306B53-BBB0-42CE-A251-3449D7E8FBDF}"/>
              </a:ext>
            </a:extLst>
          </p:cNvPr>
          <p:cNvGrpSpPr/>
          <p:nvPr/>
        </p:nvGrpSpPr>
        <p:grpSpPr>
          <a:xfrm>
            <a:off x="1018988" y="2056661"/>
            <a:ext cx="6847129" cy="3336376"/>
            <a:chOff x="1602462" y="2329388"/>
            <a:chExt cx="6847129" cy="3336376"/>
          </a:xfrm>
        </p:grpSpPr>
        <p:sp>
          <p:nvSpPr>
            <p:cNvPr id="12" name="Rectangle 8">
              <a:extLst>
                <a:ext uri="{FF2B5EF4-FFF2-40B4-BE49-F238E27FC236}">
                  <a16:creationId xmlns:a16="http://schemas.microsoft.com/office/drawing/2014/main" id="{F6C52415-D839-42E1-87C5-C554D523D10C}"/>
                </a:ext>
              </a:extLst>
            </p:cNvPr>
            <p:cNvSpPr/>
            <p:nvPr/>
          </p:nvSpPr>
          <p:spPr>
            <a:xfrm>
              <a:off x="1602462" y="2329388"/>
              <a:ext cx="4843634" cy="523220"/>
            </a:xfrm>
            <a:prstGeom prst="rect">
              <a:avLst/>
            </a:prstGeom>
          </p:spPr>
          <p:txBody>
            <a:bodyPr wrap="none">
              <a:spAutoFit/>
            </a:bodyPr>
            <a:lstStyle/>
            <a:p>
              <a:r>
                <a:rPr lang="en-US" altLang="zh-CN" sz="3200" b="1" dirty="0">
                  <a:latin typeface="+mj-lt"/>
                  <a:cs typeface="Times New Roman" panose="02020603050405020304" pitchFamily="18" charset="0"/>
                </a:rPr>
                <a:t>2.1 Customize the Blank Table</a:t>
              </a:r>
            </a:p>
          </p:txBody>
        </p:sp>
        <p:sp>
          <p:nvSpPr>
            <p:cNvPr id="6" name="Rectangle 5">
              <a:extLst>
                <a:ext uri="{FF2B5EF4-FFF2-40B4-BE49-F238E27FC236}">
                  <a16:creationId xmlns:a16="http://schemas.microsoft.com/office/drawing/2014/main" id="{0C9E0815-FB3F-4F94-8CCE-6926C230CE79}"/>
                </a:ext>
              </a:extLst>
            </p:cNvPr>
            <p:cNvSpPr/>
            <p:nvPr/>
          </p:nvSpPr>
          <p:spPr>
            <a:xfrm>
              <a:off x="2386841" y="3777294"/>
              <a:ext cx="3124573" cy="523220"/>
            </a:xfrm>
            <a:prstGeom prst="rect">
              <a:avLst/>
            </a:prstGeom>
          </p:spPr>
          <p:txBody>
            <a:bodyPr wrap="none">
              <a:spAutoFit/>
            </a:bodyPr>
            <a:lstStyle/>
            <a:p>
              <a:r>
                <a:rPr lang="en-US" sz="2800" b="1" dirty="0">
                  <a:latin typeface="+mj-lt"/>
                  <a:cs typeface="Times New Roman" panose="02020603050405020304" pitchFamily="18" charset="0"/>
                </a:rPr>
                <a:t>2.1.2 Name the Field</a:t>
              </a:r>
            </a:p>
          </p:txBody>
        </p:sp>
        <p:sp>
          <p:nvSpPr>
            <p:cNvPr id="7" name="Rectangle 6">
              <a:extLst>
                <a:ext uri="{FF2B5EF4-FFF2-40B4-BE49-F238E27FC236}">
                  <a16:creationId xmlns:a16="http://schemas.microsoft.com/office/drawing/2014/main" id="{1118A8F0-239F-4EFF-87E5-5B23E7C85383}"/>
                </a:ext>
              </a:extLst>
            </p:cNvPr>
            <p:cNvSpPr/>
            <p:nvPr/>
          </p:nvSpPr>
          <p:spPr>
            <a:xfrm>
              <a:off x="2386841" y="3094669"/>
              <a:ext cx="6062750" cy="523220"/>
            </a:xfrm>
            <a:prstGeom prst="rect">
              <a:avLst/>
            </a:prstGeom>
          </p:spPr>
          <p:txBody>
            <a:bodyPr wrap="none">
              <a:spAutoFit/>
            </a:bodyPr>
            <a:lstStyle/>
            <a:p>
              <a:r>
                <a:rPr lang="en-US" sz="2800" b="1" dirty="0">
                  <a:latin typeface="+mj-lt"/>
                  <a:cs typeface="Times New Roman" panose="02020603050405020304" pitchFamily="18" charset="0"/>
                </a:rPr>
                <a:t>2.1.1 Select a Data Type for the New Field</a:t>
              </a:r>
            </a:p>
          </p:txBody>
        </p:sp>
        <p:sp>
          <p:nvSpPr>
            <p:cNvPr id="8" name="Rectangle 7">
              <a:extLst>
                <a:ext uri="{FF2B5EF4-FFF2-40B4-BE49-F238E27FC236}">
                  <a16:creationId xmlns:a16="http://schemas.microsoft.com/office/drawing/2014/main" id="{190FB01A-5C67-4339-B084-02124C764FE1}"/>
                </a:ext>
              </a:extLst>
            </p:cNvPr>
            <p:cNvSpPr/>
            <p:nvPr/>
          </p:nvSpPr>
          <p:spPr>
            <a:xfrm>
              <a:off x="2388818" y="4459919"/>
              <a:ext cx="2993833" cy="523220"/>
            </a:xfrm>
            <a:prstGeom prst="rect">
              <a:avLst/>
            </a:prstGeom>
          </p:spPr>
          <p:txBody>
            <a:bodyPr wrap="none">
              <a:spAutoFit/>
            </a:bodyPr>
            <a:lstStyle/>
            <a:p>
              <a:r>
                <a:rPr lang="en-US" sz="2800" b="1" dirty="0">
                  <a:latin typeface="+mj-lt"/>
                  <a:cs typeface="Times New Roman" panose="02020603050405020304" pitchFamily="18" charset="0"/>
                </a:rPr>
                <a:t>2.1.3 Save the Table</a:t>
              </a:r>
            </a:p>
          </p:txBody>
        </p:sp>
        <p:sp>
          <p:nvSpPr>
            <p:cNvPr id="9" name="Rectangle 8">
              <a:extLst>
                <a:ext uri="{FF2B5EF4-FFF2-40B4-BE49-F238E27FC236}">
                  <a16:creationId xmlns:a16="http://schemas.microsoft.com/office/drawing/2014/main" id="{23F45B43-92A9-4987-8A09-D68A66159363}"/>
                </a:ext>
              </a:extLst>
            </p:cNvPr>
            <p:cNvSpPr/>
            <p:nvPr/>
          </p:nvSpPr>
          <p:spPr>
            <a:xfrm>
              <a:off x="2386843" y="5142544"/>
              <a:ext cx="3271217" cy="523220"/>
            </a:xfrm>
            <a:prstGeom prst="rect">
              <a:avLst/>
            </a:prstGeom>
          </p:spPr>
          <p:txBody>
            <a:bodyPr wrap="none">
              <a:spAutoFit/>
            </a:bodyPr>
            <a:lstStyle/>
            <a:p>
              <a:r>
                <a:rPr lang="en-US" sz="2800" b="1" dirty="0">
                  <a:latin typeface="+mj-lt"/>
                  <a:cs typeface="Times New Roman" panose="02020603050405020304" pitchFamily="18" charset="0"/>
                </a:rPr>
                <a:t>2.1.4 Name the Table </a:t>
              </a:r>
            </a:p>
          </p:txBody>
        </p:sp>
      </p:grpSp>
      <p:sp>
        <p:nvSpPr>
          <p:cNvPr id="2" name="灯片编号占位符 1">
            <a:extLst>
              <a:ext uri="{FF2B5EF4-FFF2-40B4-BE49-F238E27FC236}">
                <a16:creationId xmlns:a16="http://schemas.microsoft.com/office/drawing/2014/main" id="{3B78541A-98E5-4056-820E-667A849453E3}"/>
              </a:ext>
            </a:extLst>
          </p:cNvPr>
          <p:cNvSpPr>
            <a:spLocks noGrp="1"/>
          </p:cNvSpPr>
          <p:nvPr>
            <p:ph type="sldNum" sz="quarter" idx="12"/>
          </p:nvPr>
        </p:nvSpPr>
        <p:spPr/>
        <p:txBody>
          <a:bodyPr/>
          <a:lstStyle/>
          <a:p>
            <a:fld id="{9128F302-E557-4BC3-87C7-BCBD3AD1B54C}" type="slidenum">
              <a:rPr lang="en-US" smtClean="0"/>
              <a:t>37</a:t>
            </a:fld>
            <a:endParaRPr lang="en-US"/>
          </a:p>
        </p:txBody>
      </p:sp>
      <p:sp>
        <p:nvSpPr>
          <p:cNvPr id="5" name="Rectangle 6">
            <a:extLst>
              <a:ext uri="{FF2B5EF4-FFF2-40B4-BE49-F238E27FC236}">
                <a16:creationId xmlns:a16="http://schemas.microsoft.com/office/drawing/2014/main" id="{08FCE6AD-A682-E938-AB66-D848C85FB869}"/>
              </a:ext>
            </a:extLst>
          </p:cNvPr>
          <p:cNvSpPr/>
          <p:nvPr/>
        </p:nvSpPr>
        <p:spPr>
          <a:xfrm>
            <a:off x="486172" y="1230743"/>
            <a:ext cx="3879652"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2. Create a Table</a:t>
            </a:r>
          </a:p>
        </p:txBody>
      </p:sp>
      <p:sp>
        <p:nvSpPr>
          <p:cNvPr id="17" name="文本框 16">
            <a:extLst>
              <a:ext uri="{FF2B5EF4-FFF2-40B4-BE49-F238E27FC236}">
                <a16:creationId xmlns:a16="http://schemas.microsoft.com/office/drawing/2014/main" id="{0762D19A-3777-96BC-D8E1-B14D21122B23}"/>
              </a:ext>
            </a:extLst>
          </p:cNvPr>
          <p:cNvSpPr txBox="1"/>
          <p:nvPr/>
        </p:nvSpPr>
        <p:spPr>
          <a:xfrm>
            <a:off x="10206741" y="5894687"/>
            <a:ext cx="1600200" cy="461665"/>
          </a:xfrm>
          <a:prstGeom prst="rect">
            <a:avLst/>
          </a:prstGeom>
          <a:noFill/>
        </p:spPr>
        <p:txBody>
          <a:bodyPr wrap="square" rtlCol="0">
            <a:spAutoFit/>
          </a:bodyPr>
          <a:lstStyle/>
          <a:p>
            <a:r>
              <a:rPr lang="en-US" altLang="zh-CN" sz="2400" dirty="0">
                <a:solidFill>
                  <a:srgbClr val="00B050"/>
                </a:solidFill>
                <a:effectLst>
                  <a:outerShdw blurRad="38100" dist="38100" dir="2700000" algn="tl">
                    <a:srgbClr val="000000">
                      <a:alpha val="43137"/>
                    </a:srgbClr>
                  </a:outerShdw>
                </a:effectLst>
                <a:latin typeface="Lucida Calligraphy" panose="03010101010101010101" pitchFamily="66" charset="0"/>
              </a:rPr>
              <a:t>Easy Job</a:t>
            </a:r>
            <a:endParaRPr lang="zh-CN" altLang="en-US" sz="2400" dirty="0">
              <a:solidFill>
                <a:srgbClr val="00B050"/>
              </a:solidFill>
              <a:effectLst>
                <a:outerShdw blurRad="38100" dist="38100" dir="2700000" algn="tl">
                  <a:srgbClr val="000000">
                    <a:alpha val="43137"/>
                  </a:srgbClr>
                </a:outerShdw>
              </a:effectLst>
              <a:latin typeface="Lucida Calligraphy" panose="03010101010101010101" pitchFamily="66" charset="0"/>
            </a:endParaRPr>
          </a:p>
        </p:txBody>
      </p:sp>
      <p:sp>
        <p:nvSpPr>
          <p:cNvPr id="13" name="Rectangle 9">
            <a:extLst>
              <a:ext uri="{FF2B5EF4-FFF2-40B4-BE49-F238E27FC236}">
                <a16:creationId xmlns:a16="http://schemas.microsoft.com/office/drawing/2014/main" id="{9372D2E6-7343-41A6-B75D-A8244F909993}"/>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graphicFrame>
        <p:nvGraphicFramePr>
          <p:cNvPr id="11" name="Table 3">
            <a:extLst>
              <a:ext uri="{FF2B5EF4-FFF2-40B4-BE49-F238E27FC236}">
                <a16:creationId xmlns:a16="http://schemas.microsoft.com/office/drawing/2014/main" id="{0846E98E-2559-C757-C764-ED311C72C6AF}"/>
              </a:ext>
            </a:extLst>
          </p:cNvPr>
          <p:cNvGraphicFramePr>
            <a:graphicFrameLocks noGrp="1"/>
          </p:cNvGraphicFramePr>
          <p:nvPr>
            <p:extLst>
              <p:ext uri="{D42A27DB-BD31-4B8C-83A1-F6EECF244321}">
                <p14:modId xmlns:p14="http://schemas.microsoft.com/office/powerpoint/2010/main" val="1358339192"/>
              </p:ext>
            </p:extLst>
          </p:nvPr>
        </p:nvGraphicFramePr>
        <p:xfrm>
          <a:off x="7826178" y="1230743"/>
          <a:ext cx="4106002" cy="2846705"/>
        </p:xfrm>
        <a:graphic>
          <a:graphicData uri="http://schemas.openxmlformats.org/drawingml/2006/table">
            <a:tbl>
              <a:tblPr firstRow="1" firstCol="1" bandRow="1">
                <a:tableStyleId>{5C22544A-7EE6-4342-B048-85BDC9FD1C3A}</a:tableStyleId>
              </a:tblPr>
              <a:tblGrid>
                <a:gridCol w="2027068">
                  <a:extLst>
                    <a:ext uri="{9D8B030D-6E8A-4147-A177-3AD203B41FA5}">
                      <a16:colId xmlns:a16="http://schemas.microsoft.com/office/drawing/2014/main" val="3683772577"/>
                    </a:ext>
                  </a:extLst>
                </a:gridCol>
                <a:gridCol w="2078934">
                  <a:extLst>
                    <a:ext uri="{9D8B030D-6E8A-4147-A177-3AD203B41FA5}">
                      <a16:colId xmlns:a16="http://schemas.microsoft.com/office/drawing/2014/main" val="1577654358"/>
                    </a:ext>
                  </a:extLst>
                </a:gridCol>
              </a:tblGrid>
              <a:tr h="488358">
                <a:tc>
                  <a:txBody>
                    <a:bodyPr/>
                    <a:lstStyle/>
                    <a:p>
                      <a:pPr marL="0" marR="0" algn="ctr">
                        <a:lnSpc>
                          <a:spcPct val="107000"/>
                        </a:lnSpc>
                        <a:spcBef>
                          <a:spcPts val="0"/>
                        </a:spcBef>
                        <a:spcAft>
                          <a:spcPts val="0"/>
                        </a:spcAft>
                      </a:pPr>
                      <a:r>
                        <a:rPr lang="en-US" sz="2400" b="1" dirty="0">
                          <a:solidFill>
                            <a:schemeClr val="bg1"/>
                          </a:solidFill>
                          <a:effectLst/>
                          <a:latin typeface="+mj-lt"/>
                        </a:rPr>
                        <a:t>Field Name</a:t>
                      </a:r>
                      <a:endParaRPr lang="en-US" sz="2000" b="1" dirty="0">
                        <a:solidFill>
                          <a:schemeClr val="bg1"/>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50000"/>
                      </a:schemeClr>
                    </a:solidFill>
                  </a:tcPr>
                </a:tc>
                <a:tc>
                  <a:txBody>
                    <a:bodyPr/>
                    <a:lstStyle/>
                    <a:p>
                      <a:pPr marL="0" marR="0" algn="ctr">
                        <a:lnSpc>
                          <a:spcPct val="107000"/>
                        </a:lnSpc>
                        <a:spcBef>
                          <a:spcPts val="0"/>
                        </a:spcBef>
                        <a:spcAft>
                          <a:spcPts val="0"/>
                        </a:spcAft>
                      </a:pPr>
                      <a:r>
                        <a:rPr lang="en-US" sz="2400" b="1" dirty="0">
                          <a:solidFill>
                            <a:schemeClr val="bg1"/>
                          </a:solidFill>
                          <a:effectLst/>
                          <a:latin typeface="+mj-lt"/>
                        </a:rPr>
                        <a:t>Data Type</a:t>
                      </a:r>
                      <a:endParaRPr lang="en-US" sz="2000" b="1" dirty="0">
                        <a:solidFill>
                          <a:schemeClr val="bg1"/>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50000"/>
                      </a:schemeClr>
                    </a:solidFill>
                  </a:tcPr>
                </a:tc>
                <a:extLst>
                  <a:ext uri="{0D108BD9-81ED-4DB2-BD59-A6C34878D82A}">
                    <a16:rowId xmlns:a16="http://schemas.microsoft.com/office/drawing/2014/main" val="813565394"/>
                  </a:ext>
                </a:extLst>
              </a:tr>
              <a:tr h="455547">
                <a:tc>
                  <a:txBody>
                    <a:bodyPr/>
                    <a:lstStyle/>
                    <a:p>
                      <a:pPr marL="0" marR="0" algn="ctr">
                        <a:lnSpc>
                          <a:spcPct val="107000"/>
                        </a:lnSpc>
                        <a:spcBef>
                          <a:spcPts val="0"/>
                        </a:spcBef>
                        <a:spcAft>
                          <a:spcPts val="0"/>
                        </a:spcAft>
                      </a:pPr>
                      <a:r>
                        <a:rPr lang="en-US" sz="2000" b="1" dirty="0" err="1">
                          <a:solidFill>
                            <a:schemeClr val="accent1">
                              <a:lumMod val="50000"/>
                            </a:schemeClr>
                          </a:solidFill>
                          <a:effectLst/>
                          <a:latin typeface="+mj-lt"/>
                        </a:rPr>
                        <a:t>AlbumId</a:t>
                      </a:r>
                      <a:endParaRPr lang="en-US" sz="1800" b="1" dirty="0">
                        <a:solidFill>
                          <a:schemeClr val="accent1">
                            <a:lumMod val="50000"/>
                          </a:schemeClr>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07000"/>
                        </a:lnSpc>
                        <a:spcBef>
                          <a:spcPts val="0"/>
                        </a:spcBef>
                        <a:spcAft>
                          <a:spcPts val="0"/>
                        </a:spcAft>
                      </a:pPr>
                      <a:r>
                        <a:rPr lang="en-US" altLang="zh-CN" sz="2000" b="1" kern="1200" dirty="0">
                          <a:solidFill>
                            <a:srgbClr val="C00000"/>
                          </a:solidFill>
                          <a:effectLst/>
                          <a:latin typeface="+mj-lt"/>
                          <a:ea typeface="+mn-ea"/>
                          <a:cs typeface="+mn-cs"/>
                        </a:rPr>
                        <a:t>Auto-Coding</a:t>
                      </a:r>
                      <a:endParaRPr lang="en-US" altLang="zh-CN" sz="1800" b="1" kern="1200" dirty="0">
                        <a:solidFill>
                          <a:srgbClr val="C00000"/>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4049827"/>
                  </a:ext>
                </a:extLst>
              </a:tr>
              <a:tr h="455547">
                <a:tc>
                  <a:txBody>
                    <a:bodyPr/>
                    <a:lstStyle/>
                    <a:p>
                      <a:pPr marL="0" marR="0" algn="ctr">
                        <a:lnSpc>
                          <a:spcPct val="107000"/>
                        </a:lnSpc>
                        <a:spcBef>
                          <a:spcPts val="0"/>
                        </a:spcBef>
                        <a:spcAft>
                          <a:spcPts val="0"/>
                        </a:spcAft>
                      </a:pPr>
                      <a:r>
                        <a:rPr lang="en-US" sz="2000" b="1" dirty="0" err="1">
                          <a:solidFill>
                            <a:schemeClr val="accent1">
                              <a:lumMod val="50000"/>
                            </a:schemeClr>
                          </a:solidFill>
                          <a:effectLst/>
                          <a:latin typeface="+mj-lt"/>
                        </a:rPr>
                        <a:t>AlbumName</a:t>
                      </a:r>
                      <a:endParaRPr lang="en-US" sz="1800" b="1" dirty="0">
                        <a:solidFill>
                          <a:schemeClr val="accent1">
                            <a:lumMod val="50000"/>
                          </a:schemeClr>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07000"/>
                        </a:lnSpc>
                        <a:spcBef>
                          <a:spcPts val="0"/>
                        </a:spcBef>
                        <a:spcAft>
                          <a:spcPts val="0"/>
                        </a:spcAft>
                      </a:pPr>
                      <a:r>
                        <a:rPr lang="en-US" sz="2000" b="1" dirty="0">
                          <a:solidFill>
                            <a:srgbClr val="C00000"/>
                          </a:solidFill>
                          <a:effectLst/>
                          <a:latin typeface="+mj-lt"/>
                        </a:rPr>
                        <a:t>Short Text</a:t>
                      </a:r>
                      <a:endParaRPr lang="en-US" sz="1800" b="1" dirty="0">
                        <a:solidFill>
                          <a:srgbClr val="C00000"/>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8380610"/>
                  </a:ext>
                </a:extLst>
              </a:tr>
              <a:tr h="455547">
                <a:tc>
                  <a:txBody>
                    <a:bodyPr/>
                    <a:lstStyle/>
                    <a:p>
                      <a:pPr marL="0" marR="0" algn="ctr">
                        <a:lnSpc>
                          <a:spcPct val="107000"/>
                        </a:lnSpc>
                        <a:spcBef>
                          <a:spcPts val="0"/>
                        </a:spcBef>
                        <a:spcAft>
                          <a:spcPts val="0"/>
                        </a:spcAft>
                      </a:pPr>
                      <a:r>
                        <a:rPr lang="en-US" sz="2000" b="1" dirty="0" err="1">
                          <a:solidFill>
                            <a:schemeClr val="accent1">
                              <a:lumMod val="50000"/>
                            </a:schemeClr>
                          </a:solidFill>
                          <a:effectLst/>
                          <a:latin typeface="+mj-lt"/>
                        </a:rPr>
                        <a:t>ReleaseDate</a:t>
                      </a:r>
                      <a:endParaRPr lang="en-US" sz="1800" b="1" dirty="0">
                        <a:solidFill>
                          <a:schemeClr val="accent1">
                            <a:lumMod val="50000"/>
                          </a:schemeClr>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07000"/>
                        </a:lnSpc>
                        <a:spcBef>
                          <a:spcPts val="0"/>
                        </a:spcBef>
                        <a:spcAft>
                          <a:spcPts val="0"/>
                        </a:spcAft>
                      </a:pPr>
                      <a:r>
                        <a:rPr lang="en-US" sz="2000" b="1" dirty="0">
                          <a:solidFill>
                            <a:srgbClr val="C00000"/>
                          </a:solidFill>
                          <a:effectLst/>
                          <a:latin typeface="+mj-lt"/>
                        </a:rPr>
                        <a:t>Date &amp; Time</a:t>
                      </a:r>
                      <a:endParaRPr lang="en-US" sz="1800" b="1" dirty="0">
                        <a:solidFill>
                          <a:srgbClr val="C00000"/>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94158270"/>
                  </a:ext>
                </a:extLst>
              </a:tr>
              <a:tr h="455547">
                <a:tc>
                  <a:txBody>
                    <a:bodyPr/>
                    <a:lstStyle/>
                    <a:p>
                      <a:pPr marL="0" marR="0" algn="ctr">
                        <a:lnSpc>
                          <a:spcPct val="107000"/>
                        </a:lnSpc>
                        <a:spcBef>
                          <a:spcPts val="0"/>
                        </a:spcBef>
                        <a:spcAft>
                          <a:spcPts val="0"/>
                        </a:spcAft>
                      </a:pPr>
                      <a:r>
                        <a:rPr lang="en-US" sz="2000" b="1" dirty="0" err="1">
                          <a:solidFill>
                            <a:schemeClr val="accent1">
                              <a:lumMod val="50000"/>
                            </a:schemeClr>
                          </a:solidFill>
                          <a:effectLst/>
                          <a:latin typeface="+mj-lt"/>
                        </a:rPr>
                        <a:t>ArtistId</a:t>
                      </a:r>
                      <a:endParaRPr lang="en-US" sz="1800" b="1" dirty="0">
                        <a:solidFill>
                          <a:schemeClr val="accent1">
                            <a:lumMod val="50000"/>
                          </a:schemeClr>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07000"/>
                        </a:lnSpc>
                        <a:spcBef>
                          <a:spcPts val="0"/>
                        </a:spcBef>
                        <a:spcAft>
                          <a:spcPts val="0"/>
                        </a:spcAft>
                      </a:pPr>
                      <a:r>
                        <a:rPr lang="en-US" sz="2000" b="1" dirty="0">
                          <a:solidFill>
                            <a:srgbClr val="C00000"/>
                          </a:solidFill>
                          <a:effectLst/>
                          <a:latin typeface="+mj-lt"/>
                        </a:rPr>
                        <a:t>Number</a:t>
                      </a:r>
                      <a:endParaRPr lang="en-US" sz="1800" b="1" dirty="0">
                        <a:solidFill>
                          <a:srgbClr val="C00000"/>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7159460"/>
                  </a:ext>
                </a:extLst>
              </a:tr>
              <a:tr h="455547">
                <a:tc>
                  <a:txBody>
                    <a:bodyPr/>
                    <a:lstStyle/>
                    <a:p>
                      <a:pPr marL="0" marR="0" algn="ctr">
                        <a:lnSpc>
                          <a:spcPct val="107000"/>
                        </a:lnSpc>
                        <a:spcBef>
                          <a:spcPts val="0"/>
                        </a:spcBef>
                        <a:spcAft>
                          <a:spcPts val="0"/>
                        </a:spcAft>
                      </a:pPr>
                      <a:r>
                        <a:rPr lang="en-US" sz="2000" b="1" dirty="0" err="1">
                          <a:solidFill>
                            <a:schemeClr val="accent1">
                              <a:lumMod val="50000"/>
                            </a:schemeClr>
                          </a:solidFill>
                          <a:effectLst/>
                          <a:latin typeface="+mj-lt"/>
                        </a:rPr>
                        <a:t>GenreId</a:t>
                      </a:r>
                      <a:endParaRPr lang="en-US" sz="1800" b="1" dirty="0">
                        <a:solidFill>
                          <a:schemeClr val="accent1">
                            <a:lumMod val="50000"/>
                          </a:schemeClr>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07000"/>
                        </a:lnSpc>
                        <a:spcBef>
                          <a:spcPts val="0"/>
                        </a:spcBef>
                        <a:spcAft>
                          <a:spcPts val="0"/>
                        </a:spcAft>
                      </a:pPr>
                      <a:r>
                        <a:rPr lang="en-US" sz="2000" b="1" dirty="0">
                          <a:solidFill>
                            <a:srgbClr val="C00000"/>
                          </a:solidFill>
                          <a:effectLst/>
                          <a:latin typeface="+mj-lt"/>
                        </a:rPr>
                        <a:t>Number</a:t>
                      </a:r>
                      <a:endParaRPr lang="en-US" sz="1800" b="1" dirty="0">
                        <a:solidFill>
                          <a:srgbClr val="C00000"/>
                        </a:solidFill>
                        <a:effectLst/>
                        <a:latin typeface="+mj-lt"/>
                        <a:ea typeface="DengXian" panose="02010600030101010101" pitchFamily="2" charset="-122"/>
                        <a:cs typeface="Arial" panose="020B0604020202020204" pitchFamily="34" charset="0"/>
                      </a:endParaRPr>
                    </a:p>
                  </a:txBody>
                  <a:tcPr marL="76200" marR="76200" marT="76200" marB="762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9130765"/>
                  </a:ext>
                </a:extLst>
              </a:tr>
            </a:tbl>
          </a:graphicData>
        </a:graphic>
      </p:graphicFrame>
      <p:pic>
        <p:nvPicPr>
          <p:cNvPr id="15" name="图片 14">
            <a:extLst>
              <a:ext uri="{FF2B5EF4-FFF2-40B4-BE49-F238E27FC236}">
                <a16:creationId xmlns:a16="http://schemas.microsoft.com/office/drawing/2014/main" id="{35C53D5F-22E3-4D1D-A682-C701DC817735}"/>
              </a:ext>
            </a:extLst>
          </p:cNvPr>
          <p:cNvPicPr>
            <a:picLocks noChangeAspect="1"/>
          </p:cNvPicPr>
          <p:nvPr/>
        </p:nvPicPr>
        <p:blipFill>
          <a:blip r:embed="rId3"/>
          <a:stretch>
            <a:fillRect/>
          </a:stretch>
        </p:blipFill>
        <p:spPr>
          <a:xfrm>
            <a:off x="5983000" y="4410206"/>
            <a:ext cx="6181291" cy="121285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95827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8">
            <a:extLst>
              <a:ext uri="{FF2B5EF4-FFF2-40B4-BE49-F238E27FC236}">
                <a16:creationId xmlns:a16="http://schemas.microsoft.com/office/drawing/2014/main" id="{F6C52415-D839-42E1-87C5-C554D523D10C}"/>
              </a:ext>
            </a:extLst>
          </p:cNvPr>
          <p:cNvSpPr/>
          <p:nvPr/>
        </p:nvSpPr>
        <p:spPr>
          <a:xfrm>
            <a:off x="1010280" y="2152461"/>
            <a:ext cx="5520999" cy="584775"/>
          </a:xfrm>
          <a:prstGeom prst="rect">
            <a:avLst/>
          </a:prstGeom>
        </p:spPr>
        <p:txBody>
          <a:bodyPr wrap="none">
            <a:spAutoFit/>
          </a:bodyPr>
          <a:lstStyle/>
          <a:p>
            <a:r>
              <a:rPr lang="en-US" altLang="zh-CN" sz="3200" b="1" dirty="0">
                <a:latin typeface="+mj-lt"/>
                <a:cs typeface="Times New Roman" panose="02020603050405020304" pitchFamily="18" charset="0"/>
              </a:rPr>
              <a:t>2.2 Create a Table in Design View</a:t>
            </a:r>
          </a:p>
        </p:txBody>
      </p:sp>
      <p:sp>
        <p:nvSpPr>
          <p:cNvPr id="2" name="灯片编号占位符 1">
            <a:extLst>
              <a:ext uri="{FF2B5EF4-FFF2-40B4-BE49-F238E27FC236}">
                <a16:creationId xmlns:a16="http://schemas.microsoft.com/office/drawing/2014/main" id="{3B78541A-98E5-4056-820E-667A849453E3}"/>
              </a:ext>
            </a:extLst>
          </p:cNvPr>
          <p:cNvSpPr>
            <a:spLocks noGrp="1"/>
          </p:cNvSpPr>
          <p:nvPr>
            <p:ph type="sldNum" sz="quarter" idx="12"/>
          </p:nvPr>
        </p:nvSpPr>
        <p:spPr/>
        <p:txBody>
          <a:bodyPr/>
          <a:lstStyle/>
          <a:p>
            <a:fld id="{9128F302-E557-4BC3-87C7-BCBD3AD1B54C}" type="slidenum">
              <a:rPr lang="en-US" smtClean="0"/>
              <a:t>38</a:t>
            </a:fld>
            <a:endParaRPr lang="en-US"/>
          </a:p>
        </p:txBody>
      </p:sp>
      <p:sp>
        <p:nvSpPr>
          <p:cNvPr id="5" name="Rectangle 6">
            <a:extLst>
              <a:ext uri="{FF2B5EF4-FFF2-40B4-BE49-F238E27FC236}">
                <a16:creationId xmlns:a16="http://schemas.microsoft.com/office/drawing/2014/main" id="{08FCE6AD-A682-E938-AB66-D848C85FB869}"/>
              </a:ext>
            </a:extLst>
          </p:cNvPr>
          <p:cNvSpPr/>
          <p:nvPr/>
        </p:nvSpPr>
        <p:spPr>
          <a:xfrm>
            <a:off x="546412" y="1378824"/>
            <a:ext cx="3879652"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2. Create a Table</a:t>
            </a:r>
          </a:p>
        </p:txBody>
      </p:sp>
      <p:sp>
        <p:nvSpPr>
          <p:cNvPr id="4" name="Rectangle 3">
            <a:extLst>
              <a:ext uri="{FF2B5EF4-FFF2-40B4-BE49-F238E27FC236}">
                <a16:creationId xmlns:a16="http://schemas.microsoft.com/office/drawing/2014/main" id="{CDF69E20-BF26-8A04-EF4C-E1FEAD9E9830}"/>
              </a:ext>
            </a:extLst>
          </p:cNvPr>
          <p:cNvSpPr/>
          <p:nvPr/>
        </p:nvSpPr>
        <p:spPr>
          <a:xfrm>
            <a:off x="1296623" y="4033825"/>
            <a:ext cx="4655313" cy="523220"/>
          </a:xfrm>
          <a:prstGeom prst="rect">
            <a:avLst/>
          </a:prstGeom>
        </p:spPr>
        <p:txBody>
          <a:bodyPr wrap="none">
            <a:spAutoFit/>
          </a:bodyPr>
          <a:lstStyle/>
          <a:p>
            <a:r>
              <a:rPr lang="en-US" sz="2800" b="1" dirty="0">
                <a:latin typeface="+mj-lt"/>
                <a:cs typeface="Times New Roman" panose="02020603050405020304" pitchFamily="18" charset="0"/>
              </a:rPr>
              <a:t>2.2.3 Add Fields </a:t>
            </a:r>
            <a:r>
              <a:rPr lang="en-US" altLang="zh-CN" sz="2800" b="1" dirty="0">
                <a:latin typeface="+mj-lt"/>
                <a:cs typeface="Times New Roman" panose="02020603050405020304" pitchFamily="18" charset="0"/>
              </a:rPr>
              <a:t>in Design View</a:t>
            </a:r>
            <a:endParaRPr lang="en-US" sz="2800" b="1" dirty="0">
              <a:latin typeface="+mj-lt"/>
              <a:cs typeface="Times New Roman" panose="02020603050405020304" pitchFamily="18" charset="0"/>
            </a:endParaRPr>
          </a:p>
        </p:txBody>
      </p:sp>
      <p:sp>
        <p:nvSpPr>
          <p:cNvPr id="8" name="Rectangle 4">
            <a:extLst>
              <a:ext uri="{FF2B5EF4-FFF2-40B4-BE49-F238E27FC236}">
                <a16:creationId xmlns:a16="http://schemas.microsoft.com/office/drawing/2014/main" id="{5B48A8DC-E9C6-DCEA-DF07-D1DED3162976}"/>
              </a:ext>
            </a:extLst>
          </p:cNvPr>
          <p:cNvSpPr/>
          <p:nvPr/>
        </p:nvSpPr>
        <p:spPr>
          <a:xfrm>
            <a:off x="1296623" y="2794327"/>
            <a:ext cx="3517886" cy="523220"/>
          </a:xfrm>
          <a:prstGeom prst="rect">
            <a:avLst/>
          </a:prstGeom>
        </p:spPr>
        <p:txBody>
          <a:bodyPr wrap="square">
            <a:spAutoFit/>
          </a:bodyPr>
          <a:lstStyle/>
          <a:p>
            <a:r>
              <a:rPr lang="en-US" sz="2800" b="1" dirty="0">
                <a:latin typeface="+mj-lt"/>
                <a:cs typeface="Times New Roman" panose="02020603050405020304" pitchFamily="18" charset="0"/>
              </a:rPr>
              <a:t>2.2.1 Create the Table</a:t>
            </a:r>
          </a:p>
        </p:txBody>
      </p:sp>
      <p:sp>
        <p:nvSpPr>
          <p:cNvPr id="10" name="Rectangle 6">
            <a:extLst>
              <a:ext uri="{FF2B5EF4-FFF2-40B4-BE49-F238E27FC236}">
                <a16:creationId xmlns:a16="http://schemas.microsoft.com/office/drawing/2014/main" id="{6C30C386-CA86-7E42-3C61-3B08E016D743}"/>
              </a:ext>
            </a:extLst>
          </p:cNvPr>
          <p:cNvSpPr/>
          <p:nvPr/>
        </p:nvSpPr>
        <p:spPr>
          <a:xfrm>
            <a:off x="1296623" y="4653574"/>
            <a:ext cx="3424912" cy="523220"/>
          </a:xfrm>
          <a:prstGeom prst="rect">
            <a:avLst/>
          </a:prstGeom>
        </p:spPr>
        <p:txBody>
          <a:bodyPr wrap="none">
            <a:spAutoFit/>
          </a:bodyPr>
          <a:lstStyle/>
          <a:p>
            <a:r>
              <a:rPr lang="en-US" sz="2800" b="1" dirty="0">
                <a:latin typeface="+mj-lt"/>
                <a:cs typeface="Times New Roman" panose="02020603050405020304" pitchFamily="18" charset="0"/>
              </a:rPr>
              <a:t>2.2.4 Set a Primary Key</a:t>
            </a:r>
          </a:p>
        </p:txBody>
      </p:sp>
      <p:sp>
        <p:nvSpPr>
          <p:cNvPr id="11" name="Rectangle 7">
            <a:extLst>
              <a:ext uri="{FF2B5EF4-FFF2-40B4-BE49-F238E27FC236}">
                <a16:creationId xmlns:a16="http://schemas.microsoft.com/office/drawing/2014/main" id="{16264116-5443-BF1E-B8D7-FB9464E07D76}"/>
              </a:ext>
            </a:extLst>
          </p:cNvPr>
          <p:cNvSpPr/>
          <p:nvPr/>
        </p:nvSpPr>
        <p:spPr>
          <a:xfrm>
            <a:off x="1296623" y="5273322"/>
            <a:ext cx="3206968" cy="523220"/>
          </a:xfrm>
          <a:prstGeom prst="rect">
            <a:avLst/>
          </a:prstGeom>
        </p:spPr>
        <p:txBody>
          <a:bodyPr wrap="square">
            <a:spAutoFit/>
          </a:bodyPr>
          <a:lstStyle/>
          <a:p>
            <a:r>
              <a:rPr lang="en-US" sz="2800" b="1" dirty="0">
                <a:latin typeface="+mj-lt"/>
                <a:cs typeface="Times New Roman" panose="02020603050405020304" pitchFamily="18" charset="0"/>
              </a:rPr>
              <a:t>2.2.5 Save the Table</a:t>
            </a:r>
          </a:p>
        </p:txBody>
      </p:sp>
      <p:sp>
        <p:nvSpPr>
          <p:cNvPr id="13" name="Rectangle 4">
            <a:extLst>
              <a:ext uri="{FF2B5EF4-FFF2-40B4-BE49-F238E27FC236}">
                <a16:creationId xmlns:a16="http://schemas.microsoft.com/office/drawing/2014/main" id="{CE5180AB-59B1-1B9D-8A65-2927D41358E9}"/>
              </a:ext>
            </a:extLst>
          </p:cNvPr>
          <p:cNvSpPr/>
          <p:nvPr/>
        </p:nvSpPr>
        <p:spPr>
          <a:xfrm>
            <a:off x="1296622" y="3414076"/>
            <a:ext cx="4924907" cy="523220"/>
          </a:xfrm>
          <a:prstGeom prst="rect">
            <a:avLst/>
          </a:prstGeom>
        </p:spPr>
        <p:txBody>
          <a:bodyPr wrap="square">
            <a:spAutoFit/>
          </a:bodyPr>
          <a:lstStyle/>
          <a:p>
            <a:r>
              <a:rPr lang="en-US" sz="2800" b="1" dirty="0">
                <a:latin typeface="+mj-lt"/>
                <a:cs typeface="Times New Roman" panose="02020603050405020304" pitchFamily="18" charset="0"/>
              </a:rPr>
              <a:t>2.2.2 Switch to Design View</a:t>
            </a:r>
          </a:p>
        </p:txBody>
      </p:sp>
      <p:sp>
        <p:nvSpPr>
          <p:cNvPr id="15" name="文本框 14">
            <a:extLst>
              <a:ext uri="{FF2B5EF4-FFF2-40B4-BE49-F238E27FC236}">
                <a16:creationId xmlns:a16="http://schemas.microsoft.com/office/drawing/2014/main" id="{EF5655F3-C45E-9E35-3750-0399CCA515FD}"/>
              </a:ext>
            </a:extLst>
          </p:cNvPr>
          <p:cNvSpPr txBox="1"/>
          <p:nvPr/>
        </p:nvSpPr>
        <p:spPr>
          <a:xfrm>
            <a:off x="10206741" y="5894687"/>
            <a:ext cx="1600200" cy="461665"/>
          </a:xfrm>
          <a:prstGeom prst="rect">
            <a:avLst/>
          </a:prstGeom>
          <a:noFill/>
        </p:spPr>
        <p:txBody>
          <a:bodyPr wrap="square" rtlCol="0">
            <a:spAutoFit/>
          </a:bodyPr>
          <a:lstStyle/>
          <a:p>
            <a:r>
              <a:rPr lang="en-US" altLang="zh-CN" sz="2400" dirty="0">
                <a:solidFill>
                  <a:srgbClr val="00B050"/>
                </a:solidFill>
                <a:effectLst>
                  <a:outerShdw blurRad="38100" dist="38100" dir="2700000" algn="tl">
                    <a:srgbClr val="000000">
                      <a:alpha val="43137"/>
                    </a:srgbClr>
                  </a:outerShdw>
                </a:effectLst>
                <a:latin typeface="Lucida Calligraphy" panose="03010101010101010101" pitchFamily="66" charset="0"/>
              </a:rPr>
              <a:t>Easy Job</a:t>
            </a:r>
            <a:endParaRPr lang="zh-CN" altLang="en-US" sz="2400" dirty="0">
              <a:solidFill>
                <a:srgbClr val="00B050"/>
              </a:solidFill>
              <a:effectLst>
                <a:outerShdw blurRad="38100" dist="38100" dir="2700000" algn="tl">
                  <a:srgbClr val="000000">
                    <a:alpha val="43137"/>
                  </a:srgbClr>
                </a:outerShdw>
              </a:effectLst>
              <a:latin typeface="Lucida Calligraphy" panose="03010101010101010101" pitchFamily="66" charset="0"/>
            </a:endParaRPr>
          </a:p>
        </p:txBody>
      </p:sp>
      <p:sp>
        <p:nvSpPr>
          <p:cNvPr id="14" name="Rectangle 9">
            <a:extLst>
              <a:ext uri="{FF2B5EF4-FFF2-40B4-BE49-F238E27FC236}">
                <a16:creationId xmlns:a16="http://schemas.microsoft.com/office/drawing/2014/main" id="{5A7D8069-537B-4881-9B85-57A992360751}"/>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pic>
        <p:nvPicPr>
          <p:cNvPr id="7" name="图片 6">
            <a:extLst>
              <a:ext uri="{FF2B5EF4-FFF2-40B4-BE49-F238E27FC236}">
                <a16:creationId xmlns:a16="http://schemas.microsoft.com/office/drawing/2014/main" id="{B12BCA4C-D681-44F6-9B14-785262ECEB77}"/>
              </a:ext>
            </a:extLst>
          </p:cNvPr>
          <p:cNvPicPr>
            <a:picLocks noChangeAspect="1"/>
          </p:cNvPicPr>
          <p:nvPr/>
        </p:nvPicPr>
        <p:blipFill>
          <a:blip r:embed="rId3"/>
          <a:stretch>
            <a:fillRect/>
          </a:stretch>
        </p:blipFill>
        <p:spPr>
          <a:xfrm>
            <a:off x="6728275" y="3317547"/>
            <a:ext cx="4009393" cy="11843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8678676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3B78541A-98E5-4056-820E-667A849453E3}"/>
              </a:ext>
            </a:extLst>
          </p:cNvPr>
          <p:cNvSpPr>
            <a:spLocks noGrp="1"/>
          </p:cNvSpPr>
          <p:nvPr>
            <p:ph type="sldNum" sz="quarter" idx="12"/>
          </p:nvPr>
        </p:nvSpPr>
        <p:spPr/>
        <p:txBody>
          <a:bodyPr/>
          <a:lstStyle/>
          <a:p>
            <a:fld id="{9128F302-E557-4BC3-87C7-BCBD3AD1B54C}" type="slidenum">
              <a:rPr lang="en-US" smtClean="0"/>
              <a:t>39</a:t>
            </a:fld>
            <a:endParaRPr lang="en-US" dirty="0"/>
          </a:p>
        </p:txBody>
      </p:sp>
      <p:sp>
        <p:nvSpPr>
          <p:cNvPr id="5" name="Rectangle 6">
            <a:extLst>
              <a:ext uri="{FF2B5EF4-FFF2-40B4-BE49-F238E27FC236}">
                <a16:creationId xmlns:a16="http://schemas.microsoft.com/office/drawing/2014/main" id="{08FCE6AD-A682-E938-AB66-D848C85FB869}"/>
              </a:ext>
            </a:extLst>
          </p:cNvPr>
          <p:cNvSpPr/>
          <p:nvPr/>
        </p:nvSpPr>
        <p:spPr>
          <a:xfrm>
            <a:off x="546412" y="1378824"/>
            <a:ext cx="4674998"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3. Add Data to Table</a:t>
            </a:r>
          </a:p>
        </p:txBody>
      </p:sp>
      <p:sp>
        <p:nvSpPr>
          <p:cNvPr id="6" name="Rectangle 4">
            <a:extLst>
              <a:ext uri="{FF2B5EF4-FFF2-40B4-BE49-F238E27FC236}">
                <a16:creationId xmlns:a16="http://schemas.microsoft.com/office/drawing/2014/main" id="{FF17F2AD-5A4C-05F9-169E-1B5846A6C3E9}"/>
              </a:ext>
            </a:extLst>
          </p:cNvPr>
          <p:cNvSpPr/>
          <p:nvPr/>
        </p:nvSpPr>
        <p:spPr>
          <a:xfrm>
            <a:off x="661499" y="2191226"/>
            <a:ext cx="6605013" cy="584775"/>
          </a:xfrm>
          <a:prstGeom prst="rect">
            <a:avLst/>
          </a:prstGeom>
        </p:spPr>
        <p:txBody>
          <a:bodyPr wrap="none">
            <a:spAutoFit/>
          </a:bodyPr>
          <a:lstStyle/>
          <a:p>
            <a:r>
              <a:rPr lang="en-US" sz="3200" b="1" dirty="0">
                <a:latin typeface="+mj-lt"/>
                <a:cs typeface="Times New Roman" panose="02020603050405020304" pitchFamily="18" charset="0"/>
              </a:rPr>
              <a:t>3.1 Add </a:t>
            </a:r>
            <a:r>
              <a:rPr lang="en-US" altLang="zh-CN" sz="3200" b="1" dirty="0">
                <a:latin typeface="+mj-lt"/>
                <a:cs typeface="Times New Roman" panose="02020603050405020304" pitchFamily="18" charset="0"/>
              </a:rPr>
              <a:t>Data</a:t>
            </a:r>
            <a:r>
              <a:rPr lang="en-US" sz="3200" b="1" dirty="0">
                <a:latin typeface="+mj-lt"/>
                <a:cs typeface="Times New Roman" panose="02020603050405020304" pitchFamily="18" charset="0"/>
              </a:rPr>
              <a:t> Directly in Datasheet View</a:t>
            </a:r>
          </a:p>
        </p:txBody>
      </p:sp>
      <p:sp>
        <p:nvSpPr>
          <p:cNvPr id="17" name="文本框 16">
            <a:extLst>
              <a:ext uri="{FF2B5EF4-FFF2-40B4-BE49-F238E27FC236}">
                <a16:creationId xmlns:a16="http://schemas.microsoft.com/office/drawing/2014/main" id="{1FC879A4-410E-0EB6-2685-6E636E0F8656}"/>
              </a:ext>
            </a:extLst>
          </p:cNvPr>
          <p:cNvSpPr txBox="1"/>
          <p:nvPr/>
        </p:nvSpPr>
        <p:spPr>
          <a:xfrm>
            <a:off x="9978140" y="5894687"/>
            <a:ext cx="2335779" cy="461665"/>
          </a:xfrm>
          <a:prstGeom prst="rect">
            <a:avLst/>
          </a:prstGeom>
          <a:noFill/>
        </p:spPr>
        <p:txBody>
          <a:bodyPr wrap="square" rtlCol="0">
            <a:spAutoFit/>
          </a:bodyPr>
          <a:lstStyle/>
          <a:p>
            <a:r>
              <a:rPr lang="en-US" altLang="zh-CN" sz="2400" dirty="0">
                <a:solidFill>
                  <a:schemeClr val="accent2"/>
                </a:solidFill>
                <a:effectLst>
                  <a:outerShdw blurRad="38100" dist="38100" dir="2700000" algn="tl">
                    <a:srgbClr val="000000">
                      <a:alpha val="43137"/>
                    </a:srgbClr>
                  </a:outerShdw>
                </a:effectLst>
                <a:latin typeface="Lucida Calligraphy" panose="03010101010101010101" pitchFamily="66" charset="0"/>
              </a:rPr>
              <a:t>Little Hard</a:t>
            </a:r>
            <a:endParaRPr lang="zh-CN" altLang="en-US" sz="2400" dirty="0">
              <a:solidFill>
                <a:schemeClr val="accent2"/>
              </a:solidFill>
              <a:effectLst>
                <a:outerShdw blurRad="38100" dist="38100" dir="2700000" algn="tl">
                  <a:srgbClr val="000000">
                    <a:alpha val="43137"/>
                  </a:srgbClr>
                </a:outerShdw>
              </a:effectLst>
              <a:latin typeface="Lucida Calligraphy" panose="03010101010101010101" pitchFamily="66" charset="0"/>
            </a:endParaRPr>
          </a:p>
        </p:txBody>
      </p:sp>
      <p:sp>
        <p:nvSpPr>
          <p:cNvPr id="12" name="Rectangle 9">
            <a:extLst>
              <a:ext uri="{FF2B5EF4-FFF2-40B4-BE49-F238E27FC236}">
                <a16:creationId xmlns:a16="http://schemas.microsoft.com/office/drawing/2014/main" id="{E1E7D6DB-2B01-47AA-9069-12A3DB011A0B}"/>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pic>
        <p:nvPicPr>
          <p:cNvPr id="19" name="图片 18">
            <a:extLst>
              <a:ext uri="{FF2B5EF4-FFF2-40B4-BE49-F238E27FC236}">
                <a16:creationId xmlns:a16="http://schemas.microsoft.com/office/drawing/2014/main" id="{9019EA7D-6EFD-4E38-9FF1-924B0E2B5CA7}"/>
              </a:ext>
            </a:extLst>
          </p:cNvPr>
          <p:cNvPicPr>
            <a:picLocks noChangeAspect="1"/>
          </p:cNvPicPr>
          <p:nvPr/>
        </p:nvPicPr>
        <p:blipFill>
          <a:blip r:embed="rId3"/>
          <a:stretch>
            <a:fillRect/>
          </a:stretch>
        </p:blipFill>
        <p:spPr>
          <a:xfrm>
            <a:off x="1576777" y="3041075"/>
            <a:ext cx="6921889" cy="208185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6134857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3B78541A-98E5-4056-820E-667A849453E3}"/>
              </a:ext>
            </a:extLst>
          </p:cNvPr>
          <p:cNvSpPr>
            <a:spLocks noGrp="1"/>
          </p:cNvSpPr>
          <p:nvPr>
            <p:ph type="sldNum" sz="quarter" idx="12"/>
          </p:nvPr>
        </p:nvSpPr>
        <p:spPr/>
        <p:txBody>
          <a:bodyPr/>
          <a:lstStyle/>
          <a:p>
            <a:fld id="{9128F302-E557-4BC3-87C7-BCBD3AD1B54C}" type="slidenum">
              <a:rPr lang="en-US" smtClean="0"/>
              <a:t>40</a:t>
            </a:fld>
            <a:endParaRPr lang="en-US" dirty="0"/>
          </a:p>
        </p:txBody>
      </p:sp>
      <p:sp>
        <p:nvSpPr>
          <p:cNvPr id="5" name="Rectangle 6">
            <a:extLst>
              <a:ext uri="{FF2B5EF4-FFF2-40B4-BE49-F238E27FC236}">
                <a16:creationId xmlns:a16="http://schemas.microsoft.com/office/drawing/2014/main" id="{08FCE6AD-A682-E938-AB66-D848C85FB869}"/>
              </a:ext>
            </a:extLst>
          </p:cNvPr>
          <p:cNvSpPr/>
          <p:nvPr/>
        </p:nvSpPr>
        <p:spPr>
          <a:xfrm>
            <a:off x="546412" y="1221166"/>
            <a:ext cx="4674998"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3. Add Data to Table</a:t>
            </a:r>
          </a:p>
        </p:txBody>
      </p:sp>
      <p:sp>
        <p:nvSpPr>
          <p:cNvPr id="7" name="Rectangle 5">
            <a:extLst>
              <a:ext uri="{FF2B5EF4-FFF2-40B4-BE49-F238E27FC236}">
                <a16:creationId xmlns:a16="http://schemas.microsoft.com/office/drawing/2014/main" id="{705C485F-1374-964B-8D3D-34FC1E716F57}"/>
              </a:ext>
            </a:extLst>
          </p:cNvPr>
          <p:cNvSpPr/>
          <p:nvPr/>
        </p:nvSpPr>
        <p:spPr>
          <a:xfrm>
            <a:off x="689287" y="1870771"/>
            <a:ext cx="3924023" cy="584775"/>
          </a:xfrm>
          <a:prstGeom prst="rect">
            <a:avLst/>
          </a:prstGeom>
        </p:spPr>
        <p:txBody>
          <a:bodyPr wrap="none">
            <a:spAutoFit/>
          </a:bodyPr>
          <a:lstStyle/>
          <a:p>
            <a:r>
              <a:rPr lang="en-US" sz="3200" b="1" dirty="0">
                <a:latin typeface="+mj-lt"/>
                <a:cs typeface="Times New Roman" panose="02020603050405020304" pitchFamily="18" charset="0"/>
              </a:rPr>
              <a:t>3.2 </a:t>
            </a:r>
            <a:r>
              <a:rPr lang="en-US" altLang="zh-CN" sz="3200" b="1" dirty="0">
                <a:latin typeface="+mj-lt"/>
                <a:cs typeface="Times New Roman" panose="02020603050405020304" pitchFamily="18" charset="0"/>
              </a:rPr>
              <a:t>Add Data using SQL</a:t>
            </a:r>
            <a:endParaRPr lang="en-US" sz="3200" b="1" dirty="0">
              <a:latin typeface="+mj-lt"/>
              <a:cs typeface="Times New Roman" panose="02020603050405020304" pitchFamily="18" charset="0"/>
            </a:endParaRPr>
          </a:p>
        </p:txBody>
      </p:sp>
      <p:sp>
        <p:nvSpPr>
          <p:cNvPr id="17" name="文本框 16">
            <a:extLst>
              <a:ext uri="{FF2B5EF4-FFF2-40B4-BE49-F238E27FC236}">
                <a16:creationId xmlns:a16="http://schemas.microsoft.com/office/drawing/2014/main" id="{1FC879A4-410E-0EB6-2685-6E636E0F8656}"/>
              </a:ext>
            </a:extLst>
          </p:cNvPr>
          <p:cNvSpPr txBox="1"/>
          <p:nvPr/>
        </p:nvSpPr>
        <p:spPr>
          <a:xfrm>
            <a:off x="9078669" y="6308081"/>
            <a:ext cx="2335779" cy="461665"/>
          </a:xfrm>
          <a:prstGeom prst="rect">
            <a:avLst/>
          </a:prstGeom>
          <a:noFill/>
        </p:spPr>
        <p:txBody>
          <a:bodyPr wrap="square" rtlCol="0">
            <a:spAutoFit/>
          </a:bodyPr>
          <a:lstStyle/>
          <a:p>
            <a:r>
              <a:rPr lang="en-US" altLang="zh-CN" sz="2400" dirty="0">
                <a:solidFill>
                  <a:schemeClr val="accent2"/>
                </a:solidFill>
                <a:effectLst>
                  <a:outerShdw blurRad="38100" dist="38100" dir="2700000" algn="tl">
                    <a:srgbClr val="000000">
                      <a:alpha val="43137"/>
                    </a:srgbClr>
                  </a:outerShdw>
                </a:effectLst>
                <a:latin typeface="Lucida Calligraphy" panose="03010101010101010101" pitchFamily="66" charset="0"/>
              </a:rPr>
              <a:t>Little Hard</a:t>
            </a:r>
            <a:endParaRPr lang="zh-CN" altLang="en-US" sz="2400" dirty="0">
              <a:solidFill>
                <a:schemeClr val="accent2"/>
              </a:solidFill>
              <a:effectLst>
                <a:outerShdw blurRad="38100" dist="38100" dir="2700000" algn="tl">
                  <a:srgbClr val="000000">
                    <a:alpha val="43137"/>
                  </a:srgbClr>
                </a:outerShdw>
              </a:effectLst>
              <a:latin typeface="Lucida Calligraphy" panose="03010101010101010101" pitchFamily="66" charset="0"/>
            </a:endParaRPr>
          </a:p>
        </p:txBody>
      </p:sp>
      <p:sp>
        <p:nvSpPr>
          <p:cNvPr id="12" name="Rectangle 9">
            <a:extLst>
              <a:ext uri="{FF2B5EF4-FFF2-40B4-BE49-F238E27FC236}">
                <a16:creationId xmlns:a16="http://schemas.microsoft.com/office/drawing/2014/main" id="{E1E7D6DB-2B01-47AA-9069-12A3DB011A0B}"/>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pic>
        <p:nvPicPr>
          <p:cNvPr id="10" name="图片 9">
            <a:extLst>
              <a:ext uri="{FF2B5EF4-FFF2-40B4-BE49-F238E27FC236}">
                <a16:creationId xmlns:a16="http://schemas.microsoft.com/office/drawing/2014/main" id="{295C46AF-5649-45A6-8450-4CC9A1E5EFFB}"/>
              </a:ext>
            </a:extLst>
          </p:cNvPr>
          <p:cNvPicPr>
            <a:picLocks noChangeAspect="1"/>
          </p:cNvPicPr>
          <p:nvPr/>
        </p:nvPicPr>
        <p:blipFill rotWithShape="1">
          <a:blip r:embed="rId3"/>
          <a:srcRect r="20635"/>
          <a:stretch/>
        </p:blipFill>
        <p:spPr>
          <a:xfrm>
            <a:off x="6720498" y="4350090"/>
            <a:ext cx="5181600" cy="179418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6" name="图片 15">
            <a:extLst>
              <a:ext uri="{FF2B5EF4-FFF2-40B4-BE49-F238E27FC236}">
                <a16:creationId xmlns:a16="http://schemas.microsoft.com/office/drawing/2014/main" id="{4EA2BEC5-9F94-4D1B-B7C2-C4683A99AF24}"/>
              </a:ext>
            </a:extLst>
          </p:cNvPr>
          <p:cNvPicPr>
            <a:picLocks noChangeAspect="1"/>
          </p:cNvPicPr>
          <p:nvPr/>
        </p:nvPicPr>
        <p:blipFill rotWithShape="1">
          <a:blip r:embed="rId4"/>
          <a:srcRect r="10511"/>
          <a:stretch/>
        </p:blipFill>
        <p:spPr>
          <a:xfrm>
            <a:off x="268668" y="4137169"/>
            <a:ext cx="4446235" cy="222866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4" name="图片 3">
            <a:extLst>
              <a:ext uri="{FF2B5EF4-FFF2-40B4-BE49-F238E27FC236}">
                <a16:creationId xmlns:a16="http://schemas.microsoft.com/office/drawing/2014/main" id="{6E21FF9C-A75C-4E62-A25D-BBFEE1FF04A2}"/>
              </a:ext>
            </a:extLst>
          </p:cNvPr>
          <p:cNvPicPr>
            <a:picLocks noChangeAspect="1"/>
          </p:cNvPicPr>
          <p:nvPr/>
        </p:nvPicPr>
        <p:blipFill>
          <a:blip r:embed="rId5"/>
          <a:stretch>
            <a:fillRect/>
          </a:stretch>
        </p:blipFill>
        <p:spPr>
          <a:xfrm>
            <a:off x="1343700" y="2539533"/>
            <a:ext cx="3409524" cy="117142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9" name="图片 8">
            <a:extLst>
              <a:ext uri="{FF2B5EF4-FFF2-40B4-BE49-F238E27FC236}">
                <a16:creationId xmlns:a16="http://schemas.microsoft.com/office/drawing/2014/main" id="{369379AD-76E9-442E-BA7F-EB5C03372E02}"/>
              </a:ext>
            </a:extLst>
          </p:cNvPr>
          <p:cNvPicPr>
            <a:picLocks noChangeAspect="1"/>
          </p:cNvPicPr>
          <p:nvPr/>
        </p:nvPicPr>
        <p:blipFill rotWithShape="1">
          <a:blip r:embed="rId6"/>
          <a:srcRect t="-5730" r="48195"/>
          <a:stretch/>
        </p:blipFill>
        <p:spPr>
          <a:xfrm>
            <a:off x="6992336" y="2489244"/>
            <a:ext cx="4361464" cy="126875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cxnSp>
        <p:nvCxnSpPr>
          <p:cNvPr id="13" name="直接箭头连接符 12">
            <a:extLst>
              <a:ext uri="{FF2B5EF4-FFF2-40B4-BE49-F238E27FC236}">
                <a16:creationId xmlns:a16="http://schemas.microsoft.com/office/drawing/2014/main" id="{C90DE0DC-A048-4372-8DF4-D3E175FBDBD0}"/>
              </a:ext>
            </a:extLst>
          </p:cNvPr>
          <p:cNvCxnSpPr>
            <a:cxnSpLocks/>
            <a:stCxn id="4" idx="3"/>
            <a:endCxn id="9" idx="1"/>
          </p:cNvCxnSpPr>
          <p:nvPr/>
        </p:nvCxnSpPr>
        <p:spPr>
          <a:xfrm flipV="1">
            <a:off x="4753224" y="3123622"/>
            <a:ext cx="2239112" cy="1626"/>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B92843E9-563F-4FA3-83DC-FD2222F6D1C5}"/>
              </a:ext>
            </a:extLst>
          </p:cNvPr>
          <p:cNvCxnSpPr>
            <a:cxnSpLocks/>
            <a:endCxn id="10" idx="0"/>
          </p:cNvCxnSpPr>
          <p:nvPr/>
        </p:nvCxnSpPr>
        <p:spPr>
          <a:xfrm>
            <a:off x="9311298" y="3739528"/>
            <a:ext cx="0" cy="610562"/>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272AF818-8B81-4DC1-9873-B5C2A2998EED}"/>
              </a:ext>
            </a:extLst>
          </p:cNvPr>
          <p:cNvCxnSpPr>
            <a:cxnSpLocks/>
            <a:stCxn id="10" idx="1"/>
            <a:endCxn id="24" idx="3"/>
          </p:cNvCxnSpPr>
          <p:nvPr/>
        </p:nvCxnSpPr>
        <p:spPr>
          <a:xfrm flipH="1">
            <a:off x="6138864" y="5247183"/>
            <a:ext cx="581634" cy="0"/>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pic>
        <p:nvPicPr>
          <p:cNvPr id="24" name="图片 23">
            <a:extLst>
              <a:ext uri="{FF2B5EF4-FFF2-40B4-BE49-F238E27FC236}">
                <a16:creationId xmlns:a16="http://schemas.microsoft.com/office/drawing/2014/main" id="{28C2DD51-8657-4837-88F6-02BA064C9870}"/>
              </a:ext>
            </a:extLst>
          </p:cNvPr>
          <p:cNvPicPr>
            <a:picLocks noChangeAspect="1"/>
          </p:cNvPicPr>
          <p:nvPr/>
        </p:nvPicPr>
        <p:blipFill>
          <a:blip r:embed="rId7"/>
          <a:stretch>
            <a:fillRect/>
          </a:stretch>
        </p:blipFill>
        <p:spPr>
          <a:xfrm>
            <a:off x="5234102" y="4785278"/>
            <a:ext cx="904762" cy="92381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cxnSp>
        <p:nvCxnSpPr>
          <p:cNvPr id="31" name="直接箭头连接符 30">
            <a:extLst>
              <a:ext uri="{FF2B5EF4-FFF2-40B4-BE49-F238E27FC236}">
                <a16:creationId xmlns:a16="http://schemas.microsoft.com/office/drawing/2014/main" id="{DF107380-AE41-4B96-83DD-228032AA3EF3}"/>
              </a:ext>
            </a:extLst>
          </p:cNvPr>
          <p:cNvCxnSpPr>
            <a:cxnSpLocks/>
            <a:stCxn id="24" idx="1"/>
            <a:endCxn id="16" idx="3"/>
          </p:cNvCxnSpPr>
          <p:nvPr/>
        </p:nvCxnSpPr>
        <p:spPr>
          <a:xfrm flipH="1">
            <a:off x="4714903" y="5247183"/>
            <a:ext cx="519199" cy="4319"/>
          </a:xfrm>
          <a:prstGeom prst="straightConnector1">
            <a:avLst/>
          </a:prstGeom>
          <a:ln w="635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04105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3B78541A-98E5-4056-820E-667A849453E3}"/>
              </a:ext>
            </a:extLst>
          </p:cNvPr>
          <p:cNvSpPr>
            <a:spLocks noGrp="1"/>
          </p:cNvSpPr>
          <p:nvPr>
            <p:ph type="sldNum" sz="quarter" idx="12"/>
          </p:nvPr>
        </p:nvSpPr>
        <p:spPr/>
        <p:txBody>
          <a:bodyPr/>
          <a:lstStyle/>
          <a:p>
            <a:fld id="{9128F302-E557-4BC3-87C7-BCBD3AD1B54C}" type="slidenum">
              <a:rPr lang="en-US" smtClean="0"/>
              <a:t>41</a:t>
            </a:fld>
            <a:endParaRPr lang="en-US" dirty="0"/>
          </a:p>
        </p:txBody>
      </p:sp>
      <p:sp>
        <p:nvSpPr>
          <p:cNvPr id="5" name="Rectangle 6">
            <a:extLst>
              <a:ext uri="{FF2B5EF4-FFF2-40B4-BE49-F238E27FC236}">
                <a16:creationId xmlns:a16="http://schemas.microsoft.com/office/drawing/2014/main" id="{08FCE6AD-A682-E938-AB66-D848C85FB869}"/>
              </a:ext>
            </a:extLst>
          </p:cNvPr>
          <p:cNvSpPr/>
          <p:nvPr/>
        </p:nvSpPr>
        <p:spPr>
          <a:xfrm>
            <a:off x="546412" y="1378824"/>
            <a:ext cx="4674998"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3. Add Data to Table</a:t>
            </a:r>
          </a:p>
        </p:txBody>
      </p:sp>
      <p:sp>
        <p:nvSpPr>
          <p:cNvPr id="14" name="Rectangle 7">
            <a:extLst>
              <a:ext uri="{FF2B5EF4-FFF2-40B4-BE49-F238E27FC236}">
                <a16:creationId xmlns:a16="http://schemas.microsoft.com/office/drawing/2014/main" id="{FED4B958-8D57-CBDA-BFAD-F791CE68832B}"/>
              </a:ext>
            </a:extLst>
          </p:cNvPr>
          <p:cNvSpPr/>
          <p:nvPr/>
        </p:nvSpPr>
        <p:spPr>
          <a:xfrm>
            <a:off x="804374" y="2086710"/>
            <a:ext cx="6131294" cy="584775"/>
          </a:xfrm>
          <a:prstGeom prst="rect">
            <a:avLst/>
          </a:prstGeom>
        </p:spPr>
        <p:txBody>
          <a:bodyPr wrap="none">
            <a:spAutoFit/>
          </a:bodyPr>
          <a:lstStyle/>
          <a:p>
            <a:r>
              <a:rPr lang="en-US" sz="3200" b="1" dirty="0">
                <a:latin typeface="+mj-lt"/>
                <a:cs typeface="Times New Roman" panose="02020603050405020304" pitchFamily="18" charset="0"/>
              </a:rPr>
              <a:t>3.3 Add Data from External Resource</a:t>
            </a:r>
          </a:p>
        </p:txBody>
      </p:sp>
      <p:sp>
        <p:nvSpPr>
          <p:cNvPr id="17" name="文本框 16">
            <a:extLst>
              <a:ext uri="{FF2B5EF4-FFF2-40B4-BE49-F238E27FC236}">
                <a16:creationId xmlns:a16="http://schemas.microsoft.com/office/drawing/2014/main" id="{1FC879A4-410E-0EB6-2685-6E636E0F8656}"/>
              </a:ext>
            </a:extLst>
          </p:cNvPr>
          <p:cNvSpPr txBox="1"/>
          <p:nvPr/>
        </p:nvSpPr>
        <p:spPr>
          <a:xfrm>
            <a:off x="9978140" y="5894687"/>
            <a:ext cx="2335779" cy="461665"/>
          </a:xfrm>
          <a:prstGeom prst="rect">
            <a:avLst/>
          </a:prstGeom>
          <a:noFill/>
        </p:spPr>
        <p:txBody>
          <a:bodyPr wrap="square" rtlCol="0">
            <a:spAutoFit/>
          </a:bodyPr>
          <a:lstStyle/>
          <a:p>
            <a:r>
              <a:rPr lang="en-US" altLang="zh-CN" sz="2400" dirty="0">
                <a:solidFill>
                  <a:schemeClr val="accent2"/>
                </a:solidFill>
                <a:effectLst>
                  <a:outerShdw blurRad="38100" dist="38100" dir="2700000" algn="tl">
                    <a:srgbClr val="000000">
                      <a:alpha val="43137"/>
                    </a:srgbClr>
                  </a:outerShdw>
                </a:effectLst>
                <a:latin typeface="Lucida Calligraphy" panose="03010101010101010101" pitchFamily="66" charset="0"/>
              </a:rPr>
              <a:t>Little Hard</a:t>
            </a:r>
            <a:endParaRPr lang="zh-CN" altLang="en-US" sz="2400" dirty="0">
              <a:solidFill>
                <a:schemeClr val="accent2"/>
              </a:solidFill>
              <a:effectLst>
                <a:outerShdw blurRad="38100" dist="38100" dir="2700000" algn="tl">
                  <a:srgbClr val="000000">
                    <a:alpha val="43137"/>
                  </a:srgbClr>
                </a:outerShdw>
              </a:effectLst>
              <a:latin typeface="Lucida Calligraphy" panose="03010101010101010101" pitchFamily="66" charset="0"/>
            </a:endParaRPr>
          </a:p>
        </p:txBody>
      </p:sp>
      <p:sp>
        <p:nvSpPr>
          <p:cNvPr id="12" name="Rectangle 9">
            <a:extLst>
              <a:ext uri="{FF2B5EF4-FFF2-40B4-BE49-F238E27FC236}">
                <a16:creationId xmlns:a16="http://schemas.microsoft.com/office/drawing/2014/main" id="{E1E7D6DB-2B01-47AA-9069-12A3DB011A0B}"/>
              </a:ext>
            </a:extLst>
          </p:cNvPr>
          <p:cNvSpPr/>
          <p:nvPr/>
        </p:nvSpPr>
        <p:spPr>
          <a:xfrm>
            <a:off x="486172" y="205503"/>
            <a:ext cx="10974307"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Tutorial with Project Examples</a:t>
            </a:r>
          </a:p>
        </p:txBody>
      </p:sp>
      <p:pic>
        <p:nvPicPr>
          <p:cNvPr id="9" name="图片 8">
            <a:extLst>
              <a:ext uri="{FF2B5EF4-FFF2-40B4-BE49-F238E27FC236}">
                <a16:creationId xmlns:a16="http://schemas.microsoft.com/office/drawing/2014/main" id="{2610BBF4-BF01-4CF5-A4C9-8D636C026BA6}"/>
              </a:ext>
            </a:extLst>
          </p:cNvPr>
          <p:cNvPicPr>
            <a:picLocks noChangeAspect="1"/>
          </p:cNvPicPr>
          <p:nvPr/>
        </p:nvPicPr>
        <p:blipFill>
          <a:blip r:embed="rId3"/>
          <a:stretch>
            <a:fillRect/>
          </a:stretch>
        </p:blipFill>
        <p:spPr>
          <a:xfrm>
            <a:off x="1011444" y="2952254"/>
            <a:ext cx="5152381" cy="284761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5" name="文本框 14">
            <a:extLst>
              <a:ext uri="{FF2B5EF4-FFF2-40B4-BE49-F238E27FC236}">
                <a16:creationId xmlns:a16="http://schemas.microsoft.com/office/drawing/2014/main" id="{8E2585E0-8250-400D-866A-97E3F9D69469}"/>
              </a:ext>
            </a:extLst>
          </p:cNvPr>
          <p:cNvSpPr txBox="1"/>
          <p:nvPr/>
        </p:nvSpPr>
        <p:spPr>
          <a:xfrm>
            <a:off x="6597967" y="4186516"/>
            <a:ext cx="5498783" cy="369332"/>
          </a:xfrm>
          <a:prstGeom prst="rect">
            <a:avLst/>
          </a:prstGeom>
          <a:noFill/>
        </p:spPr>
        <p:txBody>
          <a:bodyPr wrap="square">
            <a:spAutoFit/>
          </a:bodyPr>
          <a:lstStyle/>
          <a:p>
            <a:r>
              <a:rPr lang="zh-CN" altLang="en-US" dirty="0">
                <a:solidFill>
                  <a:srgbClr val="C00000"/>
                </a:solidFill>
                <a:latin typeface="Times New Roman" panose="02020603050405020304" pitchFamily="18" charset="0"/>
                <a:cs typeface="Times New Roman" panose="02020603050405020304" pitchFamily="18" charset="0"/>
              </a:rPr>
              <a:t>Follow the </a:t>
            </a:r>
            <a:r>
              <a:rPr lang="en-US" altLang="zh-CN" dirty="0">
                <a:solidFill>
                  <a:srgbClr val="C00000"/>
                </a:solidFill>
                <a:latin typeface="Times New Roman" panose="02020603050405020304" pitchFamily="18" charset="0"/>
                <a:cs typeface="Times New Roman" panose="02020603050405020304" pitchFamily="18" charset="0"/>
              </a:rPr>
              <a:t>guides</a:t>
            </a:r>
            <a:r>
              <a:rPr lang="zh-CN" altLang="en-US" dirty="0">
                <a:solidFill>
                  <a:srgbClr val="C00000"/>
                </a:solidFill>
                <a:latin typeface="Times New Roman" panose="02020603050405020304" pitchFamily="18" charset="0"/>
                <a:cs typeface="Times New Roman" panose="02020603050405020304" pitchFamily="18" charset="0"/>
              </a:rPr>
              <a:t> of Access to complete step by step.</a:t>
            </a:r>
          </a:p>
        </p:txBody>
      </p:sp>
    </p:spTree>
    <p:extLst>
      <p:ext uri="{BB962C8B-B14F-4D97-AF65-F5344CB8AC3E}">
        <p14:creationId xmlns:p14="http://schemas.microsoft.com/office/powerpoint/2010/main" val="25255997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5C99D3B9-3268-4A1B-B612-D70839A2597A}"/>
              </a:ext>
            </a:extLst>
          </p:cNvPr>
          <p:cNvSpPr>
            <a:spLocks noGrp="1"/>
          </p:cNvSpPr>
          <p:nvPr>
            <p:ph type="sldNum" sz="quarter" idx="12"/>
          </p:nvPr>
        </p:nvSpPr>
        <p:spPr>
          <a:xfrm>
            <a:off x="8610600" y="6141182"/>
            <a:ext cx="2743200" cy="365125"/>
          </a:xfrm>
        </p:spPr>
        <p:txBody>
          <a:bodyPr/>
          <a:lstStyle/>
          <a:p>
            <a:pPr algn="l"/>
            <a:fld id="{9128F302-E557-4BC3-87C7-BCBD3AD1B54C}" type="slidenum">
              <a:rPr lang="en-US" smtClean="0"/>
              <a:pPr algn="l"/>
              <a:t>42</a:t>
            </a:fld>
            <a:endParaRPr lang="en-US" dirty="0"/>
          </a:p>
        </p:txBody>
      </p:sp>
      <p:sp>
        <p:nvSpPr>
          <p:cNvPr id="10" name="Rectangle 9">
            <a:extLst>
              <a:ext uri="{FF2B5EF4-FFF2-40B4-BE49-F238E27FC236}">
                <a16:creationId xmlns:a16="http://schemas.microsoft.com/office/drawing/2014/main" id="{4357240D-CD8E-9B76-09DC-277985C5C2D8}"/>
              </a:ext>
            </a:extLst>
          </p:cNvPr>
          <p:cNvSpPr/>
          <p:nvPr/>
        </p:nvSpPr>
        <p:spPr>
          <a:xfrm>
            <a:off x="539853" y="1742893"/>
            <a:ext cx="11112294" cy="4104200"/>
          </a:xfrm>
          <a:prstGeom prst="rect">
            <a:avLst/>
          </a:prstGeom>
        </p:spPr>
        <p:txBody>
          <a:bodyPr wrap="square">
            <a:spAutoFit/>
          </a:bodyPr>
          <a:lstStyle/>
          <a:p>
            <a:pPr marL="1028700" indent="-1028700">
              <a:lnSpc>
                <a:spcPct val="150000"/>
              </a:lnSpc>
              <a:buFont typeface="+mj-lt"/>
              <a:buAutoNum type="romanUcPeriod"/>
            </a:pPr>
            <a:r>
              <a:rPr lang="en-US" altLang="zh-CN" sz="6000" b="1" dirty="0">
                <a:solidFill>
                  <a:schemeClr val="bg1">
                    <a:lumMod val="50000"/>
                  </a:schemeClr>
                </a:solidFill>
                <a:latin typeface="+mj-lt"/>
                <a:cs typeface="Times New Roman" panose="02020603050405020304" pitchFamily="18" charset="0"/>
              </a:rPr>
              <a:t>Tutorial with Project Examples</a:t>
            </a:r>
          </a:p>
          <a:p>
            <a:pPr marL="1028700" indent="-1028700">
              <a:lnSpc>
                <a:spcPct val="150000"/>
              </a:lnSpc>
              <a:buFont typeface="+mj-lt"/>
              <a:buAutoNum type="romanUcPeriod"/>
            </a:pPr>
            <a:r>
              <a:rPr lang="en-US" altLang="zh-CN" sz="6000" b="1" u="sng" dirty="0">
                <a:effectLst>
                  <a:outerShdw blurRad="38100" dist="38100" dir="2700000" algn="tl">
                    <a:srgbClr val="000000">
                      <a:alpha val="43137"/>
                    </a:srgbClr>
                  </a:outerShdw>
                </a:effectLst>
                <a:latin typeface="+mj-lt"/>
                <a:cs typeface="Times New Roman" panose="02020603050405020304" pitchFamily="18" charset="0"/>
              </a:rPr>
              <a:t>Assignment</a:t>
            </a:r>
          </a:p>
          <a:p>
            <a:pPr marL="1028700" indent="-1028700" algn="ctr">
              <a:lnSpc>
                <a:spcPct val="150000"/>
              </a:lnSpc>
              <a:buFont typeface="+mj-lt"/>
              <a:buAutoNum type="romanUcPeriod"/>
            </a:pPr>
            <a:endParaRPr lang="en-US" altLang="zh-CN" sz="6000" b="1" dirty="0">
              <a:solidFill>
                <a:schemeClr val="bg2">
                  <a:lumMod val="10000"/>
                </a:schemeClr>
              </a:solidFill>
              <a:latin typeface="+mj-lt"/>
              <a:cs typeface="Times New Roman" panose="02020603050405020304" pitchFamily="18" charset="0"/>
            </a:endParaRPr>
          </a:p>
        </p:txBody>
      </p:sp>
      <p:sp>
        <p:nvSpPr>
          <p:cNvPr id="3" name="Rectangle 9">
            <a:extLst>
              <a:ext uri="{FF2B5EF4-FFF2-40B4-BE49-F238E27FC236}">
                <a16:creationId xmlns:a16="http://schemas.microsoft.com/office/drawing/2014/main" id="{D2F0A02F-50C8-DFB8-46B3-67D040FCF552}"/>
              </a:ext>
            </a:extLst>
          </p:cNvPr>
          <p:cNvSpPr/>
          <p:nvPr/>
        </p:nvSpPr>
        <p:spPr>
          <a:xfrm>
            <a:off x="814963" y="452096"/>
            <a:ext cx="10562074" cy="1107996"/>
          </a:xfrm>
          <a:prstGeom prst="rect">
            <a:avLst/>
          </a:prstGeom>
        </p:spPr>
        <p:txBody>
          <a:bodyPr wrap="square">
            <a:spAutoFit/>
          </a:bodyPr>
          <a:lstStyle/>
          <a:p>
            <a:pPr algn="ctr"/>
            <a:r>
              <a:rPr lang="en-US" altLang="zh-CN" sz="6600" b="1" dirty="0">
                <a:solidFill>
                  <a:srgbClr val="C00000"/>
                </a:solidFill>
                <a:latin typeface="Times New Roman" panose="02020603050405020304" pitchFamily="18" charset="0"/>
                <a:cs typeface="Times New Roman" panose="02020603050405020304" pitchFamily="18" charset="0"/>
              </a:rPr>
              <a:t>Project 1</a:t>
            </a:r>
          </a:p>
        </p:txBody>
      </p:sp>
    </p:spTree>
    <p:extLst>
      <p:ext uri="{BB962C8B-B14F-4D97-AF65-F5344CB8AC3E}">
        <p14:creationId xmlns:p14="http://schemas.microsoft.com/office/powerpoint/2010/main" val="14920028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a:extLst>
              <a:ext uri="{FF2B5EF4-FFF2-40B4-BE49-F238E27FC236}">
                <a16:creationId xmlns:a16="http://schemas.microsoft.com/office/drawing/2014/main" id="{6C75D155-25C3-19C1-F1AA-AAC226DE76FB}"/>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6" name="矩形 5">
            <a:extLst>
              <a:ext uri="{FF2B5EF4-FFF2-40B4-BE49-F238E27FC236}">
                <a16:creationId xmlns:a16="http://schemas.microsoft.com/office/drawing/2014/main" id="{C0D5B375-295B-41AB-90D3-56F5A18CEF36}"/>
              </a:ext>
            </a:extLst>
          </p:cNvPr>
          <p:cNvSpPr/>
          <p:nvPr/>
        </p:nvSpPr>
        <p:spPr>
          <a:xfrm>
            <a:off x="686159" y="2014599"/>
            <a:ext cx="10819681" cy="4524315"/>
          </a:xfrm>
          <a:prstGeom prst="rect">
            <a:avLst/>
          </a:prstGeom>
        </p:spPr>
        <p:txBody>
          <a:bodyPr wrap="square">
            <a:spAutoFit/>
          </a:bodyPr>
          <a:lstStyle/>
          <a:p>
            <a:r>
              <a:rPr lang="en-US" sz="3200" b="1" dirty="0">
                <a:latin typeface="+mj-lt"/>
                <a:cs typeface="Times New Roman" panose="02020603050405020304" pitchFamily="18" charset="0"/>
              </a:rPr>
              <a:t>1.1 Familiar with MS Access</a:t>
            </a:r>
            <a:endParaRPr lang="en-US" sz="2800" b="1" dirty="0">
              <a:solidFill>
                <a:srgbClr val="000000"/>
              </a:solidFill>
              <a:latin typeface="Times New Roman" panose="02020603050405020304" pitchFamily="18" charset="0"/>
              <a:cs typeface="Times New Roman" panose="02020603050405020304" pitchFamily="18" charset="0"/>
            </a:endParaRPr>
          </a:p>
          <a:p>
            <a:r>
              <a:rPr lang="en-US" sz="3200" b="1" dirty="0">
                <a:latin typeface="+mj-lt"/>
                <a:cs typeface="Times New Roman" panose="02020603050405020304" pitchFamily="18" charset="0"/>
              </a:rPr>
              <a:t>1.2 Create a university database</a:t>
            </a:r>
          </a:p>
          <a:p>
            <a:pPr marL="457200"/>
            <a:r>
              <a:rPr lang="en-US" sz="3200" b="1" dirty="0">
                <a:latin typeface="+mj-lt"/>
                <a:cs typeface="Times New Roman" panose="02020603050405020304" pitchFamily="18" charset="0"/>
              </a:rPr>
              <a:t>1.2.1 university.mdb</a:t>
            </a:r>
            <a:endParaRPr lang="en-US" sz="2800" b="1" dirty="0">
              <a:solidFill>
                <a:srgbClr val="000000"/>
              </a:solidFill>
              <a:latin typeface="Times New Roman" panose="02020603050405020304" pitchFamily="18" charset="0"/>
              <a:cs typeface="Times New Roman" panose="02020603050405020304" pitchFamily="18" charset="0"/>
            </a:endParaRPr>
          </a:p>
          <a:p>
            <a:pPr lvl="1"/>
            <a:r>
              <a:rPr lang="en-US" sz="3200" b="1" dirty="0">
                <a:latin typeface="+mj-lt"/>
                <a:cs typeface="Times New Roman" panose="02020603050405020304" pitchFamily="18" charset="0"/>
              </a:rPr>
              <a:t>1.2.2 Load data into the database</a:t>
            </a:r>
          </a:p>
          <a:p>
            <a:pPr lvl="1"/>
            <a:r>
              <a:rPr lang="en-US" sz="3200" b="1" dirty="0">
                <a:latin typeface="+mj-lt"/>
                <a:cs typeface="Times New Roman" panose="02020603050405020304" pitchFamily="18" charset="0"/>
              </a:rPr>
              <a:t>1.2.3 Use SQL to insert one record </a:t>
            </a:r>
            <a:endParaRPr lang="en-US" sz="2800" b="1" dirty="0">
              <a:solidFill>
                <a:srgbClr val="000000"/>
              </a:solidFill>
              <a:latin typeface="Times New Roman" panose="02020603050405020304" pitchFamily="18" charset="0"/>
              <a:cs typeface="Times New Roman" panose="02020603050405020304" pitchFamily="18" charset="0"/>
            </a:endParaRPr>
          </a:p>
          <a:p>
            <a:r>
              <a:rPr lang="en-US" altLang="zh-CN" sz="3200" b="1" dirty="0">
                <a:latin typeface="+mj-lt"/>
                <a:cs typeface="Times New Roman" panose="02020603050405020304" pitchFamily="18" charset="0"/>
              </a:rPr>
              <a:t>1.3 Open the university database</a:t>
            </a:r>
            <a:endParaRPr lang="en-US" sz="3200" b="1" dirty="0">
              <a:latin typeface="+mj-lt"/>
              <a:cs typeface="Times New Roman" panose="02020603050405020304" pitchFamily="18" charset="0"/>
            </a:endParaRPr>
          </a:p>
          <a:p>
            <a:pPr lvl="1"/>
            <a:r>
              <a:rPr lang="en-US" sz="3200" b="1" dirty="0">
                <a:latin typeface="+mj-lt"/>
                <a:cs typeface="Times New Roman" panose="02020603050405020304" pitchFamily="18" charset="0"/>
              </a:rPr>
              <a:t>1.3.1 Use C++/Python to </a:t>
            </a:r>
            <a:r>
              <a:rPr lang="en-US" altLang="zh-CN" sz="3200" b="1" dirty="0">
                <a:latin typeface="+mj-lt"/>
                <a:cs typeface="Times New Roman" panose="02020603050405020304" pitchFamily="18" charset="0"/>
              </a:rPr>
              <a:t>generate</a:t>
            </a:r>
            <a:r>
              <a:rPr lang="en-US" sz="3200" b="1" dirty="0">
                <a:latin typeface="+mj-lt"/>
                <a:cs typeface="Times New Roman" panose="02020603050405020304" pitchFamily="18" charset="0"/>
              </a:rPr>
              <a:t> </a:t>
            </a:r>
            <a:r>
              <a:rPr lang="en-US" altLang="zh-CN" sz="3200" b="1" dirty="0">
                <a:latin typeface="+mj-lt"/>
                <a:cs typeface="Times New Roman" panose="02020603050405020304" pitchFamily="18" charset="0"/>
              </a:rPr>
              <a:t>more than 5000 random tuples </a:t>
            </a:r>
            <a:r>
              <a:rPr lang="en-US" sz="3200" b="1" dirty="0">
                <a:latin typeface="+mj-lt"/>
                <a:cs typeface="Times New Roman" panose="02020603050405020304" pitchFamily="18" charset="0"/>
              </a:rPr>
              <a:t>for </a:t>
            </a:r>
            <a:r>
              <a:rPr lang="en-US" sz="3200" b="1" i="1" dirty="0">
                <a:solidFill>
                  <a:srgbClr val="FF0000"/>
                </a:solidFill>
                <a:latin typeface="Times New Roman" panose="02020603050405020304" pitchFamily="18" charset="0"/>
                <a:cs typeface="Times New Roman" panose="02020603050405020304" pitchFamily="18" charset="0"/>
              </a:rPr>
              <a:t>student</a:t>
            </a:r>
            <a:r>
              <a:rPr lang="en-US" sz="3200" b="1" dirty="0">
                <a:latin typeface="+mj-lt"/>
                <a:cs typeface="Times New Roman" panose="02020603050405020304" pitchFamily="18" charset="0"/>
              </a:rPr>
              <a:t> table</a:t>
            </a:r>
          </a:p>
          <a:p>
            <a:pPr lvl="1"/>
            <a:r>
              <a:rPr lang="en-US" sz="3200" b="1" dirty="0">
                <a:latin typeface="+mj-lt"/>
                <a:cs typeface="Times New Roman" panose="02020603050405020304" pitchFamily="18" charset="0"/>
              </a:rPr>
              <a:t>1.3.2 Use SQL to insert those </a:t>
            </a:r>
            <a:r>
              <a:rPr lang="en-US" altLang="zh-CN" sz="3200" b="1" dirty="0">
                <a:latin typeface="+mj-lt"/>
                <a:cs typeface="Times New Roman" panose="02020603050405020304" pitchFamily="18" charset="0"/>
              </a:rPr>
              <a:t>random tuples</a:t>
            </a:r>
            <a:r>
              <a:rPr lang="en-US" sz="3200" b="1" dirty="0">
                <a:latin typeface="+mj-lt"/>
                <a:cs typeface="Times New Roman" panose="02020603050405020304" pitchFamily="18" charset="0"/>
              </a:rPr>
              <a:t> into database</a:t>
            </a:r>
          </a:p>
        </p:txBody>
      </p:sp>
      <p:sp>
        <p:nvSpPr>
          <p:cNvPr id="2" name="灯片编号占位符 1">
            <a:extLst>
              <a:ext uri="{FF2B5EF4-FFF2-40B4-BE49-F238E27FC236}">
                <a16:creationId xmlns:a16="http://schemas.microsoft.com/office/drawing/2014/main" id="{CF267C02-8089-4D50-B340-AF52E7802E0B}"/>
              </a:ext>
            </a:extLst>
          </p:cNvPr>
          <p:cNvSpPr>
            <a:spLocks noGrp="1"/>
          </p:cNvSpPr>
          <p:nvPr>
            <p:ph type="sldNum" sz="quarter" idx="12"/>
          </p:nvPr>
        </p:nvSpPr>
        <p:spPr/>
        <p:txBody>
          <a:bodyPr/>
          <a:lstStyle/>
          <a:p>
            <a:fld id="{9128F302-E557-4BC3-87C7-BCBD3AD1B54C}" type="slidenum">
              <a:rPr lang="en-US" smtClean="0"/>
              <a:t>43</a:t>
            </a:fld>
            <a:endParaRPr lang="en-US"/>
          </a:p>
        </p:txBody>
      </p:sp>
      <p:sp>
        <p:nvSpPr>
          <p:cNvPr id="7" name="Rectangle 6">
            <a:extLst>
              <a:ext uri="{FF2B5EF4-FFF2-40B4-BE49-F238E27FC236}">
                <a16:creationId xmlns:a16="http://schemas.microsoft.com/office/drawing/2014/main" id="{71429D8A-2720-AA1F-2B65-FF347C87B1B4}"/>
              </a:ext>
            </a:extLst>
          </p:cNvPr>
          <p:cNvSpPr/>
          <p:nvPr/>
        </p:nvSpPr>
        <p:spPr>
          <a:xfrm>
            <a:off x="546412" y="1221166"/>
            <a:ext cx="5133713" cy="707886"/>
          </a:xfrm>
          <a:prstGeom prst="rect">
            <a:avLst/>
          </a:prstGeom>
        </p:spPr>
        <p:txBody>
          <a:bodyPr wrap="none">
            <a:spAutoFit/>
          </a:bodyPr>
          <a:lstStyle/>
          <a:p>
            <a:r>
              <a:rPr lang="en-US" sz="4000" b="1" dirty="0">
                <a:solidFill>
                  <a:srgbClr val="33339B"/>
                </a:solidFill>
                <a:latin typeface="Times New Roman" panose="02020603050405020304" pitchFamily="18" charset="0"/>
                <a:cs typeface="Times New Roman" panose="02020603050405020304" pitchFamily="18" charset="0"/>
              </a:rPr>
              <a:t>1. </a:t>
            </a:r>
            <a:r>
              <a:rPr lang="en-US" altLang="zh-CN" sz="4000" b="1" dirty="0">
                <a:solidFill>
                  <a:srgbClr val="33339B"/>
                </a:solidFill>
                <a:latin typeface="Times New Roman" panose="02020603050405020304" pitchFamily="18" charset="0"/>
                <a:cs typeface="Times New Roman" panose="02020603050405020304" pitchFamily="18" charset="0"/>
              </a:rPr>
              <a:t>Assignment Content</a:t>
            </a:r>
            <a:endParaRPr lang="en-US" sz="4000" b="1" dirty="0">
              <a:solidFill>
                <a:srgbClr val="33339B"/>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489760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A630B3A-E215-E722-73A1-69AB5AD11224}"/>
              </a:ext>
            </a:extLst>
          </p:cNvPr>
          <p:cNvSpPr/>
          <p:nvPr/>
        </p:nvSpPr>
        <p:spPr>
          <a:xfrm>
            <a:off x="546412" y="1221166"/>
            <a:ext cx="8170868"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2. </a:t>
            </a:r>
            <a:r>
              <a:rPr lang="en-US" altLang="zh-CN" sz="4000" b="1" dirty="0">
                <a:solidFill>
                  <a:srgbClr val="33339B"/>
                </a:solidFill>
                <a:latin typeface="Times New Roman" panose="02020603050405020304" pitchFamily="18" charset="0"/>
                <a:cs typeface="Times New Roman" panose="02020603050405020304" pitchFamily="18" charset="0"/>
              </a:rPr>
              <a:t>Schema and Sample Data</a:t>
            </a:r>
          </a:p>
        </p:txBody>
      </p:sp>
      <p:sp>
        <p:nvSpPr>
          <p:cNvPr id="6" name="矩形 5">
            <a:extLst>
              <a:ext uri="{FF2B5EF4-FFF2-40B4-BE49-F238E27FC236}">
                <a16:creationId xmlns:a16="http://schemas.microsoft.com/office/drawing/2014/main" id="{F4E27EBF-C96C-4D06-95C4-90E321992A14}"/>
              </a:ext>
            </a:extLst>
          </p:cNvPr>
          <p:cNvSpPr/>
          <p:nvPr/>
        </p:nvSpPr>
        <p:spPr>
          <a:xfrm>
            <a:off x="838200" y="1929052"/>
            <a:ext cx="9336032" cy="4524315"/>
          </a:xfrm>
          <a:prstGeom prst="rect">
            <a:avLst/>
          </a:prstGeom>
          <a:ln>
            <a:noFill/>
          </a:ln>
        </p:spPr>
        <p:txBody>
          <a:bodyPr wrap="square">
            <a:spAutoFit/>
          </a:bodyPr>
          <a:lstStyle/>
          <a:p>
            <a:pPr marL="342900" indent="-342900">
              <a:buFont typeface="Wingdings" panose="05000000000000000000" pitchFamily="2" charset="2"/>
              <a:buChar char="§"/>
            </a:pPr>
            <a:r>
              <a:rPr lang="en-US" sz="3200" b="1" dirty="0">
                <a:latin typeface="+mj-lt"/>
                <a:cs typeface="Times New Roman" panose="02020603050405020304" pitchFamily="18" charset="0"/>
              </a:rPr>
              <a:t>The schema of the database is provided below (keys are </a:t>
            </a:r>
            <a:r>
              <a:rPr lang="en-US" altLang="zh-CN" sz="3200" b="1" dirty="0">
                <a:latin typeface="+mj-lt"/>
                <a:cs typeface="Times New Roman" panose="02020603050405020304" pitchFamily="18" charset="0"/>
              </a:rPr>
              <a:t>red</a:t>
            </a:r>
            <a:r>
              <a:rPr lang="en-US" sz="3200" b="1" dirty="0">
                <a:latin typeface="+mj-lt"/>
                <a:cs typeface="Times New Roman" panose="02020603050405020304" pitchFamily="18" charset="0"/>
              </a:rPr>
              <a:t>, field types are omitted):</a:t>
            </a:r>
          </a:p>
          <a:p>
            <a:pPr marL="1371600" lvl="2" indent="-457200">
              <a:buFont typeface="Arial" panose="020B0604020202020204" pitchFamily="34" charset="0"/>
              <a:buChar char="•"/>
            </a:pPr>
            <a:r>
              <a:rPr lang="en-US" sz="3200" b="1" dirty="0">
                <a:latin typeface="+mj-lt"/>
                <a:cs typeface="Times New Roman" panose="02020603050405020304" pitchFamily="18" charset="0"/>
              </a:rPr>
              <a:t>    student(</a:t>
            </a:r>
            <a:r>
              <a:rPr lang="en-US" sz="3200" b="1" dirty="0" err="1">
                <a:solidFill>
                  <a:srgbClr val="C00000"/>
                </a:solidFill>
                <a:latin typeface="+mj-lt"/>
                <a:cs typeface="Times New Roman" panose="02020603050405020304" pitchFamily="18" charset="0"/>
              </a:rPr>
              <a:t>sid</a:t>
            </a:r>
            <a:r>
              <a:rPr lang="en-US" sz="3200" b="1" dirty="0">
                <a:latin typeface="+mj-lt"/>
                <a:cs typeface="Times New Roman" panose="02020603050405020304" pitchFamily="18" charset="0"/>
              </a:rPr>
              <a:t>, </a:t>
            </a:r>
            <a:r>
              <a:rPr lang="en-US" sz="3200" b="1" dirty="0" err="1">
                <a:latin typeface="+mj-lt"/>
                <a:cs typeface="Times New Roman" panose="02020603050405020304" pitchFamily="18" charset="0"/>
              </a:rPr>
              <a:t>sname</a:t>
            </a:r>
            <a:r>
              <a:rPr lang="en-US" sz="3200" b="1" dirty="0">
                <a:latin typeface="+mj-lt"/>
                <a:cs typeface="Times New Roman" panose="02020603050405020304" pitchFamily="18" charset="0"/>
              </a:rPr>
              <a:t>, sex, age, year, </a:t>
            </a:r>
            <a:r>
              <a:rPr lang="en-US" sz="3200" b="1" dirty="0" err="1">
                <a:latin typeface="+mj-lt"/>
                <a:cs typeface="Times New Roman" panose="02020603050405020304" pitchFamily="18" charset="0"/>
              </a:rPr>
              <a:t>gpa</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en-US" sz="3200" b="1" dirty="0">
                <a:latin typeface="+mj-lt"/>
                <a:cs typeface="Times New Roman" panose="02020603050405020304" pitchFamily="18" charset="0"/>
              </a:rPr>
              <a:t>    dept(</a:t>
            </a:r>
            <a:r>
              <a:rPr lang="en-US" sz="3200" b="1" dirty="0" err="1">
                <a:solidFill>
                  <a:srgbClr val="C00000"/>
                </a:solidFill>
                <a:latin typeface="+mj-lt"/>
                <a:cs typeface="Times New Roman" panose="02020603050405020304" pitchFamily="18" charset="0"/>
              </a:rPr>
              <a:t>dname</a:t>
            </a:r>
            <a:r>
              <a:rPr lang="en-US" sz="3200" b="1" dirty="0">
                <a:latin typeface="+mj-lt"/>
                <a:cs typeface="Times New Roman" panose="02020603050405020304" pitchFamily="18" charset="0"/>
              </a:rPr>
              <a:t>, </a:t>
            </a:r>
            <a:r>
              <a:rPr lang="en-US" sz="3200" b="1" dirty="0" err="1">
                <a:latin typeface="+mj-lt"/>
                <a:cs typeface="Times New Roman" panose="02020603050405020304" pitchFamily="18" charset="0"/>
              </a:rPr>
              <a:t>numphds</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en-US" sz="3200" b="1" dirty="0">
                <a:latin typeface="+mj-lt"/>
                <a:cs typeface="Times New Roman" panose="02020603050405020304" pitchFamily="18" charset="0"/>
              </a:rPr>
              <a:t>    prof(</a:t>
            </a:r>
            <a:r>
              <a:rPr lang="en-US" sz="3200" b="1" dirty="0" err="1">
                <a:solidFill>
                  <a:srgbClr val="C00000"/>
                </a:solidFill>
                <a:latin typeface="+mj-lt"/>
                <a:cs typeface="Times New Roman" panose="02020603050405020304" pitchFamily="18" charset="0"/>
              </a:rPr>
              <a:t>pname</a:t>
            </a:r>
            <a:r>
              <a:rPr lang="en-US" sz="3200" b="1" dirty="0">
                <a:latin typeface="+mj-lt"/>
                <a:cs typeface="Times New Roman" panose="02020603050405020304" pitchFamily="18" charset="0"/>
              </a:rPr>
              <a:t>, </a:t>
            </a:r>
            <a:r>
              <a:rPr lang="en-US" sz="3200" b="1" dirty="0" err="1">
                <a:latin typeface="+mj-lt"/>
                <a:cs typeface="Times New Roman" panose="02020603050405020304" pitchFamily="18" charset="0"/>
              </a:rPr>
              <a:t>dname</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en-US" sz="3200" b="1" dirty="0">
                <a:latin typeface="+mj-lt"/>
                <a:cs typeface="Times New Roman" panose="02020603050405020304" pitchFamily="18" charset="0"/>
              </a:rPr>
              <a:t>    course(</a:t>
            </a:r>
            <a:r>
              <a:rPr lang="en-US" sz="3200" b="1" dirty="0" err="1">
                <a:solidFill>
                  <a:srgbClr val="C00000"/>
                </a:solidFill>
                <a:latin typeface="+mj-lt"/>
                <a:cs typeface="Times New Roman" panose="02020603050405020304" pitchFamily="18" charset="0"/>
              </a:rPr>
              <a:t>cno</a:t>
            </a:r>
            <a:r>
              <a:rPr lang="en-US" sz="3200" b="1" dirty="0">
                <a:latin typeface="+mj-lt"/>
                <a:cs typeface="Times New Roman" panose="02020603050405020304" pitchFamily="18" charset="0"/>
              </a:rPr>
              <a:t>, </a:t>
            </a:r>
            <a:r>
              <a:rPr lang="en-US" sz="3200" b="1" dirty="0" err="1">
                <a:latin typeface="+mj-lt"/>
                <a:cs typeface="Times New Roman" panose="02020603050405020304" pitchFamily="18" charset="0"/>
              </a:rPr>
              <a:t>cname</a:t>
            </a:r>
            <a:r>
              <a:rPr lang="en-US" sz="3200" b="1" dirty="0">
                <a:latin typeface="+mj-lt"/>
                <a:cs typeface="Times New Roman" panose="02020603050405020304" pitchFamily="18" charset="0"/>
              </a:rPr>
              <a:t>, </a:t>
            </a:r>
            <a:r>
              <a:rPr lang="en-US" sz="3200" b="1" dirty="0" err="1">
                <a:solidFill>
                  <a:srgbClr val="C00000"/>
                </a:solidFill>
                <a:latin typeface="+mj-lt"/>
                <a:cs typeface="Times New Roman" panose="02020603050405020304" pitchFamily="18" charset="0"/>
              </a:rPr>
              <a:t>dname</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en-US" sz="3200" b="1" dirty="0">
                <a:latin typeface="+mj-lt"/>
                <a:cs typeface="Times New Roman" panose="02020603050405020304" pitchFamily="18" charset="0"/>
              </a:rPr>
              <a:t>    major(</a:t>
            </a:r>
            <a:r>
              <a:rPr lang="en-US" sz="3200" b="1" dirty="0" err="1">
                <a:solidFill>
                  <a:srgbClr val="C00000"/>
                </a:solidFill>
                <a:latin typeface="+mj-lt"/>
                <a:cs typeface="Times New Roman" panose="02020603050405020304" pitchFamily="18" charset="0"/>
              </a:rPr>
              <a:t>dname</a:t>
            </a:r>
            <a:r>
              <a:rPr lang="en-US" sz="3200" b="1" dirty="0">
                <a:latin typeface="+mj-lt"/>
                <a:cs typeface="Times New Roman" panose="02020603050405020304" pitchFamily="18" charset="0"/>
              </a:rPr>
              <a:t>, </a:t>
            </a:r>
            <a:r>
              <a:rPr lang="en-US" sz="3200" b="1" dirty="0" err="1">
                <a:solidFill>
                  <a:srgbClr val="C00000"/>
                </a:solidFill>
                <a:latin typeface="+mj-lt"/>
                <a:cs typeface="Times New Roman" panose="02020603050405020304" pitchFamily="18" charset="0"/>
              </a:rPr>
              <a:t>sid</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en-US" sz="3200" b="1" dirty="0">
                <a:latin typeface="+mj-lt"/>
                <a:cs typeface="Times New Roman" panose="02020603050405020304" pitchFamily="18" charset="0"/>
              </a:rPr>
              <a:t>    section(</a:t>
            </a:r>
            <a:r>
              <a:rPr lang="en-US" sz="3200" b="1" dirty="0" err="1">
                <a:solidFill>
                  <a:srgbClr val="C00000"/>
                </a:solidFill>
                <a:latin typeface="+mj-lt"/>
                <a:cs typeface="Times New Roman" panose="02020603050405020304" pitchFamily="18" charset="0"/>
              </a:rPr>
              <a:t>dname</a:t>
            </a:r>
            <a:r>
              <a:rPr lang="en-US" sz="3200" b="1" dirty="0">
                <a:latin typeface="+mj-lt"/>
                <a:cs typeface="Times New Roman" panose="02020603050405020304" pitchFamily="18" charset="0"/>
              </a:rPr>
              <a:t>, </a:t>
            </a:r>
            <a:r>
              <a:rPr lang="en-US" sz="3200" b="1" dirty="0" err="1">
                <a:solidFill>
                  <a:srgbClr val="C00000"/>
                </a:solidFill>
                <a:latin typeface="+mj-lt"/>
                <a:cs typeface="Times New Roman" panose="02020603050405020304" pitchFamily="18" charset="0"/>
              </a:rPr>
              <a:t>cno</a:t>
            </a:r>
            <a:r>
              <a:rPr lang="en-US" sz="3200" b="1" dirty="0">
                <a:latin typeface="+mj-lt"/>
                <a:cs typeface="Times New Roman" panose="02020603050405020304" pitchFamily="18" charset="0"/>
              </a:rPr>
              <a:t>, </a:t>
            </a:r>
            <a:r>
              <a:rPr lang="en-US" sz="3200" b="1" dirty="0" err="1">
                <a:solidFill>
                  <a:srgbClr val="C00000"/>
                </a:solidFill>
                <a:latin typeface="+mj-lt"/>
                <a:cs typeface="Times New Roman" panose="02020603050405020304" pitchFamily="18" charset="0"/>
              </a:rPr>
              <a:t>sectno</a:t>
            </a:r>
            <a:r>
              <a:rPr lang="en-US" sz="3200" b="1" dirty="0">
                <a:latin typeface="+mj-lt"/>
                <a:cs typeface="Times New Roman" panose="02020603050405020304" pitchFamily="18" charset="0"/>
              </a:rPr>
              <a:t>, </a:t>
            </a:r>
            <a:r>
              <a:rPr lang="en-US" sz="3200" b="1" dirty="0" err="1">
                <a:latin typeface="+mj-lt"/>
                <a:cs typeface="Times New Roman" panose="02020603050405020304" pitchFamily="18" charset="0"/>
              </a:rPr>
              <a:t>pname</a:t>
            </a:r>
            <a:r>
              <a:rPr lang="en-US" sz="3200" b="1" dirty="0">
                <a:latin typeface="+mj-lt"/>
                <a:cs typeface="Times New Roman" panose="02020603050405020304" pitchFamily="18" charset="0"/>
              </a:rPr>
              <a:t>)</a:t>
            </a:r>
          </a:p>
          <a:p>
            <a:pPr marL="1371600" lvl="2" indent="-457200">
              <a:buFont typeface="Arial" panose="020B0604020202020204" pitchFamily="34" charset="0"/>
              <a:buChar char="•"/>
            </a:pPr>
            <a:r>
              <a:rPr lang="pt-BR" sz="3200" b="1" dirty="0">
                <a:latin typeface="+mj-lt"/>
                <a:cs typeface="Times New Roman" panose="02020603050405020304" pitchFamily="18" charset="0"/>
              </a:rPr>
              <a:t>    enroll(</a:t>
            </a:r>
            <a:r>
              <a:rPr lang="pt-BR" sz="3200" b="1" dirty="0">
                <a:solidFill>
                  <a:srgbClr val="C00000"/>
                </a:solidFill>
                <a:latin typeface="+mj-lt"/>
                <a:cs typeface="Times New Roman" panose="02020603050405020304" pitchFamily="18" charset="0"/>
              </a:rPr>
              <a:t>sid</a:t>
            </a:r>
            <a:r>
              <a:rPr lang="pt-BR" sz="3200" b="1" dirty="0">
                <a:latin typeface="+mj-lt"/>
                <a:cs typeface="Times New Roman" panose="02020603050405020304" pitchFamily="18" charset="0"/>
              </a:rPr>
              <a:t>, grade, </a:t>
            </a:r>
            <a:r>
              <a:rPr lang="pt-BR" sz="3200" b="1" dirty="0">
                <a:solidFill>
                  <a:srgbClr val="C00000"/>
                </a:solidFill>
                <a:latin typeface="+mj-lt"/>
                <a:cs typeface="Times New Roman" panose="02020603050405020304" pitchFamily="18" charset="0"/>
              </a:rPr>
              <a:t>dname</a:t>
            </a:r>
            <a:r>
              <a:rPr lang="pt-BR" sz="3200" b="1" dirty="0">
                <a:latin typeface="+mj-lt"/>
                <a:cs typeface="Times New Roman" panose="02020603050405020304" pitchFamily="18" charset="0"/>
              </a:rPr>
              <a:t>, </a:t>
            </a:r>
            <a:r>
              <a:rPr lang="pt-BR" sz="3200" b="1" dirty="0">
                <a:solidFill>
                  <a:srgbClr val="C00000"/>
                </a:solidFill>
                <a:latin typeface="+mj-lt"/>
                <a:cs typeface="Times New Roman" panose="02020603050405020304" pitchFamily="18" charset="0"/>
              </a:rPr>
              <a:t>cno</a:t>
            </a:r>
            <a:r>
              <a:rPr lang="pt-BR" sz="3200" b="1" dirty="0">
                <a:latin typeface="+mj-lt"/>
                <a:cs typeface="Times New Roman" panose="02020603050405020304" pitchFamily="18" charset="0"/>
              </a:rPr>
              <a:t>, </a:t>
            </a:r>
            <a:r>
              <a:rPr lang="pt-BR" sz="3200" b="1" dirty="0">
                <a:solidFill>
                  <a:srgbClr val="C00000"/>
                </a:solidFill>
                <a:latin typeface="+mj-lt"/>
                <a:cs typeface="Times New Roman" panose="02020603050405020304" pitchFamily="18" charset="0"/>
              </a:rPr>
              <a:t>sectno</a:t>
            </a:r>
            <a:r>
              <a:rPr lang="pt-BR" sz="3200" b="1" dirty="0">
                <a:latin typeface="+mj-lt"/>
                <a:cs typeface="Times New Roman" panose="02020603050405020304" pitchFamily="18" charset="0"/>
              </a:rPr>
              <a:t>)</a:t>
            </a:r>
          </a:p>
        </p:txBody>
      </p:sp>
      <p:sp>
        <p:nvSpPr>
          <p:cNvPr id="2" name="灯片编号占位符 1">
            <a:extLst>
              <a:ext uri="{FF2B5EF4-FFF2-40B4-BE49-F238E27FC236}">
                <a16:creationId xmlns:a16="http://schemas.microsoft.com/office/drawing/2014/main" id="{1345D23A-F207-4711-9E04-A0D9E09F0869}"/>
              </a:ext>
            </a:extLst>
          </p:cNvPr>
          <p:cNvSpPr>
            <a:spLocks noGrp="1"/>
          </p:cNvSpPr>
          <p:nvPr>
            <p:ph type="sldNum" sz="quarter" idx="12"/>
          </p:nvPr>
        </p:nvSpPr>
        <p:spPr/>
        <p:txBody>
          <a:bodyPr/>
          <a:lstStyle/>
          <a:p>
            <a:fld id="{9128F302-E557-4BC3-87C7-BCBD3AD1B54C}" type="slidenum">
              <a:rPr lang="en-US" smtClean="0"/>
              <a:t>44</a:t>
            </a:fld>
            <a:endParaRPr lang="en-US"/>
          </a:p>
        </p:txBody>
      </p:sp>
      <p:sp>
        <p:nvSpPr>
          <p:cNvPr id="5" name="Rectangle 9">
            <a:extLst>
              <a:ext uri="{FF2B5EF4-FFF2-40B4-BE49-F238E27FC236}">
                <a16:creationId xmlns:a16="http://schemas.microsoft.com/office/drawing/2014/main" id="{1F58D975-641A-2F1C-5FD7-14A865B92432}"/>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9" name="文本框 8">
            <a:extLst>
              <a:ext uri="{FF2B5EF4-FFF2-40B4-BE49-F238E27FC236}">
                <a16:creationId xmlns:a16="http://schemas.microsoft.com/office/drawing/2014/main" id="{404E24AC-CFD5-4805-BF8D-2B5945C48B9E}"/>
              </a:ext>
            </a:extLst>
          </p:cNvPr>
          <p:cNvSpPr txBox="1"/>
          <p:nvPr/>
        </p:nvSpPr>
        <p:spPr>
          <a:xfrm>
            <a:off x="9198048" y="3656084"/>
            <a:ext cx="1952368" cy="369332"/>
          </a:xfrm>
          <a:prstGeom prst="rect">
            <a:avLst/>
          </a:prstGeom>
          <a:noFill/>
        </p:spPr>
        <p:txBody>
          <a:bodyPr wrap="square">
            <a:spAutoFit/>
          </a:bodyPr>
          <a:lstStyle/>
          <a:p>
            <a:r>
              <a:rPr lang="en-US" altLang="zh-CN" b="0" i="0" dirty="0">
                <a:solidFill>
                  <a:srgbClr val="C00000"/>
                </a:solidFill>
                <a:effectLst/>
                <a:latin typeface="Times New Roman" panose="02020603050405020304" pitchFamily="18" charset="0"/>
                <a:cs typeface="Times New Roman" panose="02020603050405020304" pitchFamily="18" charset="0"/>
              </a:rPr>
              <a:t>Multiple keys</a:t>
            </a:r>
            <a:endParaRPr lang="zh-CN" altLang="en-US" dirty="0">
              <a:solidFill>
                <a:srgbClr val="C00000"/>
              </a:solidFill>
              <a:latin typeface="Times New Roman" panose="02020603050405020304" pitchFamily="18" charset="0"/>
              <a:cs typeface="Times New Roman" panose="02020603050405020304" pitchFamily="18" charset="0"/>
            </a:endParaRPr>
          </a:p>
        </p:txBody>
      </p:sp>
      <p:pic>
        <p:nvPicPr>
          <p:cNvPr id="11" name="图片 10">
            <a:extLst>
              <a:ext uri="{FF2B5EF4-FFF2-40B4-BE49-F238E27FC236}">
                <a16:creationId xmlns:a16="http://schemas.microsoft.com/office/drawing/2014/main" id="{3AB8231E-A044-4A01-A63F-1156EE4F590C}"/>
              </a:ext>
            </a:extLst>
          </p:cNvPr>
          <p:cNvPicPr>
            <a:picLocks noChangeAspect="1"/>
          </p:cNvPicPr>
          <p:nvPr/>
        </p:nvPicPr>
        <p:blipFill>
          <a:blip r:embed="rId3"/>
          <a:stretch>
            <a:fillRect/>
          </a:stretch>
        </p:blipFill>
        <p:spPr>
          <a:xfrm>
            <a:off x="8411441" y="4108860"/>
            <a:ext cx="3308611" cy="9829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6407796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A630B3A-E215-E722-73A1-69AB5AD11224}"/>
              </a:ext>
            </a:extLst>
          </p:cNvPr>
          <p:cNvSpPr/>
          <p:nvPr/>
        </p:nvSpPr>
        <p:spPr>
          <a:xfrm>
            <a:off x="546412" y="1221166"/>
            <a:ext cx="8170868"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2. </a:t>
            </a:r>
            <a:r>
              <a:rPr lang="en-US" altLang="zh-CN" sz="4000" b="1" dirty="0">
                <a:solidFill>
                  <a:srgbClr val="33339B"/>
                </a:solidFill>
                <a:latin typeface="Times New Roman" panose="02020603050405020304" pitchFamily="18" charset="0"/>
                <a:cs typeface="Times New Roman" panose="02020603050405020304" pitchFamily="18" charset="0"/>
              </a:rPr>
              <a:t>Schema and Sample Data</a:t>
            </a:r>
          </a:p>
        </p:txBody>
      </p:sp>
      <p:sp>
        <p:nvSpPr>
          <p:cNvPr id="6" name="矩形 5">
            <a:extLst>
              <a:ext uri="{FF2B5EF4-FFF2-40B4-BE49-F238E27FC236}">
                <a16:creationId xmlns:a16="http://schemas.microsoft.com/office/drawing/2014/main" id="{F4E27EBF-C96C-4D06-95C4-90E321992A14}"/>
              </a:ext>
            </a:extLst>
          </p:cNvPr>
          <p:cNvSpPr/>
          <p:nvPr/>
        </p:nvSpPr>
        <p:spPr>
          <a:xfrm>
            <a:off x="850333" y="2258872"/>
            <a:ext cx="10227241" cy="1077218"/>
          </a:xfrm>
          <a:prstGeom prst="rect">
            <a:avLst/>
          </a:prstGeom>
          <a:ln>
            <a:noFill/>
          </a:ln>
        </p:spPr>
        <p:txBody>
          <a:bodyPr wrap="square">
            <a:spAutoFit/>
          </a:bodyPr>
          <a:lstStyle/>
          <a:p>
            <a:pPr marL="342900" indent="-342900">
              <a:buFont typeface="Wingdings" panose="05000000000000000000" pitchFamily="2" charset="2"/>
              <a:buChar char="§"/>
            </a:pPr>
            <a:r>
              <a:rPr lang="en-US" sz="3200" b="1" dirty="0">
                <a:latin typeface="+mj-lt"/>
                <a:cs typeface="Times New Roman" panose="02020603050405020304" pitchFamily="18" charset="0"/>
              </a:rPr>
              <a:t>Before you start writing SQL, it is a good idea to take a look at the database and familiarize yourself with its contents.</a:t>
            </a:r>
          </a:p>
        </p:txBody>
      </p:sp>
      <p:sp>
        <p:nvSpPr>
          <p:cNvPr id="2" name="灯片编号占位符 1">
            <a:extLst>
              <a:ext uri="{FF2B5EF4-FFF2-40B4-BE49-F238E27FC236}">
                <a16:creationId xmlns:a16="http://schemas.microsoft.com/office/drawing/2014/main" id="{1345D23A-F207-4711-9E04-A0D9E09F0869}"/>
              </a:ext>
            </a:extLst>
          </p:cNvPr>
          <p:cNvSpPr>
            <a:spLocks noGrp="1"/>
          </p:cNvSpPr>
          <p:nvPr>
            <p:ph type="sldNum" sz="quarter" idx="12"/>
          </p:nvPr>
        </p:nvSpPr>
        <p:spPr/>
        <p:txBody>
          <a:bodyPr/>
          <a:lstStyle/>
          <a:p>
            <a:fld id="{9128F302-E557-4BC3-87C7-BCBD3AD1B54C}" type="slidenum">
              <a:rPr lang="en-US" smtClean="0"/>
              <a:t>45</a:t>
            </a:fld>
            <a:endParaRPr lang="en-US"/>
          </a:p>
        </p:txBody>
      </p:sp>
      <p:sp>
        <p:nvSpPr>
          <p:cNvPr id="5" name="Rectangle 9">
            <a:extLst>
              <a:ext uri="{FF2B5EF4-FFF2-40B4-BE49-F238E27FC236}">
                <a16:creationId xmlns:a16="http://schemas.microsoft.com/office/drawing/2014/main" id="{1F58D975-641A-2F1C-5FD7-14A865B92432}"/>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3" name="矩形 2">
            <a:extLst>
              <a:ext uri="{FF2B5EF4-FFF2-40B4-BE49-F238E27FC236}">
                <a16:creationId xmlns:a16="http://schemas.microsoft.com/office/drawing/2014/main" id="{17FAB71C-C804-E9C9-F22D-F702FED94168}"/>
              </a:ext>
            </a:extLst>
          </p:cNvPr>
          <p:cNvSpPr/>
          <p:nvPr/>
        </p:nvSpPr>
        <p:spPr>
          <a:xfrm>
            <a:off x="849029" y="3665910"/>
            <a:ext cx="10493942" cy="1569660"/>
          </a:xfrm>
          <a:prstGeom prst="rect">
            <a:avLst/>
          </a:prstGeom>
          <a:ln>
            <a:noFill/>
          </a:ln>
        </p:spPr>
        <p:txBody>
          <a:bodyPr wrap="square">
            <a:spAutoFit/>
          </a:bodyPr>
          <a:lstStyle/>
          <a:p>
            <a:pPr marL="342900" indent="-342900">
              <a:buFont typeface="Wingdings" panose="05000000000000000000" pitchFamily="2" charset="2"/>
              <a:buChar char="§"/>
            </a:pPr>
            <a:r>
              <a:rPr lang="en-US" altLang="zh-CN" sz="3200" b="1" dirty="0">
                <a:latin typeface="+mj-lt"/>
                <a:cs typeface="Times New Roman" panose="02020603050405020304" pitchFamily="18" charset="0"/>
              </a:rPr>
              <a:t>Write down as many details of your experiment as possible, and combining </a:t>
            </a:r>
            <a:r>
              <a:rPr lang="en-US" altLang="zh-CN" sz="3200" b="1" dirty="0">
                <a:latin typeface="微软雅黑" panose="020B0503020204020204" pitchFamily="34" charset="-122"/>
                <a:ea typeface="微软雅黑" panose="020B0503020204020204" pitchFamily="34" charset="-122"/>
                <a:cs typeface="Times New Roman" panose="02020603050405020304" pitchFamily="18" charset="0"/>
              </a:rPr>
              <a:t>TEXT</a:t>
            </a:r>
            <a:r>
              <a:rPr lang="en-US" altLang="zh-CN" sz="3200" b="1" dirty="0">
                <a:latin typeface="+mj-lt"/>
                <a:cs typeface="Times New Roman" panose="02020603050405020304" pitchFamily="18" charset="0"/>
              </a:rPr>
              <a:t> and </a:t>
            </a:r>
            <a:r>
              <a:rPr lang="en-US" altLang="zh-CN" sz="3200" b="1" dirty="0">
                <a:latin typeface="微软雅黑" panose="020B0503020204020204" pitchFamily="34" charset="-122"/>
                <a:ea typeface="微软雅黑" panose="020B0503020204020204" pitchFamily="34" charset="-122"/>
                <a:cs typeface="Times New Roman" panose="02020603050405020304" pitchFamily="18" charset="0"/>
              </a:rPr>
              <a:t>PICTURE</a:t>
            </a:r>
            <a:r>
              <a:rPr lang="en-US" altLang="zh-CN" sz="3200" b="1" dirty="0">
                <a:latin typeface="+mj-lt"/>
                <a:cs typeface="Times New Roman" panose="02020603050405020304" pitchFamily="18" charset="0"/>
              </a:rPr>
              <a:t> will </a:t>
            </a:r>
            <a:r>
              <a:rPr lang="en-US" altLang="zh-CN" sz="3200" dirty="0">
                <a:solidFill>
                  <a:srgbClr val="2A2B2E"/>
                </a:solidFill>
                <a:latin typeface="PingFang SC"/>
                <a:cs typeface="Times New Roman" panose="02020603050405020304" pitchFamily="18" charset="0"/>
              </a:rPr>
              <a:t>g</a:t>
            </a:r>
            <a:r>
              <a:rPr lang="en-US" altLang="zh-CN" sz="3200" b="0" i="0" dirty="0">
                <a:solidFill>
                  <a:srgbClr val="2A2B2E"/>
                </a:solidFill>
                <a:effectLst/>
                <a:latin typeface="PingFang SC"/>
              </a:rPr>
              <a:t>et better grades.</a:t>
            </a:r>
          </a:p>
          <a:p>
            <a:pPr marL="342900" indent="-342900">
              <a:buFont typeface="Wingdings" panose="05000000000000000000" pitchFamily="2" charset="2"/>
              <a:buChar char="§"/>
            </a:pPr>
            <a:endParaRPr lang="en-US" sz="3200" b="1" dirty="0">
              <a:latin typeface="+mj-lt"/>
              <a:cs typeface="Times New Roman" panose="02020603050405020304" pitchFamily="18" charset="0"/>
            </a:endParaRPr>
          </a:p>
        </p:txBody>
      </p:sp>
    </p:spTree>
    <p:extLst>
      <p:ext uri="{BB962C8B-B14F-4D97-AF65-F5344CB8AC3E}">
        <p14:creationId xmlns:p14="http://schemas.microsoft.com/office/powerpoint/2010/main" val="32282860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A630B3A-E215-E722-73A1-69AB5AD11224}"/>
              </a:ext>
            </a:extLst>
          </p:cNvPr>
          <p:cNvSpPr/>
          <p:nvPr/>
        </p:nvSpPr>
        <p:spPr>
          <a:xfrm>
            <a:off x="546412" y="1221166"/>
            <a:ext cx="8170868" cy="707886"/>
          </a:xfrm>
          <a:prstGeom prst="rect">
            <a:avLst/>
          </a:prstGeom>
        </p:spPr>
        <p:txBody>
          <a:bodyPr wrap="square">
            <a:spAutoFit/>
          </a:bodyPr>
          <a:lstStyle/>
          <a:p>
            <a:r>
              <a:rPr lang="en-US" sz="4000" b="1" dirty="0">
                <a:solidFill>
                  <a:srgbClr val="33339B"/>
                </a:solidFill>
                <a:latin typeface="Times New Roman" panose="02020603050405020304" pitchFamily="18" charset="0"/>
                <a:cs typeface="Times New Roman" panose="02020603050405020304" pitchFamily="18" charset="0"/>
              </a:rPr>
              <a:t>3. </a:t>
            </a:r>
            <a:r>
              <a:rPr lang="en-US" altLang="zh-CN" sz="4000" b="1" dirty="0">
                <a:solidFill>
                  <a:srgbClr val="33339B"/>
                </a:solidFill>
                <a:latin typeface="Times New Roman" panose="02020603050405020304" pitchFamily="18" charset="0"/>
                <a:cs typeface="Times New Roman" panose="02020603050405020304" pitchFamily="18" charset="0"/>
              </a:rPr>
              <a:t>Data Files</a:t>
            </a:r>
          </a:p>
        </p:txBody>
      </p:sp>
      <p:sp>
        <p:nvSpPr>
          <p:cNvPr id="2" name="灯片编号占位符 1">
            <a:extLst>
              <a:ext uri="{FF2B5EF4-FFF2-40B4-BE49-F238E27FC236}">
                <a16:creationId xmlns:a16="http://schemas.microsoft.com/office/drawing/2014/main" id="{1345D23A-F207-4711-9E04-A0D9E09F0869}"/>
              </a:ext>
            </a:extLst>
          </p:cNvPr>
          <p:cNvSpPr>
            <a:spLocks noGrp="1"/>
          </p:cNvSpPr>
          <p:nvPr>
            <p:ph type="sldNum" sz="quarter" idx="12"/>
          </p:nvPr>
        </p:nvSpPr>
        <p:spPr/>
        <p:txBody>
          <a:bodyPr/>
          <a:lstStyle/>
          <a:p>
            <a:fld id="{9128F302-E557-4BC3-87C7-BCBD3AD1B54C}" type="slidenum">
              <a:rPr lang="en-US" smtClean="0"/>
              <a:t>46</a:t>
            </a:fld>
            <a:endParaRPr lang="en-US"/>
          </a:p>
        </p:txBody>
      </p:sp>
      <p:sp>
        <p:nvSpPr>
          <p:cNvPr id="5" name="Rectangle 9">
            <a:extLst>
              <a:ext uri="{FF2B5EF4-FFF2-40B4-BE49-F238E27FC236}">
                <a16:creationId xmlns:a16="http://schemas.microsoft.com/office/drawing/2014/main" id="{1F58D975-641A-2F1C-5FD7-14A865B92432}"/>
              </a:ext>
            </a:extLst>
          </p:cNvPr>
          <p:cNvSpPr/>
          <p:nvPr/>
        </p:nvSpPr>
        <p:spPr>
          <a:xfrm>
            <a:off x="486173" y="205503"/>
            <a:ext cx="7839680" cy="1015663"/>
          </a:xfrm>
          <a:prstGeom prst="rect">
            <a:avLst/>
          </a:prstGeom>
        </p:spPr>
        <p:txBody>
          <a:bodyPr wrap="square">
            <a:spAutoFit/>
          </a:bodyPr>
          <a:lstStyle/>
          <a:p>
            <a:r>
              <a:rPr lang="en-US" altLang="zh-CN" sz="6000" b="1" dirty="0">
                <a:solidFill>
                  <a:srgbClr val="33339B"/>
                </a:solidFill>
                <a:latin typeface="Times New Roman" panose="02020603050405020304" pitchFamily="18" charset="0"/>
                <a:cs typeface="Times New Roman" panose="02020603050405020304" pitchFamily="18" charset="0"/>
              </a:rPr>
              <a:t>Assignment</a:t>
            </a:r>
          </a:p>
        </p:txBody>
      </p:sp>
      <p:sp>
        <p:nvSpPr>
          <p:cNvPr id="3" name="矩形 2">
            <a:extLst>
              <a:ext uri="{FF2B5EF4-FFF2-40B4-BE49-F238E27FC236}">
                <a16:creationId xmlns:a16="http://schemas.microsoft.com/office/drawing/2014/main" id="{ADFE774A-F1AB-7193-9391-5AEF9EF72B91}"/>
              </a:ext>
            </a:extLst>
          </p:cNvPr>
          <p:cNvSpPr/>
          <p:nvPr/>
        </p:nvSpPr>
        <p:spPr>
          <a:xfrm>
            <a:off x="1562824" y="1943788"/>
            <a:ext cx="9470935" cy="4031873"/>
          </a:xfrm>
          <a:prstGeom prst="rect">
            <a:avLst/>
          </a:prstGeom>
        </p:spPr>
        <p:txBody>
          <a:bodyPr wrap="square">
            <a:spAutoFit/>
          </a:bodyPr>
          <a:lstStyle/>
          <a:p>
            <a:pPr marL="571500" indent="-571500">
              <a:buFont typeface="Wingdings" panose="05000000000000000000" pitchFamily="2" charset="2"/>
              <a:buChar char="§"/>
            </a:pPr>
            <a:r>
              <a:rPr lang="en-US" sz="3200" b="1" dirty="0">
                <a:latin typeface="+mj-lt"/>
                <a:cs typeface="Times New Roman" panose="02020603050405020304" pitchFamily="18" charset="0"/>
              </a:rPr>
              <a:t>Download the following data files from </a:t>
            </a:r>
            <a:r>
              <a:rPr lang="en-US" altLang="zh-CN" sz="3200" b="1" u="sng" dirty="0">
                <a:latin typeface="+mj-lt"/>
                <a:cs typeface="Times New Roman" panose="02020603050405020304" pitchFamily="18" charset="0"/>
              </a:rPr>
              <a:t>WeChat Group</a:t>
            </a:r>
            <a:endParaRPr lang="en-US" sz="3200" b="1" u="sng" dirty="0">
              <a:latin typeface="+mj-lt"/>
              <a:cs typeface="Times New Roman" panose="02020603050405020304" pitchFamily="18" charset="0"/>
            </a:endParaRPr>
          </a:p>
          <a:p>
            <a:pPr marL="1371600" lvl="2" indent="-457200">
              <a:buFont typeface="Wingdings" panose="05000000000000000000" pitchFamily="2" charset="2"/>
              <a:buChar char="Ø"/>
            </a:pPr>
            <a:r>
              <a:rPr lang="en-US" sz="3200" b="1" dirty="0">
                <a:latin typeface="+mj-lt"/>
                <a:cs typeface="Times New Roman" panose="02020603050405020304" pitchFamily="18" charset="0"/>
              </a:rPr>
              <a:t>course.txt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dept.txt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enroll.txt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major.txt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prof.txt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section.txt</a:t>
            </a:r>
          </a:p>
          <a:p>
            <a:pPr marL="1371600" lvl="2" indent="-457200">
              <a:buFont typeface="Wingdings" panose="05000000000000000000" pitchFamily="2" charset="2"/>
              <a:buChar char="Ø"/>
            </a:pPr>
            <a:r>
              <a:rPr lang="en-US" sz="3200" b="1" dirty="0">
                <a:latin typeface="+mj-lt"/>
                <a:cs typeface="Times New Roman" panose="02020603050405020304" pitchFamily="18" charset="0"/>
              </a:rPr>
              <a:t>student.txt</a:t>
            </a:r>
          </a:p>
        </p:txBody>
      </p:sp>
    </p:spTree>
    <p:extLst>
      <p:ext uri="{BB962C8B-B14F-4D97-AF65-F5344CB8AC3E}">
        <p14:creationId xmlns:p14="http://schemas.microsoft.com/office/powerpoint/2010/main" val="4014076063"/>
      </p:ext>
    </p:extLst>
  </p:cSld>
  <p:clrMapOvr>
    <a:masterClrMapping/>
  </p:clrMapOvr>
</p:sld>
</file>

<file path=ppt/theme/theme1.xml><?xml version="1.0" encoding="utf-8"?>
<a:theme xmlns:a="http://schemas.openxmlformats.org/drawingml/2006/main" name="Office 主题​​">
  <a:themeElements>
    <a:clrScheme name="Office 主题​​">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5809</TotalTime>
  <Words>2829</Words>
  <Application>Microsoft Office PowerPoint</Application>
  <PresentationFormat>宽屏</PresentationFormat>
  <Paragraphs>408</Paragraphs>
  <Slides>46</Slides>
  <Notes>43</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46</vt:i4>
      </vt:variant>
    </vt:vector>
  </HeadingPairs>
  <TitlesOfParts>
    <vt:vector size="63" baseType="lpstr">
      <vt:lpstr>-apple-system</vt:lpstr>
      <vt:lpstr>Helvetica Neue</vt:lpstr>
      <vt:lpstr>OracleSansVF</vt:lpstr>
      <vt:lpstr>PingFang SC</vt:lpstr>
      <vt:lpstr>等线</vt:lpstr>
      <vt:lpstr>微软雅黑</vt:lpstr>
      <vt:lpstr>Arial</vt:lpstr>
      <vt:lpstr>Calibri</vt:lpstr>
      <vt:lpstr>Calibri Light</vt:lpstr>
      <vt:lpstr>Lucida Calligraphy</vt:lpstr>
      <vt:lpstr>Nunito Sans</vt:lpstr>
      <vt:lpstr>Open Sans</vt:lpstr>
      <vt:lpstr>Roboto</vt:lpstr>
      <vt:lpstr>Times New Roman</vt:lpstr>
      <vt:lpstr>verdana</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Assignment1</dc:title>
  <dc:creator>Wang Hai</dc:creator>
  <cp:lastModifiedBy>passenger</cp:lastModifiedBy>
  <cp:revision>188</cp:revision>
  <dcterms:created xsi:type="dcterms:W3CDTF">2019-09-23T01:09:19Z</dcterms:created>
  <dcterms:modified xsi:type="dcterms:W3CDTF">2025-10-09T04:19:37Z</dcterms:modified>
</cp:coreProperties>
</file>