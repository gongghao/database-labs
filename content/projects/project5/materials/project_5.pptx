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312" r:id="rId2"/>
    <p:sldId id="390" r:id="rId3"/>
    <p:sldId id="387" r:id="rId4"/>
    <p:sldId id="465" r:id="rId5"/>
    <p:sldId id="391" r:id="rId6"/>
    <p:sldId id="437" r:id="rId7"/>
    <p:sldId id="438" r:id="rId8"/>
    <p:sldId id="439" r:id="rId9"/>
    <p:sldId id="441" r:id="rId10"/>
    <p:sldId id="440" r:id="rId11"/>
    <p:sldId id="442" r:id="rId12"/>
    <p:sldId id="445" r:id="rId13"/>
    <p:sldId id="446" r:id="rId14"/>
    <p:sldId id="447" r:id="rId15"/>
    <p:sldId id="450" r:id="rId16"/>
    <p:sldId id="448" r:id="rId17"/>
    <p:sldId id="449" r:id="rId18"/>
    <p:sldId id="451" r:id="rId19"/>
    <p:sldId id="452" r:id="rId20"/>
    <p:sldId id="454" r:id="rId21"/>
    <p:sldId id="455" r:id="rId22"/>
    <p:sldId id="462" r:id="rId23"/>
    <p:sldId id="457" r:id="rId24"/>
    <p:sldId id="458" r:id="rId25"/>
    <p:sldId id="459" r:id="rId26"/>
    <p:sldId id="460" r:id="rId27"/>
    <p:sldId id="461" r:id="rId28"/>
    <p:sldId id="463" r:id="rId29"/>
    <p:sldId id="464" r:id="rId30"/>
    <p:sldId id="360" r:id="rId31"/>
    <p:sldId id="395" r:id="rId32"/>
    <p:sldId id="431" r:id="rId33"/>
    <p:sldId id="349" r:id="rId34"/>
    <p:sldId id="432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凌艺 许" initials="凌艺" lastIdx="1" clrIdx="0">
    <p:extLst>
      <p:ext uri="{19B8F6BF-5375-455C-9EA6-DF929625EA0E}">
        <p15:presenceInfo xmlns:p15="http://schemas.microsoft.com/office/powerpoint/2012/main" userId="c090746240165d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B"/>
    <a:srgbClr val="FFFCEB"/>
    <a:srgbClr val="535387"/>
    <a:srgbClr val="F3D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86861" autoAdjust="0"/>
  </p:normalViewPr>
  <p:slideViewPr>
    <p:cSldViewPr snapToGrid="0">
      <p:cViewPr>
        <p:scale>
          <a:sx n="75" d="100"/>
          <a:sy n="75" d="100"/>
        </p:scale>
        <p:origin x="442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7868E-8322-402F-ACC5-477E624251D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0D1AB-2DF8-4949-8D12-111FA1213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7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59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614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慢点讲，先将实体完整性。然后域完整性。</a:t>
            </a:r>
            <a:endParaRPr lang="en-US" altLang="zh-CN" dirty="0"/>
          </a:p>
          <a:p>
            <a:r>
              <a:rPr lang="zh-CN" altLang="en-US" dirty="0"/>
              <a:t>最后参照完整性。那么为什么要有参照完整性？</a:t>
            </a:r>
            <a:br>
              <a:rPr lang="en-US" altLang="zh-CN" dirty="0"/>
            </a:br>
            <a:r>
              <a:rPr lang="en-US" altLang="zh-CN" dirty="0"/>
              <a:t>A</a:t>
            </a:r>
            <a:r>
              <a:rPr lang="zh-CN" altLang="en-US" dirty="0"/>
              <a:t>表</a:t>
            </a:r>
            <a:r>
              <a:rPr lang="en-US" altLang="zh-CN" dirty="0"/>
              <a:t>C</a:t>
            </a:r>
            <a:r>
              <a:rPr lang="zh-CN" altLang="en-US" dirty="0"/>
              <a:t>表的主键构成了</a:t>
            </a:r>
            <a:r>
              <a:rPr lang="en-US" altLang="zh-CN" dirty="0"/>
              <a:t>B</a:t>
            </a:r>
            <a:r>
              <a:rPr lang="zh-CN" altLang="en-US" dirty="0"/>
              <a:t>表的主键。</a:t>
            </a:r>
            <a:br>
              <a:rPr lang="en-US" altLang="zh-CN" dirty="0"/>
            </a:br>
            <a:r>
              <a:rPr lang="zh-CN" altLang="en-US" dirty="0"/>
              <a:t>假设没有参照完整性。</a:t>
            </a:r>
            <a:br>
              <a:rPr lang="en-US" altLang="zh-CN" dirty="0"/>
            </a:br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：如果更新或者删除了表</a:t>
            </a:r>
            <a:r>
              <a:rPr lang="en-US" altLang="zh-CN" dirty="0"/>
              <a:t>A</a:t>
            </a:r>
            <a:r>
              <a:rPr lang="zh-CN" altLang="en-US" dirty="0"/>
              <a:t>的主键，他也在</a:t>
            </a:r>
            <a:r>
              <a:rPr lang="en-US" altLang="zh-CN" dirty="0"/>
              <a:t>B</a:t>
            </a:r>
            <a:r>
              <a:rPr lang="zh-CN" altLang="en-US" dirty="0"/>
              <a:t>里面。会发生什么问题？</a:t>
            </a:r>
            <a:endParaRPr lang="en-US" altLang="zh-CN" dirty="0"/>
          </a:p>
          <a:p>
            <a:r>
              <a:rPr lang="zh-CN" altLang="en-US" dirty="0"/>
              <a:t>让大家思考。。。很显然，</a:t>
            </a:r>
            <a:r>
              <a:rPr lang="en-US" altLang="zh-CN" dirty="0"/>
              <a:t>B</a:t>
            </a:r>
            <a:r>
              <a:rPr lang="zh-CN" altLang="en-US" dirty="0"/>
              <a:t>里面的东西没修改或者没删除！数据库里的内容不一致了！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：反过来如果更新或者删除了表</a:t>
            </a:r>
            <a:r>
              <a:rPr lang="en-US" altLang="zh-CN" dirty="0"/>
              <a:t>B</a:t>
            </a:r>
            <a:r>
              <a:rPr lang="zh-CN" altLang="en-US" dirty="0"/>
              <a:t>的主键，他也在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里面。会发生什么问题？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让大家思考。。。很显然，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里面的东西没修改或者没删除！数据库里的内容也不一致了！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那么，有了这个参照完整性约束啊，我们在操作</a:t>
            </a:r>
            <a:r>
              <a:rPr lang="en-US" altLang="zh-CN" dirty="0"/>
              <a:t>B</a:t>
            </a:r>
            <a:r>
              <a:rPr lang="zh-CN" altLang="en-US"/>
              <a:t>的时候，才不会破坏数据库的一致性。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284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31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313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81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10E1-28C3-455F-9FD1-F0B55423A67C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542C-FEC7-4D6C-837D-0E69C18E291B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4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A9FBF-00A6-497B-A64A-9A9792F46983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1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6F49-1B4E-4891-A82E-D7B529793EF7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3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CE51-E29B-4F19-80D0-BB742E860588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FC2F-8F0A-4319-B1D1-15499CA0F6FA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B4E1-8FF2-4401-B349-18D525587C27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6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0272-ECCE-44F7-91EA-501758042665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4F18-922E-4538-82BA-BCEA03EF97CA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2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3E8DB-618C-463E-B09F-3F6FDF6C2736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26B2-CDFD-44B0-8E44-FD7D4F4580D4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6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0A23-103E-4560-9482-F8E1161F7818}" type="datetime1">
              <a:rPr lang="en-US" altLang="zh-CN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zh-cn/topic/%E4%BD%BF%E7%94%A8%E6%9C%89%E6%95%88%E6%80%A7%E8%A7%84%E5%88%99%E9%99%90%E5%88%B6%E6%95%B0%E6%8D%AE%E8%BE%93%E5%85%A5-b91c6b15-bcd3-42c1-90bf-e3a0272e988d" TargetMode="External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crosoft.com/zh-cn/topic/%E4%BD%BF%E7%94%A8%E6%9C%89%E6%95%88%E6%80%A7%E8%A7%84%E5%88%99%E9%99%90%E5%88%B6%E6%95%B0%E6%8D%AE%E8%BE%93%E5%85%A5-b91c6b15-bcd3-42c1-90bf-e3a0272e988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560522EF-52D9-4B65-D19C-9E9C092ED757}"/>
              </a:ext>
            </a:extLst>
          </p:cNvPr>
          <p:cNvSpPr/>
          <p:nvPr/>
        </p:nvSpPr>
        <p:spPr>
          <a:xfrm>
            <a:off x="1348740" y="2111998"/>
            <a:ext cx="9494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5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D3387C-A638-D7B2-ACA0-E51011169E4F}"/>
              </a:ext>
            </a:extLst>
          </p:cNvPr>
          <p:cNvSpPr txBox="1"/>
          <p:nvPr/>
        </p:nvSpPr>
        <p:spPr>
          <a:xfrm>
            <a:off x="4130732" y="4571381"/>
            <a:ext cx="3629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TA: Jiawei Liu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9FF2DE-6EBE-45CB-80EF-F02B7BA3C95D}"/>
              </a:ext>
            </a:extLst>
          </p:cNvPr>
          <p:cNvSpPr txBox="1"/>
          <p:nvPr/>
        </p:nvSpPr>
        <p:spPr>
          <a:xfrm>
            <a:off x="3394361" y="3495578"/>
            <a:ext cx="535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 Shuai Wang</a:t>
            </a:r>
          </a:p>
        </p:txBody>
      </p:sp>
    </p:spTree>
    <p:extLst>
      <p:ext uri="{BB962C8B-B14F-4D97-AF65-F5344CB8AC3E}">
        <p14:creationId xmlns:p14="http://schemas.microsoft.com/office/powerpoint/2010/main" val="893996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>
            <a:extLst>
              <a:ext uri="{FF2B5EF4-FFF2-40B4-BE49-F238E27FC236}">
                <a16:creationId xmlns:a16="http://schemas.microsoft.com/office/drawing/2014/main" id="{7D89991E-24EE-34F9-B73E-D65B80DCFB55}"/>
              </a:ext>
            </a:extLst>
          </p:cNvPr>
          <p:cNvSpPr/>
          <p:nvPr/>
        </p:nvSpPr>
        <p:spPr>
          <a:xfrm>
            <a:off x="546412" y="378537"/>
            <a:ext cx="104629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for submitting the assignment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B17A4-A116-4951-B682-60901FBE49A6}"/>
              </a:ext>
            </a:extLst>
          </p:cNvPr>
          <p:cNvSpPr/>
          <p:nvPr/>
        </p:nvSpPr>
        <p:spPr>
          <a:xfrm>
            <a:off x="1268926" y="6088559"/>
            <a:ext cx="9446112" cy="76944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Deadline:</a:t>
            </a:r>
            <a:r>
              <a:rPr lang="zh-CN" alt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Beijing time, 12.18, 23:59:59</a:t>
            </a:r>
            <a:endParaRPr lang="en-US" sz="4400" b="1" dirty="0">
              <a:solidFill>
                <a:srgbClr val="C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A8FF96-F473-4283-B263-9D4DB6E0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3EFD8F-C723-E342-0471-4D6B0B02135C}"/>
              </a:ext>
            </a:extLst>
          </p:cNvPr>
          <p:cNvSpPr txBox="1"/>
          <p:nvPr/>
        </p:nvSpPr>
        <p:spPr>
          <a:xfrm>
            <a:off x="546411" y="1082976"/>
            <a:ext cx="10462910" cy="518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Email address : </a:t>
            </a:r>
            <a:r>
              <a:rPr lang="en-US" altLang="zh-CN" sz="3200" b="1" u="sng" dirty="0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liujoy@seu.edu.cn</a:t>
            </a:r>
            <a:endParaRPr lang="en-US" altLang="zh-CN" sz="3200" b="1" i="1" u="sng" dirty="0">
              <a:solidFill>
                <a:srgbClr val="33339B"/>
              </a:solidFill>
              <a:latin typeface="+mj-lt"/>
              <a:ea typeface="DengXia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Format of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Email subject 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and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 name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 err="1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StudentNumber</a:t>
            </a:r>
            <a:r>
              <a:rPr lang="en-US" altLang="zh-CN" sz="3200" b="1" dirty="0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-Name-Project-X</a:t>
            </a:r>
            <a:endParaRPr lang="en-US" altLang="zh-CN" sz="3200" b="1" dirty="0">
              <a:solidFill>
                <a:srgbClr val="33339B"/>
              </a:solidFill>
              <a:latin typeface="+mj-lt"/>
              <a:ea typeface="DengXian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3200" b="1" dirty="0">
                <a:latin typeface="+mj-lt"/>
                <a:ea typeface="DengXian" panose="02010600030101010101" pitchFamily="2" charset="-122"/>
              </a:rPr>
              <a:t>	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</a:t>
            </a:r>
            <a:r>
              <a:rPr lang="en-US" altLang="zh-CN" sz="3200" dirty="0">
                <a:latin typeface="+mj-lt"/>
                <a:ea typeface="DengXian" panose="02010600030101010101" pitchFamily="2" charset="-122"/>
              </a:rPr>
              <a:t>: </a:t>
            </a:r>
            <a:r>
              <a:rPr lang="en-US" altLang="zh-CN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71121000-</a:t>
            </a:r>
            <a:r>
              <a:rPr lang="zh-CN" altLang="en-US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lang="en-US" altLang="zh-CN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-Project-5.zip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Including :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		</a:t>
            </a:r>
            <a:r>
              <a:rPr lang="en-US" altLang="zh-CN" sz="32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①</a:t>
            </a:r>
            <a:r>
              <a:rPr lang="en-US" altLang="zh-CN" sz="28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report_A5.doc / report_A5.docx / report_A5.pdf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	      </a:t>
            </a:r>
            <a:r>
              <a:rPr lang="zh-CN" altLang="en-US" sz="28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②</a:t>
            </a:r>
            <a:r>
              <a:rPr lang="en-US" altLang="zh-CN" sz="28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university_A5.mdb / university_A5.accdb</a:t>
            </a:r>
          </a:p>
        </p:txBody>
      </p:sp>
    </p:spTree>
    <p:extLst>
      <p:ext uri="{BB962C8B-B14F-4D97-AF65-F5344CB8AC3E}">
        <p14:creationId xmlns:p14="http://schemas.microsoft.com/office/powerpoint/2010/main" val="317488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7240D-CD8E-9B76-09DC-277985C5C2D8}"/>
              </a:ext>
            </a:extLst>
          </p:cNvPr>
          <p:cNvSpPr/>
          <p:nvPr/>
        </p:nvSpPr>
        <p:spPr>
          <a:xfrm>
            <a:off x="814963" y="1560092"/>
            <a:ext cx="11112294" cy="2719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Tutorial on Integrity Constraint</a:t>
            </a:r>
          </a:p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2F0A02F-50C8-DFB8-46B3-67D040FCF552}"/>
              </a:ext>
            </a:extLst>
          </p:cNvPr>
          <p:cNvSpPr/>
          <p:nvPr/>
        </p:nvSpPr>
        <p:spPr>
          <a:xfrm>
            <a:off x="814963" y="452096"/>
            <a:ext cx="1056207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5</a:t>
            </a:r>
          </a:p>
        </p:txBody>
      </p:sp>
    </p:spTree>
    <p:extLst>
      <p:ext uri="{BB962C8B-B14F-4D97-AF65-F5344CB8AC3E}">
        <p14:creationId xmlns:p14="http://schemas.microsoft.com/office/powerpoint/2010/main" val="3504442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5FCFDA6-B7CC-4356-9163-65AD085B7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32" y="1693571"/>
            <a:ext cx="5681100" cy="39006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5EA4F78-23B4-4CE0-AA7B-6D997A70F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68" y="1706449"/>
            <a:ext cx="6141155" cy="390060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7FF6BC2-8A93-43A7-8938-6C2478BDC4C6}"/>
              </a:ext>
            </a:extLst>
          </p:cNvPr>
          <p:cNvSpPr txBox="1"/>
          <p:nvPr/>
        </p:nvSpPr>
        <p:spPr>
          <a:xfrm>
            <a:off x="8680361" y="6156102"/>
            <a:ext cx="221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DB_Ch2_1 P15-P17</a:t>
            </a:r>
            <a:endParaRPr lang="zh-CN" alt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1DFDC98-D7DC-4CE8-BB83-512886CAFF7C}"/>
              </a:ext>
            </a:extLst>
          </p:cNvPr>
          <p:cNvSpPr/>
          <p:nvPr/>
        </p:nvSpPr>
        <p:spPr>
          <a:xfrm>
            <a:off x="1536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</a:t>
            </a:r>
          </a:p>
        </p:txBody>
      </p:sp>
    </p:spTree>
    <p:extLst>
      <p:ext uri="{BB962C8B-B14F-4D97-AF65-F5344CB8AC3E}">
        <p14:creationId xmlns:p14="http://schemas.microsoft.com/office/powerpoint/2010/main" val="262769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8325AC9F-A6A3-44D7-90B6-0F9B5E4FB069}"/>
              </a:ext>
            </a:extLst>
          </p:cNvPr>
          <p:cNvSpPr/>
          <p:nvPr/>
        </p:nvSpPr>
        <p:spPr>
          <a:xfrm>
            <a:off x="1536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6FF865-9AB1-4D13-A416-50BA710C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1" y="3026902"/>
            <a:ext cx="5890108" cy="22949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1A6A71-A107-478E-9C5D-4FFC28C3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02" y="2734681"/>
            <a:ext cx="3965610" cy="2652366"/>
          </a:xfrm>
          <a:prstGeom prst="rect">
            <a:avLst/>
          </a:prstGeom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B3C332B6-57C6-414D-B583-A18C1F580A17}"/>
              </a:ext>
            </a:extLst>
          </p:cNvPr>
          <p:cNvSpPr/>
          <p:nvPr/>
        </p:nvSpPr>
        <p:spPr>
          <a:xfrm>
            <a:off x="779062" y="1275076"/>
            <a:ext cx="33380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endParaRPr lang="en-US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A8B192BC-3504-4406-B2BF-B8A0ED224ABA}"/>
              </a:ext>
            </a:extLst>
          </p:cNvPr>
          <p:cNvSpPr/>
          <p:nvPr/>
        </p:nvSpPr>
        <p:spPr>
          <a:xfrm rot="1000256">
            <a:off x="2785586" y="4275367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5">
            <a:extLst>
              <a:ext uri="{FF2B5EF4-FFF2-40B4-BE49-F238E27FC236}">
                <a16:creationId xmlns:a16="http://schemas.microsoft.com/office/drawing/2014/main" id="{3C0C2D8A-C554-4727-A039-DF25214998BE}"/>
              </a:ext>
            </a:extLst>
          </p:cNvPr>
          <p:cNvSpPr/>
          <p:nvPr/>
        </p:nvSpPr>
        <p:spPr>
          <a:xfrm rot="1000256">
            <a:off x="10518494" y="3282348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6817A6F-E46E-4E5C-9572-689716926E18}"/>
              </a:ext>
            </a:extLst>
          </p:cNvPr>
          <p:cNvSpPr/>
          <p:nvPr/>
        </p:nvSpPr>
        <p:spPr>
          <a:xfrm>
            <a:off x="781020" y="1982962"/>
            <a:ext cx="4048562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1)  Create Database</a:t>
            </a:r>
          </a:p>
        </p:txBody>
      </p:sp>
    </p:spTree>
    <p:extLst>
      <p:ext uri="{BB962C8B-B14F-4D97-AF65-F5344CB8AC3E}">
        <p14:creationId xmlns:p14="http://schemas.microsoft.com/office/powerpoint/2010/main" val="202939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16F525EC-5D88-4245-8672-1A44D8FF5AF3}"/>
              </a:ext>
            </a:extLst>
          </p:cNvPr>
          <p:cNvSpPr/>
          <p:nvPr/>
        </p:nvSpPr>
        <p:spPr>
          <a:xfrm>
            <a:off x="781020" y="458962"/>
            <a:ext cx="4048562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2)  Create Table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873A52-9C06-46B3-AC60-A9E6FFBD12A4}"/>
              </a:ext>
            </a:extLst>
          </p:cNvPr>
          <p:cNvSpPr txBox="1"/>
          <p:nvPr/>
        </p:nvSpPr>
        <p:spPr>
          <a:xfrm>
            <a:off x="917811" y="1251906"/>
            <a:ext cx="42910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学生表（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students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学号（</a:t>
            </a:r>
            <a:r>
              <a:rPr lang="en-US" altLang="zh-CN" sz="2400" b="0" i="0" dirty="0" err="1">
                <a:solidFill>
                  <a:srgbClr val="111133"/>
                </a:solidFill>
                <a:effectLst/>
                <a:latin typeface="-apple-system"/>
              </a:rPr>
              <a:t>StudentID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姓名（</a:t>
            </a:r>
            <a:r>
              <a:rPr lang="en-US" altLang="zh-CN" sz="2400" b="0" i="0" dirty="0">
                <a:solidFill>
                  <a:srgbClr val="111133"/>
                </a:solidFill>
                <a:effectLst/>
                <a:latin typeface="-apple-system"/>
              </a:rPr>
              <a:t>Name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年龄（</a:t>
            </a:r>
            <a:r>
              <a:rPr lang="en-US" altLang="zh-CN" sz="2400" b="0" i="0" dirty="0">
                <a:solidFill>
                  <a:srgbClr val="111133"/>
                </a:solidFill>
                <a:effectLst/>
                <a:latin typeface="-apple-system"/>
              </a:rPr>
              <a:t>Age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性别（</a:t>
            </a:r>
            <a:r>
              <a:rPr lang="en-US" altLang="zh-CN" sz="2400" b="0" i="0" dirty="0">
                <a:solidFill>
                  <a:srgbClr val="111133"/>
                </a:solidFill>
                <a:effectLst/>
                <a:latin typeface="-apple-system"/>
              </a:rPr>
              <a:t>Gender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D0F550-9451-4E34-8454-D5B4DA639B5B}"/>
              </a:ext>
            </a:extLst>
          </p:cNvPr>
          <p:cNvSpPr txBox="1"/>
          <p:nvPr/>
        </p:nvSpPr>
        <p:spPr>
          <a:xfrm>
            <a:off x="5767316" y="1251906"/>
            <a:ext cx="4291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课程表（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courses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课程号（</a:t>
            </a:r>
            <a:r>
              <a:rPr lang="en-US" altLang="zh-CN" sz="2400" b="0" i="0" dirty="0" err="1">
                <a:solidFill>
                  <a:srgbClr val="111133"/>
                </a:solidFill>
                <a:effectLst/>
                <a:latin typeface="-apple-system"/>
              </a:rPr>
              <a:t>CourseID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课程名（</a:t>
            </a:r>
            <a:r>
              <a:rPr lang="en-US" altLang="zh-CN" sz="2400" b="0" i="0" dirty="0" err="1">
                <a:solidFill>
                  <a:srgbClr val="111133"/>
                </a:solidFill>
                <a:effectLst/>
                <a:latin typeface="-apple-system"/>
              </a:rPr>
              <a:t>CourseName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学分（</a:t>
            </a:r>
            <a:r>
              <a:rPr lang="en-US" altLang="zh-CN" sz="2400" b="0" i="0" dirty="0">
                <a:solidFill>
                  <a:srgbClr val="111133"/>
                </a:solidFill>
                <a:effectLst/>
                <a:latin typeface="-apple-system"/>
              </a:rPr>
              <a:t>Credits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3E530A-6FB2-4A42-816D-17DA61807D18}"/>
              </a:ext>
            </a:extLst>
          </p:cNvPr>
          <p:cNvSpPr txBox="1"/>
          <p:nvPr/>
        </p:nvSpPr>
        <p:spPr>
          <a:xfrm>
            <a:off x="917811" y="3935156"/>
            <a:ext cx="4291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选课表（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enrollments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学号（</a:t>
            </a:r>
            <a:r>
              <a:rPr lang="en-US" altLang="zh-CN" sz="2400" b="0" i="0" dirty="0" err="1">
                <a:solidFill>
                  <a:srgbClr val="111133"/>
                </a:solidFill>
                <a:effectLst/>
                <a:latin typeface="-apple-system"/>
              </a:rPr>
              <a:t>StudentID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课程号（</a:t>
            </a:r>
            <a:r>
              <a:rPr lang="en-US" altLang="zh-CN" sz="2400" b="0" i="0" dirty="0" err="1">
                <a:solidFill>
                  <a:srgbClr val="111133"/>
                </a:solidFill>
                <a:effectLst/>
                <a:latin typeface="-apple-system"/>
              </a:rPr>
              <a:t>CourseID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sz="2400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成绩（</a:t>
            </a:r>
            <a:r>
              <a:rPr lang="en-US" altLang="zh-CN" sz="2400" b="0" i="0" dirty="0">
                <a:solidFill>
                  <a:srgbClr val="111133"/>
                </a:solidFill>
                <a:effectLst/>
                <a:latin typeface="-apple-system"/>
              </a:rPr>
              <a:t>Grade</a:t>
            </a:r>
            <a:r>
              <a:rPr lang="zh-CN" altLang="en-US" sz="2400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6005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7D5F7E3-D99F-4590-BCEE-A0A487C4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857" y="1200986"/>
            <a:ext cx="3914775" cy="22955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B599454-AB58-4CC0-A404-E6A17C74E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41" y="1200986"/>
            <a:ext cx="2973165" cy="21209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98A727-72FE-4FF5-8D93-4FDB367F5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618" y="4341265"/>
            <a:ext cx="3914775" cy="1640346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6C8E1CF2-1280-484D-B4A6-282C74F006ED}"/>
              </a:ext>
            </a:extLst>
          </p:cNvPr>
          <p:cNvSpPr/>
          <p:nvPr/>
        </p:nvSpPr>
        <p:spPr>
          <a:xfrm>
            <a:off x="165473" y="107589"/>
            <a:ext cx="536107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Create “students” Table</a:t>
            </a:r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9E28C5D1-8275-42C5-912F-59C53D02C801}"/>
              </a:ext>
            </a:extLst>
          </p:cNvPr>
          <p:cNvSpPr/>
          <p:nvPr/>
        </p:nvSpPr>
        <p:spPr>
          <a:xfrm rot="1000256">
            <a:off x="3225603" y="252390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B95E1CEF-24D2-45D1-BA1A-DF0E9BC80856}"/>
              </a:ext>
            </a:extLst>
          </p:cNvPr>
          <p:cNvSpPr/>
          <p:nvPr/>
        </p:nvSpPr>
        <p:spPr>
          <a:xfrm rot="1000256">
            <a:off x="9127247" y="252390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DAEC6747-1E75-4AB9-A952-CE52439D36A9}"/>
              </a:ext>
            </a:extLst>
          </p:cNvPr>
          <p:cNvSpPr/>
          <p:nvPr/>
        </p:nvSpPr>
        <p:spPr>
          <a:xfrm rot="1000256">
            <a:off x="5128404" y="503738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99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29348C-E7D8-417A-9996-A39F4FCC6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700" y="850444"/>
            <a:ext cx="8223623" cy="6007556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777AFF2A-342B-469A-9B14-BDC78EA06553}"/>
              </a:ext>
            </a:extLst>
          </p:cNvPr>
          <p:cNvSpPr/>
          <p:nvPr/>
        </p:nvSpPr>
        <p:spPr>
          <a:xfrm>
            <a:off x="165473" y="98668"/>
            <a:ext cx="536107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Create “students” Table</a:t>
            </a:r>
          </a:p>
        </p:txBody>
      </p:sp>
      <p:sp>
        <p:nvSpPr>
          <p:cNvPr id="5" name="Arrow: Left 5">
            <a:extLst>
              <a:ext uri="{FF2B5EF4-FFF2-40B4-BE49-F238E27FC236}">
                <a16:creationId xmlns:a16="http://schemas.microsoft.com/office/drawing/2014/main" id="{76B35408-DCAF-4062-9268-51814BA71118}"/>
              </a:ext>
            </a:extLst>
          </p:cNvPr>
          <p:cNvSpPr/>
          <p:nvPr/>
        </p:nvSpPr>
        <p:spPr>
          <a:xfrm rot="1000256">
            <a:off x="4893825" y="2019869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F69F7E7-BB70-44DB-BB1C-54268655B77A}"/>
              </a:ext>
            </a:extLst>
          </p:cNvPr>
          <p:cNvSpPr/>
          <p:nvPr/>
        </p:nvSpPr>
        <p:spPr>
          <a:xfrm>
            <a:off x="268063" y="2684746"/>
            <a:ext cx="3112987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Rename Field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496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F511C92-CB37-471C-A456-2A2678400C49}"/>
              </a:ext>
            </a:extLst>
          </p:cNvPr>
          <p:cNvSpPr txBox="1"/>
          <p:nvPr/>
        </p:nvSpPr>
        <p:spPr>
          <a:xfrm>
            <a:off x="418797" y="631574"/>
            <a:ext cx="3516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学生表（</a:t>
            </a: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students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学号（</a:t>
            </a:r>
            <a:r>
              <a:rPr lang="en-US" altLang="zh-CN" b="0" i="0" dirty="0" err="1">
                <a:solidFill>
                  <a:srgbClr val="111133"/>
                </a:solidFill>
                <a:effectLst/>
                <a:latin typeface="-apple-system"/>
              </a:rPr>
              <a:t>StudentID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姓名（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Name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年龄（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Age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性别（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Gender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5ACC0-2E76-4549-948C-67F741782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955" y="133928"/>
            <a:ext cx="4795742" cy="17930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106377B-A81D-4113-9234-19F1A757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955" y="2060406"/>
            <a:ext cx="4388832" cy="2591883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CF4212FD-8437-4D23-BF64-B75F83F9104E}"/>
              </a:ext>
            </a:extLst>
          </p:cNvPr>
          <p:cNvSpPr/>
          <p:nvPr/>
        </p:nvSpPr>
        <p:spPr>
          <a:xfrm>
            <a:off x="268063" y="3015118"/>
            <a:ext cx="5261004" cy="1842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[Optional]: Set Primary Key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4)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Add New Fields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5)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Data Type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A5BB78-95CA-41CA-999B-60B2E65B2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627" y="3760191"/>
            <a:ext cx="3122616" cy="2876592"/>
          </a:xfrm>
          <a:prstGeom prst="rect">
            <a:avLst/>
          </a:prstGeom>
        </p:spPr>
      </p:pic>
      <p:sp>
        <p:nvSpPr>
          <p:cNvPr id="10" name="Arrow: Left 5">
            <a:extLst>
              <a:ext uri="{FF2B5EF4-FFF2-40B4-BE49-F238E27FC236}">
                <a16:creationId xmlns:a16="http://schemas.microsoft.com/office/drawing/2014/main" id="{D796B04B-BBE4-4271-84C7-01C3FC357359}"/>
              </a:ext>
            </a:extLst>
          </p:cNvPr>
          <p:cNvSpPr/>
          <p:nvPr/>
        </p:nvSpPr>
        <p:spPr>
          <a:xfrm rot="19466136">
            <a:off x="7225207" y="2051092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5">
            <a:extLst>
              <a:ext uri="{FF2B5EF4-FFF2-40B4-BE49-F238E27FC236}">
                <a16:creationId xmlns:a16="http://schemas.microsoft.com/office/drawing/2014/main" id="{D31E4BB5-0C92-4678-A031-F8E5A99599F6}"/>
              </a:ext>
            </a:extLst>
          </p:cNvPr>
          <p:cNvSpPr/>
          <p:nvPr/>
        </p:nvSpPr>
        <p:spPr>
          <a:xfrm rot="1000256">
            <a:off x="6715250" y="4340182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5C14C1-F782-4BD2-86E8-0DDB5D8A2C87}"/>
              </a:ext>
            </a:extLst>
          </p:cNvPr>
          <p:cNvSpPr txBox="1"/>
          <p:nvPr/>
        </p:nvSpPr>
        <p:spPr>
          <a:xfrm>
            <a:off x="5240936" y="631574"/>
            <a:ext cx="188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Not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“自动编号”</a:t>
            </a:r>
            <a:endParaRPr lang="zh-CN" altLang="en-US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360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8924D1-690B-40AA-8D30-BCC1EBE4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87" y="3429000"/>
            <a:ext cx="4301462" cy="303335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62627B4-45C9-46B3-8CD5-6FB826F0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055" y="3336367"/>
            <a:ext cx="4301462" cy="303384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9632A632-A581-40BA-8A53-12B160861246}"/>
              </a:ext>
            </a:extLst>
          </p:cNvPr>
          <p:cNvSpPr/>
          <p:nvPr/>
        </p:nvSpPr>
        <p:spPr>
          <a:xfrm>
            <a:off x="244558" y="209786"/>
            <a:ext cx="5261004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6)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Constraints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593FF7-A274-4FAB-BE98-116D5697A4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30"/>
          <a:stretch/>
        </p:blipFill>
        <p:spPr>
          <a:xfrm>
            <a:off x="4306868" y="71368"/>
            <a:ext cx="6585645" cy="3033352"/>
          </a:xfrm>
          <a:prstGeom prst="rect">
            <a:avLst/>
          </a:prstGeom>
        </p:spPr>
      </p:pic>
      <p:sp>
        <p:nvSpPr>
          <p:cNvPr id="9" name="Arrow: Left 5">
            <a:extLst>
              <a:ext uri="{FF2B5EF4-FFF2-40B4-BE49-F238E27FC236}">
                <a16:creationId xmlns:a16="http://schemas.microsoft.com/office/drawing/2014/main" id="{B59D247D-041C-4ED7-B04B-1F030A4B1B9F}"/>
              </a:ext>
            </a:extLst>
          </p:cNvPr>
          <p:cNvSpPr/>
          <p:nvPr/>
        </p:nvSpPr>
        <p:spPr>
          <a:xfrm rot="20208253">
            <a:off x="10887761" y="2445802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5">
            <a:extLst>
              <a:ext uri="{FF2B5EF4-FFF2-40B4-BE49-F238E27FC236}">
                <a16:creationId xmlns:a16="http://schemas.microsoft.com/office/drawing/2014/main" id="{A353CCB4-BE22-4DF2-8C08-D26D9405AF0C}"/>
              </a:ext>
            </a:extLst>
          </p:cNvPr>
          <p:cNvSpPr/>
          <p:nvPr/>
        </p:nvSpPr>
        <p:spPr>
          <a:xfrm rot="10590585">
            <a:off x="3460554" y="271789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Left 5">
            <a:extLst>
              <a:ext uri="{FF2B5EF4-FFF2-40B4-BE49-F238E27FC236}">
                <a16:creationId xmlns:a16="http://schemas.microsoft.com/office/drawing/2014/main" id="{F12B6B3A-6E95-4053-8EBF-31621562EFD3}"/>
              </a:ext>
            </a:extLst>
          </p:cNvPr>
          <p:cNvSpPr/>
          <p:nvPr/>
        </p:nvSpPr>
        <p:spPr>
          <a:xfrm rot="19466136">
            <a:off x="1114338" y="4731846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5">
            <a:extLst>
              <a:ext uri="{FF2B5EF4-FFF2-40B4-BE49-F238E27FC236}">
                <a16:creationId xmlns:a16="http://schemas.microsoft.com/office/drawing/2014/main" id="{A13543B0-A365-465B-8BFA-551691DC7599}"/>
              </a:ext>
            </a:extLst>
          </p:cNvPr>
          <p:cNvSpPr/>
          <p:nvPr/>
        </p:nvSpPr>
        <p:spPr>
          <a:xfrm rot="1456541">
            <a:off x="7051248" y="5316171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Left 5">
            <a:extLst>
              <a:ext uri="{FF2B5EF4-FFF2-40B4-BE49-F238E27FC236}">
                <a16:creationId xmlns:a16="http://schemas.microsoft.com/office/drawing/2014/main" id="{8BEC45A1-F58C-4CD3-B9BD-A390B6D25FBA}"/>
              </a:ext>
            </a:extLst>
          </p:cNvPr>
          <p:cNvSpPr/>
          <p:nvPr/>
        </p:nvSpPr>
        <p:spPr>
          <a:xfrm rot="1015876">
            <a:off x="7060524" y="505261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8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E50F1C-3DAB-4BFE-A38C-0F57547AF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93" y="857133"/>
            <a:ext cx="10610014" cy="16592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B01E6B3-E43F-4B74-8D7C-47EF00F0B355}"/>
              </a:ext>
            </a:extLst>
          </p:cNvPr>
          <p:cNvSpPr txBox="1"/>
          <p:nvPr/>
        </p:nvSpPr>
        <p:spPr>
          <a:xfrm>
            <a:off x="6772094" y="132329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使用有效性规则限制数据输入 </a:t>
            </a:r>
            <a:r>
              <a:rPr lang="en-US" altLang="zh-CN" dirty="0">
                <a:hlinkClick r:id="rId3"/>
              </a:rPr>
              <a:t>- Microsoft </a:t>
            </a:r>
            <a:r>
              <a:rPr lang="zh-CN" altLang="en-US" dirty="0">
                <a:hlinkClick r:id="rId3"/>
              </a:rPr>
              <a:t>支持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234087-D941-4C2A-90C0-0ED4439F7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47" y="2568394"/>
            <a:ext cx="8018810" cy="2665098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A128C235-89F8-4E6A-A5B3-2F0264392CAA}"/>
              </a:ext>
            </a:extLst>
          </p:cNvPr>
          <p:cNvSpPr/>
          <p:nvPr/>
        </p:nvSpPr>
        <p:spPr>
          <a:xfrm>
            <a:off x="244558" y="209786"/>
            <a:ext cx="526100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6)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Constraints [Age]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Arrow: Left 5">
            <a:extLst>
              <a:ext uri="{FF2B5EF4-FFF2-40B4-BE49-F238E27FC236}">
                <a16:creationId xmlns:a16="http://schemas.microsoft.com/office/drawing/2014/main" id="{19BE6E3A-0E0C-45AA-BE69-69C243B3341F}"/>
              </a:ext>
            </a:extLst>
          </p:cNvPr>
          <p:cNvSpPr/>
          <p:nvPr/>
        </p:nvSpPr>
        <p:spPr>
          <a:xfrm rot="1015876">
            <a:off x="2381473" y="368861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4FC4D9A-25FB-46A0-9C62-0C92FAAF1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47" y="5533358"/>
            <a:ext cx="4343400" cy="3238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783542-31DB-4881-8A0E-F1CF251D6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4859" y="5285479"/>
            <a:ext cx="4333875" cy="10191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CA8489D-5752-499C-8175-C2F458CCAB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93" y="6356641"/>
            <a:ext cx="56483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2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AF3946-E0AF-4519-8FFC-5083497B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44196"/>
            <a:ext cx="11551920" cy="12854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EA4E80-9839-4C3C-93DD-0E1E3C9E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686" y="880986"/>
            <a:ext cx="8118391" cy="394985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34BA6B3D-A77D-45BD-B04F-BBC2C6A56A26}"/>
              </a:ext>
            </a:extLst>
          </p:cNvPr>
          <p:cNvSpPr/>
          <p:nvPr/>
        </p:nvSpPr>
        <p:spPr>
          <a:xfrm>
            <a:off x="244558" y="209786"/>
            <a:ext cx="526100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6)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Constraints [Gender]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D312A-BA5E-4923-95F3-DD1BE1C930EA}"/>
              </a:ext>
            </a:extLst>
          </p:cNvPr>
          <p:cNvSpPr txBox="1"/>
          <p:nvPr/>
        </p:nvSpPr>
        <p:spPr>
          <a:xfrm>
            <a:off x="6772094" y="132329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使用有效性规则限制数据输入 </a:t>
            </a:r>
            <a:r>
              <a:rPr lang="en-US" altLang="zh-CN" dirty="0">
                <a:hlinkClick r:id="rId4"/>
              </a:rPr>
              <a:t>- Microsoft </a:t>
            </a:r>
            <a:r>
              <a:rPr lang="zh-CN" altLang="en-US" dirty="0">
                <a:hlinkClick r:id="rId4"/>
              </a:rPr>
              <a:t>支持</a:t>
            </a:r>
            <a:endParaRPr lang="zh-CN" altLang="en-US" dirty="0"/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0C1360C9-1868-4791-BB36-C03268D36266}"/>
              </a:ext>
            </a:extLst>
          </p:cNvPr>
          <p:cNvSpPr/>
          <p:nvPr/>
        </p:nvSpPr>
        <p:spPr>
          <a:xfrm rot="1015876">
            <a:off x="4906234" y="160073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17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798622-9D0D-4225-9C44-95969F5E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65" y="1311910"/>
            <a:ext cx="9648825" cy="3238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30BDF6-AC27-422A-AF48-4B4527D29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65" y="4775445"/>
            <a:ext cx="5019675" cy="676275"/>
          </a:xfrm>
          <a:prstGeom prst="rect">
            <a:avLst/>
          </a:prstGeom>
        </p:spPr>
      </p:pic>
      <p:sp>
        <p:nvSpPr>
          <p:cNvPr id="4" name="Arrow: Left 5">
            <a:extLst>
              <a:ext uri="{FF2B5EF4-FFF2-40B4-BE49-F238E27FC236}">
                <a16:creationId xmlns:a16="http://schemas.microsoft.com/office/drawing/2014/main" id="{4A5F71E1-9C70-4216-9575-D6C590E602E6}"/>
              </a:ext>
            </a:extLst>
          </p:cNvPr>
          <p:cNvSpPr/>
          <p:nvPr/>
        </p:nvSpPr>
        <p:spPr>
          <a:xfrm rot="1015876">
            <a:off x="2544033" y="278818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DFBED-FFF5-4B65-BB6A-E36CB131059A}"/>
              </a:ext>
            </a:extLst>
          </p:cNvPr>
          <p:cNvSpPr/>
          <p:nvPr/>
        </p:nvSpPr>
        <p:spPr>
          <a:xfrm>
            <a:off x="244558" y="209786"/>
            <a:ext cx="526100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6)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Constraints [Gender]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873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D786B1-8A0F-4759-8046-8D0F8B6F0BC7}"/>
              </a:ext>
            </a:extLst>
          </p:cNvPr>
          <p:cNvSpPr txBox="1"/>
          <p:nvPr/>
        </p:nvSpPr>
        <p:spPr>
          <a:xfrm>
            <a:off x="7244114" y="846337"/>
            <a:ext cx="3892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课程表（</a:t>
            </a: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courses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课程号（</a:t>
            </a:r>
            <a:r>
              <a:rPr lang="en-US" altLang="zh-CN" b="0" i="0" dirty="0" err="1">
                <a:solidFill>
                  <a:srgbClr val="111133"/>
                </a:solidFill>
                <a:effectLst/>
                <a:latin typeface="-apple-system"/>
              </a:rPr>
              <a:t>CourseID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课程名（</a:t>
            </a:r>
            <a:r>
              <a:rPr lang="en-US" altLang="zh-CN" b="0" i="0" dirty="0" err="1">
                <a:solidFill>
                  <a:srgbClr val="111133"/>
                </a:solidFill>
                <a:effectLst/>
                <a:latin typeface="-apple-system"/>
              </a:rPr>
              <a:t>CourseName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学分（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Credits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5B0FBB-782B-4E7D-BE74-7B3DAAA8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75" y="5281803"/>
            <a:ext cx="4572000" cy="9048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472EC8-32B3-4CA0-BD09-C46C76F97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49" y="846337"/>
            <a:ext cx="6315075" cy="17240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458C59-96A3-4F3B-AEB3-A3DD7711E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49" y="2810857"/>
            <a:ext cx="11126624" cy="22149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F384C1-973A-4124-9F41-3B0A3B2DA1DE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7)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Similar processes for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“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courses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Table</a:t>
            </a:r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5F2CD2F6-91E1-4F84-89CB-C710E2818B9D}"/>
              </a:ext>
            </a:extLst>
          </p:cNvPr>
          <p:cNvSpPr/>
          <p:nvPr/>
        </p:nvSpPr>
        <p:spPr>
          <a:xfrm rot="1015876">
            <a:off x="2975834" y="142537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7F1A9A42-2EE9-4A11-AE2B-9E289203322E}"/>
              </a:ext>
            </a:extLst>
          </p:cNvPr>
          <p:cNvSpPr/>
          <p:nvPr/>
        </p:nvSpPr>
        <p:spPr>
          <a:xfrm rot="1015876">
            <a:off x="5876513" y="1415550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5">
            <a:extLst>
              <a:ext uri="{FF2B5EF4-FFF2-40B4-BE49-F238E27FC236}">
                <a16:creationId xmlns:a16="http://schemas.microsoft.com/office/drawing/2014/main" id="{55B5ADC9-9437-422C-9C31-B2517FE8ACF4}"/>
              </a:ext>
            </a:extLst>
          </p:cNvPr>
          <p:cNvSpPr/>
          <p:nvPr/>
        </p:nvSpPr>
        <p:spPr>
          <a:xfrm rot="1015876">
            <a:off x="6211795" y="3796916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14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6B9398-4F8C-46DE-9EE5-BEA80334E168}"/>
              </a:ext>
            </a:extLst>
          </p:cNvPr>
          <p:cNvSpPr txBox="1"/>
          <p:nvPr/>
        </p:nvSpPr>
        <p:spPr>
          <a:xfrm>
            <a:off x="8336181" y="924574"/>
            <a:ext cx="3892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选课表（</a:t>
            </a: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enrollments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学号（</a:t>
            </a:r>
            <a:r>
              <a:rPr lang="en-US" altLang="zh-CN" b="0" i="0" dirty="0" err="1">
                <a:solidFill>
                  <a:srgbClr val="111133"/>
                </a:solidFill>
                <a:effectLst/>
                <a:latin typeface="-apple-system"/>
              </a:rPr>
              <a:t>StudentID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课程号（</a:t>
            </a:r>
            <a:r>
              <a:rPr lang="en-US" altLang="zh-CN" b="0" i="0" dirty="0" err="1">
                <a:solidFill>
                  <a:srgbClr val="111133"/>
                </a:solidFill>
                <a:effectLst/>
                <a:latin typeface="-apple-system"/>
              </a:rPr>
              <a:t>CourseID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成绩（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Grade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CE6E01-A7B6-431B-9F0C-A8222BEC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45" y="854537"/>
            <a:ext cx="6229350" cy="1838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416F92-CD6F-497E-9C2D-6E2E778F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7" y="3063943"/>
            <a:ext cx="5871501" cy="293951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4019F0A-40FD-4D24-8544-439D2D7B0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123" y="3063944"/>
            <a:ext cx="5425712" cy="29395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8B7A25-156A-43AF-BC2C-A489DF331099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8)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Similar processes for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“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enrollments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Table</a:t>
            </a:r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5B800858-A3C3-47E2-82AA-707CA00C9A98}"/>
              </a:ext>
            </a:extLst>
          </p:cNvPr>
          <p:cNvSpPr/>
          <p:nvPr/>
        </p:nvSpPr>
        <p:spPr>
          <a:xfrm rot="1015876">
            <a:off x="3112679" y="131136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F99903C4-B947-4CA0-9B55-2F170A7DC9A8}"/>
              </a:ext>
            </a:extLst>
          </p:cNvPr>
          <p:cNvSpPr/>
          <p:nvPr/>
        </p:nvSpPr>
        <p:spPr>
          <a:xfrm rot="1015876">
            <a:off x="6111319" y="131136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150679B7-535B-45C7-8A80-2D798EBEF1EC}"/>
              </a:ext>
            </a:extLst>
          </p:cNvPr>
          <p:cNvSpPr/>
          <p:nvPr/>
        </p:nvSpPr>
        <p:spPr>
          <a:xfrm rot="1015876">
            <a:off x="1223234" y="514012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5">
            <a:extLst>
              <a:ext uri="{FF2B5EF4-FFF2-40B4-BE49-F238E27FC236}">
                <a16:creationId xmlns:a16="http://schemas.microsoft.com/office/drawing/2014/main" id="{C47AB9EC-0097-46FB-A3CB-C350F517636A}"/>
              </a:ext>
            </a:extLst>
          </p:cNvPr>
          <p:cNvSpPr/>
          <p:nvPr/>
        </p:nvSpPr>
        <p:spPr>
          <a:xfrm rot="1015876">
            <a:off x="6896294" y="3773487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12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6E246E-27DA-4CA0-AF08-17F959B8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38" y="3697804"/>
            <a:ext cx="4391025" cy="914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55DAA79-6139-459F-9A67-CE21D79D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85" y="1619145"/>
            <a:ext cx="6391275" cy="1666875"/>
          </a:xfrm>
          <a:prstGeom prst="rect">
            <a:avLst/>
          </a:prstGeom>
        </p:spPr>
      </p:pic>
      <p:sp>
        <p:nvSpPr>
          <p:cNvPr id="4" name="Arrow: Left 5">
            <a:extLst>
              <a:ext uri="{FF2B5EF4-FFF2-40B4-BE49-F238E27FC236}">
                <a16:creationId xmlns:a16="http://schemas.microsoft.com/office/drawing/2014/main" id="{8615D05F-FCD4-4CC3-9AC1-6057CCB30575}"/>
              </a:ext>
            </a:extLst>
          </p:cNvPr>
          <p:cNvSpPr/>
          <p:nvPr/>
        </p:nvSpPr>
        <p:spPr>
          <a:xfrm rot="1015876">
            <a:off x="6766786" y="293032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B7A03-7307-46EC-8D05-FBD94ED8231A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8)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Similar processes for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“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enrollments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7236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17B922-11C7-4DDC-8FBC-8AA14B212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977958"/>
            <a:ext cx="5286375" cy="20383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117E3A-560D-4558-9B03-C5431AB8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3429000"/>
            <a:ext cx="9658350" cy="3047985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FA697EBD-DD80-4CA1-93E7-5C0CC6B16DF6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9)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 Relationships Between Tables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E10ED1F3-68BF-4EEA-968C-61D93775D3ED}"/>
              </a:ext>
            </a:extLst>
          </p:cNvPr>
          <p:cNvSpPr/>
          <p:nvPr/>
        </p:nvSpPr>
        <p:spPr>
          <a:xfrm rot="1015876">
            <a:off x="4766536" y="230802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E69AC6D9-CE17-4AE6-A9E5-EBEBAD828E24}"/>
              </a:ext>
            </a:extLst>
          </p:cNvPr>
          <p:cNvSpPr/>
          <p:nvPr/>
        </p:nvSpPr>
        <p:spPr>
          <a:xfrm rot="1015876">
            <a:off x="9294086" y="5438573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74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1A1C28-0B28-4808-8494-A2397B304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825647"/>
            <a:ext cx="7816850" cy="4155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AEC3A4-DC62-4087-95D8-48FE8D9C16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788"/>
          <a:stretch/>
        </p:blipFill>
        <p:spPr>
          <a:xfrm>
            <a:off x="9751726" y="2268122"/>
            <a:ext cx="1758950" cy="3047985"/>
          </a:xfrm>
          <a:prstGeom prst="rect">
            <a:avLst/>
          </a:prstGeom>
        </p:spPr>
      </p:pic>
      <p:sp>
        <p:nvSpPr>
          <p:cNvPr id="5" name="Arrow: Left 5">
            <a:extLst>
              <a:ext uri="{FF2B5EF4-FFF2-40B4-BE49-F238E27FC236}">
                <a16:creationId xmlns:a16="http://schemas.microsoft.com/office/drawing/2014/main" id="{31EA2A59-CBA9-46D9-82E0-A44531C7BC7A}"/>
              </a:ext>
            </a:extLst>
          </p:cNvPr>
          <p:cNvSpPr/>
          <p:nvPr/>
        </p:nvSpPr>
        <p:spPr>
          <a:xfrm rot="1015876">
            <a:off x="10818085" y="4232072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70BF6-52BA-4954-8DE2-5E541BE014A9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9)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 Relationships Between Tables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3118A-B1EA-4B78-BEB5-E3920182F348}"/>
              </a:ext>
            </a:extLst>
          </p:cNvPr>
          <p:cNvSpPr txBox="1"/>
          <p:nvPr/>
        </p:nvSpPr>
        <p:spPr>
          <a:xfrm>
            <a:off x="641350" y="1082676"/>
            <a:ext cx="6483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Drag the tables to the operation area</a:t>
            </a:r>
            <a:endParaRPr lang="zh-CN" altLang="en-US" sz="2400" b="0" i="0" dirty="0">
              <a:solidFill>
                <a:srgbClr val="111133"/>
              </a:solidFill>
              <a:effectLst/>
              <a:latin typeface="-apple-system"/>
            </a:endParaRPr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D6CC054C-B15D-45D5-B62B-4291E5507B58}"/>
              </a:ext>
            </a:extLst>
          </p:cNvPr>
          <p:cNvSpPr/>
          <p:nvPr/>
        </p:nvSpPr>
        <p:spPr>
          <a:xfrm rot="1015876">
            <a:off x="2129836" y="400505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73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ECBD13F-E2A0-43A5-BE44-6FFE178C5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41552"/>
            <a:ext cx="10648950" cy="475213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17B64428-056B-4EA5-BEEE-C92091404D2A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9)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 Relationships Between Tables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03F12B-D375-4DE6-BB7F-38D2FF4A91EC}"/>
              </a:ext>
            </a:extLst>
          </p:cNvPr>
          <p:cNvSpPr txBox="1"/>
          <p:nvPr/>
        </p:nvSpPr>
        <p:spPr>
          <a:xfrm>
            <a:off x="641350" y="790576"/>
            <a:ext cx="1103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Establish the relationship between the 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“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students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”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 table and the 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“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enrollments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”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 table</a:t>
            </a:r>
            <a:endParaRPr lang="zh-CN" altLang="en-US" sz="2400" b="0" i="0" dirty="0">
              <a:solidFill>
                <a:srgbClr val="111133"/>
              </a:solidFill>
              <a:effectLst/>
              <a:latin typeface="-apple-system"/>
            </a:endParaRPr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5CEF1B06-CB16-4816-9A49-06021D5321C6}"/>
              </a:ext>
            </a:extLst>
          </p:cNvPr>
          <p:cNvSpPr/>
          <p:nvPr/>
        </p:nvSpPr>
        <p:spPr>
          <a:xfrm rot="1015876">
            <a:off x="7514636" y="383360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2CA2C2-11E6-4F3E-B46B-8C7008043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7" y="1456552"/>
            <a:ext cx="10825825" cy="5105442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4F22820F-7C89-48BD-9269-AF895D245B33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9)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 Relationships Between Tables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D6D5D4-4B5F-4B5D-953A-7E8B2BB83971}"/>
              </a:ext>
            </a:extLst>
          </p:cNvPr>
          <p:cNvSpPr txBox="1"/>
          <p:nvPr/>
        </p:nvSpPr>
        <p:spPr>
          <a:xfrm>
            <a:off x="641350" y="790576"/>
            <a:ext cx="1103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Establish the relationship between the 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“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courses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”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 table and the 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“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enrollments</a:t>
            </a:r>
            <a:r>
              <a:rPr lang="zh-CN" altLang="en-US" sz="2400" b="1" i="0" dirty="0">
                <a:solidFill>
                  <a:srgbClr val="111133"/>
                </a:solidFill>
                <a:effectLst/>
                <a:latin typeface="-apple-system"/>
              </a:rPr>
              <a:t>”</a:t>
            </a:r>
            <a:r>
              <a:rPr lang="en-US" altLang="zh-CN" sz="2400" b="1" i="0" dirty="0">
                <a:solidFill>
                  <a:srgbClr val="111133"/>
                </a:solidFill>
                <a:effectLst/>
                <a:latin typeface="-apple-system"/>
              </a:rPr>
              <a:t> table</a:t>
            </a:r>
            <a:endParaRPr lang="zh-CN" altLang="en-US" sz="2400" b="0" i="0" dirty="0">
              <a:solidFill>
                <a:srgbClr val="111133"/>
              </a:solidFill>
              <a:effectLst/>
              <a:latin typeface="-apple-system"/>
            </a:endParaRP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85FF0686-9A6E-4107-95F9-ED42A6ACF572}"/>
              </a:ext>
            </a:extLst>
          </p:cNvPr>
          <p:cNvSpPr/>
          <p:nvPr/>
        </p:nvSpPr>
        <p:spPr>
          <a:xfrm rot="1015876">
            <a:off x="2637836" y="425270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296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287300-0011-47EB-A40F-734373BC0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4" y="1061095"/>
            <a:ext cx="11081012" cy="504061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B9815CD6-CE5F-49DC-B8F7-4905656CACC9}"/>
              </a:ext>
            </a:extLst>
          </p:cNvPr>
          <p:cNvSpPr/>
          <p:nvPr/>
        </p:nvSpPr>
        <p:spPr>
          <a:xfrm>
            <a:off x="79236" y="207106"/>
            <a:ext cx="8003044" cy="59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9)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Set Relationships Between Tables</a:t>
            </a:r>
          </a:p>
        </p:txBody>
      </p:sp>
    </p:spTree>
    <p:extLst>
      <p:ext uri="{BB962C8B-B14F-4D97-AF65-F5344CB8AC3E}">
        <p14:creationId xmlns:p14="http://schemas.microsoft.com/office/powerpoint/2010/main" val="3214860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D0AC50-8980-4E84-9EF2-03F88A84659A}"/>
              </a:ext>
            </a:extLst>
          </p:cNvPr>
          <p:cNvSpPr txBox="1"/>
          <p:nvPr/>
        </p:nvSpPr>
        <p:spPr>
          <a:xfrm>
            <a:off x="406886" y="2099569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Correctly insert new student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INSERT INTO Students 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ystem-ui"/>
              </a:rPr>
              <a:t>StudentID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, Name, Age, Gender) VALUES ('S004', '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孙八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', 20, '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女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’);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CBCACC-A7F9-4E7B-89C9-9D4F32DF3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76" y="2185090"/>
            <a:ext cx="5642157" cy="7522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F4D1723-D049-4B22-B46F-1D38B6FC8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877" y="3420124"/>
            <a:ext cx="5525024" cy="11064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4ED0F1B-3AE7-45CF-8452-B30838898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76" y="4837432"/>
            <a:ext cx="5525025" cy="1153110"/>
          </a:xfrm>
          <a:prstGeom prst="rect">
            <a:avLst/>
          </a:prstGeom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E541EB0C-9265-4BE0-BA70-9082217E1900}"/>
              </a:ext>
            </a:extLst>
          </p:cNvPr>
          <p:cNvSpPr/>
          <p:nvPr/>
        </p:nvSpPr>
        <p:spPr>
          <a:xfrm>
            <a:off x="1536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AE989FE-2179-4491-A958-A380EAA6FEC5}"/>
              </a:ext>
            </a:extLst>
          </p:cNvPr>
          <p:cNvSpPr/>
          <p:nvPr/>
        </p:nvSpPr>
        <p:spPr>
          <a:xfrm>
            <a:off x="779062" y="1275076"/>
            <a:ext cx="34916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en-US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80BE24-1B8D-4403-A643-406C0DAD0C5B}"/>
              </a:ext>
            </a:extLst>
          </p:cNvPr>
          <p:cNvSpPr txBox="1"/>
          <p:nvPr/>
        </p:nvSpPr>
        <p:spPr>
          <a:xfrm>
            <a:off x="406886" y="4837432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Correct enrollment (premise: both S004 and C002 exist)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INSERT INTO Enrollments 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ystem-ui"/>
              </a:rPr>
              <a:t>StudentID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,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ystem-ui"/>
              </a:rPr>
              <a:t>CourseID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, Grade) VALUES ('S004', 'C002', 88);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21C7A9-4DA0-403A-B57A-8B4F4A5428FB}"/>
              </a:ext>
            </a:extLst>
          </p:cNvPr>
          <p:cNvSpPr txBox="1"/>
          <p:nvPr/>
        </p:nvSpPr>
        <p:spPr>
          <a:xfrm>
            <a:off x="406886" y="3437876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Correctly insert new course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INSERT INTO Courses 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ystem-ui"/>
              </a:rPr>
              <a:t>CourseID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,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ystem-ui"/>
              </a:rPr>
              <a:t>CourseName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, Credits) VALUES ('C002', '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数据库原理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', 3); </a:t>
            </a:r>
          </a:p>
        </p:txBody>
      </p:sp>
    </p:spTree>
    <p:extLst>
      <p:ext uri="{BB962C8B-B14F-4D97-AF65-F5344CB8AC3E}">
        <p14:creationId xmlns:p14="http://schemas.microsoft.com/office/powerpoint/2010/main" val="2266172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4376863-0779-4418-8956-B894A634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0" y="3290477"/>
            <a:ext cx="10734610" cy="28699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73882D7-1A21-4FA1-87FD-E34DD428B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08" y="1107619"/>
            <a:ext cx="6094990" cy="1147935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C517B7BA-3469-4533-979A-8AEBFEE59032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Entity Integrity (unique and non empty primary key)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5AC82C-C5F3-45ED-9792-E2C874537DD0}"/>
              </a:ext>
            </a:extLst>
          </p:cNvPr>
          <p:cNvSpPr txBox="1"/>
          <p:nvPr/>
        </p:nvSpPr>
        <p:spPr>
          <a:xfrm>
            <a:off x="322462" y="107448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Add new data to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system-ui"/>
              </a:rPr>
              <a:t>“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system-ui"/>
              </a:rPr>
              <a:t>sutdents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system-ui"/>
              </a:rPr>
              <a:t>”</a:t>
            </a:r>
            <a:endParaRPr lang="en-US" altLang="zh-CN" b="1" i="0" dirty="0">
              <a:solidFill>
                <a:srgbClr val="000000"/>
              </a:solidFill>
              <a:effectLst/>
              <a:latin typeface="system-ui"/>
            </a:endParaRPr>
          </a:p>
          <a:p>
            <a:r>
              <a:rPr lang="en-US" altLang="zh-CN" dirty="0"/>
              <a:t>INSERT INTO Students (</a:t>
            </a:r>
            <a:r>
              <a:rPr lang="en-US" altLang="zh-CN" dirty="0" err="1"/>
              <a:t>StudentID</a:t>
            </a:r>
            <a:r>
              <a:rPr lang="en-US" altLang="zh-CN" dirty="0"/>
              <a:t>, Name, Age, Gender)</a:t>
            </a:r>
          </a:p>
          <a:p>
            <a:r>
              <a:rPr lang="en-US" altLang="zh-CN" dirty="0"/>
              <a:t>VALUES ('S001', '</a:t>
            </a:r>
            <a:r>
              <a:rPr lang="zh-CN" altLang="en-US" dirty="0"/>
              <a:t>李四</a:t>
            </a:r>
            <a:r>
              <a:rPr lang="en-US" altLang="zh-CN" dirty="0"/>
              <a:t>', 20, '</a:t>
            </a:r>
            <a:r>
              <a:rPr lang="zh-CN" altLang="en-US" dirty="0"/>
              <a:t>男</a:t>
            </a:r>
            <a:r>
              <a:rPr lang="en-US" altLang="zh-CN" dirty="0"/>
              <a:t>');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9267AD-9985-4752-AB1C-1DF1FFC88C67}"/>
              </a:ext>
            </a:extLst>
          </p:cNvPr>
          <p:cNvSpPr txBox="1"/>
          <p:nvPr/>
        </p:nvSpPr>
        <p:spPr>
          <a:xfrm>
            <a:off x="322462" y="2252041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Insert duplicate data again (i.e. run the SQL statement again)</a:t>
            </a:r>
          </a:p>
          <a:p>
            <a:r>
              <a:rPr lang="en-US" altLang="zh-CN" dirty="0"/>
              <a:t>INSERT INTO Students (</a:t>
            </a:r>
            <a:r>
              <a:rPr lang="en-US" altLang="zh-CN" dirty="0" err="1"/>
              <a:t>StudentID</a:t>
            </a:r>
            <a:r>
              <a:rPr lang="en-US" altLang="zh-CN" dirty="0"/>
              <a:t>, Name, Age, Gender)</a:t>
            </a:r>
          </a:p>
          <a:p>
            <a:r>
              <a:rPr lang="en-US" altLang="zh-CN" dirty="0"/>
              <a:t>VALUES ('S001', '</a:t>
            </a:r>
            <a:r>
              <a:rPr lang="zh-CN" altLang="en-US" dirty="0"/>
              <a:t>李四</a:t>
            </a:r>
            <a:r>
              <a:rPr lang="en-US" altLang="zh-CN" dirty="0"/>
              <a:t>', 20, '</a:t>
            </a:r>
            <a:r>
              <a:rPr lang="zh-CN" altLang="en-US" dirty="0"/>
              <a:t>男</a:t>
            </a:r>
            <a:r>
              <a:rPr lang="en-US" altLang="zh-CN" dirty="0"/>
              <a:t>');</a:t>
            </a:r>
            <a:endParaRPr lang="zh-CN" altLang="en-US" dirty="0"/>
          </a:p>
        </p:txBody>
      </p:sp>
      <p:sp>
        <p:nvSpPr>
          <p:cNvPr id="14" name="Arrow: Left 5">
            <a:extLst>
              <a:ext uri="{FF2B5EF4-FFF2-40B4-BE49-F238E27FC236}">
                <a16:creationId xmlns:a16="http://schemas.microsoft.com/office/drawing/2014/main" id="{FD3610F7-7608-4BCA-9DFF-1AD164E6E5EB}"/>
              </a:ext>
            </a:extLst>
          </p:cNvPr>
          <p:cNvSpPr/>
          <p:nvPr/>
        </p:nvSpPr>
        <p:spPr>
          <a:xfrm rot="1015876">
            <a:off x="6809786" y="497660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18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C7B2B32-0932-4323-A849-42A5B75C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12" y="2629776"/>
            <a:ext cx="11122479" cy="289961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7D2810C0-34C3-47EE-8EEA-494EB058CEC8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2)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Domain Integrity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7E596C-F888-4B6C-9D09-DAE890925D86}"/>
              </a:ext>
            </a:extLst>
          </p:cNvPr>
          <p:cNvSpPr txBox="1"/>
          <p:nvPr/>
        </p:nvSpPr>
        <p:spPr>
          <a:xfrm>
            <a:off x="405012" y="1143242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Inserting data beyond the age range</a:t>
            </a:r>
          </a:p>
          <a:p>
            <a:r>
              <a:rPr lang="en-US" altLang="zh-CN" dirty="0"/>
              <a:t>INSERT INTO Students (</a:t>
            </a:r>
            <a:r>
              <a:rPr lang="en-US" altLang="zh-CN" dirty="0" err="1"/>
              <a:t>StudentID</a:t>
            </a:r>
            <a:r>
              <a:rPr lang="en-US" altLang="zh-CN" dirty="0"/>
              <a:t>, Name, Age, Gender)</a:t>
            </a:r>
          </a:p>
          <a:p>
            <a:r>
              <a:rPr lang="en-US" altLang="zh-CN" dirty="0"/>
              <a:t>VALUES ('S002', '</a:t>
            </a:r>
            <a:r>
              <a:rPr lang="zh-CN" altLang="en-US" dirty="0"/>
              <a:t>赵六</a:t>
            </a:r>
            <a:r>
              <a:rPr lang="en-US" altLang="zh-CN" dirty="0"/>
              <a:t>', 5, '</a:t>
            </a:r>
            <a:r>
              <a:rPr lang="zh-CN" altLang="en-US" dirty="0"/>
              <a:t>男</a:t>
            </a:r>
            <a:r>
              <a:rPr lang="en-US" altLang="zh-CN" dirty="0"/>
              <a:t>');</a:t>
            </a:r>
            <a:endParaRPr lang="zh-CN" altLang="en-US" dirty="0"/>
          </a:p>
        </p:txBody>
      </p:sp>
      <p:sp>
        <p:nvSpPr>
          <p:cNvPr id="11" name="Arrow: Left 5">
            <a:extLst>
              <a:ext uri="{FF2B5EF4-FFF2-40B4-BE49-F238E27FC236}">
                <a16:creationId xmlns:a16="http://schemas.microsoft.com/office/drawing/2014/main" id="{F93D13F5-C42B-452C-B330-78C59753160A}"/>
              </a:ext>
            </a:extLst>
          </p:cNvPr>
          <p:cNvSpPr/>
          <p:nvPr/>
        </p:nvSpPr>
        <p:spPr>
          <a:xfrm rot="1015876">
            <a:off x="10099085" y="439875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66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0BE015F-9E67-487A-AA98-0028AEC19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81" y="2575265"/>
            <a:ext cx="10909300" cy="29837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CFB4D97-3A8F-4CA4-B11B-1DB0030D5FE7}"/>
              </a:ext>
            </a:extLst>
          </p:cNvPr>
          <p:cNvSpPr txBox="1"/>
          <p:nvPr/>
        </p:nvSpPr>
        <p:spPr>
          <a:xfrm>
            <a:off x="636808" y="1088650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system-ui"/>
              </a:rPr>
              <a:t>Inserting data of invalid gender</a:t>
            </a:r>
          </a:p>
          <a:p>
            <a:r>
              <a:rPr lang="en-US" altLang="zh-CN" dirty="0"/>
              <a:t>INSERT INTO Students (</a:t>
            </a:r>
            <a:r>
              <a:rPr lang="en-US" altLang="zh-CN" dirty="0" err="1"/>
              <a:t>StudentID</a:t>
            </a:r>
            <a:r>
              <a:rPr lang="en-US" altLang="zh-CN" dirty="0"/>
              <a:t>, Name, Age, Gender)</a:t>
            </a:r>
          </a:p>
          <a:p>
            <a:r>
              <a:rPr lang="en-US" altLang="zh-CN" dirty="0"/>
              <a:t>VALUES ('S003', '</a:t>
            </a:r>
            <a:r>
              <a:rPr lang="zh-CN" altLang="en-US" dirty="0"/>
              <a:t>钱七</a:t>
            </a:r>
            <a:r>
              <a:rPr lang="en-US" altLang="zh-CN" dirty="0"/>
              <a:t>', 22, '</a:t>
            </a:r>
            <a:r>
              <a:rPr lang="zh-CN" altLang="en-US" dirty="0"/>
              <a:t>未知</a:t>
            </a:r>
            <a:r>
              <a:rPr lang="en-US" altLang="zh-CN" dirty="0"/>
              <a:t>');</a:t>
            </a:r>
            <a:endParaRPr lang="zh-CN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A3CE8CA-A83E-40C8-BE33-25BB798FDF6D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2)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Domain Integrity</a:t>
            </a:r>
          </a:p>
        </p:txBody>
      </p:sp>
      <p:sp>
        <p:nvSpPr>
          <p:cNvPr id="8" name="Arrow: Left 5">
            <a:extLst>
              <a:ext uri="{FF2B5EF4-FFF2-40B4-BE49-F238E27FC236}">
                <a16:creationId xmlns:a16="http://schemas.microsoft.com/office/drawing/2014/main" id="{A7F00DC8-4F6E-48BD-BCFA-4E7E84C64A20}"/>
              </a:ext>
            </a:extLst>
          </p:cNvPr>
          <p:cNvSpPr/>
          <p:nvPr/>
        </p:nvSpPr>
        <p:spPr>
          <a:xfrm rot="1015876">
            <a:off x="10016536" y="447495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86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24E591F-A934-4BF6-88A8-58BF795AE19F}"/>
              </a:ext>
            </a:extLst>
          </p:cNvPr>
          <p:cNvSpPr txBox="1"/>
          <p:nvPr/>
        </p:nvSpPr>
        <p:spPr>
          <a:xfrm>
            <a:off x="468007" y="1289369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/>
              <a:t>Insert a non-existent student course selection record</a:t>
            </a:r>
          </a:p>
          <a:p>
            <a:r>
              <a:rPr lang="en-US" altLang="zh-CN" dirty="0"/>
              <a:t>INSERT INTO Enrollments (</a:t>
            </a:r>
            <a:r>
              <a:rPr lang="en-US" altLang="zh-CN" dirty="0" err="1"/>
              <a:t>StudentID</a:t>
            </a:r>
            <a:r>
              <a:rPr lang="en-US" altLang="zh-CN" dirty="0"/>
              <a:t>, </a:t>
            </a:r>
            <a:r>
              <a:rPr lang="en-US" altLang="zh-CN" dirty="0" err="1"/>
              <a:t>CourseID</a:t>
            </a:r>
            <a:r>
              <a:rPr lang="en-US" altLang="zh-CN" dirty="0"/>
              <a:t>, Grade)</a:t>
            </a:r>
          </a:p>
          <a:p>
            <a:r>
              <a:rPr lang="en-US" altLang="zh-CN" dirty="0"/>
              <a:t>VALUES ('S999', 'C004', 85);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622364-8253-4C92-998E-AEE47755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658395"/>
            <a:ext cx="11074400" cy="2946116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45F78F91-A659-476C-AC74-2EA8F630A12E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Reference Integrity</a:t>
            </a:r>
          </a:p>
        </p:txBody>
      </p:sp>
      <p:sp>
        <p:nvSpPr>
          <p:cNvPr id="7" name="Arrow: Left 5">
            <a:extLst>
              <a:ext uri="{FF2B5EF4-FFF2-40B4-BE49-F238E27FC236}">
                <a16:creationId xmlns:a16="http://schemas.microsoft.com/office/drawing/2014/main" id="{F3088A95-ED3C-43FC-941D-567AE90FEAA6}"/>
              </a:ext>
            </a:extLst>
          </p:cNvPr>
          <p:cNvSpPr/>
          <p:nvPr/>
        </p:nvSpPr>
        <p:spPr>
          <a:xfrm rot="1015876">
            <a:off x="5692186" y="446860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91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81C315-C858-4F80-B40E-E2713D503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1238"/>
            <a:ext cx="12192000" cy="33170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A61016-5168-4339-998B-2971FF50D0A3}"/>
              </a:ext>
            </a:extLst>
          </p:cNvPr>
          <p:cNvSpPr txBox="1"/>
          <p:nvPr/>
        </p:nvSpPr>
        <p:spPr>
          <a:xfrm>
            <a:off x="903803" y="788006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Insert a non-existent course </a:t>
            </a:r>
          </a:p>
          <a:p>
            <a:r>
              <a:rPr lang="en-US" altLang="zh-CN" dirty="0"/>
              <a:t>INSERT INTO Enrollments (</a:t>
            </a:r>
            <a:r>
              <a:rPr lang="en-US" altLang="zh-CN" dirty="0" err="1"/>
              <a:t>StudentID</a:t>
            </a:r>
            <a:r>
              <a:rPr lang="en-US" altLang="zh-CN" dirty="0"/>
              <a:t>, </a:t>
            </a:r>
            <a:r>
              <a:rPr lang="en-US" altLang="zh-CN" dirty="0" err="1"/>
              <a:t>CourseID</a:t>
            </a:r>
            <a:r>
              <a:rPr lang="en-US" altLang="zh-CN" dirty="0"/>
              <a:t>, Grade)</a:t>
            </a:r>
          </a:p>
          <a:p>
            <a:r>
              <a:rPr lang="en-US" altLang="zh-CN" dirty="0"/>
              <a:t>VALUES ('S001', ‘C001', 90);</a:t>
            </a:r>
            <a:endParaRPr lang="zh-CN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7931516-BE0D-4BB5-8C2C-2275C2A26C3C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Reference Integrity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3733C9C5-47CF-4ED5-AFBA-23E5AE7634DD}"/>
              </a:ext>
            </a:extLst>
          </p:cNvPr>
          <p:cNvSpPr/>
          <p:nvPr/>
        </p:nvSpPr>
        <p:spPr>
          <a:xfrm rot="1015876">
            <a:off x="5638359" y="425270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733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40809EF-E177-4B58-AA71-841C4F07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7" y="1876435"/>
            <a:ext cx="8831654" cy="36195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2254F12-3C00-45A6-8D36-A5ECD7C9365F}"/>
              </a:ext>
            </a:extLst>
          </p:cNvPr>
          <p:cNvSpPr txBox="1"/>
          <p:nvPr/>
        </p:nvSpPr>
        <p:spPr>
          <a:xfrm>
            <a:off x="681804" y="790856"/>
            <a:ext cx="8316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Delete referenced students (recorded in Enrollments)</a:t>
            </a:r>
          </a:p>
          <a:p>
            <a:r>
              <a:rPr lang="en-US" altLang="zh-CN" dirty="0"/>
              <a:t>DELETE * FROM Students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StudentID</a:t>
            </a:r>
            <a:r>
              <a:rPr lang="en-US" altLang="zh-CN" dirty="0"/>
              <a:t> = 'S004';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D27972-A61D-44B1-87B9-96111D5ED320}"/>
              </a:ext>
            </a:extLst>
          </p:cNvPr>
          <p:cNvSpPr txBox="1"/>
          <p:nvPr/>
        </p:nvSpPr>
        <p:spPr>
          <a:xfrm>
            <a:off x="737796" y="5798392"/>
            <a:ext cx="9187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未启用“级联删除”，</a:t>
            </a:r>
            <a:r>
              <a:rPr lang="en-US" altLang="zh-CN" b="0" i="0" dirty="0">
                <a:effectLst/>
                <a:latin typeface="-apple-system"/>
              </a:rPr>
              <a:t>Access </a:t>
            </a:r>
            <a:r>
              <a:rPr lang="zh-CN" altLang="en-US" b="0" i="0" dirty="0">
                <a:effectLst/>
                <a:latin typeface="-apple-system"/>
              </a:rPr>
              <a:t>会阻止删除，因为相关记录存在于另一个表中。</a:t>
            </a:r>
            <a:endParaRPr lang="zh-CN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3846343-5347-409E-B650-2C27E3932A8C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Reference Integrity</a:t>
            </a:r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A8ED206D-0AFA-4687-99FE-38DC8E22FE52}"/>
              </a:ext>
            </a:extLst>
          </p:cNvPr>
          <p:cNvSpPr/>
          <p:nvPr/>
        </p:nvSpPr>
        <p:spPr>
          <a:xfrm rot="1015876">
            <a:off x="5742986" y="3808664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11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EDD81E1-52DC-44C8-9ADF-3CE43F301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56" y="2347358"/>
            <a:ext cx="10723594" cy="28121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3AF57B-51CB-4B91-93C7-06DBDA79B892}"/>
              </a:ext>
            </a:extLst>
          </p:cNvPr>
          <p:cNvSpPr txBox="1"/>
          <p:nvPr/>
        </p:nvSpPr>
        <p:spPr>
          <a:xfrm>
            <a:off x="740300" y="1107442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Update primary key of main table (referenced by foreign key)</a:t>
            </a:r>
          </a:p>
          <a:p>
            <a:r>
              <a:rPr lang="en-US" altLang="zh-CN" dirty="0"/>
              <a:t>UPDATE Students SET </a:t>
            </a:r>
            <a:r>
              <a:rPr lang="en-US" altLang="zh-CN" dirty="0" err="1"/>
              <a:t>StudentID</a:t>
            </a:r>
            <a:r>
              <a:rPr lang="en-US" altLang="zh-CN" dirty="0"/>
              <a:t> = 'S001_NEW'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StudentID</a:t>
            </a:r>
            <a:r>
              <a:rPr lang="en-US" altLang="zh-CN" dirty="0"/>
              <a:t> = 'S004';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A0B7FA-F88F-4891-8228-1EEF1B6D5814}"/>
              </a:ext>
            </a:extLst>
          </p:cNvPr>
          <p:cNvSpPr txBox="1"/>
          <p:nvPr/>
        </p:nvSpPr>
        <p:spPr>
          <a:xfrm>
            <a:off x="848756" y="5519676"/>
            <a:ext cx="7713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未启用“级联更新”，会报错，因为存在相关记录。</a:t>
            </a:r>
            <a:endParaRPr lang="zh-CN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6DF33DB-40CA-422D-9D40-EC4AEBC40226}"/>
              </a:ext>
            </a:extLst>
          </p:cNvPr>
          <p:cNvSpPr/>
          <p:nvPr/>
        </p:nvSpPr>
        <p:spPr>
          <a:xfrm>
            <a:off x="79236" y="207106"/>
            <a:ext cx="11984712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Verify Reference Integrity</a:t>
            </a:r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FE2BAA77-3320-4A10-B6C7-D671D9115897}"/>
              </a:ext>
            </a:extLst>
          </p:cNvPr>
          <p:cNvSpPr/>
          <p:nvPr/>
        </p:nvSpPr>
        <p:spPr>
          <a:xfrm rot="1015876">
            <a:off x="5867210" y="3998705"/>
            <a:ext cx="915281" cy="49882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45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7240D-CD8E-9B76-09DC-277985C5C2D8}"/>
              </a:ext>
            </a:extLst>
          </p:cNvPr>
          <p:cNvSpPr/>
          <p:nvPr/>
        </p:nvSpPr>
        <p:spPr>
          <a:xfrm>
            <a:off x="814963" y="1560092"/>
            <a:ext cx="11112294" cy="2719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Tutorial on Integrity Constraint</a:t>
            </a:r>
          </a:p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2F0A02F-50C8-DFB8-46B3-67D040FCF552}"/>
              </a:ext>
            </a:extLst>
          </p:cNvPr>
          <p:cNvSpPr/>
          <p:nvPr/>
        </p:nvSpPr>
        <p:spPr>
          <a:xfrm>
            <a:off x="814963" y="452096"/>
            <a:ext cx="1056207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5</a:t>
            </a:r>
          </a:p>
        </p:txBody>
      </p:sp>
    </p:spTree>
    <p:extLst>
      <p:ext uri="{BB962C8B-B14F-4D97-AF65-F5344CB8AC3E}">
        <p14:creationId xmlns:p14="http://schemas.microsoft.com/office/powerpoint/2010/main" val="182772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5D4C00-A47F-405B-8741-3518A806FCB6}"/>
              </a:ext>
            </a:extLst>
          </p:cNvPr>
          <p:cNvSpPr/>
          <p:nvPr/>
        </p:nvSpPr>
        <p:spPr>
          <a:xfrm>
            <a:off x="850166" y="1128833"/>
            <a:ext cx="24657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Content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3FCC30-B35A-48FA-B6B3-A3B3531D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255B0CC-E251-76E4-B2B7-C9655226D913}"/>
              </a:ext>
            </a:extLst>
          </p:cNvPr>
          <p:cNvSpPr/>
          <p:nvPr/>
        </p:nvSpPr>
        <p:spPr>
          <a:xfrm>
            <a:off x="3060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after Class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64E548-7520-BD0E-D0E3-B4E7B42A21A0}"/>
              </a:ext>
            </a:extLst>
          </p:cNvPr>
          <p:cNvSpPr/>
          <p:nvPr/>
        </p:nvSpPr>
        <p:spPr>
          <a:xfrm>
            <a:off x="1300467" y="2262283"/>
            <a:ext cx="95910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+mj-lt"/>
                <a:cs typeface="Times New Roman" panose="02020603050405020304" pitchFamily="18" charset="0"/>
              </a:rPr>
              <a:t>For Domain integrity constraint, Entity integrity constraint and Referential integrity constraint, you should give each integrity constraint “INSERT”,”DELETE” and ”UPDATE”  SQL statements to prove it.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+mj-lt"/>
                <a:cs typeface="Times New Roman" panose="02020603050405020304" pitchFamily="18" charset="0"/>
              </a:rPr>
              <a:t> (At least 9 statements totally)</a:t>
            </a:r>
          </a:p>
        </p:txBody>
      </p:sp>
    </p:spTree>
    <p:extLst>
      <p:ext uri="{BB962C8B-B14F-4D97-AF65-F5344CB8AC3E}">
        <p14:creationId xmlns:p14="http://schemas.microsoft.com/office/powerpoint/2010/main" val="403546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5D4C00-A47F-405B-8741-3518A806FCB6}"/>
              </a:ext>
            </a:extLst>
          </p:cNvPr>
          <p:cNvSpPr/>
          <p:nvPr/>
        </p:nvSpPr>
        <p:spPr>
          <a:xfrm>
            <a:off x="850166" y="1128833"/>
            <a:ext cx="359104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Schema</a:t>
            </a:r>
            <a:endParaRPr lang="en-US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3FCC30-B35A-48FA-B6B3-A3B3531D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255B0CC-E251-76E4-B2B7-C9655226D913}"/>
              </a:ext>
            </a:extLst>
          </p:cNvPr>
          <p:cNvSpPr/>
          <p:nvPr/>
        </p:nvSpPr>
        <p:spPr>
          <a:xfrm>
            <a:off x="3060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after Class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C2D93-9470-97ED-C910-E671FF345805}"/>
              </a:ext>
            </a:extLst>
          </p:cNvPr>
          <p:cNvSpPr/>
          <p:nvPr/>
        </p:nvSpPr>
        <p:spPr>
          <a:xfrm>
            <a:off x="1427984" y="1836719"/>
            <a:ext cx="9336032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The schema of the database is provided below (keys are </a:t>
            </a:r>
            <a:r>
              <a:rPr lang="en-US" altLang="zh-CN" sz="3200" b="1" dirty="0">
                <a:latin typeface="+mj-lt"/>
                <a:cs typeface="Times New Roman" panose="02020603050405020304" pitchFamily="18" charset="0"/>
              </a:rPr>
              <a:t>red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field types are omitted):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student(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sid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sname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sex, age, year,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gpa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dept(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dname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numphds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prof(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dname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course(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cno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cname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dname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major(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dname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sid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section(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dname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cno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sectno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pname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BR" sz="3200" b="1" dirty="0">
                <a:latin typeface="+mj-lt"/>
                <a:cs typeface="Times New Roman" panose="02020603050405020304" pitchFamily="18" charset="0"/>
              </a:rPr>
              <a:t>    enroll(</a:t>
            </a:r>
            <a:r>
              <a:rPr lang="pt-BR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sid</a:t>
            </a:r>
            <a:r>
              <a:rPr lang="pt-BR" sz="3200" b="1" dirty="0">
                <a:latin typeface="+mj-lt"/>
                <a:cs typeface="Times New Roman" panose="02020603050405020304" pitchFamily="18" charset="0"/>
              </a:rPr>
              <a:t>, grade, </a:t>
            </a:r>
            <a:r>
              <a:rPr lang="pt-BR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dname</a:t>
            </a:r>
            <a:r>
              <a:rPr lang="pt-BR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pt-BR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cno</a:t>
            </a:r>
            <a:r>
              <a:rPr lang="pt-BR" sz="32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pt-BR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sectno</a:t>
            </a:r>
            <a:r>
              <a:rPr lang="pt-BR" sz="3200" b="1" dirty="0">
                <a:latin typeface="+mj-lt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4560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45D23A-F207-4711-9E04-A0D9E09F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33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E774A-F1AB-7193-9391-5AEF9EF72B91}"/>
              </a:ext>
            </a:extLst>
          </p:cNvPr>
          <p:cNvSpPr/>
          <p:nvPr/>
        </p:nvSpPr>
        <p:spPr>
          <a:xfrm>
            <a:off x="1360532" y="2108978"/>
            <a:ext cx="947093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Download the following data files from </a:t>
            </a:r>
            <a:r>
              <a:rPr lang="en-US" altLang="zh-CN" sz="3200" b="1" u="sng" dirty="0">
                <a:latin typeface="+mj-lt"/>
                <a:cs typeface="Times New Roman" panose="02020603050405020304" pitchFamily="18" charset="0"/>
              </a:rPr>
              <a:t>WeChat Group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course.txt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dept.txt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enroll.txt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major.txt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prof.txt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section.txt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student.txt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2D5EB98-095D-DD47-B2CD-C2D395C449A8}"/>
              </a:ext>
            </a:extLst>
          </p:cNvPr>
          <p:cNvSpPr/>
          <p:nvPr/>
        </p:nvSpPr>
        <p:spPr>
          <a:xfrm>
            <a:off x="3060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after Class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697B746-AC44-E506-EEB2-AA30303B77F3}"/>
              </a:ext>
            </a:extLst>
          </p:cNvPr>
          <p:cNvSpPr/>
          <p:nvPr/>
        </p:nvSpPr>
        <p:spPr>
          <a:xfrm>
            <a:off x="850166" y="1128833"/>
            <a:ext cx="29065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Files</a:t>
            </a:r>
          </a:p>
        </p:txBody>
      </p:sp>
    </p:spTree>
    <p:extLst>
      <p:ext uri="{BB962C8B-B14F-4D97-AF65-F5344CB8AC3E}">
        <p14:creationId xmlns:p14="http://schemas.microsoft.com/office/powerpoint/2010/main" val="4014076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45D23A-F207-4711-9E04-A0D9E09F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2D5EB98-095D-DD47-B2CD-C2D395C449A8}"/>
              </a:ext>
            </a:extLst>
          </p:cNvPr>
          <p:cNvSpPr/>
          <p:nvPr/>
        </p:nvSpPr>
        <p:spPr>
          <a:xfrm>
            <a:off x="306063" y="205503"/>
            <a:ext cx="13229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after Class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DCAAC5-515F-6199-3FC7-AEAB30597315}"/>
              </a:ext>
            </a:extLst>
          </p:cNvPr>
          <p:cNvSpPr/>
          <p:nvPr/>
        </p:nvSpPr>
        <p:spPr>
          <a:xfrm>
            <a:off x="850166" y="1850352"/>
            <a:ext cx="1134183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2" indent="-342892">
              <a:buFont typeface="Wingdings" panose="05000000000000000000" pitchFamily="2" charset="2"/>
              <a:buChar char="§"/>
            </a:pPr>
            <a:r>
              <a:rPr lang="en-US" altLang="zh-CN" sz="2800" b="1" dirty="0">
                <a:latin typeface="+mj-lt"/>
                <a:cs typeface="Times New Roman" panose="02020603050405020304" pitchFamily="18" charset="0"/>
              </a:rPr>
              <a:t>Hand in an ACCESS database that contains at least nine statements. The database should contain nine queries, named as follows: 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Insert1 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Insert2 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… 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Delete1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…</a:t>
            </a:r>
          </a:p>
          <a:p>
            <a:r>
              <a:rPr lang="en-US" altLang="zh-CN" sz="2800" b="1" dirty="0">
                <a:solidFill>
                  <a:srgbClr val="33339B"/>
                </a:solidFill>
                <a:latin typeface="+mj-lt"/>
                <a:cs typeface="Times New Roman" panose="02020603050405020304" pitchFamily="18" charset="0"/>
              </a:rPr>
              <a:t>	Update3</a:t>
            </a:r>
          </a:p>
          <a:p>
            <a:pPr marL="342892" indent="-342892">
              <a:buFont typeface="Wingdings" panose="05000000000000000000" pitchFamily="2" charset="2"/>
              <a:buChar char="§"/>
            </a:pPr>
            <a:r>
              <a:rPr lang="en-US" altLang="zh-CN" sz="2800" b="1" dirty="0">
                <a:latin typeface="+mj-lt"/>
                <a:cs typeface="Times New Roman" panose="02020603050405020304" pitchFamily="18" charset="0"/>
              </a:rPr>
              <a:t>Hand in a report which indicates your answers.(Figure is important. You should give your analysis about your </a:t>
            </a:r>
            <a:r>
              <a:rPr lang="en-US" altLang="zh-CN" sz="2800" b="1" dirty="0" err="1">
                <a:latin typeface="+mj-lt"/>
                <a:cs typeface="Times New Roman" panose="02020603050405020304" pitchFamily="18" charset="0"/>
              </a:rPr>
              <a:t>sql</a:t>
            </a:r>
            <a:r>
              <a:rPr lang="en-US" altLang="zh-CN" sz="2800" b="1" dirty="0">
                <a:latin typeface="+mj-lt"/>
                <a:cs typeface="Times New Roman" panose="02020603050405020304" pitchFamily="18" charset="0"/>
              </a:rPr>
              <a:t> statements.)</a:t>
            </a:r>
          </a:p>
          <a:p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8E1B2-4331-5024-0F1E-34EAEABF3EAD}"/>
              </a:ext>
            </a:extLst>
          </p:cNvPr>
          <p:cNvSpPr/>
          <p:nvPr/>
        </p:nvSpPr>
        <p:spPr>
          <a:xfrm>
            <a:off x="850166" y="1128833"/>
            <a:ext cx="25506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Demand</a:t>
            </a:r>
          </a:p>
        </p:txBody>
      </p:sp>
    </p:spTree>
    <p:extLst>
      <p:ext uri="{BB962C8B-B14F-4D97-AF65-F5344CB8AC3E}">
        <p14:creationId xmlns:p14="http://schemas.microsoft.com/office/powerpoint/2010/main" val="2805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5011</TotalTime>
  <Words>1218</Words>
  <Application>Microsoft Office PowerPoint</Application>
  <PresentationFormat>宽屏</PresentationFormat>
  <Paragraphs>166</Paragraphs>
  <Slides>34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-apple-system</vt:lpstr>
      <vt:lpstr>system-ui</vt:lpstr>
      <vt:lpstr>等线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Assignment1</dc:title>
  <dc:creator>Wang Hai</dc:creator>
  <cp:lastModifiedBy>佳伟 刘</cp:lastModifiedBy>
  <cp:revision>169</cp:revision>
  <dcterms:created xsi:type="dcterms:W3CDTF">2019-09-23T01:09:19Z</dcterms:created>
  <dcterms:modified xsi:type="dcterms:W3CDTF">2025-12-03T07:47:14Z</dcterms:modified>
</cp:coreProperties>
</file>