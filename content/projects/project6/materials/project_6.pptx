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312" r:id="rId2"/>
    <p:sldId id="383" r:id="rId3"/>
    <p:sldId id="394" r:id="rId4"/>
    <p:sldId id="466" r:id="rId5"/>
    <p:sldId id="397" r:id="rId6"/>
    <p:sldId id="400" r:id="rId7"/>
    <p:sldId id="398" r:id="rId8"/>
    <p:sldId id="468" r:id="rId9"/>
    <p:sldId id="471" r:id="rId10"/>
    <p:sldId id="399" r:id="rId11"/>
    <p:sldId id="401" r:id="rId12"/>
    <p:sldId id="467" r:id="rId13"/>
    <p:sldId id="402" r:id="rId14"/>
    <p:sldId id="403" r:id="rId15"/>
    <p:sldId id="404" r:id="rId16"/>
    <p:sldId id="405" r:id="rId17"/>
    <p:sldId id="406" r:id="rId18"/>
    <p:sldId id="407" r:id="rId19"/>
    <p:sldId id="408" r:id="rId20"/>
    <p:sldId id="260"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凌艺 许" initials="凌艺" lastIdx="1" clrIdx="0">
    <p:extLst>
      <p:ext uri="{19B8F6BF-5375-455C-9EA6-DF929625EA0E}">
        <p15:presenceInfo xmlns:p15="http://schemas.microsoft.com/office/powerpoint/2012/main" userId="c090746240165d07"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9B"/>
    <a:srgbClr val="FFFCEB"/>
    <a:srgbClr val="535387"/>
    <a:srgbClr val="F3DB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76" autoAdjust="0"/>
    <p:restoredTop sz="94313" autoAdjust="0"/>
  </p:normalViewPr>
  <p:slideViewPr>
    <p:cSldViewPr snapToGrid="0">
      <p:cViewPr varScale="1">
        <p:scale>
          <a:sx n="87" d="100"/>
          <a:sy n="87" d="100"/>
        </p:scale>
        <p:origin x="62" y="17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E7868E-8322-402F-ACC5-477E624251D1}" type="datetimeFigureOut">
              <a:rPr lang="zh-CN" altLang="en-US" smtClean="0"/>
              <a:t>2025/12/18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90D1AB-2DF8-4949-8D12-111FA1213BD2}" type="slidenum">
              <a:rPr lang="zh-CN" altLang="en-US" smtClean="0"/>
              <a:t>‹#›</a:t>
            </a:fld>
            <a:endParaRPr lang="zh-CN" altLang="en-US"/>
          </a:p>
        </p:txBody>
      </p:sp>
    </p:spTree>
    <p:extLst>
      <p:ext uri="{BB962C8B-B14F-4D97-AF65-F5344CB8AC3E}">
        <p14:creationId xmlns:p14="http://schemas.microsoft.com/office/powerpoint/2010/main" val="2342778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990D1AB-2DF8-4949-8D12-111FA1213BD2}" type="slidenum">
              <a:rPr lang="zh-CN" altLang="en-US" smtClean="0"/>
              <a:t>1</a:t>
            </a:fld>
            <a:endParaRPr lang="zh-CN" altLang="en-US"/>
          </a:p>
        </p:txBody>
      </p:sp>
    </p:spTree>
    <p:extLst>
      <p:ext uri="{BB962C8B-B14F-4D97-AF65-F5344CB8AC3E}">
        <p14:creationId xmlns:p14="http://schemas.microsoft.com/office/powerpoint/2010/main" val="21615970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990D1AB-2DF8-4949-8D12-111FA1213BD2}" type="slidenum">
              <a:rPr lang="zh-CN" altLang="en-US" smtClean="0"/>
              <a:t>20</a:t>
            </a:fld>
            <a:endParaRPr lang="zh-CN" altLang="en-US"/>
          </a:p>
        </p:txBody>
      </p:sp>
    </p:spTree>
    <p:extLst>
      <p:ext uri="{BB962C8B-B14F-4D97-AF65-F5344CB8AC3E}">
        <p14:creationId xmlns:p14="http://schemas.microsoft.com/office/powerpoint/2010/main" val="16599075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D17A10E1-28C3-455F-9FD1-F0B55423A67C}" type="datetime1">
              <a:rPr lang="en-US" altLang="zh-CN"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28F302-E557-4BC3-87C7-BCBD3AD1B54C}" type="slidenum">
              <a:rPr lang="en-US" smtClean="0"/>
              <a:t>‹#›</a:t>
            </a:fld>
            <a:endParaRPr lang="en-US"/>
          </a:p>
        </p:txBody>
      </p:sp>
    </p:spTree>
    <p:extLst>
      <p:ext uri="{BB962C8B-B14F-4D97-AF65-F5344CB8AC3E}">
        <p14:creationId xmlns:p14="http://schemas.microsoft.com/office/powerpoint/2010/main" val="210950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72D542C-FEC7-4D6C-837D-0E69C18E291B}" type="datetime1">
              <a:rPr lang="en-US" altLang="zh-CN"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28F302-E557-4BC3-87C7-BCBD3AD1B54C}" type="slidenum">
              <a:rPr lang="en-US" smtClean="0"/>
              <a:t>‹#›</a:t>
            </a:fld>
            <a:endParaRPr lang="en-US"/>
          </a:p>
        </p:txBody>
      </p:sp>
    </p:spTree>
    <p:extLst>
      <p:ext uri="{BB962C8B-B14F-4D97-AF65-F5344CB8AC3E}">
        <p14:creationId xmlns:p14="http://schemas.microsoft.com/office/powerpoint/2010/main" val="31653452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6C3A9FBF-00A6-497B-A64A-9A9792F46983}" type="datetime1">
              <a:rPr lang="en-US" altLang="zh-CN"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28F302-E557-4BC3-87C7-BCBD3AD1B54C}" type="slidenum">
              <a:rPr lang="en-US" smtClean="0"/>
              <a:t>‹#›</a:t>
            </a:fld>
            <a:endParaRPr lang="en-US"/>
          </a:p>
        </p:txBody>
      </p:sp>
    </p:spTree>
    <p:extLst>
      <p:ext uri="{BB962C8B-B14F-4D97-AF65-F5344CB8AC3E}">
        <p14:creationId xmlns:p14="http://schemas.microsoft.com/office/powerpoint/2010/main" val="1625317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45EC6F49-1B4E-4891-A82E-D7B529793EF7}" type="datetime1">
              <a:rPr lang="en-US" altLang="zh-CN" smtClean="0"/>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28F302-E557-4BC3-87C7-BCBD3AD1B54C}" type="slidenum">
              <a:rPr lang="en-US" smtClean="0"/>
              <a:t>‹#›</a:t>
            </a:fld>
            <a:endParaRPr lang="en-US"/>
          </a:p>
        </p:txBody>
      </p:sp>
    </p:spTree>
    <p:extLst>
      <p:ext uri="{BB962C8B-B14F-4D97-AF65-F5344CB8AC3E}">
        <p14:creationId xmlns:p14="http://schemas.microsoft.com/office/powerpoint/2010/main" val="1360131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839789"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6172201"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28D8CE51-E29B-4F19-80D0-BB742E860588}" type="datetime1">
              <a:rPr lang="en-US" altLang="zh-CN" smtClean="0"/>
              <a:t>12/18/2025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128F302-E557-4BC3-87C7-BCBD3AD1B54C}" type="slidenum">
              <a:rPr lang="en-US" smtClean="0"/>
              <a:t>‹#›</a:t>
            </a:fld>
            <a:endParaRPr lang="en-US"/>
          </a:p>
        </p:txBody>
      </p:sp>
    </p:spTree>
    <p:extLst>
      <p:ext uri="{BB962C8B-B14F-4D97-AF65-F5344CB8AC3E}">
        <p14:creationId xmlns:p14="http://schemas.microsoft.com/office/powerpoint/2010/main" val="13616315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D9E7FC2F-8F0A-4319-B1D1-15499CA0F6FA}" type="datetime1">
              <a:rPr lang="en-US" altLang="zh-CN" smtClean="0"/>
              <a:t>12/18/2025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28F302-E557-4BC3-87C7-BCBD3AD1B54C}" type="slidenum">
              <a:rPr lang="en-US" smtClean="0"/>
              <a:t>‹#›</a:t>
            </a:fld>
            <a:endParaRPr lang="en-US"/>
          </a:p>
        </p:txBody>
      </p:sp>
    </p:spTree>
    <p:extLst>
      <p:ext uri="{BB962C8B-B14F-4D97-AF65-F5344CB8AC3E}">
        <p14:creationId xmlns:p14="http://schemas.microsoft.com/office/powerpoint/2010/main" val="1269366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BAB4E1-8FF2-4401-B349-18D525587C27}" type="datetime1">
              <a:rPr lang="en-US" altLang="zh-CN" smtClean="0"/>
              <a:t>12/18/2025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128F302-E557-4BC3-87C7-BCBD3AD1B54C}" type="slidenum">
              <a:rPr lang="en-US" smtClean="0"/>
              <a:t>‹#›</a:t>
            </a:fld>
            <a:endParaRPr lang="en-US"/>
          </a:p>
        </p:txBody>
      </p:sp>
    </p:spTree>
    <p:extLst>
      <p:ext uri="{BB962C8B-B14F-4D97-AF65-F5344CB8AC3E}">
        <p14:creationId xmlns:p14="http://schemas.microsoft.com/office/powerpoint/2010/main" val="2899768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DA240272-ECCE-44F7-91EA-501758042665}" type="datetime1">
              <a:rPr lang="en-US" altLang="zh-CN" smtClean="0"/>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28F302-E557-4BC3-87C7-BCBD3AD1B54C}" type="slidenum">
              <a:rPr lang="en-US" smtClean="0"/>
              <a:t>‹#›</a:t>
            </a:fld>
            <a:endParaRPr lang="en-US"/>
          </a:p>
        </p:txBody>
      </p:sp>
    </p:spTree>
    <p:extLst>
      <p:ext uri="{BB962C8B-B14F-4D97-AF65-F5344CB8AC3E}">
        <p14:creationId xmlns:p14="http://schemas.microsoft.com/office/powerpoint/2010/main" val="12731957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46214F18-922E-4538-82BA-BCEA03EF97CA}" type="datetime1">
              <a:rPr lang="en-US" altLang="zh-CN" smtClean="0"/>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28F302-E557-4BC3-87C7-BCBD3AD1B54C}" type="slidenum">
              <a:rPr lang="en-US" smtClean="0"/>
              <a:t>‹#›</a:t>
            </a:fld>
            <a:endParaRPr lang="en-US"/>
          </a:p>
        </p:txBody>
      </p:sp>
    </p:spTree>
    <p:extLst>
      <p:ext uri="{BB962C8B-B14F-4D97-AF65-F5344CB8AC3E}">
        <p14:creationId xmlns:p14="http://schemas.microsoft.com/office/powerpoint/2010/main" val="2144721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F73E8DB-618C-463E-B09F-3F6FDF6C2736}" type="datetime1">
              <a:rPr lang="en-US" altLang="zh-CN"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28F302-E557-4BC3-87C7-BCBD3AD1B54C}" type="slidenum">
              <a:rPr lang="en-US" smtClean="0"/>
              <a:t>‹#›</a:t>
            </a:fld>
            <a:endParaRPr lang="en-US"/>
          </a:p>
        </p:txBody>
      </p:sp>
    </p:spTree>
    <p:extLst>
      <p:ext uri="{BB962C8B-B14F-4D97-AF65-F5344CB8AC3E}">
        <p14:creationId xmlns:p14="http://schemas.microsoft.com/office/powerpoint/2010/main" val="8638737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21E026B2-CDFD-44B0-8E44-FD7D4F4580D4}" type="datetime1">
              <a:rPr lang="en-US" altLang="zh-CN" smtClean="0"/>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28F302-E557-4BC3-87C7-BCBD3AD1B54C}" type="slidenum">
              <a:rPr lang="en-US" smtClean="0"/>
              <a:t>‹#›</a:t>
            </a:fld>
            <a:endParaRPr lang="en-US"/>
          </a:p>
        </p:txBody>
      </p:sp>
    </p:spTree>
    <p:extLst>
      <p:ext uri="{BB962C8B-B14F-4D97-AF65-F5344CB8AC3E}">
        <p14:creationId xmlns:p14="http://schemas.microsoft.com/office/powerpoint/2010/main" val="3479264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3A0A23-103E-4560-9482-F8E1161F7818}" type="datetime1">
              <a:rPr lang="en-US" altLang="zh-CN" smtClean="0"/>
              <a:t>12/18/2025</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28F302-E557-4BC3-87C7-BCBD3AD1B54C}" type="slidenum">
              <a:rPr lang="en-US" smtClean="0"/>
              <a:t>‹#›</a:t>
            </a:fld>
            <a:endParaRPr lang="en-US"/>
          </a:p>
        </p:txBody>
      </p:sp>
    </p:spTree>
    <p:extLst>
      <p:ext uri="{BB962C8B-B14F-4D97-AF65-F5344CB8AC3E}">
        <p14:creationId xmlns:p14="http://schemas.microsoft.com/office/powerpoint/2010/main" val="20889676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9">
            <a:extLst>
              <a:ext uri="{FF2B5EF4-FFF2-40B4-BE49-F238E27FC236}">
                <a16:creationId xmlns:a16="http://schemas.microsoft.com/office/drawing/2014/main" id="{560522EF-52D9-4B65-D19C-9E9C092ED757}"/>
              </a:ext>
            </a:extLst>
          </p:cNvPr>
          <p:cNvSpPr/>
          <p:nvPr/>
        </p:nvSpPr>
        <p:spPr>
          <a:xfrm>
            <a:off x="1348740" y="2111998"/>
            <a:ext cx="9494520" cy="1015663"/>
          </a:xfrm>
          <a:prstGeom prst="rect">
            <a:avLst/>
          </a:prstGeom>
        </p:spPr>
        <p:txBody>
          <a:bodyPr wrap="square">
            <a:spAutoFit/>
          </a:bodyPr>
          <a:lstStyle/>
          <a:p>
            <a:pPr algn="ctr"/>
            <a:r>
              <a:rPr lang="en-US" altLang="zh-CN" sz="6000" b="1" dirty="0">
                <a:solidFill>
                  <a:srgbClr val="33339B"/>
                </a:solidFill>
                <a:latin typeface="Times New Roman" panose="02020603050405020304" pitchFamily="18" charset="0"/>
                <a:cs typeface="Times New Roman" panose="02020603050405020304" pitchFamily="18" charset="0"/>
              </a:rPr>
              <a:t>Project 6</a:t>
            </a:r>
          </a:p>
        </p:txBody>
      </p:sp>
      <p:sp>
        <p:nvSpPr>
          <p:cNvPr id="11" name="文本框 10">
            <a:extLst>
              <a:ext uri="{FF2B5EF4-FFF2-40B4-BE49-F238E27FC236}">
                <a16:creationId xmlns:a16="http://schemas.microsoft.com/office/drawing/2014/main" id="{CED3387C-A638-D7B2-ACA0-E51011169E4F}"/>
              </a:ext>
            </a:extLst>
          </p:cNvPr>
          <p:cNvSpPr txBox="1"/>
          <p:nvPr/>
        </p:nvSpPr>
        <p:spPr>
          <a:xfrm>
            <a:off x="4130732" y="4571381"/>
            <a:ext cx="3629198" cy="707886"/>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rPr>
              <a:t>TA: Jiawei Liu</a:t>
            </a:r>
          </a:p>
        </p:txBody>
      </p:sp>
      <p:sp>
        <p:nvSpPr>
          <p:cNvPr id="4" name="文本框 3">
            <a:extLst>
              <a:ext uri="{FF2B5EF4-FFF2-40B4-BE49-F238E27FC236}">
                <a16:creationId xmlns:a16="http://schemas.microsoft.com/office/drawing/2014/main" id="{A79FF2DE-6EBE-45CB-80EF-F02B7BA3C95D}"/>
              </a:ext>
            </a:extLst>
          </p:cNvPr>
          <p:cNvSpPr txBox="1"/>
          <p:nvPr/>
        </p:nvSpPr>
        <p:spPr>
          <a:xfrm>
            <a:off x="3394361" y="3495578"/>
            <a:ext cx="5354784" cy="707886"/>
          </a:xfrm>
          <a:prstGeom prst="rect">
            <a:avLst/>
          </a:prstGeom>
          <a:noFill/>
        </p:spPr>
        <p:txBody>
          <a:bodyPr wrap="square" rtlCol="0">
            <a:spAutoFit/>
          </a:bodyPr>
          <a:lstStyle/>
          <a:p>
            <a:r>
              <a:rPr lang="en-US" altLang="zh-CN" sz="4000" b="1" dirty="0">
                <a:latin typeface="Times New Roman" panose="02020603050405020304" pitchFamily="18" charset="0"/>
                <a:cs typeface="Times New Roman" panose="02020603050405020304" pitchFamily="18" charset="0"/>
              </a:rPr>
              <a:t>Lecturer: Shuai Wang</a:t>
            </a:r>
          </a:p>
        </p:txBody>
      </p:sp>
    </p:spTree>
    <p:extLst>
      <p:ext uri="{BB962C8B-B14F-4D97-AF65-F5344CB8AC3E}">
        <p14:creationId xmlns:p14="http://schemas.microsoft.com/office/powerpoint/2010/main" val="893996368"/>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a:extLst>
              <a:ext uri="{FF2B5EF4-FFF2-40B4-BE49-F238E27FC236}">
                <a16:creationId xmlns:a16="http://schemas.microsoft.com/office/drawing/2014/main" id="{6C75D155-25C3-19C1-F1AA-AAC226DE76FB}"/>
              </a:ext>
            </a:extLst>
          </p:cNvPr>
          <p:cNvSpPr/>
          <p:nvPr/>
        </p:nvSpPr>
        <p:spPr>
          <a:xfrm>
            <a:off x="486173" y="205503"/>
            <a:ext cx="7839680" cy="1015663"/>
          </a:xfrm>
          <a:prstGeom prst="rect">
            <a:avLst/>
          </a:prstGeom>
        </p:spPr>
        <p:txBody>
          <a:bodyPr wrap="square">
            <a:spAutoFit/>
          </a:bodyPr>
          <a:lstStyle/>
          <a:p>
            <a:r>
              <a:rPr lang="en-US" altLang="zh-CN" sz="6000" b="1" dirty="0">
                <a:solidFill>
                  <a:srgbClr val="33339B"/>
                </a:solidFill>
                <a:latin typeface="Times New Roman" panose="02020603050405020304" pitchFamily="18" charset="0"/>
                <a:cs typeface="Times New Roman" panose="02020603050405020304" pitchFamily="18" charset="0"/>
              </a:rPr>
              <a:t>Assignment</a:t>
            </a:r>
          </a:p>
        </p:txBody>
      </p:sp>
      <p:sp>
        <p:nvSpPr>
          <p:cNvPr id="6" name="矩形 5">
            <a:extLst>
              <a:ext uri="{FF2B5EF4-FFF2-40B4-BE49-F238E27FC236}">
                <a16:creationId xmlns:a16="http://schemas.microsoft.com/office/drawing/2014/main" id="{C0D5B375-295B-41AB-90D3-56F5A18CEF36}"/>
              </a:ext>
            </a:extLst>
          </p:cNvPr>
          <p:cNvSpPr/>
          <p:nvPr/>
        </p:nvSpPr>
        <p:spPr>
          <a:xfrm>
            <a:off x="184150" y="1946754"/>
            <a:ext cx="11480800" cy="3909404"/>
          </a:xfrm>
          <a:prstGeom prst="rect">
            <a:avLst/>
          </a:prstGeom>
        </p:spPr>
        <p:txBody>
          <a:bodyPr wrap="square">
            <a:spAutoFit/>
          </a:bodyPr>
          <a:lstStyle/>
          <a:p>
            <a:pPr lvl="1" algn="just">
              <a:lnSpc>
                <a:spcPct val="125000"/>
              </a:lnSpc>
            </a:pPr>
            <a:r>
              <a:rPr lang="en-US" altLang="zh-CN" sz="2000" b="1" dirty="0">
                <a:solidFill>
                  <a:prstClr val="black"/>
                </a:solidFill>
                <a:cs typeface="Times New Roman" panose="02020603050405020304" pitchFamily="18" charset="0"/>
              </a:rPr>
              <a:t>	You are required to complete a comprehensive database system, including the implementation of both front-end and back-end processes. </a:t>
            </a:r>
          </a:p>
          <a:p>
            <a:pPr lvl="1" algn="just">
              <a:lnSpc>
                <a:spcPct val="125000"/>
              </a:lnSpc>
            </a:pPr>
            <a:r>
              <a:rPr lang="en-US" altLang="zh-CN" sz="2000" b="1" dirty="0">
                <a:solidFill>
                  <a:prstClr val="black"/>
                </a:solidFill>
                <a:cs typeface="Times New Roman" panose="02020603050405020304" pitchFamily="18" charset="0"/>
              </a:rPr>
              <a:t>	Below are the specific requirements for the content.</a:t>
            </a:r>
          </a:p>
          <a:p>
            <a:pPr marL="971550" lvl="1" indent="-514350" algn="just">
              <a:lnSpc>
                <a:spcPct val="125000"/>
              </a:lnSpc>
              <a:buFont typeface="+mj-ea"/>
              <a:buAutoNum type="circleNumDbPlain"/>
            </a:pPr>
            <a:r>
              <a:rPr lang="en-US" altLang="zh-CN" sz="2000" b="1" dirty="0">
                <a:solidFill>
                  <a:prstClr val="black"/>
                </a:solidFill>
                <a:cs typeface="Times New Roman" panose="02020603050405020304" pitchFamily="18" charset="0"/>
              </a:rPr>
              <a:t>Presentation: </a:t>
            </a:r>
            <a:r>
              <a:rPr lang="en-US" altLang="zh-CN" sz="2000" dirty="0">
                <a:solidFill>
                  <a:prstClr val="black"/>
                </a:solidFill>
                <a:latin typeface="Times New Roman" panose="02020603050405020304" pitchFamily="18" charset="0"/>
                <a:cs typeface="Times New Roman" panose="02020603050405020304" pitchFamily="18" charset="0"/>
              </a:rPr>
              <a:t>You can construct the </a:t>
            </a:r>
            <a:r>
              <a:rPr lang="en-US" altLang="zh-CN" sz="2000" b="1" dirty="0">
                <a:solidFill>
                  <a:prstClr val="black"/>
                </a:solidFill>
                <a:latin typeface="Times New Roman" panose="02020603050405020304" pitchFamily="18" charset="0"/>
                <a:cs typeface="Times New Roman" panose="02020603050405020304" pitchFamily="18" charset="0"/>
              </a:rPr>
              <a:t>Web system or App </a:t>
            </a:r>
            <a:r>
              <a:rPr lang="en-US" altLang="zh-CN" sz="2000" dirty="0">
                <a:solidFill>
                  <a:prstClr val="black"/>
                </a:solidFill>
                <a:latin typeface="Times New Roman" panose="02020603050405020304" pitchFamily="18" charset="0"/>
                <a:cs typeface="Times New Roman" panose="02020603050405020304" pitchFamily="18" charset="0"/>
              </a:rPr>
              <a:t>(desktop app, mobile app, WeChat app) using either </a:t>
            </a:r>
            <a:r>
              <a:rPr lang="en-US" altLang="zh-CN" sz="2000" b="1" dirty="0">
                <a:solidFill>
                  <a:prstClr val="black"/>
                </a:solidFill>
                <a:latin typeface="Times New Roman" panose="02020603050405020304" pitchFamily="18" charset="0"/>
                <a:cs typeface="Times New Roman" panose="02020603050405020304" pitchFamily="18" charset="0"/>
              </a:rPr>
              <a:t>B/S or C/S</a:t>
            </a:r>
            <a:r>
              <a:rPr lang="en-US" altLang="zh-CN" sz="2000" dirty="0">
                <a:solidFill>
                  <a:prstClr val="black"/>
                </a:solidFill>
                <a:latin typeface="Times New Roman" panose="02020603050405020304" pitchFamily="18" charset="0"/>
                <a:cs typeface="Times New Roman" panose="02020603050405020304" pitchFamily="18" charset="0"/>
              </a:rPr>
              <a:t> architecture.</a:t>
            </a:r>
          </a:p>
          <a:p>
            <a:pPr marL="971550" lvl="1" indent="-514350" algn="just">
              <a:lnSpc>
                <a:spcPct val="125000"/>
              </a:lnSpc>
              <a:buFont typeface="+mj-ea"/>
              <a:buAutoNum type="circleNumDbPlain"/>
            </a:pPr>
            <a:r>
              <a:rPr lang="en-US" altLang="zh-CN" sz="2000" b="1" dirty="0">
                <a:solidFill>
                  <a:prstClr val="black"/>
                </a:solidFill>
                <a:cs typeface="Times New Roman" panose="02020603050405020304" pitchFamily="18" charset="0"/>
              </a:rPr>
              <a:t>Framework: </a:t>
            </a:r>
            <a:r>
              <a:rPr lang="en-US" altLang="zh-CN" sz="2000" dirty="0">
                <a:solidFill>
                  <a:prstClr val="black"/>
                </a:solidFill>
                <a:latin typeface="Times New Roman" panose="02020603050405020304" pitchFamily="18" charset="0"/>
                <a:cs typeface="Times New Roman" panose="02020603050405020304" pitchFamily="18" charset="0"/>
              </a:rPr>
              <a:t>No restrictions. You can utilize </a:t>
            </a:r>
            <a:r>
              <a:rPr lang="en-US" altLang="zh-CN" sz="2000" b="1" dirty="0">
                <a:solidFill>
                  <a:prstClr val="black"/>
                </a:solidFill>
                <a:latin typeface="Times New Roman" panose="02020603050405020304" pitchFamily="18" charset="0"/>
                <a:cs typeface="Times New Roman" panose="02020603050405020304" pitchFamily="18" charset="0"/>
              </a:rPr>
              <a:t>any architecture or framework </a:t>
            </a:r>
            <a:r>
              <a:rPr lang="en-US" altLang="zh-CN" sz="2000" dirty="0">
                <a:solidFill>
                  <a:prstClr val="black"/>
                </a:solidFill>
                <a:latin typeface="Times New Roman" panose="02020603050405020304" pitchFamily="18" charset="0"/>
                <a:cs typeface="Times New Roman" panose="02020603050405020304" pitchFamily="18" charset="0"/>
              </a:rPr>
              <a:t>that you have researched and are familiar with to implement the front-end and back-end.</a:t>
            </a:r>
          </a:p>
          <a:p>
            <a:pPr marL="971550" lvl="1" indent="-514350" algn="just">
              <a:lnSpc>
                <a:spcPct val="125000"/>
              </a:lnSpc>
              <a:buFont typeface="+mj-ea"/>
              <a:buAutoNum type="circleNumDbPlain" startAt="3"/>
            </a:pPr>
            <a:r>
              <a:rPr lang="en-US" altLang="zh-CN" sz="2000" b="1" dirty="0">
                <a:solidFill>
                  <a:prstClr val="black"/>
                </a:solidFill>
                <a:cs typeface="Times New Roman" panose="02020603050405020304" pitchFamily="18" charset="0"/>
              </a:rPr>
              <a:t>Database: </a:t>
            </a:r>
            <a:r>
              <a:rPr lang="en-US" altLang="zh-CN" sz="2000" dirty="0">
                <a:solidFill>
                  <a:prstClr val="black"/>
                </a:solidFill>
                <a:latin typeface="Times New Roman" panose="02020603050405020304" pitchFamily="18" charset="0"/>
                <a:cs typeface="Times New Roman" panose="02020603050405020304" pitchFamily="18" charset="0"/>
              </a:rPr>
              <a:t>No restrictions. You can use databases such as </a:t>
            </a:r>
            <a:r>
              <a:rPr lang="en-US" altLang="zh-CN" sz="2000" b="1" dirty="0">
                <a:solidFill>
                  <a:prstClr val="black"/>
                </a:solidFill>
                <a:latin typeface="Times New Roman" panose="02020603050405020304" pitchFamily="18" charset="0"/>
                <a:cs typeface="Times New Roman" panose="02020603050405020304" pitchFamily="18" charset="0"/>
              </a:rPr>
              <a:t>Access, MySQL, or others</a:t>
            </a:r>
            <a:r>
              <a:rPr lang="en-US" altLang="zh-CN" sz="2000" dirty="0">
                <a:solidFill>
                  <a:prstClr val="black"/>
                </a:solidFill>
                <a:latin typeface="Times New Roman" panose="02020603050405020304" pitchFamily="18" charset="0"/>
                <a:cs typeface="Times New Roman" panose="02020603050405020304" pitchFamily="18" charset="0"/>
              </a:rPr>
              <a:t> as the storage medium for data.</a:t>
            </a:r>
          </a:p>
          <a:p>
            <a:pPr marL="971550" lvl="1" indent="-514350" algn="just">
              <a:lnSpc>
                <a:spcPct val="125000"/>
              </a:lnSpc>
              <a:buFont typeface="+mj-ea"/>
              <a:buAutoNum type="circleNumDbPlain" startAt="3"/>
            </a:pPr>
            <a:r>
              <a:rPr lang="en-US" altLang="zh-CN" sz="2000" b="1" dirty="0">
                <a:solidFill>
                  <a:prstClr val="black"/>
                </a:solidFill>
                <a:cs typeface="Times New Roman" panose="02020603050405020304" pitchFamily="18" charset="0"/>
              </a:rPr>
              <a:t>Task Type: </a:t>
            </a:r>
            <a:r>
              <a:rPr lang="en-US" altLang="zh-CN" sz="2000" dirty="0">
                <a:solidFill>
                  <a:prstClr val="black"/>
                </a:solidFill>
                <a:latin typeface="Times New Roman" panose="02020603050405020304" pitchFamily="18" charset="0"/>
                <a:cs typeface="Times New Roman" panose="02020603050405020304" pitchFamily="18" charset="0"/>
              </a:rPr>
              <a:t>Team work. </a:t>
            </a:r>
            <a:r>
              <a:rPr lang="en-US" altLang="zh-CN" sz="2000" b="1" dirty="0">
                <a:solidFill>
                  <a:prstClr val="black"/>
                </a:solidFill>
                <a:latin typeface="Times New Roman" panose="02020603050405020304" pitchFamily="18" charset="0"/>
                <a:cs typeface="Times New Roman" panose="02020603050405020304" pitchFamily="18" charset="0"/>
              </a:rPr>
              <a:t>3~4 students per group. </a:t>
            </a:r>
            <a:endParaRPr lang="en-US" altLang="zh-CN" sz="2800" b="1" dirty="0">
              <a:solidFill>
                <a:prstClr val="black"/>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71429D8A-2720-AA1F-2B65-FF347C87B1B4}"/>
              </a:ext>
            </a:extLst>
          </p:cNvPr>
          <p:cNvSpPr/>
          <p:nvPr/>
        </p:nvSpPr>
        <p:spPr>
          <a:xfrm>
            <a:off x="486173" y="1221166"/>
            <a:ext cx="2465740" cy="707886"/>
          </a:xfrm>
          <a:prstGeom prst="rect">
            <a:avLst/>
          </a:prstGeom>
        </p:spPr>
        <p:txBody>
          <a:bodyPr wrap="none">
            <a:spAutoFit/>
          </a:bodyPr>
          <a:lstStyle/>
          <a:p>
            <a:r>
              <a:rPr lang="en-US" sz="4000" b="1" dirty="0">
                <a:solidFill>
                  <a:srgbClr val="33339B"/>
                </a:solidFill>
                <a:latin typeface="Times New Roman" panose="02020603050405020304" pitchFamily="18" charset="0"/>
                <a:cs typeface="Times New Roman" panose="02020603050405020304" pitchFamily="18" charset="0"/>
              </a:rPr>
              <a:t>1. </a:t>
            </a:r>
            <a:r>
              <a:rPr lang="en-US" altLang="zh-CN" sz="4000" b="1" dirty="0">
                <a:solidFill>
                  <a:srgbClr val="33339B"/>
                </a:solidFill>
                <a:latin typeface="Times New Roman" panose="02020603050405020304" pitchFamily="18" charset="0"/>
                <a:cs typeface="Times New Roman" panose="02020603050405020304" pitchFamily="18" charset="0"/>
              </a:rPr>
              <a:t>Content</a:t>
            </a:r>
            <a:endParaRPr lang="en-US" sz="4000" b="1" dirty="0">
              <a:solidFill>
                <a:srgbClr val="33339B"/>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6849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a:extLst>
              <a:ext uri="{FF2B5EF4-FFF2-40B4-BE49-F238E27FC236}">
                <a16:creationId xmlns:a16="http://schemas.microsoft.com/office/drawing/2014/main" id="{6C75D155-25C3-19C1-F1AA-AAC226DE76FB}"/>
              </a:ext>
            </a:extLst>
          </p:cNvPr>
          <p:cNvSpPr/>
          <p:nvPr/>
        </p:nvSpPr>
        <p:spPr>
          <a:xfrm>
            <a:off x="486173" y="205503"/>
            <a:ext cx="7839680" cy="1015663"/>
          </a:xfrm>
          <a:prstGeom prst="rect">
            <a:avLst/>
          </a:prstGeom>
        </p:spPr>
        <p:txBody>
          <a:bodyPr wrap="square">
            <a:spAutoFit/>
          </a:bodyPr>
          <a:lstStyle/>
          <a:p>
            <a:r>
              <a:rPr lang="en-US" altLang="zh-CN" sz="6000" b="1" dirty="0">
                <a:solidFill>
                  <a:srgbClr val="33339B"/>
                </a:solidFill>
                <a:latin typeface="Times New Roman" panose="02020603050405020304" pitchFamily="18" charset="0"/>
                <a:cs typeface="Times New Roman" panose="02020603050405020304" pitchFamily="18" charset="0"/>
              </a:rPr>
              <a:t>Assignment</a:t>
            </a:r>
          </a:p>
        </p:txBody>
      </p:sp>
      <p:sp>
        <p:nvSpPr>
          <p:cNvPr id="6" name="矩形 5">
            <a:extLst>
              <a:ext uri="{FF2B5EF4-FFF2-40B4-BE49-F238E27FC236}">
                <a16:creationId xmlns:a16="http://schemas.microsoft.com/office/drawing/2014/main" id="{C0D5B375-295B-41AB-90D3-56F5A18CEF36}"/>
              </a:ext>
            </a:extLst>
          </p:cNvPr>
          <p:cNvSpPr/>
          <p:nvPr/>
        </p:nvSpPr>
        <p:spPr>
          <a:xfrm>
            <a:off x="184150" y="1946754"/>
            <a:ext cx="11480800" cy="3747180"/>
          </a:xfrm>
          <a:prstGeom prst="rect">
            <a:avLst/>
          </a:prstGeom>
        </p:spPr>
        <p:txBody>
          <a:bodyPr wrap="square">
            <a:spAutoFit/>
          </a:bodyPr>
          <a:lstStyle/>
          <a:p>
            <a:pPr marL="971550" lvl="1" indent="-514350" algn="just">
              <a:lnSpc>
                <a:spcPct val="125000"/>
              </a:lnSpc>
              <a:buFont typeface="+mj-ea"/>
              <a:buAutoNum type="circleNumDbPlain" startAt="5"/>
            </a:pPr>
            <a:r>
              <a:rPr lang="en-US" altLang="zh-CN" sz="2000" b="1" dirty="0">
                <a:solidFill>
                  <a:prstClr val="black"/>
                </a:solidFill>
                <a:cs typeface="Times New Roman" panose="02020603050405020304" pitchFamily="18" charset="0"/>
              </a:rPr>
              <a:t>Scenario: </a:t>
            </a:r>
            <a:r>
              <a:rPr lang="en-US" altLang="zh-CN" sz="2000" dirty="0">
                <a:solidFill>
                  <a:prstClr val="black"/>
                </a:solidFill>
                <a:latin typeface="Times New Roman" panose="02020603050405020304" pitchFamily="18" charset="0"/>
                <a:cs typeface="Times New Roman" panose="02020603050405020304" pitchFamily="18" charset="0"/>
              </a:rPr>
              <a:t>You can use real-world database scenarios as the context for this experiment, including but not limited to the given example: </a:t>
            </a:r>
            <a:r>
              <a:rPr lang="en-US" altLang="zh-CN" sz="2000" dirty="0">
                <a:solidFill>
                  <a:srgbClr val="C00000"/>
                </a:solidFill>
                <a:latin typeface="Times New Roman" panose="02020603050405020304" pitchFamily="18" charset="0"/>
                <a:cs typeface="Times New Roman" panose="02020603050405020304" pitchFamily="18" charset="0"/>
              </a:rPr>
              <a:t>Internet Bookstore </a:t>
            </a:r>
            <a:r>
              <a:rPr lang="en-US" altLang="zh-CN" sz="2000" dirty="0">
                <a:solidFill>
                  <a:prstClr val="black"/>
                </a:solidFill>
                <a:latin typeface="Times New Roman" panose="02020603050405020304" pitchFamily="18" charset="0"/>
                <a:cs typeface="Times New Roman" panose="02020603050405020304" pitchFamily="18" charset="0"/>
              </a:rPr>
              <a:t>.</a:t>
            </a:r>
          </a:p>
          <a:p>
            <a:pPr lvl="1" algn="just">
              <a:lnSpc>
                <a:spcPct val="125000"/>
              </a:lnSpc>
            </a:pPr>
            <a:r>
              <a:rPr lang="en-US" altLang="zh-CN" sz="2000" b="1" dirty="0">
                <a:solidFill>
                  <a:prstClr val="black"/>
                </a:solidFill>
                <a:cs typeface="Times New Roman" panose="02020603050405020304" pitchFamily="18" charset="0"/>
              </a:rPr>
              <a:t>	</a:t>
            </a:r>
          </a:p>
          <a:p>
            <a:pPr lvl="1" algn="just">
              <a:lnSpc>
                <a:spcPct val="125000"/>
              </a:lnSpc>
            </a:pPr>
            <a:r>
              <a:rPr lang="en-US" altLang="zh-CN" sz="2000" b="1" dirty="0">
                <a:solidFill>
                  <a:prstClr val="black"/>
                </a:solidFill>
                <a:cs typeface="Times New Roman" panose="02020603050405020304" pitchFamily="18" charset="0"/>
              </a:rPr>
              <a:t>	Note: </a:t>
            </a:r>
            <a:r>
              <a:rPr lang="en-US" altLang="zh-CN" sz="2000" dirty="0">
                <a:solidFill>
                  <a:srgbClr val="C00000"/>
                </a:solidFill>
                <a:cs typeface="Times New Roman" panose="02020603050405020304" pitchFamily="18" charset="0"/>
              </a:rPr>
              <a:t>Internet Bookstore </a:t>
            </a:r>
            <a:r>
              <a:rPr lang="en-US" altLang="zh-CN" sz="2000" dirty="0">
                <a:solidFill>
                  <a:prstClr val="black"/>
                </a:solidFill>
                <a:cs typeface="Times New Roman" panose="02020603050405020304" pitchFamily="18" charset="0"/>
              </a:rPr>
              <a:t>is a classic example, providing a reference and defining the scope of the task. But it also has some mandatory:</a:t>
            </a:r>
          </a:p>
          <a:p>
            <a:pPr marL="800100" lvl="1" indent="-342900" algn="just">
              <a:lnSpc>
                <a:spcPct val="125000"/>
              </a:lnSpc>
              <a:buFont typeface="Arial" panose="020B0604020202020204" pitchFamily="34" charset="0"/>
              <a:buChar char="•"/>
            </a:pPr>
            <a:r>
              <a:rPr lang="en-US" altLang="zh-CN" dirty="0">
                <a:solidFill>
                  <a:srgbClr val="C00000"/>
                </a:solidFill>
                <a:latin typeface="Times New Roman" panose="02020603050405020304" pitchFamily="18" charset="0"/>
                <a:cs typeface="Times New Roman" panose="02020603050405020304" pitchFamily="18" charset="0"/>
              </a:rPr>
              <a:t>Internet Bookstore </a:t>
            </a:r>
            <a:r>
              <a:rPr lang="en-US" altLang="zh-CN" dirty="0">
                <a:solidFill>
                  <a:prstClr val="black"/>
                </a:solidFill>
                <a:latin typeface="Times New Roman" panose="02020603050405020304" pitchFamily="18" charset="0"/>
                <a:cs typeface="Times New Roman" panose="02020603050405020304" pitchFamily="18" charset="0"/>
              </a:rPr>
              <a:t>is the most basic requirement. The </a:t>
            </a:r>
            <a:r>
              <a:rPr lang="en-US" altLang="zh-CN" b="1" dirty="0">
                <a:solidFill>
                  <a:prstClr val="black"/>
                </a:solidFill>
                <a:latin typeface="Times New Roman" panose="02020603050405020304" pitchFamily="18" charset="0"/>
                <a:cs typeface="Times New Roman" panose="02020603050405020304" pitchFamily="18" charset="0"/>
              </a:rPr>
              <a:t>complexity and difficulty of the database scenario</a:t>
            </a:r>
            <a:r>
              <a:rPr lang="en-US" altLang="zh-CN" dirty="0">
                <a:solidFill>
                  <a:prstClr val="black"/>
                </a:solidFill>
                <a:latin typeface="Times New Roman" panose="02020603050405020304" pitchFamily="18" charset="0"/>
                <a:cs typeface="Times New Roman" panose="02020603050405020304" pitchFamily="18" charset="0"/>
              </a:rPr>
              <a:t> you customize should </a:t>
            </a:r>
            <a:r>
              <a:rPr lang="en-US" altLang="zh-CN" b="1" dirty="0">
                <a:solidFill>
                  <a:prstClr val="black"/>
                </a:solidFill>
                <a:latin typeface="Times New Roman" panose="02020603050405020304" pitchFamily="18" charset="0"/>
                <a:cs typeface="Times New Roman" panose="02020603050405020304" pitchFamily="18" charset="0"/>
              </a:rPr>
              <a:t>not be lower than this example. </a:t>
            </a:r>
          </a:p>
          <a:p>
            <a:pPr marL="800100" lvl="1" indent="-342900" algn="just">
              <a:lnSpc>
                <a:spcPct val="125000"/>
              </a:lnSpc>
              <a:buFont typeface="Arial" panose="020B0604020202020204" pitchFamily="34" charset="0"/>
              <a:buChar char="•"/>
            </a:pPr>
            <a:r>
              <a:rPr lang="en-US" altLang="zh-CN" dirty="0">
                <a:solidFill>
                  <a:srgbClr val="C00000"/>
                </a:solidFill>
                <a:latin typeface="Times New Roman" panose="02020603050405020304" pitchFamily="18" charset="0"/>
                <a:cs typeface="Times New Roman" panose="02020603050405020304" pitchFamily="18" charset="0"/>
              </a:rPr>
              <a:t>Internet Bookstore </a:t>
            </a:r>
            <a:r>
              <a:rPr lang="en-US" altLang="zh-CN" dirty="0">
                <a:solidFill>
                  <a:prstClr val="black"/>
                </a:solidFill>
                <a:latin typeface="Times New Roman" panose="02020603050405020304" pitchFamily="18" charset="0"/>
                <a:cs typeface="Times New Roman" panose="02020603050405020304" pitchFamily="18" charset="0"/>
              </a:rPr>
              <a:t>is not the minimum standard, and choosing it </a:t>
            </a:r>
            <a:r>
              <a:rPr lang="en-US" altLang="zh-CN" b="1" dirty="0">
                <a:solidFill>
                  <a:prstClr val="black"/>
                </a:solidFill>
                <a:latin typeface="Times New Roman" panose="02020603050405020304" pitchFamily="18" charset="0"/>
                <a:cs typeface="Times New Roman" panose="02020603050405020304" pitchFamily="18" charset="0"/>
              </a:rPr>
              <a:t>does not mean a lower score</a:t>
            </a:r>
            <a:r>
              <a:rPr lang="en-US" altLang="zh-CN" dirty="0">
                <a:solidFill>
                  <a:prstClr val="black"/>
                </a:solidFill>
                <a:latin typeface="Times New Roman" panose="02020603050405020304" pitchFamily="18" charset="0"/>
                <a:cs typeface="Times New Roman" panose="02020603050405020304" pitchFamily="18" charset="0"/>
              </a:rPr>
              <a:t>. We provide this example to guide everyone in understanding the scope and process of the required task. There is </a:t>
            </a:r>
            <a:r>
              <a:rPr lang="en-US" altLang="zh-CN" b="1" dirty="0">
                <a:solidFill>
                  <a:prstClr val="black"/>
                </a:solidFill>
                <a:latin typeface="Times New Roman" panose="02020603050405020304" pitchFamily="18" charset="0"/>
                <a:cs typeface="Times New Roman" panose="02020603050405020304" pitchFamily="18" charset="0"/>
              </a:rPr>
              <a:t>no good or bad in the database scenario</a:t>
            </a:r>
            <a:r>
              <a:rPr lang="en-US" altLang="zh-CN" dirty="0">
                <a:solidFill>
                  <a:prstClr val="black"/>
                </a:solidFill>
                <a:latin typeface="Times New Roman" panose="02020603050405020304" pitchFamily="18" charset="0"/>
                <a:cs typeface="Times New Roman" panose="02020603050405020304" pitchFamily="18" charset="0"/>
              </a:rPr>
              <a:t>; everything depends on your effort and completeness.</a:t>
            </a:r>
          </a:p>
        </p:txBody>
      </p:sp>
      <p:sp>
        <p:nvSpPr>
          <p:cNvPr id="7" name="Rectangle 6">
            <a:extLst>
              <a:ext uri="{FF2B5EF4-FFF2-40B4-BE49-F238E27FC236}">
                <a16:creationId xmlns:a16="http://schemas.microsoft.com/office/drawing/2014/main" id="{71429D8A-2720-AA1F-2B65-FF347C87B1B4}"/>
              </a:ext>
            </a:extLst>
          </p:cNvPr>
          <p:cNvSpPr/>
          <p:nvPr/>
        </p:nvSpPr>
        <p:spPr>
          <a:xfrm>
            <a:off x="486173" y="1221166"/>
            <a:ext cx="2465740" cy="707886"/>
          </a:xfrm>
          <a:prstGeom prst="rect">
            <a:avLst/>
          </a:prstGeom>
        </p:spPr>
        <p:txBody>
          <a:bodyPr wrap="none">
            <a:spAutoFit/>
          </a:bodyPr>
          <a:lstStyle/>
          <a:p>
            <a:r>
              <a:rPr lang="en-US" sz="4000" b="1" dirty="0">
                <a:solidFill>
                  <a:srgbClr val="33339B"/>
                </a:solidFill>
                <a:latin typeface="Times New Roman" panose="02020603050405020304" pitchFamily="18" charset="0"/>
                <a:cs typeface="Times New Roman" panose="02020603050405020304" pitchFamily="18" charset="0"/>
              </a:rPr>
              <a:t>1. </a:t>
            </a:r>
            <a:r>
              <a:rPr lang="en-US" altLang="zh-CN" sz="4000" b="1" dirty="0">
                <a:solidFill>
                  <a:srgbClr val="33339B"/>
                </a:solidFill>
                <a:latin typeface="Times New Roman" panose="02020603050405020304" pitchFamily="18" charset="0"/>
                <a:cs typeface="Times New Roman" panose="02020603050405020304" pitchFamily="18" charset="0"/>
              </a:rPr>
              <a:t>Content</a:t>
            </a:r>
            <a:endParaRPr lang="en-US" sz="4000" b="1" dirty="0">
              <a:solidFill>
                <a:srgbClr val="33339B"/>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47096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a:extLst>
              <a:ext uri="{FF2B5EF4-FFF2-40B4-BE49-F238E27FC236}">
                <a16:creationId xmlns:a16="http://schemas.microsoft.com/office/drawing/2014/main" id="{6C75D155-25C3-19C1-F1AA-AAC226DE76FB}"/>
              </a:ext>
            </a:extLst>
          </p:cNvPr>
          <p:cNvSpPr/>
          <p:nvPr/>
        </p:nvSpPr>
        <p:spPr>
          <a:xfrm>
            <a:off x="486173" y="205503"/>
            <a:ext cx="7839680" cy="1015663"/>
          </a:xfrm>
          <a:prstGeom prst="rect">
            <a:avLst/>
          </a:prstGeom>
        </p:spPr>
        <p:txBody>
          <a:bodyPr wrap="square">
            <a:spAutoFit/>
          </a:bodyPr>
          <a:lstStyle/>
          <a:p>
            <a:r>
              <a:rPr lang="en-US" altLang="zh-CN" sz="6000" b="1" dirty="0">
                <a:solidFill>
                  <a:srgbClr val="33339B"/>
                </a:solidFill>
                <a:latin typeface="Times New Roman" panose="02020603050405020304" pitchFamily="18" charset="0"/>
                <a:cs typeface="Times New Roman" panose="02020603050405020304" pitchFamily="18" charset="0"/>
              </a:rPr>
              <a:t>Assignment</a:t>
            </a:r>
          </a:p>
        </p:txBody>
      </p:sp>
      <p:sp>
        <p:nvSpPr>
          <p:cNvPr id="6" name="矩形 5">
            <a:extLst>
              <a:ext uri="{FF2B5EF4-FFF2-40B4-BE49-F238E27FC236}">
                <a16:creationId xmlns:a16="http://schemas.microsoft.com/office/drawing/2014/main" id="{C0D5B375-295B-41AB-90D3-56F5A18CEF36}"/>
              </a:ext>
            </a:extLst>
          </p:cNvPr>
          <p:cNvSpPr/>
          <p:nvPr/>
        </p:nvSpPr>
        <p:spPr>
          <a:xfrm>
            <a:off x="184150" y="1946754"/>
            <a:ext cx="11480800" cy="2400657"/>
          </a:xfrm>
          <a:prstGeom prst="rect">
            <a:avLst/>
          </a:prstGeom>
        </p:spPr>
        <p:txBody>
          <a:bodyPr wrap="square">
            <a:spAutoFit/>
          </a:bodyPr>
          <a:lstStyle/>
          <a:p>
            <a:pPr marL="971550" lvl="1" indent="-514350" algn="just">
              <a:lnSpc>
                <a:spcPct val="125000"/>
              </a:lnSpc>
              <a:buFont typeface="+mj-ea"/>
              <a:buAutoNum type="circleNumDbPlain" startAt="6"/>
            </a:pPr>
            <a:r>
              <a:rPr lang="en-US" altLang="zh-CN" sz="2000" b="1" dirty="0">
                <a:solidFill>
                  <a:prstClr val="black"/>
                </a:solidFill>
                <a:cs typeface="Times New Roman" panose="02020603050405020304" pitchFamily="18" charset="0"/>
              </a:rPr>
              <a:t>Function Requirements: </a:t>
            </a:r>
          </a:p>
          <a:p>
            <a:pPr lvl="1" algn="just">
              <a:lnSpc>
                <a:spcPct val="125000"/>
              </a:lnSpc>
            </a:pPr>
            <a:r>
              <a:rPr lang="en-US" altLang="zh-CN" sz="2000" b="1" dirty="0">
                <a:solidFill>
                  <a:prstClr val="black"/>
                </a:solidFill>
                <a:latin typeface="Times New Roman" panose="02020603050405020304" pitchFamily="18" charset="0"/>
                <a:cs typeface="Times New Roman" panose="02020603050405020304" pitchFamily="18" charset="0"/>
              </a:rPr>
              <a:t>	</a:t>
            </a:r>
            <a:r>
              <a:rPr lang="en-US" altLang="zh-CN" sz="2000" dirty="0">
                <a:solidFill>
                  <a:prstClr val="black"/>
                </a:solidFill>
                <a:latin typeface="Times New Roman" panose="02020603050405020304" pitchFamily="18" charset="0"/>
                <a:cs typeface="Times New Roman" panose="02020603050405020304" pitchFamily="18" charset="0"/>
              </a:rPr>
              <a:t>Implement possible functions and interfaces for the scenario you have defined. The interface will be presented as web pages for the Web system ,or as new windows or UI in the Apps. </a:t>
            </a:r>
          </a:p>
          <a:p>
            <a:pPr lvl="1" algn="just">
              <a:lnSpc>
                <a:spcPct val="125000"/>
              </a:lnSpc>
            </a:pPr>
            <a:r>
              <a:rPr lang="en-US" altLang="zh-CN" sz="2000" dirty="0">
                <a:solidFill>
                  <a:prstClr val="black"/>
                </a:solidFill>
                <a:latin typeface="Times New Roman" panose="02020603050405020304" pitchFamily="18" charset="0"/>
                <a:cs typeface="Times New Roman" panose="02020603050405020304" pitchFamily="18" charset="0"/>
              </a:rPr>
              <a:t>	To provide a unified technical path for everyone to experiment with, we take </a:t>
            </a:r>
            <a:r>
              <a:rPr lang="en-US" altLang="zh-CN" sz="2000" dirty="0">
                <a:solidFill>
                  <a:srgbClr val="C00000"/>
                </a:solidFill>
                <a:latin typeface="Times New Roman" panose="02020603050405020304" pitchFamily="18" charset="0"/>
                <a:cs typeface="Times New Roman" panose="02020603050405020304" pitchFamily="18" charset="0"/>
              </a:rPr>
              <a:t>Internet Bookstore </a:t>
            </a:r>
            <a:r>
              <a:rPr lang="en-US" altLang="zh-CN" sz="2000" dirty="0">
                <a:solidFill>
                  <a:prstClr val="black"/>
                </a:solidFill>
                <a:latin typeface="Times New Roman" panose="02020603050405020304" pitchFamily="18" charset="0"/>
                <a:cs typeface="Times New Roman" panose="02020603050405020304" pitchFamily="18" charset="0"/>
              </a:rPr>
              <a:t>as an example. The following pages must be implemented </a:t>
            </a:r>
            <a:r>
              <a:rPr lang="en-US" altLang="zh-CN" sz="2000" b="1" dirty="0">
                <a:solidFill>
                  <a:prstClr val="black"/>
                </a:solidFill>
                <a:latin typeface="Times New Roman" panose="02020603050405020304" pitchFamily="18" charset="0"/>
                <a:cs typeface="Times New Roman" panose="02020603050405020304" pitchFamily="18" charset="0"/>
              </a:rPr>
              <a:t>(</a:t>
            </a:r>
            <a:r>
              <a:rPr lang="en-US" altLang="zh-CN" sz="2000" b="1" dirty="0">
                <a:solidFill>
                  <a:srgbClr val="C00000"/>
                </a:solidFill>
                <a:latin typeface="Times New Roman" panose="02020603050405020304" pitchFamily="18" charset="0"/>
                <a:cs typeface="Times New Roman" panose="02020603050405020304" pitchFamily="18" charset="0"/>
              </a:rPr>
              <a:t>All pages needed</a:t>
            </a:r>
            <a:r>
              <a:rPr lang="en-US" altLang="zh-CN" sz="2000" b="1" dirty="0">
                <a:solidFill>
                  <a:prstClr val="black"/>
                </a:solidFill>
                <a:latin typeface="Times New Roman" panose="02020603050405020304" pitchFamily="18" charset="0"/>
                <a:cs typeface="Times New Roman" panose="02020603050405020304" pitchFamily="18" charset="0"/>
              </a:rPr>
              <a:t>):</a:t>
            </a:r>
          </a:p>
          <a:p>
            <a:pPr lvl="1" algn="just">
              <a:lnSpc>
                <a:spcPct val="125000"/>
              </a:lnSpc>
            </a:pPr>
            <a:endParaRPr lang="en-US" altLang="zh-CN" sz="2000" dirty="0">
              <a:solidFill>
                <a:prstClr val="black"/>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71429D8A-2720-AA1F-2B65-FF347C87B1B4}"/>
              </a:ext>
            </a:extLst>
          </p:cNvPr>
          <p:cNvSpPr/>
          <p:nvPr/>
        </p:nvSpPr>
        <p:spPr>
          <a:xfrm>
            <a:off x="486173" y="1221166"/>
            <a:ext cx="2465740" cy="707886"/>
          </a:xfrm>
          <a:prstGeom prst="rect">
            <a:avLst/>
          </a:prstGeom>
        </p:spPr>
        <p:txBody>
          <a:bodyPr wrap="none">
            <a:spAutoFit/>
          </a:bodyPr>
          <a:lstStyle/>
          <a:p>
            <a:r>
              <a:rPr lang="en-US" sz="4000" b="1" dirty="0">
                <a:solidFill>
                  <a:srgbClr val="33339B"/>
                </a:solidFill>
                <a:latin typeface="Times New Roman" panose="02020603050405020304" pitchFamily="18" charset="0"/>
                <a:cs typeface="Times New Roman" panose="02020603050405020304" pitchFamily="18" charset="0"/>
              </a:rPr>
              <a:t>1. </a:t>
            </a:r>
            <a:r>
              <a:rPr lang="en-US" altLang="zh-CN" sz="4000" b="1" dirty="0">
                <a:solidFill>
                  <a:srgbClr val="33339B"/>
                </a:solidFill>
                <a:latin typeface="Times New Roman" panose="02020603050405020304" pitchFamily="18" charset="0"/>
                <a:cs typeface="Times New Roman" panose="02020603050405020304" pitchFamily="18" charset="0"/>
              </a:rPr>
              <a:t>Content</a:t>
            </a:r>
            <a:endParaRPr lang="en-US" sz="4000" b="1" dirty="0">
              <a:solidFill>
                <a:srgbClr val="33339B"/>
              </a:solidFill>
              <a:latin typeface="Times New Roman" panose="02020603050405020304" pitchFamily="18" charset="0"/>
              <a:cs typeface="Times New Roman" panose="02020603050405020304" pitchFamily="18" charset="0"/>
            </a:endParaRPr>
          </a:p>
        </p:txBody>
      </p:sp>
      <p:sp>
        <p:nvSpPr>
          <p:cNvPr id="5" name="矩形 4">
            <a:extLst>
              <a:ext uri="{FF2B5EF4-FFF2-40B4-BE49-F238E27FC236}">
                <a16:creationId xmlns:a16="http://schemas.microsoft.com/office/drawing/2014/main" id="{F9EB3C46-3AA0-FC71-6793-8DC1123EB593}"/>
              </a:ext>
            </a:extLst>
          </p:cNvPr>
          <p:cNvSpPr/>
          <p:nvPr/>
        </p:nvSpPr>
        <p:spPr>
          <a:xfrm>
            <a:off x="3948417" y="3995263"/>
            <a:ext cx="3952266" cy="2677656"/>
          </a:xfrm>
          <a:prstGeom prst="rect">
            <a:avLst/>
          </a:prstGeom>
          <a:ln w="25400">
            <a:solidFill>
              <a:srgbClr val="33339B"/>
            </a:solidFill>
          </a:ln>
        </p:spPr>
        <p:txBody>
          <a:bodyPr wrap="square">
            <a:spAutoFit/>
          </a:bodyPr>
          <a:lstStyle/>
          <a:p>
            <a:pPr marL="971550" lvl="1" indent="-514350">
              <a:lnSpc>
                <a:spcPct val="120000"/>
              </a:lnSpc>
              <a:buFont typeface="+mj-lt"/>
              <a:buAutoNum type="romanUcPeriod"/>
            </a:pPr>
            <a:r>
              <a:rPr lang="en-US" sz="2000" b="1" dirty="0">
                <a:solidFill>
                  <a:srgbClr val="000000"/>
                </a:solidFill>
                <a:latin typeface="Times New Roman" panose="02020603050405020304" pitchFamily="18" charset="0"/>
                <a:cs typeface="Times New Roman" panose="02020603050405020304" pitchFamily="18" charset="0"/>
              </a:rPr>
              <a:t>Home Page </a:t>
            </a:r>
          </a:p>
          <a:p>
            <a:pPr marL="971550" lvl="1" indent="-514350">
              <a:lnSpc>
                <a:spcPct val="120000"/>
              </a:lnSpc>
              <a:buFont typeface="+mj-lt"/>
              <a:buAutoNum type="romanUcPeriod"/>
            </a:pPr>
            <a:r>
              <a:rPr lang="en-US" sz="2000" b="1" dirty="0">
                <a:solidFill>
                  <a:srgbClr val="000000"/>
                </a:solidFill>
                <a:latin typeface="Times New Roman" panose="02020603050405020304" pitchFamily="18" charset="0"/>
                <a:cs typeface="Times New Roman" panose="02020603050405020304" pitchFamily="18" charset="0"/>
              </a:rPr>
              <a:t>Search Page </a:t>
            </a:r>
          </a:p>
          <a:p>
            <a:pPr marL="971550" lvl="1" indent="-514350">
              <a:lnSpc>
                <a:spcPct val="120000"/>
              </a:lnSpc>
              <a:buFont typeface="+mj-lt"/>
              <a:buAutoNum type="romanUcPeriod"/>
            </a:pPr>
            <a:r>
              <a:rPr lang="en-US" sz="2000" b="1" dirty="0">
                <a:solidFill>
                  <a:srgbClr val="000000"/>
                </a:solidFill>
                <a:latin typeface="Times New Roman" panose="02020603050405020304" pitchFamily="18" charset="0"/>
                <a:cs typeface="Times New Roman" panose="02020603050405020304" pitchFamily="18" charset="0"/>
              </a:rPr>
              <a:t>Book Information Page </a:t>
            </a:r>
          </a:p>
          <a:p>
            <a:pPr marL="971550" lvl="1" indent="-514350">
              <a:lnSpc>
                <a:spcPct val="120000"/>
              </a:lnSpc>
              <a:buFont typeface="+mj-lt"/>
              <a:buAutoNum type="romanUcPeriod"/>
            </a:pPr>
            <a:r>
              <a:rPr lang="en-US" sz="2000" b="1" dirty="0">
                <a:solidFill>
                  <a:srgbClr val="000000"/>
                </a:solidFill>
                <a:latin typeface="Times New Roman" panose="02020603050405020304" pitchFamily="18" charset="0"/>
                <a:cs typeface="Times New Roman" panose="02020603050405020304" pitchFamily="18" charset="0"/>
              </a:rPr>
              <a:t>Account Creation Page </a:t>
            </a:r>
          </a:p>
          <a:p>
            <a:pPr marL="971550" lvl="1" indent="-514350">
              <a:lnSpc>
                <a:spcPct val="120000"/>
              </a:lnSpc>
              <a:buFont typeface="+mj-lt"/>
              <a:buAutoNum type="romanUcPeriod"/>
            </a:pPr>
            <a:r>
              <a:rPr lang="en-US" sz="2000" b="1" dirty="0">
                <a:solidFill>
                  <a:srgbClr val="000000"/>
                </a:solidFill>
                <a:latin typeface="Times New Roman" panose="02020603050405020304" pitchFamily="18" charset="0"/>
                <a:cs typeface="Times New Roman" panose="02020603050405020304" pitchFamily="18" charset="0"/>
              </a:rPr>
              <a:t>Shopping Basket </a:t>
            </a:r>
            <a:r>
              <a:rPr lang="en-US" altLang="zh-CN" sz="2000" b="1" dirty="0">
                <a:solidFill>
                  <a:srgbClr val="000000"/>
                </a:solidFill>
                <a:latin typeface="Times New Roman" panose="02020603050405020304" pitchFamily="18" charset="0"/>
                <a:cs typeface="Times New Roman" panose="02020603050405020304" pitchFamily="18" charset="0"/>
              </a:rPr>
              <a:t>Page</a:t>
            </a:r>
            <a:r>
              <a:rPr lang="en-US" sz="2000" b="1" dirty="0">
                <a:solidFill>
                  <a:srgbClr val="000000"/>
                </a:solidFill>
                <a:latin typeface="Times New Roman" panose="02020603050405020304" pitchFamily="18" charset="0"/>
                <a:cs typeface="Times New Roman" panose="02020603050405020304" pitchFamily="18" charset="0"/>
              </a:rPr>
              <a:t> </a:t>
            </a:r>
          </a:p>
          <a:p>
            <a:pPr marL="971550" lvl="1" indent="-514350">
              <a:lnSpc>
                <a:spcPct val="120000"/>
              </a:lnSpc>
              <a:buFont typeface="+mj-lt"/>
              <a:buAutoNum type="romanUcPeriod"/>
            </a:pPr>
            <a:r>
              <a:rPr lang="en-US" sz="2000" b="1" dirty="0">
                <a:solidFill>
                  <a:srgbClr val="000000"/>
                </a:solidFill>
                <a:latin typeface="Times New Roman" panose="02020603050405020304" pitchFamily="18" charset="0"/>
                <a:cs typeface="Times New Roman" panose="02020603050405020304" pitchFamily="18" charset="0"/>
              </a:rPr>
              <a:t>Login Page</a:t>
            </a:r>
          </a:p>
          <a:p>
            <a:pPr marL="971550" lvl="1" indent="-514350">
              <a:lnSpc>
                <a:spcPct val="120000"/>
              </a:lnSpc>
              <a:buFont typeface="+mj-lt"/>
              <a:buAutoNum type="romanUcPeriod"/>
            </a:pPr>
            <a:r>
              <a:rPr lang="en-US" sz="2000" b="1" dirty="0">
                <a:solidFill>
                  <a:srgbClr val="000000"/>
                </a:solidFill>
                <a:latin typeface="Times New Roman" panose="02020603050405020304" pitchFamily="18" charset="0"/>
                <a:cs typeface="Times New Roman" panose="02020603050405020304" pitchFamily="18" charset="0"/>
              </a:rPr>
              <a:t>Checkout Page</a:t>
            </a:r>
          </a:p>
        </p:txBody>
      </p:sp>
    </p:spTree>
    <p:extLst>
      <p:ext uri="{BB962C8B-B14F-4D97-AF65-F5344CB8AC3E}">
        <p14:creationId xmlns:p14="http://schemas.microsoft.com/office/powerpoint/2010/main" val="3824017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a:extLst>
              <a:ext uri="{FF2B5EF4-FFF2-40B4-BE49-F238E27FC236}">
                <a16:creationId xmlns:a16="http://schemas.microsoft.com/office/drawing/2014/main" id="{6C75D155-25C3-19C1-F1AA-AAC226DE76FB}"/>
              </a:ext>
            </a:extLst>
          </p:cNvPr>
          <p:cNvSpPr/>
          <p:nvPr/>
        </p:nvSpPr>
        <p:spPr>
          <a:xfrm>
            <a:off x="486173" y="205503"/>
            <a:ext cx="7839680" cy="1015663"/>
          </a:xfrm>
          <a:prstGeom prst="rect">
            <a:avLst/>
          </a:prstGeom>
        </p:spPr>
        <p:txBody>
          <a:bodyPr wrap="square">
            <a:spAutoFit/>
          </a:bodyPr>
          <a:lstStyle/>
          <a:p>
            <a:r>
              <a:rPr lang="en-US" altLang="zh-CN" sz="6000" b="1" dirty="0">
                <a:solidFill>
                  <a:srgbClr val="33339B"/>
                </a:solidFill>
                <a:latin typeface="Times New Roman" panose="02020603050405020304" pitchFamily="18" charset="0"/>
                <a:cs typeface="Times New Roman" panose="02020603050405020304" pitchFamily="18" charset="0"/>
              </a:rPr>
              <a:t>Assignment</a:t>
            </a:r>
          </a:p>
        </p:txBody>
      </p:sp>
      <p:sp>
        <p:nvSpPr>
          <p:cNvPr id="6" name="矩形 5">
            <a:extLst>
              <a:ext uri="{FF2B5EF4-FFF2-40B4-BE49-F238E27FC236}">
                <a16:creationId xmlns:a16="http://schemas.microsoft.com/office/drawing/2014/main" id="{C0D5B375-295B-41AB-90D3-56F5A18CEF36}"/>
              </a:ext>
            </a:extLst>
          </p:cNvPr>
          <p:cNvSpPr/>
          <p:nvPr/>
        </p:nvSpPr>
        <p:spPr>
          <a:xfrm>
            <a:off x="184150" y="1946754"/>
            <a:ext cx="11480800" cy="1210396"/>
          </a:xfrm>
          <a:prstGeom prst="rect">
            <a:avLst/>
          </a:prstGeom>
        </p:spPr>
        <p:txBody>
          <a:bodyPr wrap="square">
            <a:spAutoFit/>
          </a:bodyPr>
          <a:lstStyle/>
          <a:p>
            <a:pPr marL="971550" lvl="1" indent="-514350" algn="just">
              <a:lnSpc>
                <a:spcPct val="125000"/>
              </a:lnSpc>
              <a:buFont typeface="+mj-ea"/>
              <a:buAutoNum type="circleNumDbPlain" startAt="7"/>
            </a:pPr>
            <a:r>
              <a:rPr lang="en-US" altLang="zh-CN" sz="2000" b="1" dirty="0">
                <a:solidFill>
                  <a:prstClr val="black"/>
                </a:solidFill>
                <a:cs typeface="Times New Roman" panose="02020603050405020304" pitchFamily="18" charset="0"/>
              </a:rPr>
              <a:t>Function Framework : </a:t>
            </a:r>
            <a:r>
              <a:rPr lang="en-US" altLang="zh-CN" sz="2000" dirty="0">
                <a:solidFill>
                  <a:prstClr val="black"/>
                </a:solidFill>
                <a:latin typeface="Times New Roman" panose="02020603050405020304" pitchFamily="18" charset="0"/>
                <a:cs typeface="Times New Roman" panose="02020603050405020304" pitchFamily="18" charset="0"/>
              </a:rPr>
              <a:t>The relationship between the above pages is as follows. The following relationships are provided as a reference only. You can design a more flexible framework and presentation method.</a:t>
            </a:r>
          </a:p>
        </p:txBody>
      </p:sp>
      <p:sp>
        <p:nvSpPr>
          <p:cNvPr id="7" name="Rectangle 6">
            <a:extLst>
              <a:ext uri="{FF2B5EF4-FFF2-40B4-BE49-F238E27FC236}">
                <a16:creationId xmlns:a16="http://schemas.microsoft.com/office/drawing/2014/main" id="{71429D8A-2720-AA1F-2B65-FF347C87B1B4}"/>
              </a:ext>
            </a:extLst>
          </p:cNvPr>
          <p:cNvSpPr/>
          <p:nvPr/>
        </p:nvSpPr>
        <p:spPr>
          <a:xfrm>
            <a:off x="486173" y="1221166"/>
            <a:ext cx="2465740" cy="707886"/>
          </a:xfrm>
          <a:prstGeom prst="rect">
            <a:avLst/>
          </a:prstGeom>
        </p:spPr>
        <p:txBody>
          <a:bodyPr wrap="none">
            <a:spAutoFit/>
          </a:bodyPr>
          <a:lstStyle/>
          <a:p>
            <a:r>
              <a:rPr lang="en-US" sz="4000" b="1" dirty="0">
                <a:solidFill>
                  <a:srgbClr val="33339B"/>
                </a:solidFill>
                <a:latin typeface="Times New Roman" panose="02020603050405020304" pitchFamily="18" charset="0"/>
                <a:cs typeface="Times New Roman" panose="02020603050405020304" pitchFamily="18" charset="0"/>
              </a:rPr>
              <a:t>1. </a:t>
            </a:r>
            <a:r>
              <a:rPr lang="en-US" altLang="zh-CN" sz="4000" b="1" dirty="0">
                <a:solidFill>
                  <a:srgbClr val="33339B"/>
                </a:solidFill>
                <a:latin typeface="Times New Roman" panose="02020603050405020304" pitchFamily="18" charset="0"/>
                <a:cs typeface="Times New Roman" panose="02020603050405020304" pitchFamily="18" charset="0"/>
              </a:rPr>
              <a:t>Content</a:t>
            </a:r>
            <a:endParaRPr lang="en-US" sz="4000" b="1" dirty="0">
              <a:solidFill>
                <a:srgbClr val="33339B"/>
              </a:solidFill>
              <a:latin typeface="Times New Roman" panose="02020603050405020304" pitchFamily="18" charset="0"/>
              <a:cs typeface="Times New Roman" panose="02020603050405020304" pitchFamily="18" charset="0"/>
            </a:endParaRPr>
          </a:p>
        </p:txBody>
      </p:sp>
      <p:grpSp>
        <p:nvGrpSpPr>
          <p:cNvPr id="26" name="组合 25"/>
          <p:cNvGrpSpPr/>
          <p:nvPr/>
        </p:nvGrpSpPr>
        <p:grpSpPr>
          <a:xfrm>
            <a:off x="3825240" y="2979420"/>
            <a:ext cx="5006340" cy="3665220"/>
            <a:chOff x="3823228" y="2750820"/>
            <a:chExt cx="5401851" cy="3954780"/>
          </a:xfrm>
        </p:grpSpPr>
        <p:sp>
          <p:nvSpPr>
            <p:cNvPr id="5" name="矩形: 圆角 3">
              <a:extLst>
                <a:ext uri="{FF2B5EF4-FFF2-40B4-BE49-F238E27FC236}">
                  <a16:creationId xmlns:a16="http://schemas.microsoft.com/office/drawing/2014/main" id="{6547CCAA-EBE7-D186-FDA6-834F1638CA80}"/>
                </a:ext>
              </a:extLst>
            </p:cNvPr>
            <p:cNvSpPr/>
            <p:nvPr/>
          </p:nvSpPr>
          <p:spPr>
            <a:xfrm>
              <a:off x="5566291" y="3118058"/>
              <a:ext cx="1511675" cy="446460"/>
            </a:xfrm>
            <a:prstGeom prst="roundRect">
              <a:avLst/>
            </a:prstGeom>
            <a:noFill/>
            <a:ln w="57150">
              <a:solidFill>
                <a:srgbClr val="3333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2060"/>
                  </a:solidFill>
                  <a:ea typeface="+mj-ea"/>
                </a:rPr>
                <a:t>Home Page</a:t>
              </a:r>
              <a:endParaRPr lang="zh-CN" altLang="en-US" sz="1600" b="1" dirty="0">
                <a:solidFill>
                  <a:srgbClr val="002060"/>
                </a:solidFill>
                <a:ea typeface="+mj-ea"/>
              </a:endParaRPr>
            </a:p>
          </p:txBody>
        </p:sp>
        <p:sp>
          <p:nvSpPr>
            <p:cNvPr id="8" name="箭头: 下 4">
              <a:extLst>
                <a:ext uri="{FF2B5EF4-FFF2-40B4-BE49-F238E27FC236}">
                  <a16:creationId xmlns:a16="http://schemas.microsoft.com/office/drawing/2014/main" id="{495581CE-AE2A-FFB3-AB08-2443CA4FB83C}"/>
                </a:ext>
              </a:extLst>
            </p:cNvPr>
            <p:cNvSpPr/>
            <p:nvPr/>
          </p:nvSpPr>
          <p:spPr>
            <a:xfrm>
              <a:off x="6186133" y="2839017"/>
              <a:ext cx="239564" cy="268341"/>
            </a:xfrm>
            <a:prstGeom prst="downArrow">
              <a:avLst/>
            </a:prstGeom>
            <a:solidFill>
              <a:srgbClr val="002060"/>
            </a:solidFill>
            <a:ln>
              <a:solidFill>
                <a:srgbClr val="3333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ea typeface="+mj-ea"/>
              </a:endParaRPr>
            </a:p>
          </p:txBody>
        </p:sp>
        <p:sp>
          <p:nvSpPr>
            <p:cNvPr id="9" name="矩形: 圆角 5">
              <a:extLst>
                <a:ext uri="{FF2B5EF4-FFF2-40B4-BE49-F238E27FC236}">
                  <a16:creationId xmlns:a16="http://schemas.microsoft.com/office/drawing/2014/main" id="{D887B57C-A449-58CD-453C-D72BA511CD8F}"/>
                </a:ext>
              </a:extLst>
            </p:cNvPr>
            <p:cNvSpPr/>
            <p:nvPr/>
          </p:nvSpPr>
          <p:spPr>
            <a:xfrm>
              <a:off x="3954780" y="3871646"/>
              <a:ext cx="2293953" cy="446460"/>
            </a:xfrm>
            <a:prstGeom prst="roundRect">
              <a:avLst/>
            </a:prstGeom>
            <a:noFill/>
            <a:ln w="57150">
              <a:solidFill>
                <a:srgbClr val="3333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2060"/>
                  </a:solidFill>
                  <a:ea typeface="+mj-ea"/>
                </a:rPr>
                <a:t>Account Creation Page</a:t>
              </a:r>
              <a:endParaRPr lang="zh-CN" altLang="en-US" sz="1600" b="1" dirty="0">
                <a:solidFill>
                  <a:srgbClr val="002060"/>
                </a:solidFill>
                <a:ea typeface="+mj-ea"/>
              </a:endParaRPr>
            </a:p>
          </p:txBody>
        </p:sp>
        <p:sp>
          <p:nvSpPr>
            <p:cNvPr id="10" name="矩形: 圆角 7">
              <a:extLst>
                <a:ext uri="{FF2B5EF4-FFF2-40B4-BE49-F238E27FC236}">
                  <a16:creationId xmlns:a16="http://schemas.microsoft.com/office/drawing/2014/main" id="{567DDE48-B065-E51A-02C0-51B04044CE71}"/>
                </a:ext>
              </a:extLst>
            </p:cNvPr>
            <p:cNvSpPr/>
            <p:nvPr/>
          </p:nvSpPr>
          <p:spPr>
            <a:xfrm>
              <a:off x="5245633" y="4628098"/>
              <a:ext cx="1323548" cy="446460"/>
            </a:xfrm>
            <a:prstGeom prst="roundRect">
              <a:avLst/>
            </a:prstGeom>
            <a:noFill/>
            <a:ln w="57150">
              <a:solidFill>
                <a:srgbClr val="3333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2060"/>
                  </a:solidFill>
                  <a:ea typeface="+mj-ea"/>
                </a:rPr>
                <a:t>Login Page</a:t>
              </a:r>
              <a:endParaRPr lang="zh-CN" altLang="en-US" sz="1600" b="1" dirty="0">
                <a:solidFill>
                  <a:srgbClr val="002060"/>
                </a:solidFill>
                <a:ea typeface="+mj-ea"/>
              </a:endParaRPr>
            </a:p>
          </p:txBody>
        </p:sp>
        <p:sp>
          <p:nvSpPr>
            <p:cNvPr id="11" name="箭头: 下 8">
              <a:extLst>
                <a:ext uri="{FF2B5EF4-FFF2-40B4-BE49-F238E27FC236}">
                  <a16:creationId xmlns:a16="http://schemas.microsoft.com/office/drawing/2014/main" id="{3837AA1A-A447-AB32-1999-96B5A73348CB}"/>
                </a:ext>
              </a:extLst>
            </p:cNvPr>
            <p:cNvSpPr/>
            <p:nvPr/>
          </p:nvSpPr>
          <p:spPr>
            <a:xfrm>
              <a:off x="6288499" y="3584107"/>
              <a:ext cx="157545" cy="1000218"/>
            </a:xfrm>
            <a:prstGeom prst="downArrow">
              <a:avLst/>
            </a:prstGeom>
            <a:solidFill>
              <a:srgbClr val="002060"/>
            </a:solidFill>
            <a:ln>
              <a:solidFill>
                <a:srgbClr val="3333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ea typeface="+mj-ea"/>
              </a:endParaRPr>
            </a:p>
          </p:txBody>
        </p:sp>
        <p:sp>
          <p:nvSpPr>
            <p:cNvPr id="12" name="矩形: 圆角 9">
              <a:extLst>
                <a:ext uri="{FF2B5EF4-FFF2-40B4-BE49-F238E27FC236}">
                  <a16:creationId xmlns:a16="http://schemas.microsoft.com/office/drawing/2014/main" id="{48676C51-DA90-4476-4F8E-985E9F7F135B}"/>
                </a:ext>
              </a:extLst>
            </p:cNvPr>
            <p:cNvSpPr/>
            <p:nvPr/>
          </p:nvSpPr>
          <p:spPr>
            <a:xfrm>
              <a:off x="6569182" y="3869788"/>
              <a:ext cx="1584219" cy="446460"/>
            </a:xfrm>
            <a:prstGeom prst="roundRect">
              <a:avLst/>
            </a:prstGeom>
            <a:noFill/>
            <a:ln w="57150">
              <a:solidFill>
                <a:srgbClr val="3333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2060"/>
                  </a:solidFill>
                  <a:ea typeface="+mj-ea"/>
                </a:rPr>
                <a:t>Search Page</a:t>
              </a:r>
              <a:endParaRPr lang="zh-CN" altLang="en-US" sz="1600" b="1" dirty="0">
                <a:solidFill>
                  <a:srgbClr val="002060"/>
                </a:solidFill>
                <a:ea typeface="+mj-ea"/>
              </a:endParaRPr>
            </a:p>
          </p:txBody>
        </p:sp>
        <p:sp>
          <p:nvSpPr>
            <p:cNvPr id="13" name="矩形: 圆角 11">
              <a:extLst>
                <a:ext uri="{FF2B5EF4-FFF2-40B4-BE49-F238E27FC236}">
                  <a16:creationId xmlns:a16="http://schemas.microsoft.com/office/drawing/2014/main" id="{D9D2BBF2-5AA5-7975-086F-5793FC0154EC}"/>
                </a:ext>
              </a:extLst>
            </p:cNvPr>
            <p:cNvSpPr/>
            <p:nvPr/>
          </p:nvSpPr>
          <p:spPr>
            <a:xfrm>
              <a:off x="6715996" y="4628098"/>
              <a:ext cx="2382284" cy="446460"/>
            </a:xfrm>
            <a:prstGeom prst="roundRect">
              <a:avLst/>
            </a:prstGeom>
            <a:noFill/>
            <a:ln w="57150">
              <a:solidFill>
                <a:srgbClr val="3333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2060"/>
                  </a:solidFill>
                  <a:ea typeface="+mj-ea"/>
                </a:rPr>
                <a:t>Book Information Page</a:t>
              </a:r>
              <a:endParaRPr lang="zh-CN" altLang="en-US" sz="1600" b="1" dirty="0">
                <a:solidFill>
                  <a:srgbClr val="002060"/>
                </a:solidFill>
                <a:ea typeface="+mj-ea"/>
              </a:endParaRPr>
            </a:p>
          </p:txBody>
        </p:sp>
        <p:sp>
          <p:nvSpPr>
            <p:cNvPr id="14" name="矩形: 圆角 13">
              <a:extLst>
                <a:ext uri="{FF2B5EF4-FFF2-40B4-BE49-F238E27FC236}">
                  <a16:creationId xmlns:a16="http://schemas.microsoft.com/office/drawing/2014/main" id="{9F97FF5B-BC9A-9C9F-6062-166979BDB232}"/>
                </a:ext>
              </a:extLst>
            </p:cNvPr>
            <p:cNvSpPr/>
            <p:nvPr/>
          </p:nvSpPr>
          <p:spPr>
            <a:xfrm>
              <a:off x="5491143" y="5378043"/>
              <a:ext cx="2401972" cy="446460"/>
            </a:xfrm>
            <a:prstGeom prst="roundRect">
              <a:avLst/>
            </a:prstGeom>
            <a:noFill/>
            <a:ln w="57150">
              <a:solidFill>
                <a:srgbClr val="3333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2060"/>
                  </a:solidFill>
                  <a:ea typeface="+mj-ea"/>
                </a:rPr>
                <a:t>Shopping Basket Page</a:t>
              </a:r>
              <a:endParaRPr lang="zh-CN" altLang="en-US" sz="1600" b="1" dirty="0">
                <a:solidFill>
                  <a:srgbClr val="002060"/>
                </a:solidFill>
                <a:ea typeface="+mj-ea"/>
              </a:endParaRPr>
            </a:p>
          </p:txBody>
        </p:sp>
        <p:sp>
          <p:nvSpPr>
            <p:cNvPr id="15" name="矩形: 圆角 15">
              <a:extLst>
                <a:ext uri="{FF2B5EF4-FFF2-40B4-BE49-F238E27FC236}">
                  <a16:creationId xmlns:a16="http://schemas.microsoft.com/office/drawing/2014/main" id="{4B8024E6-C753-0362-6863-3565EF3414F3}"/>
                </a:ext>
              </a:extLst>
            </p:cNvPr>
            <p:cNvSpPr/>
            <p:nvPr/>
          </p:nvSpPr>
          <p:spPr>
            <a:xfrm>
              <a:off x="5755309" y="6136353"/>
              <a:ext cx="1627746" cy="446460"/>
            </a:xfrm>
            <a:prstGeom prst="roundRect">
              <a:avLst/>
            </a:prstGeom>
            <a:noFill/>
            <a:ln w="57150">
              <a:solidFill>
                <a:srgbClr val="3333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002060"/>
                  </a:solidFill>
                  <a:ea typeface="+mj-ea"/>
                </a:rPr>
                <a:t>Checkout Page</a:t>
              </a:r>
              <a:endParaRPr lang="zh-CN" altLang="en-US" sz="1600" b="1" dirty="0">
                <a:solidFill>
                  <a:srgbClr val="002060"/>
                </a:solidFill>
                <a:ea typeface="+mj-ea"/>
              </a:endParaRPr>
            </a:p>
          </p:txBody>
        </p:sp>
        <p:sp>
          <p:nvSpPr>
            <p:cNvPr id="16" name="箭头: 下 19">
              <a:extLst>
                <a:ext uri="{FF2B5EF4-FFF2-40B4-BE49-F238E27FC236}">
                  <a16:creationId xmlns:a16="http://schemas.microsoft.com/office/drawing/2014/main" id="{A0CE2A43-1A70-FCBF-208A-4B13CB50CF30}"/>
                </a:ext>
              </a:extLst>
            </p:cNvPr>
            <p:cNvSpPr/>
            <p:nvPr/>
          </p:nvSpPr>
          <p:spPr>
            <a:xfrm>
              <a:off x="5957700" y="3574205"/>
              <a:ext cx="189650" cy="285895"/>
            </a:xfrm>
            <a:prstGeom prst="downArrow">
              <a:avLst/>
            </a:prstGeom>
            <a:solidFill>
              <a:srgbClr val="002060"/>
            </a:solidFill>
            <a:ln>
              <a:solidFill>
                <a:srgbClr val="3333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ea typeface="+mj-ea"/>
              </a:endParaRPr>
            </a:p>
          </p:txBody>
        </p:sp>
        <p:sp>
          <p:nvSpPr>
            <p:cNvPr id="17" name="箭头: 下 20">
              <a:extLst>
                <a:ext uri="{FF2B5EF4-FFF2-40B4-BE49-F238E27FC236}">
                  <a16:creationId xmlns:a16="http://schemas.microsoft.com/office/drawing/2014/main" id="{A44E5CAE-0A5F-321C-0463-0FD5F98FE3E0}"/>
                </a:ext>
              </a:extLst>
            </p:cNvPr>
            <p:cNvSpPr/>
            <p:nvPr/>
          </p:nvSpPr>
          <p:spPr>
            <a:xfrm>
              <a:off x="6625216" y="3587066"/>
              <a:ext cx="181562" cy="264893"/>
            </a:xfrm>
            <a:prstGeom prst="downArrow">
              <a:avLst/>
            </a:prstGeom>
            <a:solidFill>
              <a:srgbClr val="002060"/>
            </a:solidFill>
            <a:ln>
              <a:solidFill>
                <a:srgbClr val="3333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ea typeface="+mj-ea"/>
              </a:endParaRPr>
            </a:p>
          </p:txBody>
        </p:sp>
        <p:sp>
          <p:nvSpPr>
            <p:cNvPr id="18" name="箭头: 下 21">
              <a:extLst>
                <a:ext uri="{FF2B5EF4-FFF2-40B4-BE49-F238E27FC236}">
                  <a16:creationId xmlns:a16="http://schemas.microsoft.com/office/drawing/2014/main" id="{28C2A068-061B-E1B9-E03F-C10A611853F1}"/>
                </a:ext>
              </a:extLst>
            </p:cNvPr>
            <p:cNvSpPr/>
            <p:nvPr/>
          </p:nvSpPr>
          <p:spPr>
            <a:xfrm>
              <a:off x="7172427" y="4344904"/>
              <a:ext cx="147300" cy="263606"/>
            </a:xfrm>
            <a:prstGeom prst="downArrow">
              <a:avLst/>
            </a:prstGeom>
            <a:solidFill>
              <a:srgbClr val="002060"/>
            </a:solidFill>
            <a:ln>
              <a:solidFill>
                <a:srgbClr val="3333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ea typeface="+mj-ea"/>
              </a:endParaRPr>
            </a:p>
          </p:txBody>
        </p:sp>
        <p:sp>
          <p:nvSpPr>
            <p:cNvPr id="19" name="箭头: 下 22">
              <a:extLst>
                <a:ext uri="{FF2B5EF4-FFF2-40B4-BE49-F238E27FC236}">
                  <a16:creationId xmlns:a16="http://schemas.microsoft.com/office/drawing/2014/main" id="{F03B12E3-13BB-331A-3883-7535C7ABC534}"/>
                </a:ext>
              </a:extLst>
            </p:cNvPr>
            <p:cNvSpPr/>
            <p:nvPr/>
          </p:nvSpPr>
          <p:spPr>
            <a:xfrm>
              <a:off x="5707005" y="4344904"/>
              <a:ext cx="147056" cy="263606"/>
            </a:xfrm>
            <a:prstGeom prst="downArrow">
              <a:avLst/>
            </a:prstGeom>
            <a:solidFill>
              <a:srgbClr val="002060"/>
            </a:solidFill>
            <a:ln>
              <a:solidFill>
                <a:srgbClr val="3333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ea typeface="+mj-ea"/>
              </a:endParaRPr>
            </a:p>
          </p:txBody>
        </p:sp>
        <p:sp>
          <p:nvSpPr>
            <p:cNvPr id="20" name="箭头: 下 23">
              <a:extLst>
                <a:ext uri="{FF2B5EF4-FFF2-40B4-BE49-F238E27FC236}">
                  <a16:creationId xmlns:a16="http://schemas.microsoft.com/office/drawing/2014/main" id="{FFAEC0FB-78D1-2A03-FFBD-849ABEC4F80E}"/>
                </a:ext>
              </a:extLst>
            </p:cNvPr>
            <p:cNvSpPr/>
            <p:nvPr/>
          </p:nvSpPr>
          <p:spPr>
            <a:xfrm>
              <a:off x="5944096" y="5074559"/>
              <a:ext cx="147867" cy="303485"/>
            </a:xfrm>
            <a:prstGeom prst="downArrow">
              <a:avLst/>
            </a:prstGeom>
            <a:solidFill>
              <a:srgbClr val="002060"/>
            </a:solidFill>
            <a:ln>
              <a:solidFill>
                <a:srgbClr val="3333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ea typeface="+mj-ea"/>
              </a:endParaRPr>
            </a:p>
          </p:txBody>
        </p:sp>
        <p:sp>
          <p:nvSpPr>
            <p:cNvPr id="21" name="箭头: 下 24">
              <a:extLst>
                <a:ext uri="{FF2B5EF4-FFF2-40B4-BE49-F238E27FC236}">
                  <a16:creationId xmlns:a16="http://schemas.microsoft.com/office/drawing/2014/main" id="{5B0DCE98-2DFE-5DE0-9A6C-4C34A286DA8A}"/>
                </a:ext>
              </a:extLst>
            </p:cNvPr>
            <p:cNvSpPr/>
            <p:nvPr/>
          </p:nvSpPr>
          <p:spPr>
            <a:xfrm>
              <a:off x="7157744" y="5087358"/>
              <a:ext cx="160084" cy="290686"/>
            </a:xfrm>
            <a:prstGeom prst="downArrow">
              <a:avLst/>
            </a:prstGeom>
            <a:solidFill>
              <a:srgbClr val="002060"/>
            </a:solidFill>
            <a:ln>
              <a:solidFill>
                <a:srgbClr val="3333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ea typeface="+mj-ea"/>
              </a:endParaRPr>
            </a:p>
          </p:txBody>
        </p:sp>
        <p:sp>
          <p:nvSpPr>
            <p:cNvPr id="22" name="箭头: 下 25">
              <a:extLst>
                <a:ext uri="{FF2B5EF4-FFF2-40B4-BE49-F238E27FC236}">
                  <a16:creationId xmlns:a16="http://schemas.microsoft.com/office/drawing/2014/main" id="{0A3F2BF1-ED96-95EA-14B7-37CC370ADA00}"/>
                </a:ext>
              </a:extLst>
            </p:cNvPr>
            <p:cNvSpPr/>
            <p:nvPr/>
          </p:nvSpPr>
          <p:spPr>
            <a:xfrm>
              <a:off x="6435302" y="5824504"/>
              <a:ext cx="133880" cy="303484"/>
            </a:xfrm>
            <a:prstGeom prst="downArrow">
              <a:avLst/>
            </a:prstGeom>
            <a:solidFill>
              <a:srgbClr val="002060"/>
            </a:solidFill>
            <a:ln>
              <a:solidFill>
                <a:srgbClr val="3333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a:ea typeface="+mj-ea"/>
              </a:endParaRPr>
            </a:p>
          </p:txBody>
        </p:sp>
        <p:sp>
          <p:nvSpPr>
            <p:cNvPr id="23" name="矩形: 圆角 27">
              <a:extLst>
                <a:ext uri="{FF2B5EF4-FFF2-40B4-BE49-F238E27FC236}">
                  <a16:creationId xmlns:a16="http://schemas.microsoft.com/office/drawing/2014/main" id="{58419366-E7C4-2D39-42BC-BAF361B097EC}"/>
                </a:ext>
              </a:extLst>
            </p:cNvPr>
            <p:cNvSpPr/>
            <p:nvPr/>
          </p:nvSpPr>
          <p:spPr>
            <a:xfrm>
              <a:off x="7246076" y="3118057"/>
              <a:ext cx="1226249" cy="446460"/>
            </a:xfrm>
            <a:prstGeom prst="roundRect">
              <a:avLst/>
            </a:prstGeom>
            <a:noFill/>
            <a:ln w="57150">
              <a:solidFill>
                <a:srgbClr val="33339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solidFill>
                    <a:srgbClr val="C00000"/>
                  </a:solidFill>
                  <a:ea typeface="+mj-ea"/>
                </a:rPr>
                <a:t>Menu Bar </a:t>
              </a:r>
              <a:endParaRPr lang="zh-CN" altLang="en-US" sz="1600" b="1" dirty="0">
                <a:solidFill>
                  <a:srgbClr val="C00000"/>
                </a:solidFill>
                <a:ea typeface="+mj-ea"/>
              </a:endParaRPr>
            </a:p>
          </p:txBody>
        </p:sp>
        <p:sp>
          <p:nvSpPr>
            <p:cNvPr id="25" name="圆角矩形 24"/>
            <p:cNvSpPr/>
            <p:nvPr/>
          </p:nvSpPr>
          <p:spPr>
            <a:xfrm>
              <a:off x="3823228" y="2750820"/>
              <a:ext cx="5401851" cy="3954780"/>
            </a:xfrm>
            <a:prstGeom prst="roundRect">
              <a:avLst/>
            </a:prstGeom>
            <a:noFill/>
            <a:ln w="508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5551890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a:extLst>
              <a:ext uri="{FF2B5EF4-FFF2-40B4-BE49-F238E27FC236}">
                <a16:creationId xmlns:a16="http://schemas.microsoft.com/office/drawing/2014/main" id="{6C75D155-25C3-19C1-F1AA-AAC226DE76FB}"/>
              </a:ext>
            </a:extLst>
          </p:cNvPr>
          <p:cNvSpPr/>
          <p:nvPr/>
        </p:nvSpPr>
        <p:spPr>
          <a:xfrm>
            <a:off x="486173" y="205503"/>
            <a:ext cx="7839680" cy="1015663"/>
          </a:xfrm>
          <a:prstGeom prst="rect">
            <a:avLst/>
          </a:prstGeom>
        </p:spPr>
        <p:txBody>
          <a:bodyPr wrap="square">
            <a:spAutoFit/>
          </a:bodyPr>
          <a:lstStyle/>
          <a:p>
            <a:r>
              <a:rPr lang="en-US" altLang="zh-CN" sz="6000" b="1" dirty="0">
                <a:solidFill>
                  <a:srgbClr val="33339B"/>
                </a:solidFill>
                <a:latin typeface="Times New Roman" panose="02020603050405020304" pitchFamily="18" charset="0"/>
                <a:cs typeface="Times New Roman" panose="02020603050405020304" pitchFamily="18" charset="0"/>
              </a:rPr>
              <a:t>Assignment</a:t>
            </a:r>
          </a:p>
        </p:txBody>
      </p:sp>
      <p:sp>
        <p:nvSpPr>
          <p:cNvPr id="6" name="矩形 5">
            <a:extLst>
              <a:ext uri="{FF2B5EF4-FFF2-40B4-BE49-F238E27FC236}">
                <a16:creationId xmlns:a16="http://schemas.microsoft.com/office/drawing/2014/main" id="{C0D5B375-295B-41AB-90D3-56F5A18CEF36}"/>
              </a:ext>
            </a:extLst>
          </p:cNvPr>
          <p:cNvSpPr/>
          <p:nvPr/>
        </p:nvSpPr>
        <p:spPr>
          <a:xfrm>
            <a:off x="184150" y="1946754"/>
            <a:ext cx="11480800" cy="1246495"/>
          </a:xfrm>
          <a:prstGeom prst="rect">
            <a:avLst/>
          </a:prstGeom>
        </p:spPr>
        <p:txBody>
          <a:bodyPr wrap="square">
            <a:spAutoFit/>
          </a:bodyPr>
          <a:lstStyle/>
          <a:p>
            <a:pPr marL="971550" lvl="1" indent="-514350" algn="just">
              <a:lnSpc>
                <a:spcPct val="125000"/>
              </a:lnSpc>
              <a:buFont typeface="+mj-ea"/>
              <a:buAutoNum type="circleNumDbPlain"/>
            </a:pPr>
            <a:r>
              <a:rPr lang="en-US" altLang="zh-CN" sz="2000" b="1" dirty="0">
                <a:solidFill>
                  <a:prstClr val="black"/>
                </a:solidFill>
                <a:cs typeface="Times New Roman" panose="02020603050405020304" pitchFamily="18" charset="0"/>
              </a:rPr>
              <a:t>Home Page: </a:t>
            </a:r>
            <a:r>
              <a:rPr lang="en-US" altLang="zh-CN" sz="2000" dirty="0">
                <a:solidFill>
                  <a:prstClr val="black"/>
                </a:solidFill>
                <a:latin typeface="Times New Roman" panose="02020603050405020304" pitchFamily="18" charset="0"/>
                <a:cs typeface="Times New Roman" panose="02020603050405020304" pitchFamily="18" charset="0"/>
              </a:rPr>
              <a:t>The home page will be the first page users see when they connect to the website or use the application.  Users will be greeted by a welcome message for our web site or application, or they can </a:t>
            </a:r>
            <a:r>
              <a:rPr lang="en-US" altLang="zh-CN" sz="2000" b="1" dirty="0">
                <a:solidFill>
                  <a:prstClr val="black"/>
                </a:solidFill>
                <a:latin typeface="Times New Roman" panose="02020603050405020304" pitchFamily="18" charset="0"/>
                <a:cs typeface="Times New Roman" panose="02020603050405020304" pitchFamily="18" charset="0"/>
              </a:rPr>
              <a:t>quickly understand what kind of system this is.</a:t>
            </a:r>
          </a:p>
        </p:txBody>
      </p:sp>
      <p:sp>
        <p:nvSpPr>
          <p:cNvPr id="7" name="Rectangle 6">
            <a:extLst>
              <a:ext uri="{FF2B5EF4-FFF2-40B4-BE49-F238E27FC236}">
                <a16:creationId xmlns:a16="http://schemas.microsoft.com/office/drawing/2014/main" id="{71429D8A-2720-AA1F-2B65-FF347C87B1B4}"/>
              </a:ext>
            </a:extLst>
          </p:cNvPr>
          <p:cNvSpPr/>
          <p:nvPr/>
        </p:nvSpPr>
        <p:spPr>
          <a:xfrm>
            <a:off x="486173" y="1221166"/>
            <a:ext cx="5149487" cy="707886"/>
          </a:xfrm>
          <a:prstGeom prst="rect">
            <a:avLst/>
          </a:prstGeom>
        </p:spPr>
        <p:txBody>
          <a:bodyPr wrap="none">
            <a:spAutoFit/>
          </a:bodyPr>
          <a:lstStyle/>
          <a:p>
            <a:r>
              <a:rPr lang="en-US" sz="4000" b="1" dirty="0">
                <a:solidFill>
                  <a:srgbClr val="33339B"/>
                </a:solidFill>
                <a:latin typeface="Times New Roman" panose="02020603050405020304" pitchFamily="18" charset="0"/>
                <a:cs typeface="Times New Roman" panose="02020603050405020304" pitchFamily="18" charset="0"/>
              </a:rPr>
              <a:t>2. </a:t>
            </a:r>
            <a:r>
              <a:rPr lang="en-US" altLang="zh-CN" sz="4000" b="1" dirty="0">
                <a:solidFill>
                  <a:srgbClr val="33339B"/>
                </a:solidFill>
                <a:latin typeface="Times New Roman" panose="02020603050405020304" pitchFamily="18" charset="0"/>
                <a:cs typeface="Times New Roman" panose="02020603050405020304" pitchFamily="18" charset="0"/>
              </a:rPr>
              <a:t>Pages Requirements</a:t>
            </a:r>
            <a:endParaRPr lang="en-US" sz="4000" b="1" dirty="0">
              <a:solidFill>
                <a:srgbClr val="33339B"/>
              </a:solidFill>
              <a:latin typeface="Times New Roman" panose="02020603050405020304" pitchFamily="18" charset="0"/>
              <a:cs typeface="Times New Roman" panose="02020603050405020304" pitchFamily="18" charset="0"/>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rcRect/>
          <a:stretch/>
        </p:blipFill>
        <p:spPr>
          <a:xfrm>
            <a:off x="4277032" y="3679633"/>
            <a:ext cx="3621983" cy="228529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3" name="图片 2"/>
          <p:cNvPicPr>
            <a:picLocks noChangeAspect="1"/>
          </p:cNvPicPr>
          <p:nvPr/>
        </p:nvPicPr>
        <p:blipFill>
          <a:blip r:embed="rId3">
            <a:extLst>
              <a:ext uri="{28A0092B-C50C-407E-A947-70E740481C1C}">
                <a14:useLocalDpi xmlns:a14="http://schemas.microsoft.com/office/drawing/2010/main" val="0"/>
              </a:ext>
            </a:extLst>
          </a:blip>
          <a:srcRect/>
          <a:stretch/>
        </p:blipFill>
        <p:spPr>
          <a:xfrm>
            <a:off x="8081829" y="3706553"/>
            <a:ext cx="3954947" cy="225837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grpSp>
        <p:nvGrpSpPr>
          <p:cNvPr id="10" name="组合 9">
            <a:extLst>
              <a:ext uri="{FF2B5EF4-FFF2-40B4-BE49-F238E27FC236}">
                <a16:creationId xmlns:a16="http://schemas.microsoft.com/office/drawing/2014/main" id="{4C86D7F7-D938-4C45-B5BE-240FA71D3122}"/>
              </a:ext>
            </a:extLst>
          </p:cNvPr>
          <p:cNvGrpSpPr/>
          <p:nvPr/>
        </p:nvGrpSpPr>
        <p:grpSpPr>
          <a:xfrm>
            <a:off x="135275" y="3706553"/>
            <a:ext cx="3932175" cy="2258378"/>
            <a:chOff x="714773" y="3500867"/>
            <a:chExt cx="4068934" cy="2478973"/>
          </a:xfrm>
        </p:grpSpPr>
        <p:pic>
          <p:nvPicPr>
            <p:cNvPr id="24" name="Picture 3">
              <a:extLst>
                <a:ext uri="{FF2B5EF4-FFF2-40B4-BE49-F238E27FC236}">
                  <a16:creationId xmlns:a16="http://schemas.microsoft.com/office/drawing/2014/main" id="{EFB1E173-8719-83F9-B416-94ED25EE9F6C}"/>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714773" y="3500867"/>
              <a:ext cx="4068934" cy="247897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8" name="矩形 7">
              <a:extLst>
                <a:ext uri="{FF2B5EF4-FFF2-40B4-BE49-F238E27FC236}">
                  <a16:creationId xmlns:a16="http://schemas.microsoft.com/office/drawing/2014/main" id="{97AA5000-60C9-31C6-BFE3-71AC1F9ACBAC}"/>
                </a:ext>
              </a:extLst>
            </p:cNvPr>
            <p:cNvSpPr/>
            <p:nvPr/>
          </p:nvSpPr>
          <p:spPr>
            <a:xfrm>
              <a:off x="2199330" y="3628475"/>
              <a:ext cx="1008690" cy="472771"/>
            </a:xfrm>
            <a:prstGeom prst="rect">
              <a:avLst/>
            </a:prstGeom>
            <a:noFill/>
            <a:ln w="76200" cmpd="sng">
              <a:solidFill>
                <a:srgbClr val="C00000"/>
              </a:solid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2550791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a:extLst>
              <a:ext uri="{FF2B5EF4-FFF2-40B4-BE49-F238E27FC236}">
                <a16:creationId xmlns:a16="http://schemas.microsoft.com/office/drawing/2014/main" id="{6C75D155-25C3-19C1-F1AA-AAC226DE76FB}"/>
              </a:ext>
            </a:extLst>
          </p:cNvPr>
          <p:cNvSpPr/>
          <p:nvPr/>
        </p:nvSpPr>
        <p:spPr>
          <a:xfrm>
            <a:off x="486173" y="205503"/>
            <a:ext cx="7839680" cy="1015663"/>
          </a:xfrm>
          <a:prstGeom prst="rect">
            <a:avLst/>
          </a:prstGeom>
        </p:spPr>
        <p:txBody>
          <a:bodyPr wrap="square">
            <a:spAutoFit/>
          </a:bodyPr>
          <a:lstStyle/>
          <a:p>
            <a:r>
              <a:rPr lang="en-US" altLang="zh-CN" sz="6000" b="1" dirty="0">
                <a:solidFill>
                  <a:srgbClr val="33339B"/>
                </a:solidFill>
                <a:latin typeface="Times New Roman" panose="02020603050405020304" pitchFamily="18" charset="0"/>
                <a:cs typeface="Times New Roman" panose="02020603050405020304" pitchFamily="18" charset="0"/>
              </a:rPr>
              <a:t>Assignment</a:t>
            </a:r>
          </a:p>
        </p:txBody>
      </p:sp>
      <p:sp>
        <p:nvSpPr>
          <p:cNvPr id="6" name="矩形 5">
            <a:extLst>
              <a:ext uri="{FF2B5EF4-FFF2-40B4-BE49-F238E27FC236}">
                <a16:creationId xmlns:a16="http://schemas.microsoft.com/office/drawing/2014/main" id="{C0D5B375-295B-41AB-90D3-56F5A18CEF36}"/>
              </a:ext>
            </a:extLst>
          </p:cNvPr>
          <p:cNvSpPr/>
          <p:nvPr/>
        </p:nvSpPr>
        <p:spPr>
          <a:xfrm>
            <a:off x="184150" y="1946754"/>
            <a:ext cx="11480800" cy="1246495"/>
          </a:xfrm>
          <a:prstGeom prst="rect">
            <a:avLst/>
          </a:prstGeom>
        </p:spPr>
        <p:txBody>
          <a:bodyPr wrap="square">
            <a:spAutoFit/>
          </a:bodyPr>
          <a:lstStyle/>
          <a:p>
            <a:pPr marL="971550" lvl="1" indent="-514350" algn="just">
              <a:lnSpc>
                <a:spcPct val="125000"/>
              </a:lnSpc>
              <a:buFont typeface="+mj-ea"/>
              <a:buAutoNum type="circleNumDbPlain"/>
            </a:pPr>
            <a:r>
              <a:rPr lang="en-US" altLang="zh-CN" sz="2000" b="1" dirty="0">
                <a:solidFill>
                  <a:prstClr val="black"/>
                </a:solidFill>
                <a:cs typeface="Times New Roman" panose="02020603050405020304" pitchFamily="18" charset="0"/>
              </a:rPr>
              <a:t>Home Page: </a:t>
            </a:r>
            <a:r>
              <a:rPr lang="en-US" altLang="zh-CN" sz="2000" dirty="0">
                <a:solidFill>
                  <a:prstClr val="black"/>
                </a:solidFill>
                <a:latin typeface="Times New Roman" panose="02020603050405020304" pitchFamily="18" charset="0"/>
                <a:cs typeface="Times New Roman" panose="02020603050405020304" pitchFamily="18" charset="0"/>
              </a:rPr>
              <a:t>We suggest every page will have a </a:t>
            </a:r>
            <a:r>
              <a:rPr lang="en-US" altLang="zh-CN" sz="2000" b="1" dirty="0">
                <a:solidFill>
                  <a:srgbClr val="C00000"/>
                </a:solidFill>
                <a:latin typeface="Times New Roman" panose="02020603050405020304" pitchFamily="18" charset="0"/>
                <a:cs typeface="Times New Roman" panose="02020603050405020304" pitchFamily="18" charset="0"/>
              </a:rPr>
              <a:t>menu bar </a:t>
            </a:r>
            <a:r>
              <a:rPr lang="en-US" altLang="zh-CN" sz="2000" dirty="0">
                <a:solidFill>
                  <a:prstClr val="black"/>
                </a:solidFill>
                <a:latin typeface="Times New Roman" panose="02020603050405020304" pitchFamily="18" charset="0"/>
                <a:cs typeface="Times New Roman" panose="02020603050405020304" pitchFamily="18" charset="0"/>
              </a:rPr>
              <a:t>at the top (other methods to display navigation information is ok, such as sidebars, tables of contents, etc.) which  allow users to move fluidly around our system from any page. </a:t>
            </a:r>
          </a:p>
        </p:txBody>
      </p:sp>
      <p:sp>
        <p:nvSpPr>
          <p:cNvPr id="7" name="Rectangle 6">
            <a:extLst>
              <a:ext uri="{FF2B5EF4-FFF2-40B4-BE49-F238E27FC236}">
                <a16:creationId xmlns:a16="http://schemas.microsoft.com/office/drawing/2014/main" id="{71429D8A-2720-AA1F-2B65-FF347C87B1B4}"/>
              </a:ext>
            </a:extLst>
          </p:cNvPr>
          <p:cNvSpPr/>
          <p:nvPr/>
        </p:nvSpPr>
        <p:spPr>
          <a:xfrm>
            <a:off x="486173" y="1221166"/>
            <a:ext cx="5149487" cy="707886"/>
          </a:xfrm>
          <a:prstGeom prst="rect">
            <a:avLst/>
          </a:prstGeom>
        </p:spPr>
        <p:txBody>
          <a:bodyPr wrap="none">
            <a:spAutoFit/>
          </a:bodyPr>
          <a:lstStyle/>
          <a:p>
            <a:r>
              <a:rPr lang="en-US" sz="4000" b="1" dirty="0">
                <a:solidFill>
                  <a:srgbClr val="33339B"/>
                </a:solidFill>
                <a:latin typeface="Times New Roman" panose="02020603050405020304" pitchFamily="18" charset="0"/>
                <a:cs typeface="Times New Roman" panose="02020603050405020304" pitchFamily="18" charset="0"/>
              </a:rPr>
              <a:t>2. </a:t>
            </a:r>
            <a:r>
              <a:rPr lang="en-US" altLang="zh-CN" sz="4000" b="1" dirty="0">
                <a:solidFill>
                  <a:srgbClr val="33339B"/>
                </a:solidFill>
                <a:latin typeface="Times New Roman" panose="02020603050405020304" pitchFamily="18" charset="0"/>
                <a:cs typeface="Times New Roman" panose="02020603050405020304" pitchFamily="18" charset="0"/>
              </a:rPr>
              <a:t>Pages Requirements</a:t>
            </a:r>
            <a:endParaRPr lang="en-US" sz="4000" b="1" dirty="0">
              <a:solidFill>
                <a:srgbClr val="33339B"/>
              </a:solidFill>
              <a:latin typeface="Times New Roman" panose="02020603050405020304" pitchFamily="18" charset="0"/>
              <a:cs typeface="Times New Roman" panose="02020603050405020304" pitchFamily="18" charset="0"/>
            </a:endParaRPr>
          </a:p>
        </p:txBody>
      </p:sp>
      <p:grpSp>
        <p:nvGrpSpPr>
          <p:cNvPr id="19" name="组合 18">
            <a:extLst>
              <a:ext uri="{FF2B5EF4-FFF2-40B4-BE49-F238E27FC236}">
                <a16:creationId xmlns:a16="http://schemas.microsoft.com/office/drawing/2014/main" id="{51C9C18E-EFE4-48E8-B2EB-74E01A214502}"/>
              </a:ext>
            </a:extLst>
          </p:cNvPr>
          <p:cNvGrpSpPr/>
          <p:nvPr/>
        </p:nvGrpSpPr>
        <p:grpSpPr>
          <a:xfrm>
            <a:off x="2764972" y="3123828"/>
            <a:ext cx="6402606" cy="3656056"/>
            <a:chOff x="3988801" y="3706553"/>
            <a:chExt cx="3954947" cy="2258378"/>
          </a:xfrm>
        </p:grpSpPr>
        <p:pic>
          <p:nvPicPr>
            <p:cNvPr id="20" name="图片 19">
              <a:extLst>
                <a:ext uri="{FF2B5EF4-FFF2-40B4-BE49-F238E27FC236}">
                  <a16:creationId xmlns:a16="http://schemas.microsoft.com/office/drawing/2014/main" id="{9585205B-60E1-411E-9BD1-3F7EFA393F9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988801" y="3706553"/>
              <a:ext cx="3954947" cy="225837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21" name="矩形 20">
              <a:extLst>
                <a:ext uri="{FF2B5EF4-FFF2-40B4-BE49-F238E27FC236}">
                  <a16:creationId xmlns:a16="http://schemas.microsoft.com/office/drawing/2014/main" id="{38E8BE44-AC62-4F4C-BD7D-E4964E96FF82}"/>
                </a:ext>
              </a:extLst>
            </p:cNvPr>
            <p:cNvSpPr/>
            <p:nvPr/>
          </p:nvSpPr>
          <p:spPr>
            <a:xfrm>
              <a:off x="4021853" y="3918837"/>
              <a:ext cx="3833278" cy="29571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5826338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a:extLst>
              <a:ext uri="{FF2B5EF4-FFF2-40B4-BE49-F238E27FC236}">
                <a16:creationId xmlns:a16="http://schemas.microsoft.com/office/drawing/2014/main" id="{6C75D155-25C3-19C1-F1AA-AAC226DE76FB}"/>
              </a:ext>
            </a:extLst>
          </p:cNvPr>
          <p:cNvSpPr/>
          <p:nvPr/>
        </p:nvSpPr>
        <p:spPr>
          <a:xfrm>
            <a:off x="486173" y="205503"/>
            <a:ext cx="7839680" cy="1015663"/>
          </a:xfrm>
          <a:prstGeom prst="rect">
            <a:avLst/>
          </a:prstGeom>
        </p:spPr>
        <p:txBody>
          <a:bodyPr wrap="square">
            <a:spAutoFit/>
          </a:bodyPr>
          <a:lstStyle/>
          <a:p>
            <a:r>
              <a:rPr lang="en-US" altLang="zh-CN" sz="6000" b="1" dirty="0">
                <a:solidFill>
                  <a:srgbClr val="33339B"/>
                </a:solidFill>
                <a:latin typeface="Times New Roman" panose="02020603050405020304" pitchFamily="18" charset="0"/>
                <a:cs typeface="Times New Roman" panose="02020603050405020304" pitchFamily="18" charset="0"/>
              </a:rPr>
              <a:t>Assignment</a:t>
            </a:r>
          </a:p>
        </p:txBody>
      </p:sp>
      <p:sp>
        <p:nvSpPr>
          <p:cNvPr id="6" name="矩形 5">
            <a:extLst>
              <a:ext uri="{FF2B5EF4-FFF2-40B4-BE49-F238E27FC236}">
                <a16:creationId xmlns:a16="http://schemas.microsoft.com/office/drawing/2014/main" id="{C0D5B375-295B-41AB-90D3-56F5A18CEF36}"/>
              </a:ext>
            </a:extLst>
          </p:cNvPr>
          <p:cNvSpPr/>
          <p:nvPr/>
        </p:nvSpPr>
        <p:spPr>
          <a:xfrm>
            <a:off x="184150" y="1946754"/>
            <a:ext cx="11480800" cy="446917"/>
          </a:xfrm>
          <a:prstGeom prst="rect">
            <a:avLst/>
          </a:prstGeom>
        </p:spPr>
        <p:txBody>
          <a:bodyPr wrap="square">
            <a:spAutoFit/>
          </a:bodyPr>
          <a:lstStyle/>
          <a:p>
            <a:pPr marL="971550" lvl="1" indent="-514350" algn="just">
              <a:lnSpc>
                <a:spcPct val="125000"/>
              </a:lnSpc>
              <a:buFont typeface="+mj-ea"/>
              <a:buAutoNum type="circleNumDbPlain"/>
            </a:pPr>
            <a:r>
              <a:rPr lang="en-US" altLang="zh-CN" sz="2000" b="1" dirty="0">
                <a:solidFill>
                  <a:prstClr val="black"/>
                </a:solidFill>
                <a:cs typeface="Times New Roman" panose="02020603050405020304" pitchFamily="18" charset="0"/>
              </a:rPr>
              <a:t>Home Page</a:t>
            </a:r>
            <a:endParaRPr lang="en-US" altLang="zh-CN" sz="2000" dirty="0">
              <a:solidFill>
                <a:prstClr val="black"/>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71429D8A-2720-AA1F-2B65-FF347C87B1B4}"/>
              </a:ext>
            </a:extLst>
          </p:cNvPr>
          <p:cNvSpPr/>
          <p:nvPr/>
        </p:nvSpPr>
        <p:spPr>
          <a:xfrm>
            <a:off x="486173" y="1221166"/>
            <a:ext cx="5149487" cy="707886"/>
          </a:xfrm>
          <a:prstGeom prst="rect">
            <a:avLst/>
          </a:prstGeom>
        </p:spPr>
        <p:txBody>
          <a:bodyPr wrap="none">
            <a:spAutoFit/>
          </a:bodyPr>
          <a:lstStyle/>
          <a:p>
            <a:r>
              <a:rPr lang="en-US" sz="4000" b="1" dirty="0">
                <a:solidFill>
                  <a:srgbClr val="33339B"/>
                </a:solidFill>
                <a:latin typeface="Times New Roman" panose="02020603050405020304" pitchFamily="18" charset="0"/>
                <a:cs typeface="Times New Roman" panose="02020603050405020304" pitchFamily="18" charset="0"/>
              </a:rPr>
              <a:t>2. </a:t>
            </a:r>
            <a:r>
              <a:rPr lang="en-US" altLang="zh-CN" sz="4000" b="1" dirty="0">
                <a:solidFill>
                  <a:srgbClr val="33339B"/>
                </a:solidFill>
                <a:latin typeface="Times New Roman" panose="02020603050405020304" pitchFamily="18" charset="0"/>
                <a:cs typeface="Times New Roman" panose="02020603050405020304" pitchFamily="18" charset="0"/>
              </a:rPr>
              <a:t>Pages Requirements</a:t>
            </a:r>
            <a:endParaRPr lang="en-US" sz="4000" b="1" dirty="0">
              <a:solidFill>
                <a:srgbClr val="33339B"/>
              </a:solidFill>
              <a:latin typeface="Times New Roman" panose="02020603050405020304" pitchFamily="18" charset="0"/>
              <a:cs typeface="Times New Roman" panose="02020603050405020304" pitchFamily="18" charset="0"/>
            </a:endParaRPr>
          </a:p>
        </p:txBody>
      </p:sp>
      <p:grpSp>
        <p:nvGrpSpPr>
          <p:cNvPr id="12" name="组合 11">
            <a:extLst>
              <a:ext uri="{FF2B5EF4-FFF2-40B4-BE49-F238E27FC236}">
                <a16:creationId xmlns:a16="http://schemas.microsoft.com/office/drawing/2014/main" id="{43901A6B-63DB-4EE1-95B3-D79B16F77E63}"/>
              </a:ext>
            </a:extLst>
          </p:cNvPr>
          <p:cNvGrpSpPr/>
          <p:nvPr/>
        </p:nvGrpSpPr>
        <p:grpSpPr>
          <a:xfrm>
            <a:off x="2358571" y="2409506"/>
            <a:ext cx="7366001" cy="4289633"/>
            <a:chOff x="8126416" y="3661745"/>
            <a:chExt cx="3954947" cy="2303186"/>
          </a:xfrm>
        </p:grpSpPr>
        <p:pic>
          <p:nvPicPr>
            <p:cNvPr id="3" name="图片 2">
              <a:extLst>
                <a:ext uri="{FF2B5EF4-FFF2-40B4-BE49-F238E27FC236}">
                  <a16:creationId xmlns:a16="http://schemas.microsoft.com/office/drawing/2014/main" id="{23832B61-0827-4522-BF30-5E768357A612}"/>
                </a:ext>
              </a:extLst>
            </p:cNvPr>
            <p:cNvPicPr>
              <a:picLocks noChangeAspect="1"/>
            </p:cNvPicPr>
            <p:nvPr/>
          </p:nvPicPr>
          <p:blipFill rotWithShape="1">
            <a:blip r:embed="rId2"/>
            <a:srcRect b="2864"/>
            <a:stretch/>
          </p:blipFill>
          <p:spPr>
            <a:xfrm>
              <a:off x="8126416" y="3661745"/>
              <a:ext cx="3954947" cy="230318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7" name="矩形 16">
              <a:extLst>
                <a:ext uri="{FF2B5EF4-FFF2-40B4-BE49-F238E27FC236}">
                  <a16:creationId xmlns:a16="http://schemas.microsoft.com/office/drawing/2014/main" id="{627B8AFD-7047-414F-8DCA-4DB66581D3F9}"/>
                </a:ext>
              </a:extLst>
            </p:cNvPr>
            <p:cNvSpPr/>
            <p:nvPr/>
          </p:nvSpPr>
          <p:spPr>
            <a:xfrm>
              <a:off x="8174572" y="3706553"/>
              <a:ext cx="3833278" cy="29571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4103350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a:extLst>
              <a:ext uri="{FF2B5EF4-FFF2-40B4-BE49-F238E27FC236}">
                <a16:creationId xmlns:a16="http://schemas.microsoft.com/office/drawing/2014/main" id="{6C75D155-25C3-19C1-F1AA-AAC226DE76FB}"/>
              </a:ext>
            </a:extLst>
          </p:cNvPr>
          <p:cNvSpPr/>
          <p:nvPr/>
        </p:nvSpPr>
        <p:spPr>
          <a:xfrm>
            <a:off x="486173" y="205503"/>
            <a:ext cx="7839680" cy="1015663"/>
          </a:xfrm>
          <a:prstGeom prst="rect">
            <a:avLst/>
          </a:prstGeom>
        </p:spPr>
        <p:txBody>
          <a:bodyPr wrap="square">
            <a:spAutoFit/>
          </a:bodyPr>
          <a:lstStyle/>
          <a:p>
            <a:r>
              <a:rPr lang="en-US" altLang="zh-CN" sz="6000" b="1" dirty="0">
                <a:solidFill>
                  <a:srgbClr val="33339B"/>
                </a:solidFill>
                <a:latin typeface="Times New Roman" panose="02020603050405020304" pitchFamily="18" charset="0"/>
                <a:cs typeface="Times New Roman" panose="02020603050405020304" pitchFamily="18" charset="0"/>
              </a:rPr>
              <a:t>Assignment</a:t>
            </a:r>
          </a:p>
        </p:txBody>
      </p:sp>
      <p:sp>
        <p:nvSpPr>
          <p:cNvPr id="6" name="矩形 5">
            <a:extLst>
              <a:ext uri="{FF2B5EF4-FFF2-40B4-BE49-F238E27FC236}">
                <a16:creationId xmlns:a16="http://schemas.microsoft.com/office/drawing/2014/main" id="{C0D5B375-295B-41AB-90D3-56F5A18CEF36}"/>
              </a:ext>
            </a:extLst>
          </p:cNvPr>
          <p:cNvSpPr/>
          <p:nvPr/>
        </p:nvSpPr>
        <p:spPr>
          <a:xfrm>
            <a:off x="184150" y="1946754"/>
            <a:ext cx="11480800" cy="446917"/>
          </a:xfrm>
          <a:prstGeom prst="rect">
            <a:avLst/>
          </a:prstGeom>
        </p:spPr>
        <p:txBody>
          <a:bodyPr wrap="square">
            <a:spAutoFit/>
          </a:bodyPr>
          <a:lstStyle/>
          <a:p>
            <a:pPr marL="971550" lvl="1" indent="-514350" algn="just">
              <a:lnSpc>
                <a:spcPct val="125000"/>
              </a:lnSpc>
              <a:buFont typeface="+mj-ea"/>
              <a:buAutoNum type="circleNumDbPlain"/>
            </a:pPr>
            <a:r>
              <a:rPr lang="en-US" altLang="zh-CN" sz="2000" b="1" dirty="0">
                <a:solidFill>
                  <a:prstClr val="black"/>
                </a:solidFill>
                <a:cs typeface="Times New Roman" panose="02020603050405020304" pitchFamily="18" charset="0"/>
              </a:rPr>
              <a:t>Home Page</a:t>
            </a:r>
            <a:endParaRPr lang="en-US" altLang="zh-CN" sz="2000" dirty="0">
              <a:solidFill>
                <a:prstClr val="black"/>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71429D8A-2720-AA1F-2B65-FF347C87B1B4}"/>
              </a:ext>
            </a:extLst>
          </p:cNvPr>
          <p:cNvSpPr/>
          <p:nvPr/>
        </p:nvSpPr>
        <p:spPr>
          <a:xfrm>
            <a:off x="486173" y="1221166"/>
            <a:ext cx="5149487" cy="707886"/>
          </a:xfrm>
          <a:prstGeom prst="rect">
            <a:avLst/>
          </a:prstGeom>
        </p:spPr>
        <p:txBody>
          <a:bodyPr wrap="none">
            <a:spAutoFit/>
          </a:bodyPr>
          <a:lstStyle/>
          <a:p>
            <a:r>
              <a:rPr lang="en-US" sz="4000" b="1" dirty="0">
                <a:solidFill>
                  <a:srgbClr val="33339B"/>
                </a:solidFill>
                <a:latin typeface="Times New Roman" panose="02020603050405020304" pitchFamily="18" charset="0"/>
                <a:cs typeface="Times New Roman" panose="02020603050405020304" pitchFamily="18" charset="0"/>
              </a:rPr>
              <a:t>2. </a:t>
            </a:r>
            <a:r>
              <a:rPr lang="en-US" altLang="zh-CN" sz="4000" b="1" dirty="0">
                <a:solidFill>
                  <a:srgbClr val="33339B"/>
                </a:solidFill>
                <a:latin typeface="Times New Roman" panose="02020603050405020304" pitchFamily="18" charset="0"/>
                <a:cs typeface="Times New Roman" panose="02020603050405020304" pitchFamily="18" charset="0"/>
              </a:rPr>
              <a:t>Pages Requirements</a:t>
            </a:r>
            <a:endParaRPr lang="en-US" sz="4000" b="1" dirty="0">
              <a:solidFill>
                <a:srgbClr val="33339B"/>
              </a:solidFill>
              <a:latin typeface="Times New Roman" panose="02020603050405020304" pitchFamily="18" charset="0"/>
              <a:cs typeface="Times New Roman" panose="02020603050405020304" pitchFamily="18" charset="0"/>
            </a:endParaRPr>
          </a:p>
        </p:txBody>
      </p:sp>
      <p:grpSp>
        <p:nvGrpSpPr>
          <p:cNvPr id="8" name="组合 7">
            <a:extLst>
              <a:ext uri="{FF2B5EF4-FFF2-40B4-BE49-F238E27FC236}">
                <a16:creationId xmlns:a16="http://schemas.microsoft.com/office/drawing/2014/main" id="{467C2E67-0FFC-4BC7-BF8A-40381FC0D202}"/>
              </a:ext>
            </a:extLst>
          </p:cNvPr>
          <p:cNvGrpSpPr/>
          <p:nvPr/>
        </p:nvGrpSpPr>
        <p:grpSpPr>
          <a:xfrm>
            <a:off x="2469443" y="2340229"/>
            <a:ext cx="7066446" cy="4458588"/>
            <a:chOff x="184150" y="3679633"/>
            <a:chExt cx="3621984" cy="2285298"/>
          </a:xfrm>
        </p:grpSpPr>
        <p:pic>
          <p:nvPicPr>
            <p:cNvPr id="9" name="图片 8">
              <a:extLst>
                <a:ext uri="{FF2B5EF4-FFF2-40B4-BE49-F238E27FC236}">
                  <a16:creationId xmlns:a16="http://schemas.microsoft.com/office/drawing/2014/main" id="{13A9B5C1-939C-4800-93C6-74AD6076607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84150" y="3679633"/>
              <a:ext cx="3621983" cy="228529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0" name="矩形 9">
              <a:extLst>
                <a:ext uri="{FF2B5EF4-FFF2-40B4-BE49-F238E27FC236}">
                  <a16:creationId xmlns:a16="http://schemas.microsoft.com/office/drawing/2014/main" id="{5161A891-A53A-44A7-9570-32AAE87B3BD3}"/>
                </a:ext>
              </a:extLst>
            </p:cNvPr>
            <p:cNvSpPr/>
            <p:nvPr/>
          </p:nvSpPr>
          <p:spPr>
            <a:xfrm>
              <a:off x="224035" y="3918837"/>
              <a:ext cx="3582099" cy="295716"/>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8034181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a:extLst>
              <a:ext uri="{FF2B5EF4-FFF2-40B4-BE49-F238E27FC236}">
                <a16:creationId xmlns:a16="http://schemas.microsoft.com/office/drawing/2014/main" id="{6C75D155-25C3-19C1-F1AA-AAC226DE76FB}"/>
              </a:ext>
            </a:extLst>
          </p:cNvPr>
          <p:cNvSpPr/>
          <p:nvPr/>
        </p:nvSpPr>
        <p:spPr>
          <a:xfrm>
            <a:off x="486173" y="205503"/>
            <a:ext cx="7839680" cy="1015663"/>
          </a:xfrm>
          <a:prstGeom prst="rect">
            <a:avLst/>
          </a:prstGeom>
        </p:spPr>
        <p:txBody>
          <a:bodyPr wrap="square">
            <a:spAutoFit/>
          </a:bodyPr>
          <a:lstStyle/>
          <a:p>
            <a:r>
              <a:rPr lang="en-US" altLang="zh-CN" sz="6000" b="1" dirty="0">
                <a:solidFill>
                  <a:srgbClr val="33339B"/>
                </a:solidFill>
                <a:latin typeface="Times New Roman" panose="02020603050405020304" pitchFamily="18" charset="0"/>
                <a:cs typeface="Times New Roman" panose="02020603050405020304" pitchFamily="18" charset="0"/>
              </a:rPr>
              <a:t>Assignment</a:t>
            </a:r>
          </a:p>
        </p:txBody>
      </p:sp>
      <p:sp>
        <p:nvSpPr>
          <p:cNvPr id="6" name="矩形 5">
            <a:extLst>
              <a:ext uri="{FF2B5EF4-FFF2-40B4-BE49-F238E27FC236}">
                <a16:creationId xmlns:a16="http://schemas.microsoft.com/office/drawing/2014/main" id="{C0D5B375-295B-41AB-90D3-56F5A18CEF36}"/>
              </a:ext>
            </a:extLst>
          </p:cNvPr>
          <p:cNvSpPr/>
          <p:nvPr/>
        </p:nvSpPr>
        <p:spPr>
          <a:xfrm>
            <a:off x="184150" y="1946754"/>
            <a:ext cx="11480800" cy="446917"/>
          </a:xfrm>
          <a:prstGeom prst="rect">
            <a:avLst/>
          </a:prstGeom>
        </p:spPr>
        <p:txBody>
          <a:bodyPr wrap="square">
            <a:spAutoFit/>
          </a:bodyPr>
          <a:lstStyle/>
          <a:p>
            <a:pPr marL="971550" lvl="1" indent="-514350" algn="just">
              <a:lnSpc>
                <a:spcPct val="125000"/>
              </a:lnSpc>
              <a:buFont typeface="+mj-ea"/>
              <a:buAutoNum type="circleNumDbPlain"/>
            </a:pPr>
            <a:r>
              <a:rPr lang="en-US" altLang="zh-CN" sz="2000" b="1" dirty="0">
                <a:solidFill>
                  <a:prstClr val="black"/>
                </a:solidFill>
                <a:cs typeface="Times New Roman" panose="02020603050405020304" pitchFamily="18" charset="0"/>
              </a:rPr>
              <a:t>Home Page: </a:t>
            </a:r>
            <a:r>
              <a:rPr lang="en-US" altLang="zh-CN" sz="2000" dirty="0">
                <a:solidFill>
                  <a:prstClr val="black"/>
                </a:solidFill>
                <a:latin typeface="Times New Roman" panose="02020603050405020304" pitchFamily="18" charset="0"/>
                <a:cs typeface="Times New Roman" panose="02020603050405020304" pitchFamily="18" charset="0"/>
              </a:rPr>
              <a:t>They will also be presented with the following list of options:</a:t>
            </a:r>
          </a:p>
        </p:txBody>
      </p:sp>
      <p:sp>
        <p:nvSpPr>
          <p:cNvPr id="7" name="Rectangle 6">
            <a:extLst>
              <a:ext uri="{FF2B5EF4-FFF2-40B4-BE49-F238E27FC236}">
                <a16:creationId xmlns:a16="http://schemas.microsoft.com/office/drawing/2014/main" id="{71429D8A-2720-AA1F-2B65-FF347C87B1B4}"/>
              </a:ext>
            </a:extLst>
          </p:cNvPr>
          <p:cNvSpPr/>
          <p:nvPr/>
        </p:nvSpPr>
        <p:spPr>
          <a:xfrm>
            <a:off x="486173" y="1221166"/>
            <a:ext cx="5149487" cy="707886"/>
          </a:xfrm>
          <a:prstGeom prst="rect">
            <a:avLst/>
          </a:prstGeom>
        </p:spPr>
        <p:txBody>
          <a:bodyPr wrap="none">
            <a:spAutoFit/>
          </a:bodyPr>
          <a:lstStyle/>
          <a:p>
            <a:r>
              <a:rPr lang="en-US" sz="4000" b="1" dirty="0">
                <a:solidFill>
                  <a:srgbClr val="33339B"/>
                </a:solidFill>
                <a:latin typeface="Times New Roman" panose="02020603050405020304" pitchFamily="18" charset="0"/>
                <a:cs typeface="Times New Roman" panose="02020603050405020304" pitchFamily="18" charset="0"/>
              </a:rPr>
              <a:t>2. </a:t>
            </a:r>
            <a:r>
              <a:rPr lang="en-US" altLang="zh-CN" sz="4000" b="1" dirty="0">
                <a:solidFill>
                  <a:srgbClr val="33339B"/>
                </a:solidFill>
                <a:latin typeface="Times New Roman" panose="02020603050405020304" pitchFamily="18" charset="0"/>
                <a:cs typeface="Times New Roman" panose="02020603050405020304" pitchFamily="18" charset="0"/>
              </a:rPr>
              <a:t>Pages Requirements</a:t>
            </a:r>
            <a:endParaRPr lang="en-US" sz="4000" b="1" dirty="0">
              <a:solidFill>
                <a:srgbClr val="33339B"/>
              </a:solidFill>
              <a:latin typeface="Times New Roman" panose="02020603050405020304" pitchFamily="18" charset="0"/>
              <a:cs typeface="Times New Roman" panose="02020603050405020304" pitchFamily="18" charset="0"/>
            </a:endParaRPr>
          </a:p>
        </p:txBody>
      </p:sp>
      <p:graphicFrame>
        <p:nvGraphicFramePr>
          <p:cNvPr id="8" name="Table 2">
            <a:extLst>
              <a:ext uri="{FF2B5EF4-FFF2-40B4-BE49-F238E27FC236}">
                <a16:creationId xmlns:a16="http://schemas.microsoft.com/office/drawing/2014/main" id="{1C4D695E-036C-D5AC-A36B-3FAD090E957A}"/>
              </a:ext>
            </a:extLst>
          </p:cNvPr>
          <p:cNvGraphicFramePr>
            <a:graphicFrameLocks noGrp="1"/>
          </p:cNvGraphicFramePr>
          <p:nvPr/>
        </p:nvGraphicFramePr>
        <p:xfrm>
          <a:off x="2782638" y="2619609"/>
          <a:ext cx="5027862" cy="999300"/>
        </p:xfrm>
        <a:graphic>
          <a:graphicData uri="http://schemas.openxmlformats.org/drawingml/2006/table">
            <a:tbl>
              <a:tblPr firstRow="1" bandRow="1">
                <a:tableStyleId>{5940675A-B579-460E-94D1-54222C63F5DA}</a:tableStyleId>
              </a:tblPr>
              <a:tblGrid>
                <a:gridCol w="2513931">
                  <a:extLst>
                    <a:ext uri="{9D8B030D-6E8A-4147-A177-3AD203B41FA5}">
                      <a16:colId xmlns:a16="http://schemas.microsoft.com/office/drawing/2014/main" val="2500354070"/>
                    </a:ext>
                  </a:extLst>
                </a:gridCol>
                <a:gridCol w="2513931">
                  <a:extLst>
                    <a:ext uri="{9D8B030D-6E8A-4147-A177-3AD203B41FA5}">
                      <a16:colId xmlns:a16="http://schemas.microsoft.com/office/drawing/2014/main" val="1658690420"/>
                    </a:ext>
                  </a:extLst>
                </a:gridCol>
              </a:tblGrid>
              <a:tr h="333100">
                <a:tc>
                  <a:txBody>
                    <a:bodyPr/>
                    <a:lstStyle/>
                    <a:p>
                      <a:r>
                        <a:rPr lang="en-US" sz="1700" b="1" dirty="0"/>
                        <a:t>Action</a:t>
                      </a:r>
                    </a:p>
                  </a:txBody>
                  <a:tcPr marL="66620" marR="66620" marT="33310" marB="33310"/>
                </a:tc>
                <a:tc>
                  <a:txBody>
                    <a:bodyPr/>
                    <a:lstStyle/>
                    <a:p>
                      <a:r>
                        <a:rPr lang="en-US" sz="1700" b="1" dirty="0"/>
                        <a:t>Directed to</a:t>
                      </a:r>
                    </a:p>
                  </a:txBody>
                  <a:tcPr marL="66620" marR="66620" marT="33310" marB="33310"/>
                </a:tc>
                <a:extLst>
                  <a:ext uri="{0D108BD9-81ED-4DB2-BD59-A6C34878D82A}">
                    <a16:rowId xmlns:a16="http://schemas.microsoft.com/office/drawing/2014/main" val="605790088"/>
                  </a:ext>
                </a:extLst>
              </a:tr>
              <a:tr h="333100">
                <a:tc>
                  <a:txBody>
                    <a:bodyPr/>
                    <a:lstStyle/>
                    <a:p>
                      <a:r>
                        <a:rPr lang="en-US" sz="1700" dirty="0" err="1"/>
                        <a:t>Creat</a:t>
                      </a:r>
                      <a:r>
                        <a:rPr lang="en-US" sz="1700" dirty="0"/>
                        <a:t> new Account </a:t>
                      </a:r>
                    </a:p>
                  </a:txBody>
                  <a:tcPr marL="66620" marR="66620" marT="33310" marB="33310"/>
                </a:tc>
                <a:tc>
                  <a:txBody>
                    <a:bodyPr/>
                    <a:lstStyle/>
                    <a:p>
                      <a:r>
                        <a:rPr lang="en-US" sz="1700" dirty="0">
                          <a:solidFill>
                            <a:srgbClr val="33339B"/>
                          </a:solidFill>
                        </a:rPr>
                        <a:t>Page-Account Creation</a:t>
                      </a:r>
                    </a:p>
                  </a:txBody>
                  <a:tcPr marL="66620" marR="66620" marT="33310" marB="33310"/>
                </a:tc>
                <a:extLst>
                  <a:ext uri="{0D108BD9-81ED-4DB2-BD59-A6C34878D82A}">
                    <a16:rowId xmlns:a16="http://schemas.microsoft.com/office/drawing/2014/main" val="2945782188"/>
                  </a:ext>
                </a:extLst>
              </a:tr>
              <a:tr h="333100">
                <a:tc>
                  <a:txBody>
                    <a:bodyPr/>
                    <a:lstStyle/>
                    <a:p>
                      <a:r>
                        <a:rPr lang="en-US" sz="1700" dirty="0"/>
                        <a:t>Login</a:t>
                      </a:r>
                    </a:p>
                  </a:txBody>
                  <a:tcPr marL="66620" marR="66620" marT="33310" marB="33310"/>
                </a:tc>
                <a:tc>
                  <a:txBody>
                    <a:bodyPr/>
                    <a:lstStyle/>
                    <a:p>
                      <a:r>
                        <a:rPr lang="en-US" sz="1700" dirty="0">
                          <a:solidFill>
                            <a:srgbClr val="33339B"/>
                          </a:solidFill>
                        </a:rPr>
                        <a:t>Page-Login</a:t>
                      </a:r>
                    </a:p>
                  </a:txBody>
                  <a:tcPr marL="66620" marR="66620" marT="33310" marB="33310"/>
                </a:tc>
                <a:extLst>
                  <a:ext uri="{0D108BD9-81ED-4DB2-BD59-A6C34878D82A}">
                    <a16:rowId xmlns:a16="http://schemas.microsoft.com/office/drawing/2014/main" val="555240134"/>
                  </a:ext>
                </a:extLst>
              </a:tr>
            </a:tbl>
          </a:graphicData>
        </a:graphic>
      </p:graphicFrame>
      <p:pic>
        <p:nvPicPr>
          <p:cNvPr id="2" name="图片 1"/>
          <p:cNvPicPr>
            <a:picLocks noChangeAspect="1"/>
          </p:cNvPicPr>
          <p:nvPr/>
        </p:nvPicPr>
        <p:blipFill>
          <a:blip r:embed="rId2"/>
          <a:stretch>
            <a:fillRect/>
          </a:stretch>
        </p:blipFill>
        <p:spPr>
          <a:xfrm>
            <a:off x="304744" y="3965929"/>
            <a:ext cx="11552434" cy="52283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图片 8"/>
          <p:cNvPicPr>
            <a:picLocks noChangeAspect="1"/>
          </p:cNvPicPr>
          <p:nvPr/>
        </p:nvPicPr>
        <p:blipFill>
          <a:blip r:embed="rId3"/>
          <a:stretch>
            <a:fillRect/>
          </a:stretch>
        </p:blipFill>
        <p:spPr>
          <a:xfrm>
            <a:off x="1053752" y="4732871"/>
            <a:ext cx="9454247" cy="165341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5520668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a:extLst>
              <a:ext uri="{FF2B5EF4-FFF2-40B4-BE49-F238E27FC236}">
                <a16:creationId xmlns:a16="http://schemas.microsoft.com/office/drawing/2014/main" id="{6C75D155-25C3-19C1-F1AA-AAC226DE76FB}"/>
              </a:ext>
            </a:extLst>
          </p:cNvPr>
          <p:cNvSpPr/>
          <p:nvPr/>
        </p:nvSpPr>
        <p:spPr>
          <a:xfrm>
            <a:off x="486173" y="205503"/>
            <a:ext cx="7839680" cy="1015663"/>
          </a:xfrm>
          <a:prstGeom prst="rect">
            <a:avLst/>
          </a:prstGeom>
        </p:spPr>
        <p:txBody>
          <a:bodyPr wrap="square">
            <a:spAutoFit/>
          </a:bodyPr>
          <a:lstStyle/>
          <a:p>
            <a:r>
              <a:rPr lang="en-US" altLang="zh-CN" sz="6000" b="1" dirty="0">
                <a:solidFill>
                  <a:srgbClr val="33339B"/>
                </a:solidFill>
                <a:latin typeface="Times New Roman" panose="02020603050405020304" pitchFamily="18" charset="0"/>
                <a:cs typeface="Times New Roman" panose="02020603050405020304" pitchFamily="18" charset="0"/>
              </a:rPr>
              <a:t>Assignment</a:t>
            </a:r>
          </a:p>
        </p:txBody>
      </p:sp>
      <p:sp>
        <p:nvSpPr>
          <p:cNvPr id="6" name="矩形 5">
            <a:extLst>
              <a:ext uri="{FF2B5EF4-FFF2-40B4-BE49-F238E27FC236}">
                <a16:creationId xmlns:a16="http://schemas.microsoft.com/office/drawing/2014/main" id="{C0D5B375-295B-41AB-90D3-56F5A18CEF36}"/>
              </a:ext>
            </a:extLst>
          </p:cNvPr>
          <p:cNvSpPr/>
          <p:nvPr/>
        </p:nvSpPr>
        <p:spPr>
          <a:xfrm>
            <a:off x="184150" y="1946754"/>
            <a:ext cx="11480800" cy="3939540"/>
          </a:xfrm>
          <a:prstGeom prst="rect">
            <a:avLst/>
          </a:prstGeom>
        </p:spPr>
        <p:txBody>
          <a:bodyPr wrap="square">
            <a:spAutoFit/>
          </a:bodyPr>
          <a:lstStyle/>
          <a:p>
            <a:pPr marL="971550" lvl="1" indent="-514350" algn="just">
              <a:lnSpc>
                <a:spcPct val="125000"/>
              </a:lnSpc>
              <a:buFont typeface="+mj-ea"/>
              <a:buAutoNum type="circleNumDbPlain" startAt="2"/>
            </a:pPr>
            <a:r>
              <a:rPr lang="en-US" altLang="zh-CN" sz="2000" b="1" dirty="0">
                <a:solidFill>
                  <a:prstClr val="black"/>
                </a:solidFill>
                <a:cs typeface="Times New Roman" panose="02020603050405020304" pitchFamily="18" charset="0"/>
              </a:rPr>
              <a:t>Search Page: </a:t>
            </a:r>
            <a:r>
              <a:rPr lang="en-US" altLang="zh-CN" sz="2000" dirty="0">
                <a:solidFill>
                  <a:prstClr val="black"/>
                </a:solidFill>
                <a:latin typeface="Times New Roman" panose="02020603050405020304" pitchFamily="18" charset="0"/>
                <a:cs typeface="Times New Roman" panose="02020603050405020304" pitchFamily="18" charset="0"/>
              </a:rPr>
              <a:t>This page will consist of a series of questions that will assist a user in searching our database.  A User selects whether they would like to </a:t>
            </a:r>
            <a:r>
              <a:rPr lang="en-US" altLang="zh-CN" sz="2000" b="1" dirty="0">
                <a:solidFill>
                  <a:prstClr val="black"/>
                </a:solidFill>
                <a:latin typeface="Times New Roman" panose="02020603050405020304" pitchFamily="18" charset="0"/>
                <a:cs typeface="Times New Roman" panose="02020603050405020304" pitchFamily="18" charset="0"/>
              </a:rPr>
              <a:t>search for a book by author, title, or ISBN number.</a:t>
            </a:r>
            <a:r>
              <a:rPr lang="en-US" altLang="zh-CN" sz="2000" dirty="0">
                <a:solidFill>
                  <a:prstClr val="black"/>
                </a:solidFill>
                <a:latin typeface="Times New Roman" panose="02020603050405020304" pitchFamily="18" charset="0"/>
                <a:cs typeface="Times New Roman" panose="02020603050405020304" pitchFamily="18" charset="0"/>
              </a:rPr>
              <a:t>  They then enter a non-case sensitive text string used to search for their book.  Some examples of possible queries are:</a:t>
            </a:r>
          </a:p>
          <a:p>
            <a:pPr marL="1257300" lvl="2" indent="-342900" algn="just">
              <a:lnSpc>
                <a:spcPct val="125000"/>
              </a:lnSpc>
              <a:buFont typeface="Arial" panose="020B0604020202020204" pitchFamily="34" charset="0"/>
              <a:buChar char="•"/>
            </a:pPr>
            <a:r>
              <a:rPr lang="en-US" altLang="zh-CN" sz="2000" dirty="0">
                <a:solidFill>
                  <a:prstClr val="black"/>
                </a:solidFill>
                <a:latin typeface="Times New Roman" panose="02020603050405020304" pitchFamily="18" charset="0"/>
                <a:cs typeface="Times New Roman" panose="02020603050405020304" pitchFamily="18" charset="0"/>
              </a:rPr>
              <a:t>	Author = Charles Dickens </a:t>
            </a:r>
          </a:p>
          <a:p>
            <a:pPr marL="1257300" lvl="2" indent="-342900" algn="just">
              <a:lnSpc>
                <a:spcPct val="125000"/>
              </a:lnSpc>
              <a:buFont typeface="Arial" panose="020B0604020202020204" pitchFamily="34" charset="0"/>
              <a:buChar char="•"/>
            </a:pPr>
            <a:r>
              <a:rPr lang="en-US" altLang="zh-CN" sz="2000" dirty="0">
                <a:solidFill>
                  <a:prstClr val="black"/>
                </a:solidFill>
                <a:latin typeface="Times New Roman" panose="02020603050405020304" pitchFamily="18" charset="0"/>
                <a:cs typeface="Times New Roman" panose="02020603050405020304" pitchFamily="18" charset="0"/>
              </a:rPr>
              <a:t>	Title =  American Pastoral </a:t>
            </a:r>
          </a:p>
          <a:p>
            <a:pPr marL="1257300" lvl="2" indent="-342900" algn="just">
              <a:lnSpc>
                <a:spcPct val="125000"/>
              </a:lnSpc>
              <a:buFont typeface="Arial" panose="020B0604020202020204" pitchFamily="34" charset="0"/>
              <a:buChar char="•"/>
            </a:pPr>
            <a:r>
              <a:rPr lang="en-US" altLang="zh-CN" sz="2000" dirty="0">
                <a:solidFill>
                  <a:prstClr val="black"/>
                </a:solidFill>
                <a:latin typeface="Times New Roman" panose="02020603050405020304" pitchFamily="18" charset="0"/>
                <a:cs typeface="Times New Roman" panose="02020603050405020304" pitchFamily="18" charset="0"/>
              </a:rPr>
              <a:t>	ISBN = 1829853333</a:t>
            </a:r>
          </a:p>
          <a:p>
            <a:pPr lvl="1" algn="just">
              <a:lnSpc>
                <a:spcPct val="125000"/>
              </a:lnSpc>
            </a:pPr>
            <a:r>
              <a:rPr lang="en-US" altLang="zh-CN" sz="2000" dirty="0">
                <a:solidFill>
                  <a:prstClr val="black"/>
                </a:solidFill>
                <a:latin typeface="Times New Roman" panose="02020603050405020304" pitchFamily="18" charset="0"/>
                <a:cs typeface="Times New Roman" panose="02020603050405020304" pitchFamily="18" charset="0"/>
              </a:rPr>
              <a:t>	Users will </a:t>
            </a:r>
            <a:r>
              <a:rPr lang="en-US" altLang="zh-CN" sz="2000" b="1" dirty="0">
                <a:solidFill>
                  <a:prstClr val="black"/>
                </a:solidFill>
                <a:latin typeface="Times New Roman" panose="02020603050405020304" pitchFamily="18" charset="0"/>
                <a:cs typeface="Times New Roman" panose="02020603050405020304" pitchFamily="18" charset="0"/>
              </a:rPr>
              <a:t>be presented with a list of books</a:t>
            </a:r>
            <a:r>
              <a:rPr lang="en-US" altLang="zh-CN" sz="2000" dirty="0">
                <a:solidFill>
                  <a:prstClr val="black"/>
                </a:solidFill>
                <a:latin typeface="Times New Roman" panose="02020603050405020304" pitchFamily="18" charset="0"/>
                <a:cs typeface="Times New Roman" panose="02020603050405020304" pitchFamily="18" charset="0"/>
              </a:rPr>
              <a:t> and have the </a:t>
            </a:r>
            <a:r>
              <a:rPr lang="en-US" altLang="zh-CN" sz="2000" b="1" dirty="0">
                <a:solidFill>
                  <a:prstClr val="black"/>
                </a:solidFill>
                <a:latin typeface="Times New Roman" panose="02020603050405020304" pitchFamily="18" charset="0"/>
                <a:cs typeface="Times New Roman" panose="02020603050405020304" pitchFamily="18" charset="0"/>
              </a:rPr>
              <a:t>ability to view individual books book information pages</a:t>
            </a:r>
            <a:r>
              <a:rPr lang="en-US" altLang="zh-CN" sz="2000" dirty="0">
                <a:solidFill>
                  <a:prstClr val="black"/>
                </a:solidFill>
                <a:latin typeface="Times New Roman" panose="02020603050405020304" pitchFamily="18" charset="0"/>
                <a:cs typeface="Times New Roman" panose="02020603050405020304" pitchFamily="18" charset="0"/>
              </a:rPr>
              <a:t>, Page Book Information, for each book in the database.</a:t>
            </a:r>
          </a:p>
          <a:p>
            <a:pPr lvl="1" algn="just">
              <a:lnSpc>
                <a:spcPct val="125000"/>
              </a:lnSpc>
            </a:pPr>
            <a:r>
              <a:rPr lang="en-US" altLang="zh-CN" sz="2000" dirty="0">
                <a:solidFill>
                  <a:prstClr val="black"/>
                </a:solidFill>
                <a:latin typeface="Times New Roman" panose="02020603050405020304" pitchFamily="18" charset="0"/>
                <a:cs typeface="Times New Roman" panose="02020603050405020304" pitchFamily="18" charset="0"/>
              </a:rPr>
              <a:t>	</a:t>
            </a:r>
          </a:p>
        </p:txBody>
      </p:sp>
      <p:sp>
        <p:nvSpPr>
          <p:cNvPr id="7" name="Rectangle 6">
            <a:extLst>
              <a:ext uri="{FF2B5EF4-FFF2-40B4-BE49-F238E27FC236}">
                <a16:creationId xmlns:a16="http://schemas.microsoft.com/office/drawing/2014/main" id="{71429D8A-2720-AA1F-2B65-FF347C87B1B4}"/>
              </a:ext>
            </a:extLst>
          </p:cNvPr>
          <p:cNvSpPr/>
          <p:nvPr/>
        </p:nvSpPr>
        <p:spPr>
          <a:xfrm>
            <a:off x="486173" y="1221166"/>
            <a:ext cx="5149487" cy="707886"/>
          </a:xfrm>
          <a:prstGeom prst="rect">
            <a:avLst/>
          </a:prstGeom>
        </p:spPr>
        <p:txBody>
          <a:bodyPr wrap="none">
            <a:spAutoFit/>
          </a:bodyPr>
          <a:lstStyle/>
          <a:p>
            <a:r>
              <a:rPr lang="en-US" sz="4000" b="1" dirty="0">
                <a:solidFill>
                  <a:srgbClr val="33339B"/>
                </a:solidFill>
                <a:latin typeface="Times New Roman" panose="02020603050405020304" pitchFamily="18" charset="0"/>
                <a:cs typeface="Times New Roman" panose="02020603050405020304" pitchFamily="18" charset="0"/>
              </a:rPr>
              <a:t>2. </a:t>
            </a:r>
            <a:r>
              <a:rPr lang="en-US" altLang="zh-CN" sz="4000" b="1" dirty="0">
                <a:solidFill>
                  <a:srgbClr val="33339B"/>
                </a:solidFill>
                <a:latin typeface="Times New Roman" panose="02020603050405020304" pitchFamily="18" charset="0"/>
                <a:cs typeface="Times New Roman" panose="02020603050405020304" pitchFamily="18" charset="0"/>
              </a:rPr>
              <a:t>Pages Requirements</a:t>
            </a:r>
            <a:endParaRPr lang="en-US" sz="4000" b="1" dirty="0">
              <a:solidFill>
                <a:srgbClr val="33339B"/>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47093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a:extLst>
              <a:ext uri="{FF2B5EF4-FFF2-40B4-BE49-F238E27FC236}">
                <a16:creationId xmlns:a16="http://schemas.microsoft.com/office/drawing/2014/main" id="{6C75D155-25C3-19C1-F1AA-AAC226DE76FB}"/>
              </a:ext>
            </a:extLst>
          </p:cNvPr>
          <p:cNvSpPr/>
          <p:nvPr/>
        </p:nvSpPr>
        <p:spPr>
          <a:xfrm>
            <a:off x="486173" y="205503"/>
            <a:ext cx="7839680" cy="1015663"/>
          </a:xfrm>
          <a:prstGeom prst="rect">
            <a:avLst/>
          </a:prstGeom>
        </p:spPr>
        <p:txBody>
          <a:bodyPr wrap="square">
            <a:spAutoFit/>
          </a:bodyPr>
          <a:lstStyle/>
          <a:p>
            <a:r>
              <a:rPr lang="en-US" altLang="zh-CN" sz="6000" b="1" dirty="0">
                <a:solidFill>
                  <a:srgbClr val="33339B"/>
                </a:solidFill>
                <a:latin typeface="Times New Roman" panose="02020603050405020304" pitchFamily="18" charset="0"/>
                <a:cs typeface="Times New Roman" panose="02020603050405020304" pitchFamily="18" charset="0"/>
              </a:rPr>
              <a:t>Assignment</a:t>
            </a:r>
          </a:p>
        </p:txBody>
      </p:sp>
      <p:sp>
        <p:nvSpPr>
          <p:cNvPr id="6" name="矩形 5">
            <a:extLst>
              <a:ext uri="{FF2B5EF4-FFF2-40B4-BE49-F238E27FC236}">
                <a16:creationId xmlns:a16="http://schemas.microsoft.com/office/drawing/2014/main" id="{C0D5B375-295B-41AB-90D3-56F5A18CEF36}"/>
              </a:ext>
            </a:extLst>
          </p:cNvPr>
          <p:cNvSpPr/>
          <p:nvPr/>
        </p:nvSpPr>
        <p:spPr>
          <a:xfrm>
            <a:off x="184150" y="1946754"/>
            <a:ext cx="11480800" cy="446917"/>
          </a:xfrm>
          <a:prstGeom prst="rect">
            <a:avLst/>
          </a:prstGeom>
        </p:spPr>
        <p:txBody>
          <a:bodyPr wrap="square">
            <a:spAutoFit/>
          </a:bodyPr>
          <a:lstStyle/>
          <a:p>
            <a:pPr marL="971550" lvl="1" indent="-514350" algn="just">
              <a:lnSpc>
                <a:spcPct val="125000"/>
              </a:lnSpc>
              <a:buFont typeface="+mj-ea"/>
              <a:buAutoNum type="circleNumDbPlain" startAt="2"/>
            </a:pPr>
            <a:r>
              <a:rPr lang="en-US" altLang="zh-CN" sz="2000" b="1" dirty="0">
                <a:solidFill>
                  <a:prstClr val="black"/>
                </a:solidFill>
                <a:cs typeface="Times New Roman" panose="02020603050405020304" pitchFamily="18" charset="0"/>
              </a:rPr>
              <a:t>Search Page</a:t>
            </a:r>
            <a:r>
              <a:rPr lang="en-US" altLang="zh-CN" sz="2000" dirty="0">
                <a:solidFill>
                  <a:prstClr val="black"/>
                </a:solidFill>
                <a:latin typeface="Times New Roman" panose="02020603050405020304" pitchFamily="18" charset="0"/>
                <a:cs typeface="Times New Roman" panose="02020603050405020304" pitchFamily="18" charset="0"/>
              </a:rPr>
              <a:t>	</a:t>
            </a:r>
          </a:p>
        </p:txBody>
      </p:sp>
      <p:sp>
        <p:nvSpPr>
          <p:cNvPr id="7" name="Rectangle 6">
            <a:extLst>
              <a:ext uri="{FF2B5EF4-FFF2-40B4-BE49-F238E27FC236}">
                <a16:creationId xmlns:a16="http://schemas.microsoft.com/office/drawing/2014/main" id="{71429D8A-2720-AA1F-2B65-FF347C87B1B4}"/>
              </a:ext>
            </a:extLst>
          </p:cNvPr>
          <p:cNvSpPr/>
          <p:nvPr/>
        </p:nvSpPr>
        <p:spPr>
          <a:xfrm>
            <a:off x="486173" y="1221166"/>
            <a:ext cx="5149487" cy="707886"/>
          </a:xfrm>
          <a:prstGeom prst="rect">
            <a:avLst/>
          </a:prstGeom>
        </p:spPr>
        <p:txBody>
          <a:bodyPr wrap="none">
            <a:spAutoFit/>
          </a:bodyPr>
          <a:lstStyle/>
          <a:p>
            <a:r>
              <a:rPr lang="en-US" sz="4000" b="1" dirty="0">
                <a:solidFill>
                  <a:srgbClr val="33339B"/>
                </a:solidFill>
                <a:latin typeface="Times New Roman" panose="02020603050405020304" pitchFamily="18" charset="0"/>
                <a:cs typeface="Times New Roman" panose="02020603050405020304" pitchFamily="18" charset="0"/>
              </a:rPr>
              <a:t>2. </a:t>
            </a:r>
            <a:r>
              <a:rPr lang="en-US" altLang="zh-CN" sz="4000" b="1" dirty="0">
                <a:solidFill>
                  <a:srgbClr val="33339B"/>
                </a:solidFill>
                <a:latin typeface="Times New Roman" panose="02020603050405020304" pitchFamily="18" charset="0"/>
                <a:cs typeface="Times New Roman" panose="02020603050405020304" pitchFamily="18" charset="0"/>
              </a:rPr>
              <a:t>Pages Requirements</a:t>
            </a:r>
            <a:endParaRPr lang="en-US" sz="4000" b="1" dirty="0">
              <a:solidFill>
                <a:srgbClr val="33339B"/>
              </a:solidFill>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385B5AD4-84CD-4F93-BBED-B351AEB00D87}"/>
              </a:ext>
            </a:extLst>
          </p:cNvPr>
          <p:cNvPicPr>
            <a:picLocks noChangeAspect="1"/>
          </p:cNvPicPr>
          <p:nvPr/>
        </p:nvPicPr>
        <p:blipFill rotWithShape="1">
          <a:blip r:embed="rId2"/>
          <a:srcRect r="19210"/>
          <a:stretch/>
        </p:blipFill>
        <p:spPr>
          <a:xfrm>
            <a:off x="275771" y="2570154"/>
            <a:ext cx="5130139" cy="3788352"/>
          </a:xfrm>
          <a:prstGeom prst="rect">
            <a:avLst/>
          </a:prstGeom>
        </p:spPr>
      </p:pic>
      <p:pic>
        <p:nvPicPr>
          <p:cNvPr id="8" name="图片 7">
            <a:extLst>
              <a:ext uri="{FF2B5EF4-FFF2-40B4-BE49-F238E27FC236}">
                <a16:creationId xmlns:a16="http://schemas.microsoft.com/office/drawing/2014/main" id="{D2DB0FF8-9ECE-4497-9D23-00840FBC77E2}"/>
              </a:ext>
            </a:extLst>
          </p:cNvPr>
          <p:cNvPicPr>
            <a:picLocks noChangeAspect="1"/>
          </p:cNvPicPr>
          <p:nvPr/>
        </p:nvPicPr>
        <p:blipFill>
          <a:blip r:embed="rId3"/>
          <a:stretch>
            <a:fillRect/>
          </a:stretch>
        </p:blipFill>
        <p:spPr>
          <a:xfrm>
            <a:off x="5478483" y="2721203"/>
            <a:ext cx="6592158" cy="3637303"/>
          </a:xfrm>
          <a:prstGeom prst="rect">
            <a:avLst/>
          </a:prstGeom>
        </p:spPr>
      </p:pic>
    </p:spTree>
    <p:extLst>
      <p:ext uri="{BB962C8B-B14F-4D97-AF65-F5344CB8AC3E}">
        <p14:creationId xmlns:p14="http://schemas.microsoft.com/office/powerpoint/2010/main" val="42338223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a:extLst>
              <a:ext uri="{FF2B5EF4-FFF2-40B4-BE49-F238E27FC236}">
                <a16:creationId xmlns:a16="http://schemas.microsoft.com/office/drawing/2014/main" id="{6C75D155-25C3-19C1-F1AA-AAC226DE76FB}"/>
              </a:ext>
            </a:extLst>
          </p:cNvPr>
          <p:cNvSpPr/>
          <p:nvPr/>
        </p:nvSpPr>
        <p:spPr>
          <a:xfrm>
            <a:off x="486173" y="205503"/>
            <a:ext cx="7839680" cy="1015663"/>
          </a:xfrm>
          <a:prstGeom prst="rect">
            <a:avLst/>
          </a:prstGeom>
        </p:spPr>
        <p:txBody>
          <a:bodyPr wrap="square">
            <a:spAutoFit/>
          </a:bodyPr>
          <a:lstStyle/>
          <a:p>
            <a:r>
              <a:rPr lang="en-US" altLang="zh-CN" sz="6000" b="1" dirty="0">
                <a:solidFill>
                  <a:srgbClr val="33339B"/>
                </a:solidFill>
                <a:latin typeface="Times New Roman" panose="02020603050405020304" pitchFamily="18" charset="0"/>
                <a:cs typeface="Times New Roman" panose="02020603050405020304" pitchFamily="18" charset="0"/>
              </a:rPr>
              <a:t>Assignment</a:t>
            </a:r>
          </a:p>
        </p:txBody>
      </p:sp>
      <p:sp>
        <p:nvSpPr>
          <p:cNvPr id="6" name="矩形 5">
            <a:extLst>
              <a:ext uri="{FF2B5EF4-FFF2-40B4-BE49-F238E27FC236}">
                <a16:creationId xmlns:a16="http://schemas.microsoft.com/office/drawing/2014/main" id="{C0D5B375-295B-41AB-90D3-56F5A18CEF36}"/>
              </a:ext>
            </a:extLst>
          </p:cNvPr>
          <p:cNvSpPr/>
          <p:nvPr/>
        </p:nvSpPr>
        <p:spPr>
          <a:xfrm>
            <a:off x="184150" y="1946754"/>
            <a:ext cx="11480800" cy="825675"/>
          </a:xfrm>
          <a:prstGeom prst="rect">
            <a:avLst/>
          </a:prstGeom>
        </p:spPr>
        <p:txBody>
          <a:bodyPr wrap="square">
            <a:spAutoFit/>
          </a:bodyPr>
          <a:lstStyle/>
          <a:p>
            <a:pPr marL="971550" lvl="1" indent="-514350" algn="just">
              <a:lnSpc>
                <a:spcPct val="125000"/>
              </a:lnSpc>
              <a:buFont typeface="+mj-ea"/>
              <a:buAutoNum type="circleNumDbPlain" startAt="3"/>
            </a:pPr>
            <a:r>
              <a:rPr lang="en-US" altLang="zh-CN" sz="2000" b="1" dirty="0">
                <a:solidFill>
                  <a:prstClr val="black"/>
                </a:solidFill>
                <a:cs typeface="Times New Roman" panose="02020603050405020304" pitchFamily="18" charset="0"/>
              </a:rPr>
              <a:t>Book Information Page: </a:t>
            </a:r>
            <a:r>
              <a:rPr lang="en-US" altLang="zh-CN" sz="2000" dirty="0">
                <a:solidFill>
                  <a:prstClr val="black"/>
                </a:solidFill>
                <a:latin typeface="Times New Roman" panose="02020603050405020304" pitchFamily="18" charset="0"/>
                <a:cs typeface="Times New Roman" panose="02020603050405020304" pitchFamily="18" charset="0"/>
              </a:rPr>
              <a:t>For each book in system, users will be presented with information such as the books title, author, and price.</a:t>
            </a:r>
          </a:p>
        </p:txBody>
      </p:sp>
      <p:sp>
        <p:nvSpPr>
          <p:cNvPr id="7" name="Rectangle 6">
            <a:extLst>
              <a:ext uri="{FF2B5EF4-FFF2-40B4-BE49-F238E27FC236}">
                <a16:creationId xmlns:a16="http://schemas.microsoft.com/office/drawing/2014/main" id="{71429D8A-2720-AA1F-2B65-FF347C87B1B4}"/>
              </a:ext>
            </a:extLst>
          </p:cNvPr>
          <p:cNvSpPr/>
          <p:nvPr/>
        </p:nvSpPr>
        <p:spPr>
          <a:xfrm>
            <a:off x="486173" y="1221166"/>
            <a:ext cx="5149487" cy="707886"/>
          </a:xfrm>
          <a:prstGeom prst="rect">
            <a:avLst/>
          </a:prstGeom>
        </p:spPr>
        <p:txBody>
          <a:bodyPr wrap="none">
            <a:spAutoFit/>
          </a:bodyPr>
          <a:lstStyle/>
          <a:p>
            <a:r>
              <a:rPr lang="en-US" sz="4000" b="1" dirty="0">
                <a:solidFill>
                  <a:srgbClr val="33339B"/>
                </a:solidFill>
                <a:latin typeface="Times New Roman" panose="02020603050405020304" pitchFamily="18" charset="0"/>
                <a:cs typeface="Times New Roman" panose="02020603050405020304" pitchFamily="18" charset="0"/>
              </a:rPr>
              <a:t>2. </a:t>
            </a:r>
            <a:r>
              <a:rPr lang="en-US" altLang="zh-CN" sz="4000" b="1" dirty="0">
                <a:solidFill>
                  <a:srgbClr val="33339B"/>
                </a:solidFill>
                <a:latin typeface="Times New Roman" panose="02020603050405020304" pitchFamily="18" charset="0"/>
                <a:cs typeface="Times New Roman" panose="02020603050405020304" pitchFamily="18" charset="0"/>
              </a:rPr>
              <a:t>Pages Requirements</a:t>
            </a:r>
            <a:endParaRPr lang="en-US" sz="4000" b="1" dirty="0">
              <a:solidFill>
                <a:srgbClr val="33339B"/>
              </a:solidFill>
              <a:latin typeface="Times New Roman" panose="02020603050405020304" pitchFamily="18" charset="0"/>
              <a:cs typeface="Times New Roman" panose="02020603050405020304" pitchFamily="18" charset="0"/>
            </a:endParaRPr>
          </a:p>
        </p:txBody>
      </p:sp>
      <p:pic>
        <p:nvPicPr>
          <p:cNvPr id="3" name="图片 2">
            <a:extLst>
              <a:ext uri="{FF2B5EF4-FFF2-40B4-BE49-F238E27FC236}">
                <a16:creationId xmlns:a16="http://schemas.microsoft.com/office/drawing/2014/main" id="{2926BC69-0C68-4B64-A2CA-09A83E7080D9}"/>
              </a:ext>
            </a:extLst>
          </p:cNvPr>
          <p:cNvPicPr>
            <a:picLocks noChangeAspect="1"/>
          </p:cNvPicPr>
          <p:nvPr/>
        </p:nvPicPr>
        <p:blipFill>
          <a:blip r:embed="rId2"/>
          <a:stretch>
            <a:fillRect/>
          </a:stretch>
        </p:blipFill>
        <p:spPr>
          <a:xfrm>
            <a:off x="5130800" y="2531191"/>
            <a:ext cx="5630865" cy="4326809"/>
          </a:xfrm>
          <a:prstGeom prst="rect">
            <a:avLst/>
          </a:prstGeom>
        </p:spPr>
      </p:pic>
    </p:spTree>
    <p:extLst>
      <p:ext uri="{BB962C8B-B14F-4D97-AF65-F5344CB8AC3E}">
        <p14:creationId xmlns:p14="http://schemas.microsoft.com/office/powerpoint/2010/main" val="17104361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a:extLst>
              <a:ext uri="{FF2B5EF4-FFF2-40B4-BE49-F238E27FC236}">
                <a16:creationId xmlns:a16="http://schemas.microsoft.com/office/drawing/2014/main" id="{6C75D155-25C3-19C1-F1AA-AAC226DE76FB}"/>
              </a:ext>
            </a:extLst>
          </p:cNvPr>
          <p:cNvSpPr/>
          <p:nvPr/>
        </p:nvSpPr>
        <p:spPr>
          <a:xfrm>
            <a:off x="486173" y="205503"/>
            <a:ext cx="7839680" cy="1015663"/>
          </a:xfrm>
          <a:prstGeom prst="rect">
            <a:avLst/>
          </a:prstGeom>
        </p:spPr>
        <p:txBody>
          <a:bodyPr wrap="square">
            <a:spAutoFit/>
          </a:bodyPr>
          <a:lstStyle/>
          <a:p>
            <a:r>
              <a:rPr lang="en-US" altLang="zh-CN" sz="6000" b="1" dirty="0">
                <a:solidFill>
                  <a:srgbClr val="33339B"/>
                </a:solidFill>
                <a:latin typeface="Times New Roman" panose="02020603050405020304" pitchFamily="18" charset="0"/>
                <a:cs typeface="Times New Roman" panose="02020603050405020304" pitchFamily="18" charset="0"/>
              </a:rPr>
              <a:t>Assignment</a:t>
            </a:r>
          </a:p>
        </p:txBody>
      </p:sp>
      <p:sp>
        <p:nvSpPr>
          <p:cNvPr id="6" name="矩形 5">
            <a:extLst>
              <a:ext uri="{FF2B5EF4-FFF2-40B4-BE49-F238E27FC236}">
                <a16:creationId xmlns:a16="http://schemas.microsoft.com/office/drawing/2014/main" id="{C0D5B375-295B-41AB-90D3-56F5A18CEF36}"/>
              </a:ext>
            </a:extLst>
          </p:cNvPr>
          <p:cNvSpPr/>
          <p:nvPr/>
        </p:nvSpPr>
        <p:spPr>
          <a:xfrm>
            <a:off x="184150" y="1946754"/>
            <a:ext cx="11480800" cy="1595117"/>
          </a:xfrm>
          <a:prstGeom prst="rect">
            <a:avLst/>
          </a:prstGeom>
        </p:spPr>
        <p:txBody>
          <a:bodyPr wrap="square">
            <a:spAutoFit/>
          </a:bodyPr>
          <a:lstStyle/>
          <a:p>
            <a:pPr marL="971550" lvl="1" indent="-514350" algn="just">
              <a:lnSpc>
                <a:spcPct val="125000"/>
              </a:lnSpc>
              <a:buFont typeface="+mj-ea"/>
              <a:buAutoNum type="circleNumDbPlain" startAt="4"/>
            </a:pPr>
            <a:r>
              <a:rPr lang="en-US" altLang="zh-CN" sz="2000" b="1" dirty="0">
                <a:solidFill>
                  <a:prstClr val="black"/>
                </a:solidFill>
                <a:cs typeface="Times New Roman" panose="02020603050405020304" pitchFamily="18" charset="0"/>
              </a:rPr>
              <a:t>Account Creation Page: </a:t>
            </a:r>
            <a:r>
              <a:rPr lang="en-US" altLang="zh-CN" sz="2000" dirty="0">
                <a:solidFill>
                  <a:prstClr val="black"/>
                </a:solidFill>
                <a:latin typeface="Times New Roman" panose="02020603050405020304" pitchFamily="18" charset="0"/>
                <a:cs typeface="Times New Roman" panose="02020603050405020304" pitchFamily="18" charset="0"/>
              </a:rPr>
              <a:t>Users without accounts or those wishing to create new ones can do so by choosing to create a new account from the system Page Home. They will be asked a series of personal questions including choosing a new </a:t>
            </a:r>
            <a:r>
              <a:rPr lang="en-US" altLang="zh-CN" sz="2000" b="1" dirty="0">
                <a:solidFill>
                  <a:prstClr val="black"/>
                </a:solidFill>
                <a:latin typeface="Times New Roman" panose="02020603050405020304" pitchFamily="18" charset="0"/>
                <a:cs typeface="Times New Roman" panose="02020603050405020304" pitchFamily="18" charset="0"/>
              </a:rPr>
              <a:t>username</a:t>
            </a:r>
            <a:r>
              <a:rPr lang="en-US" altLang="zh-CN" sz="2000" dirty="0">
                <a:solidFill>
                  <a:prstClr val="black"/>
                </a:solidFill>
                <a:latin typeface="Times New Roman" panose="02020603050405020304" pitchFamily="18" charset="0"/>
                <a:cs typeface="Times New Roman" panose="02020603050405020304" pitchFamily="18" charset="0"/>
              </a:rPr>
              <a:t> for the system as well as a </a:t>
            </a:r>
            <a:r>
              <a:rPr lang="en-US" altLang="zh-CN" sz="2000" b="1" dirty="0">
                <a:solidFill>
                  <a:prstClr val="black"/>
                </a:solidFill>
                <a:latin typeface="Times New Roman" panose="02020603050405020304" pitchFamily="18" charset="0"/>
                <a:cs typeface="Times New Roman" panose="02020603050405020304" pitchFamily="18" charset="0"/>
              </a:rPr>
              <a:t>password</a:t>
            </a:r>
            <a:r>
              <a:rPr lang="en-US" altLang="zh-CN" sz="2000" dirty="0">
                <a:solidFill>
                  <a:prstClr val="black"/>
                </a:solidFill>
                <a:latin typeface="Times New Roman" panose="02020603050405020304" pitchFamily="18" charset="0"/>
                <a:cs typeface="Times New Roman" panose="02020603050405020304" pitchFamily="18" charset="0"/>
              </a:rPr>
              <a:t>. If any of the information they provide is </a:t>
            </a:r>
            <a:r>
              <a:rPr lang="en-US" altLang="zh-CN" sz="2000" b="1" dirty="0">
                <a:solidFill>
                  <a:prstClr val="black"/>
                </a:solidFill>
                <a:latin typeface="Times New Roman" panose="02020603050405020304" pitchFamily="18" charset="0"/>
                <a:cs typeface="Times New Roman" panose="02020603050405020304" pitchFamily="18" charset="0"/>
              </a:rPr>
              <a:t>incorrect, missing, or invalid</a:t>
            </a:r>
            <a:r>
              <a:rPr lang="en-US" altLang="zh-CN" sz="2000" dirty="0">
                <a:solidFill>
                  <a:prstClr val="black"/>
                </a:solidFill>
                <a:latin typeface="Times New Roman" panose="02020603050405020304" pitchFamily="18" charset="0"/>
                <a:cs typeface="Times New Roman" panose="02020603050405020304" pitchFamily="18" charset="0"/>
              </a:rPr>
              <a:t>, they will be asked to </a:t>
            </a:r>
            <a:r>
              <a:rPr lang="en-US" altLang="zh-CN" sz="2000" b="1" dirty="0">
                <a:solidFill>
                  <a:prstClr val="black"/>
                </a:solidFill>
                <a:latin typeface="Times New Roman" panose="02020603050405020304" pitchFamily="18" charset="0"/>
                <a:cs typeface="Times New Roman" panose="02020603050405020304" pitchFamily="18" charset="0"/>
              </a:rPr>
              <a:t>enter it again</a:t>
            </a:r>
            <a:r>
              <a:rPr lang="en-US" altLang="zh-CN" sz="2000" dirty="0">
                <a:solidFill>
                  <a:prstClr val="black"/>
                </a:solidFill>
                <a:latin typeface="Times New Roman" panose="02020603050405020304" pitchFamily="18" charset="0"/>
                <a:cs typeface="Times New Roman" panose="02020603050405020304" pitchFamily="18" charset="0"/>
              </a:rPr>
              <a:t>. </a:t>
            </a:r>
          </a:p>
        </p:txBody>
      </p:sp>
      <p:sp>
        <p:nvSpPr>
          <p:cNvPr id="7" name="Rectangle 6">
            <a:extLst>
              <a:ext uri="{FF2B5EF4-FFF2-40B4-BE49-F238E27FC236}">
                <a16:creationId xmlns:a16="http://schemas.microsoft.com/office/drawing/2014/main" id="{71429D8A-2720-AA1F-2B65-FF347C87B1B4}"/>
              </a:ext>
            </a:extLst>
          </p:cNvPr>
          <p:cNvSpPr/>
          <p:nvPr/>
        </p:nvSpPr>
        <p:spPr>
          <a:xfrm>
            <a:off x="486173" y="1221166"/>
            <a:ext cx="5149487" cy="707886"/>
          </a:xfrm>
          <a:prstGeom prst="rect">
            <a:avLst/>
          </a:prstGeom>
        </p:spPr>
        <p:txBody>
          <a:bodyPr wrap="none">
            <a:spAutoFit/>
          </a:bodyPr>
          <a:lstStyle/>
          <a:p>
            <a:r>
              <a:rPr lang="en-US" sz="4000" b="1" dirty="0">
                <a:solidFill>
                  <a:srgbClr val="33339B"/>
                </a:solidFill>
                <a:latin typeface="Times New Roman" panose="02020603050405020304" pitchFamily="18" charset="0"/>
                <a:cs typeface="Times New Roman" panose="02020603050405020304" pitchFamily="18" charset="0"/>
              </a:rPr>
              <a:t>2. </a:t>
            </a:r>
            <a:r>
              <a:rPr lang="en-US" altLang="zh-CN" sz="4000" b="1" dirty="0">
                <a:solidFill>
                  <a:srgbClr val="33339B"/>
                </a:solidFill>
                <a:latin typeface="Times New Roman" panose="02020603050405020304" pitchFamily="18" charset="0"/>
                <a:cs typeface="Times New Roman" panose="02020603050405020304" pitchFamily="18" charset="0"/>
              </a:rPr>
              <a:t>Pages Requirements</a:t>
            </a:r>
            <a:endParaRPr lang="en-US" sz="4000" b="1" dirty="0">
              <a:solidFill>
                <a:srgbClr val="33339B"/>
              </a:solidFill>
              <a:latin typeface="Times New Roman" panose="02020603050405020304" pitchFamily="18" charset="0"/>
              <a:cs typeface="Times New Roman" panose="02020603050405020304" pitchFamily="18" charset="0"/>
            </a:endParaRPr>
          </a:p>
        </p:txBody>
      </p:sp>
      <p:pic>
        <p:nvPicPr>
          <p:cNvPr id="8" name="图片 7">
            <a:extLst>
              <a:ext uri="{FF2B5EF4-FFF2-40B4-BE49-F238E27FC236}">
                <a16:creationId xmlns:a16="http://schemas.microsoft.com/office/drawing/2014/main" id="{11F0AC21-D4F2-4AA4-BEA1-67688B5CCB9B}"/>
              </a:ext>
            </a:extLst>
          </p:cNvPr>
          <p:cNvPicPr>
            <a:picLocks noChangeAspect="1"/>
          </p:cNvPicPr>
          <p:nvPr/>
        </p:nvPicPr>
        <p:blipFill>
          <a:blip r:embed="rId2"/>
          <a:stretch>
            <a:fillRect/>
          </a:stretch>
        </p:blipFill>
        <p:spPr>
          <a:xfrm>
            <a:off x="1355074" y="3553377"/>
            <a:ext cx="2649705" cy="313278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9" name="图片 8">
            <a:extLst>
              <a:ext uri="{FF2B5EF4-FFF2-40B4-BE49-F238E27FC236}">
                <a16:creationId xmlns:a16="http://schemas.microsoft.com/office/drawing/2014/main" id="{AF429B1C-9CC1-401B-B5D3-773E393E364D}"/>
              </a:ext>
            </a:extLst>
          </p:cNvPr>
          <p:cNvPicPr>
            <a:picLocks noChangeAspect="1"/>
          </p:cNvPicPr>
          <p:nvPr/>
        </p:nvPicPr>
        <p:blipFill>
          <a:blip r:embed="rId3"/>
          <a:stretch>
            <a:fillRect/>
          </a:stretch>
        </p:blipFill>
        <p:spPr>
          <a:xfrm>
            <a:off x="4268128" y="3559573"/>
            <a:ext cx="2779658" cy="312658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文本框 4">
            <a:extLst>
              <a:ext uri="{FF2B5EF4-FFF2-40B4-BE49-F238E27FC236}">
                <a16:creationId xmlns:a16="http://schemas.microsoft.com/office/drawing/2014/main" id="{A6E8F793-C482-42AF-85C2-07E1A5D9EBC1}"/>
              </a:ext>
            </a:extLst>
          </p:cNvPr>
          <p:cNvSpPr txBox="1"/>
          <p:nvPr/>
        </p:nvSpPr>
        <p:spPr>
          <a:xfrm>
            <a:off x="7453085" y="4267459"/>
            <a:ext cx="3127829" cy="129586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dirty="0"/>
              <a:t>Character count limit</a:t>
            </a:r>
          </a:p>
          <a:p>
            <a:pPr marL="285750" indent="-285750">
              <a:lnSpc>
                <a:spcPct val="150000"/>
              </a:lnSpc>
              <a:buFont typeface="Arial" panose="020B0604020202020204" pitchFamily="34" charset="0"/>
              <a:buChar char="•"/>
            </a:pPr>
            <a:r>
              <a:rPr lang="en-US" altLang="zh-CN" dirty="0"/>
              <a:t>Character type restriction</a:t>
            </a:r>
          </a:p>
          <a:p>
            <a:pPr marL="285750" indent="-285750">
              <a:lnSpc>
                <a:spcPct val="150000"/>
              </a:lnSpc>
              <a:buFont typeface="Arial" panose="020B0604020202020204" pitchFamily="34" charset="0"/>
              <a:buChar char="•"/>
            </a:pPr>
            <a:r>
              <a:rPr lang="en-US" altLang="zh-CN" dirty="0"/>
              <a:t>Uniqueness constraint</a:t>
            </a:r>
            <a:endParaRPr lang="zh-CN" altLang="en-US" dirty="0"/>
          </a:p>
        </p:txBody>
      </p:sp>
    </p:spTree>
    <p:extLst>
      <p:ext uri="{BB962C8B-B14F-4D97-AF65-F5344CB8AC3E}">
        <p14:creationId xmlns:p14="http://schemas.microsoft.com/office/powerpoint/2010/main" val="7998996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a:extLst>
              <a:ext uri="{FF2B5EF4-FFF2-40B4-BE49-F238E27FC236}">
                <a16:creationId xmlns:a16="http://schemas.microsoft.com/office/drawing/2014/main" id="{6C75D155-25C3-19C1-F1AA-AAC226DE76FB}"/>
              </a:ext>
            </a:extLst>
          </p:cNvPr>
          <p:cNvSpPr/>
          <p:nvPr/>
        </p:nvSpPr>
        <p:spPr>
          <a:xfrm>
            <a:off x="486173" y="205503"/>
            <a:ext cx="7839680" cy="1015663"/>
          </a:xfrm>
          <a:prstGeom prst="rect">
            <a:avLst/>
          </a:prstGeom>
        </p:spPr>
        <p:txBody>
          <a:bodyPr wrap="square">
            <a:spAutoFit/>
          </a:bodyPr>
          <a:lstStyle/>
          <a:p>
            <a:r>
              <a:rPr lang="en-US" altLang="zh-CN" sz="6000" b="1" dirty="0">
                <a:solidFill>
                  <a:srgbClr val="33339B"/>
                </a:solidFill>
                <a:latin typeface="Times New Roman" panose="02020603050405020304" pitchFamily="18" charset="0"/>
                <a:cs typeface="Times New Roman" panose="02020603050405020304" pitchFamily="18" charset="0"/>
              </a:rPr>
              <a:t>Assignment</a:t>
            </a:r>
          </a:p>
        </p:txBody>
      </p:sp>
      <p:sp>
        <p:nvSpPr>
          <p:cNvPr id="6" name="矩形 5">
            <a:extLst>
              <a:ext uri="{FF2B5EF4-FFF2-40B4-BE49-F238E27FC236}">
                <a16:creationId xmlns:a16="http://schemas.microsoft.com/office/drawing/2014/main" id="{C0D5B375-295B-41AB-90D3-56F5A18CEF36}"/>
              </a:ext>
            </a:extLst>
          </p:cNvPr>
          <p:cNvSpPr/>
          <p:nvPr/>
        </p:nvSpPr>
        <p:spPr>
          <a:xfrm>
            <a:off x="184150" y="1946754"/>
            <a:ext cx="11480800" cy="3518720"/>
          </a:xfrm>
          <a:prstGeom prst="rect">
            <a:avLst/>
          </a:prstGeom>
        </p:spPr>
        <p:txBody>
          <a:bodyPr wrap="square">
            <a:spAutoFit/>
          </a:bodyPr>
          <a:lstStyle/>
          <a:p>
            <a:pPr marL="971550" lvl="1" indent="-514350" algn="just">
              <a:lnSpc>
                <a:spcPct val="125000"/>
              </a:lnSpc>
              <a:buFont typeface="+mj-ea"/>
              <a:buAutoNum type="circleNumDbPlain" startAt="4"/>
            </a:pPr>
            <a:r>
              <a:rPr lang="en-US" altLang="zh-CN" sz="2000" b="1" dirty="0">
                <a:solidFill>
                  <a:prstClr val="black"/>
                </a:solidFill>
                <a:cs typeface="Times New Roman" panose="02020603050405020304" pitchFamily="18" charset="0"/>
              </a:rPr>
              <a:t>Account Creation Page: </a:t>
            </a:r>
            <a:r>
              <a:rPr lang="en-US" altLang="zh-CN" sz="2000" dirty="0">
                <a:solidFill>
                  <a:prstClr val="black"/>
                </a:solidFill>
                <a:latin typeface="Times New Roman" panose="02020603050405020304" pitchFamily="18" charset="0"/>
                <a:cs typeface="Times New Roman" panose="02020603050405020304" pitchFamily="18" charset="0"/>
              </a:rPr>
              <a:t>The application layer will check the information the user enters thoroughly each time they submit it before attempting to create the account. If all the data passes, the server will attempt to make the account and check for account creation errors. </a:t>
            </a:r>
          </a:p>
          <a:p>
            <a:pPr lvl="1" algn="just">
              <a:lnSpc>
                <a:spcPct val="125000"/>
              </a:lnSpc>
            </a:pPr>
            <a:r>
              <a:rPr lang="en-US" altLang="zh-CN" sz="2000" dirty="0">
                <a:solidFill>
                  <a:prstClr val="black"/>
                </a:solidFill>
                <a:latin typeface="Times New Roman" panose="02020603050405020304" pitchFamily="18" charset="0"/>
                <a:cs typeface="Times New Roman" panose="02020603050405020304" pitchFamily="18" charset="0"/>
              </a:rPr>
              <a:t>	</a:t>
            </a:r>
          </a:p>
          <a:p>
            <a:pPr lvl="1" algn="just">
              <a:lnSpc>
                <a:spcPct val="125000"/>
              </a:lnSpc>
            </a:pPr>
            <a:r>
              <a:rPr lang="en-US" altLang="zh-CN" sz="2000" dirty="0">
                <a:solidFill>
                  <a:prstClr val="black"/>
                </a:solidFill>
                <a:latin typeface="Times New Roman" panose="02020603050405020304" pitchFamily="18" charset="0"/>
                <a:cs typeface="Times New Roman" panose="02020603050405020304" pitchFamily="18" charset="0"/>
              </a:rPr>
              <a:t>	After the account information has been entered correctly, the account will be created by the system, and the user will be </a:t>
            </a:r>
            <a:r>
              <a:rPr lang="en-US" altLang="zh-CN" sz="2000" b="1" dirty="0">
                <a:solidFill>
                  <a:prstClr val="black"/>
                </a:solidFill>
                <a:latin typeface="Times New Roman" panose="02020603050405020304" pitchFamily="18" charset="0"/>
                <a:cs typeface="Times New Roman" panose="02020603050405020304" pitchFamily="18" charset="0"/>
              </a:rPr>
              <a:t>automatically logged</a:t>
            </a:r>
            <a:r>
              <a:rPr lang="en-US" altLang="zh-CN" sz="2000" dirty="0">
                <a:solidFill>
                  <a:prstClr val="black"/>
                </a:solidFill>
                <a:latin typeface="Times New Roman" panose="02020603050405020304" pitchFamily="18" charset="0"/>
                <a:cs typeface="Times New Roman" panose="02020603050405020304" pitchFamily="18" charset="0"/>
              </a:rPr>
              <a:t> in and </a:t>
            </a:r>
            <a:r>
              <a:rPr lang="en-US" altLang="zh-CN" sz="2000" b="1" dirty="0">
                <a:solidFill>
                  <a:prstClr val="black"/>
                </a:solidFill>
                <a:latin typeface="Times New Roman" panose="02020603050405020304" pitchFamily="18" charset="0"/>
                <a:cs typeface="Times New Roman" panose="02020603050405020304" pitchFamily="18" charset="0"/>
              </a:rPr>
              <a:t>directed to Page</a:t>
            </a:r>
            <a:r>
              <a:rPr lang="en-US" altLang="zh-CN" sz="2000" dirty="0">
                <a:solidFill>
                  <a:prstClr val="black"/>
                </a:solidFill>
                <a:latin typeface="Times New Roman" panose="02020603050405020304" pitchFamily="18" charset="0"/>
                <a:cs typeface="Times New Roman" panose="02020603050405020304" pitchFamily="18" charset="0"/>
              </a:rPr>
              <a:t> Shopping Basket (or Page Search, </a:t>
            </a:r>
            <a:r>
              <a:rPr lang="en-US" altLang="zh-CN" sz="2000" b="1" dirty="0">
                <a:solidFill>
                  <a:prstClr val="black"/>
                </a:solidFill>
                <a:latin typeface="Times New Roman" panose="02020603050405020304" pitchFamily="18" charset="0"/>
                <a:cs typeface="Times New Roman" panose="02020603050405020304" pitchFamily="18" charset="0"/>
              </a:rPr>
              <a:t>decided by you</a:t>
            </a:r>
            <a:r>
              <a:rPr lang="en-US" altLang="zh-CN" sz="2000" dirty="0">
                <a:solidFill>
                  <a:prstClr val="black"/>
                </a:solidFill>
                <a:latin typeface="Times New Roman" panose="02020603050405020304" pitchFamily="18" charset="0"/>
                <a:cs typeface="Times New Roman" panose="02020603050405020304" pitchFamily="18" charset="0"/>
              </a:rPr>
              <a:t>). </a:t>
            </a:r>
          </a:p>
          <a:p>
            <a:pPr lvl="1" algn="just">
              <a:lnSpc>
                <a:spcPct val="125000"/>
              </a:lnSpc>
            </a:pPr>
            <a:r>
              <a:rPr lang="en-US" altLang="zh-CN" sz="2000" dirty="0">
                <a:solidFill>
                  <a:prstClr val="black"/>
                </a:solidFill>
                <a:latin typeface="Times New Roman" panose="02020603050405020304" pitchFamily="18" charset="0"/>
                <a:cs typeface="Times New Roman" panose="02020603050405020304" pitchFamily="18" charset="0"/>
              </a:rPr>
              <a:t>       Usually it is directed to the page before login, and the page is in login status. Anyway, it is </a:t>
            </a:r>
            <a:r>
              <a:rPr lang="en-US" altLang="zh-CN" sz="2000" b="1" dirty="0">
                <a:solidFill>
                  <a:prstClr val="black"/>
                </a:solidFill>
                <a:latin typeface="Times New Roman" panose="02020603050405020304" pitchFamily="18" charset="0"/>
                <a:cs typeface="Times New Roman" panose="02020603050405020304" pitchFamily="18" charset="0"/>
              </a:rPr>
              <a:t>decided by you.</a:t>
            </a:r>
          </a:p>
        </p:txBody>
      </p:sp>
      <p:sp>
        <p:nvSpPr>
          <p:cNvPr id="7" name="Rectangle 6">
            <a:extLst>
              <a:ext uri="{FF2B5EF4-FFF2-40B4-BE49-F238E27FC236}">
                <a16:creationId xmlns:a16="http://schemas.microsoft.com/office/drawing/2014/main" id="{71429D8A-2720-AA1F-2B65-FF347C87B1B4}"/>
              </a:ext>
            </a:extLst>
          </p:cNvPr>
          <p:cNvSpPr/>
          <p:nvPr/>
        </p:nvSpPr>
        <p:spPr>
          <a:xfrm>
            <a:off x="486173" y="1221166"/>
            <a:ext cx="5149487" cy="707886"/>
          </a:xfrm>
          <a:prstGeom prst="rect">
            <a:avLst/>
          </a:prstGeom>
        </p:spPr>
        <p:txBody>
          <a:bodyPr wrap="none">
            <a:spAutoFit/>
          </a:bodyPr>
          <a:lstStyle/>
          <a:p>
            <a:r>
              <a:rPr lang="en-US" sz="4000" b="1" dirty="0">
                <a:solidFill>
                  <a:srgbClr val="33339B"/>
                </a:solidFill>
                <a:latin typeface="Times New Roman" panose="02020603050405020304" pitchFamily="18" charset="0"/>
                <a:cs typeface="Times New Roman" panose="02020603050405020304" pitchFamily="18" charset="0"/>
              </a:rPr>
              <a:t>2. </a:t>
            </a:r>
            <a:r>
              <a:rPr lang="en-US" altLang="zh-CN" sz="4000" b="1" dirty="0">
                <a:solidFill>
                  <a:srgbClr val="33339B"/>
                </a:solidFill>
                <a:latin typeface="Times New Roman" panose="02020603050405020304" pitchFamily="18" charset="0"/>
                <a:cs typeface="Times New Roman" panose="02020603050405020304" pitchFamily="18" charset="0"/>
              </a:rPr>
              <a:t>Pages Requirements</a:t>
            </a:r>
            <a:endParaRPr lang="en-US" sz="4000" b="1" dirty="0">
              <a:solidFill>
                <a:srgbClr val="33339B"/>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07204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a:extLst>
              <a:ext uri="{FF2B5EF4-FFF2-40B4-BE49-F238E27FC236}">
                <a16:creationId xmlns:a16="http://schemas.microsoft.com/office/drawing/2014/main" id="{6C75D155-25C3-19C1-F1AA-AAC226DE76FB}"/>
              </a:ext>
            </a:extLst>
          </p:cNvPr>
          <p:cNvSpPr/>
          <p:nvPr/>
        </p:nvSpPr>
        <p:spPr>
          <a:xfrm>
            <a:off x="486173" y="205503"/>
            <a:ext cx="7839680" cy="1015663"/>
          </a:xfrm>
          <a:prstGeom prst="rect">
            <a:avLst/>
          </a:prstGeom>
        </p:spPr>
        <p:txBody>
          <a:bodyPr wrap="square">
            <a:spAutoFit/>
          </a:bodyPr>
          <a:lstStyle/>
          <a:p>
            <a:r>
              <a:rPr lang="en-US" altLang="zh-CN" sz="6000" b="1" dirty="0">
                <a:solidFill>
                  <a:srgbClr val="33339B"/>
                </a:solidFill>
                <a:latin typeface="Times New Roman" panose="02020603050405020304" pitchFamily="18" charset="0"/>
                <a:cs typeface="Times New Roman" panose="02020603050405020304" pitchFamily="18" charset="0"/>
              </a:rPr>
              <a:t>Assignment</a:t>
            </a:r>
          </a:p>
        </p:txBody>
      </p:sp>
      <p:sp>
        <p:nvSpPr>
          <p:cNvPr id="6" name="矩形 5">
            <a:extLst>
              <a:ext uri="{FF2B5EF4-FFF2-40B4-BE49-F238E27FC236}">
                <a16:creationId xmlns:a16="http://schemas.microsoft.com/office/drawing/2014/main" id="{C0D5B375-295B-41AB-90D3-56F5A18CEF36}"/>
              </a:ext>
            </a:extLst>
          </p:cNvPr>
          <p:cNvSpPr/>
          <p:nvPr/>
        </p:nvSpPr>
        <p:spPr>
          <a:xfrm>
            <a:off x="184150" y="1929052"/>
            <a:ext cx="11480800" cy="2749279"/>
          </a:xfrm>
          <a:prstGeom prst="rect">
            <a:avLst/>
          </a:prstGeom>
        </p:spPr>
        <p:txBody>
          <a:bodyPr wrap="square">
            <a:spAutoFit/>
          </a:bodyPr>
          <a:lstStyle/>
          <a:p>
            <a:pPr marL="971550" lvl="1" indent="-514350" algn="just">
              <a:lnSpc>
                <a:spcPct val="125000"/>
              </a:lnSpc>
              <a:buFont typeface="+mj-ea"/>
              <a:buAutoNum type="circleNumDbPlain" startAt="5"/>
            </a:pPr>
            <a:r>
              <a:rPr lang="en-US" altLang="zh-CN" sz="2000" b="1" dirty="0">
                <a:solidFill>
                  <a:prstClr val="black"/>
                </a:solidFill>
                <a:cs typeface="Times New Roman" panose="02020603050405020304" pitchFamily="18" charset="0"/>
              </a:rPr>
              <a:t>Shopping Basket Page: </a:t>
            </a:r>
            <a:r>
              <a:rPr lang="en-US" altLang="zh-CN" sz="2000" dirty="0">
                <a:solidFill>
                  <a:prstClr val="black"/>
                </a:solidFill>
                <a:latin typeface="Times New Roman" panose="02020603050405020304" pitchFamily="18" charset="0"/>
                <a:cs typeface="Times New Roman" panose="02020603050405020304" pitchFamily="18" charset="0"/>
              </a:rPr>
              <a:t>The shopping basket is </a:t>
            </a:r>
            <a:r>
              <a:rPr lang="en-US" altLang="zh-CN" sz="2000" b="1" dirty="0">
                <a:solidFill>
                  <a:srgbClr val="FF0000"/>
                </a:solidFill>
                <a:latin typeface="Times New Roman" panose="02020603050405020304" pitchFamily="18" charset="0"/>
                <a:cs typeface="Times New Roman" panose="02020603050405020304" pitchFamily="18" charset="0"/>
              </a:rPr>
              <a:t>a temporary state page </a:t>
            </a:r>
            <a:r>
              <a:rPr lang="en-US" altLang="zh-CN" sz="2000" dirty="0">
                <a:solidFill>
                  <a:prstClr val="black"/>
                </a:solidFill>
                <a:latin typeface="Times New Roman" panose="02020603050405020304" pitchFamily="18" charset="0"/>
                <a:cs typeface="Times New Roman" panose="02020603050405020304" pitchFamily="18" charset="0"/>
              </a:rPr>
              <a:t>that shows the user which items they have added to their order during their current visit.  In addition, users can change their shopping cart by both </a:t>
            </a:r>
            <a:r>
              <a:rPr lang="en-US" altLang="zh-CN" sz="2000" b="1" dirty="0">
                <a:solidFill>
                  <a:prstClr val="black"/>
                </a:solidFill>
                <a:latin typeface="Times New Roman" panose="02020603050405020304" pitchFamily="18" charset="0"/>
                <a:cs typeface="Times New Roman" panose="02020603050405020304" pitchFamily="18" charset="0"/>
              </a:rPr>
              <a:t>modifying the quantities of book</a:t>
            </a:r>
            <a:r>
              <a:rPr lang="en-US" altLang="zh-CN" sz="2000" dirty="0">
                <a:solidFill>
                  <a:prstClr val="black"/>
                </a:solidFill>
                <a:latin typeface="Times New Roman" panose="02020603050405020304" pitchFamily="18" charset="0"/>
                <a:cs typeface="Times New Roman" panose="02020603050405020304" pitchFamily="18" charset="0"/>
              </a:rPr>
              <a:t>s in their baskets, as well as </a:t>
            </a:r>
            <a:r>
              <a:rPr lang="en-US" altLang="zh-CN" sz="2000" b="1" dirty="0">
                <a:solidFill>
                  <a:prstClr val="black"/>
                </a:solidFill>
                <a:latin typeface="Times New Roman" panose="02020603050405020304" pitchFamily="18" charset="0"/>
                <a:cs typeface="Times New Roman" panose="02020603050405020304" pitchFamily="18" charset="0"/>
              </a:rPr>
              <a:t>deleting books</a:t>
            </a:r>
            <a:r>
              <a:rPr lang="en-US" altLang="zh-CN" sz="2000" dirty="0">
                <a:solidFill>
                  <a:prstClr val="black"/>
                </a:solidFill>
                <a:latin typeface="Times New Roman" panose="02020603050405020304" pitchFamily="18" charset="0"/>
                <a:cs typeface="Times New Roman" panose="02020603050405020304" pitchFamily="18" charset="0"/>
              </a:rPr>
              <a:t> from their basket. </a:t>
            </a:r>
          </a:p>
          <a:p>
            <a:pPr lvl="1" algn="just">
              <a:lnSpc>
                <a:spcPct val="125000"/>
              </a:lnSpc>
            </a:pPr>
            <a:r>
              <a:rPr lang="en-US" altLang="zh-CN" sz="2000" i="1" dirty="0">
                <a:solidFill>
                  <a:prstClr val="black"/>
                </a:solidFill>
                <a:latin typeface="Times New Roman" panose="02020603050405020304" pitchFamily="18" charset="0"/>
                <a:cs typeface="Times New Roman" panose="02020603050405020304" pitchFamily="18" charset="0"/>
              </a:rPr>
              <a:t>	</a:t>
            </a:r>
            <a:r>
              <a:rPr lang="en-US" altLang="zh-CN" sz="2000" i="1" dirty="0">
                <a:latin typeface="Times New Roman" panose="02020603050405020304" pitchFamily="18" charset="0"/>
                <a:cs typeface="Times New Roman" panose="02020603050405020304" pitchFamily="18" charset="0"/>
              </a:rPr>
              <a:t> </a:t>
            </a:r>
            <a:r>
              <a:rPr lang="en-US" altLang="zh-CN" sz="2000" dirty="0">
                <a:solidFill>
                  <a:prstClr val="black"/>
                </a:solidFill>
                <a:latin typeface="Times New Roman" panose="02020603050405020304" pitchFamily="18" charset="0"/>
                <a:cs typeface="Times New Roman" panose="02020603050405020304" pitchFamily="18" charset="0"/>
              </a:rPr>
              <a:t>	</a:t>
            </a:r>
          </a:p>
          <a:p>
            <a:pPr lvl="1" algn="just">
              <a:lnSpc>
                <a:spcPct val="125000"/>
              </a:lnSpc>
            </a:pPr>
            <a:r>
              <a:rPr lang="en-US" altLang="zh-CN" sz="2000" dirty="0">
                <a:solidFill>
                  <a:prstClr val="black"/>
                </a:solidFill>
                <a:latin typeface="Times New Roman" panose="02020603050405020304" pitchFamily="18" charset="0"/>
                <a:cs typeface="Times New Roman" panose="02020603050405020304" pitchFamily="18" charset="0"/>
              </a:rPr>
              <a:t>	Note: No information contained in the shopping basket is maintained by the system permanently. So  a user’s </a:t>
            </a:r>
            <a:r>
              <a:rPr lang="en-US" altLang="zh-CN" sz="2000" b="1" dirty="0">
                <a:solidFill>
                  <a:prstClr val="black"/>
                </a:solidFill>
                <a:latin typeface="Times New Roman" panose="02020603050405020304" pitchFamily="18" charset="0"/>
                <a:cs typeface="Times New Roman" panose="02020603050405020304" pitchFamily="18" charset="0"/>
              </a:rPr>
              <a:t>shopping basket is erased each time they connect to our server</a:t>
            </a:r>
            <a:r>
              <a:rPr lang="en-US" altLang="zh-CN" sz="2000" dirty="0">
                <a:solidFill>
                  <a:prstClr val="black"/>
                </a:solidFill>
                <a:latin typeface="Times New Roman" panose="02020603050405020304" pitchFamily="18" charset="0"/>
                <a:cs typeface="Times New Roman" panose="02020603050405020304" pitchFamily="18" charset="0"/>
              </a:rPr>
              <a:t>.</a:t>
            </a:r>
          </a:p>
        </p:txBody>
      </p:sp>
      <p:sp>
        <p:nvSpPr>
          <p:cNvPr id="7" name="Rectangle 6">
            <a:extLst>
              <a:ext uri="{FF2B5EF4-FFF2-40B4-BE49-F238E27FC236}">
                <a16:creationId xmlns:a16="http://schemas.microsoft.com/office/drawing/2014/main" id="{71429D8A-2720-AA1F-2B65-FF347C87B1B4}"/>
              </a:ext>
            </a:extLst>
          </p:cNvPr>
          <p:cNvSpPr/>
          <p:nvPr/>
        </p:nvSpPr>
        <p:spPr>
          <a:xfrm>
            <a:off x="486173" y="1221166"/>
            <a:ext cx="5149487" cy="707886"/>
          </a:xfrm>
          <a:prstGeom prst="rect">
            <a:avLst/>
          </a:prstGeom>
        </p:spPr>
        <p:txBody>
          <a:bodyPr wrap="none">
            <a:spAutoFit/>
          </a:bodyPr>
          <a:lstStyle/>
          <a:p>
            <a:r>
              <a:rPr lang="en-US" sz="4000" b="1" dirty="0">
                <a:solidFill>
                  <a:srgbClr val="33339B"/>
                </a:solidFill>
                <a:latin typeface="Times New Roman" panose="02020603050405020304" pitchFamily="18" charset="0"/>
                <a:cs typeface="Times New Roman" panose="02020603050405020304" pitchFamily="18" charset="0"/>
              </a:rPr>
              <a:t>2. </a:t>
            </a:r>
            <a:r>
              <a:rPr lang="en-US" altLang="zh-CN" sz="4000" b="1" dirty="0">
                <a:solidFill>
                  <a:srgbClr val="33339B"/>
                </a:solidFill>
                <a:latin typeface="Times New Roman" panose="02020603050405020304" pitchFamily="18" charset="0"/>
                <a:cs typeface="Times New Roman" panose="02020603050405020304" pitchFamily="18" charset="0"/>
              </a:rPr>
              <a:t>Pages Requirements</a:t>
            </a:r>
            <a:endParaRPr lang="en-US" sz="4000" b="1" dirty="0">
              <a:solidFill>
                <a:srgbClr val="33339B"/>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37270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a:extLst>
              <a:ext uri="{FF2B5EF4-FFF2-40B4-BE49-F238E27FC236}">
                <a16:creationId xmlns:a16="http://schemas.microsoft.com/office/drawing/2014/main" id="{6C75D155-25C3-19C1-F1AA-AAC226DE76FB}"/>
              </a:ext>
            </a:extLst>
          </p:cNvPr>
          <p:cNvSpPr/>
          <p:nvPr/>
        </p:nvSpPr>
        <p:spPr>
          <a:xfrm>
            <a:off x="486173" y="205503"/>
            <a:ext cx="7839680" cy="1015663"/>
          </a:xfrm>
          <a:prstGeom prst="rect">
            <a:avLst/>
          </a:prstGeom>
        </p:spPr>
        <p:txBody>
          <a:bodyPr wrap="square">
            <a:spAutoFit/>
          </a:bodyPr>
          <a:lstStyle/>
          <a:p>
            <a:r>
              <a:rPr lang="en-US" altLang="zh-CN" sz="6000" b="1" dirty="0">
                <a:solidFill>
                  <a:srgbClr val="33339B"/>
                </a:solidFill>
                <a:latin typeface="Times New Roman" panose="02020603050405020304" pitchFamily="18" charset="0"/>
                <a:cs typeface="Times New Roman" panose="02020603050405020304" pitchFamily="18" charset="0"/>
              </a:rPr>
              <a:t>Assignment</a:t>
            </a:r>
          </a:p>
        </p:txBody>
      </p:sp>
      <p:sp>
        <p:nvSpPr>
          <p:cNvPr id="6" name="矩形 5">
            <a:extLst>
              <a:ext uri="{FF2B5EF4-FFF2-40B4-BE49-F238E27FC236}">
                <a16:creationId xmlns:a16="http://schemas.microsoft.com/office/drawing/2014/main" id="{C0D5B375-295B-41AB-90D3-56F5A18CEF36}"/>
              </a:ext>
            </a:extLst>
          </p:cNvPr>
          <p:cNvSpPr/>
          <p:nvPr/>
        </p:nvSpPr>
        <p:spPr>
          <a:xfrm>
            <a:off x="184150" y="1929052"/>
            <a:ext cx="11480800" cy="3554819"/>
          </a:xfrm>
          <a:prstGeom prst="rect">
            <a:avLst/>
          </a:prstGeom>
        </p:spPr>
        <p:txBody>
          <a:bodyPr wrap="square">
            <a:spAutoFit/>
          </a:bodyPr>
          <a:lstStyle/>
          <a:p>
            <a:pPr marL="971550" lvl="1" indent="-514350" algn="just">
              <a:lnSpc>
                <a:spcPct val="125000"/>
              </a:lnSpc>
              <a:buFont typeface="+mj-ea"/>
              <a:buAutoNum type="circleNumDbPlain" startAt="6"/>
            </a:pPr>
            <a:r>
              <a:rPr lang="en-US" altLang="zh-CN" sz="2000" b="1" dirty="0">
                <a:solidFill>
                  <a:prstClr val="black"/>
                </a:solidFill>
                <a:cs typeface="Times New Roman" panose="02020603050405020304" pitchFamily="18" charset="0"/>
              </a:rPr>
              <a:t>Login Page: </a:t>
            </a:r>
            <a:r>
              <a:rPr lang="en-US" altLang="zh-CN" sz="2000" dirty="0">
                <a:solidFill>
                  <a:prstClr val="black"/>
                </a:solidFill>
                <a:latin typeface="Times New Roman" panose="02020603050405020304" pitchFamily="18" charset="0"/>
                <a:cs typeface="Times New Roman" panose="02020603050405020304" pitchFamily="18" charset="0"/>
              </a:rPr>
              <a:t>The login page will ask a user for their username and password to use to log into the system. In addition, they will have the following options based on the information they provided: </a:t>
            </a:r>
          </a:p>
          <a:p>
            <a:pPr marL="971550" lvl="1" indent="-514350" algn="just">
              <a:lnSpc>
                <a:spcPct val="125000"/>
              </a:lnSpc>
              <a:buFont typeface="+mj-ea"/>
              <a:buAutoNum type="circleNumDbPlain" startAt="6"/>
            </a:pPr>
            <a:endParaRPr lang="en-US" altLang="zh-CN" sz="2000" dirty="0">
              <a:solidFill>
                <a:prstClr val="black"/>
              </a:solidFill>
              <a:latin typeface="Times New Roman" panose="02020603050405020304" pitchFamily="18" charset="0"/>
              <a:cs typeface="Times New Roman" panose="02020603050405020304" pitchFamily="18" charset="0"/>
            </a:endParaRPr>
          </a:p>
          <a:p>
            <a:pPr marL="971550" lvl="1" indent="-514350" algn="just">
              <a:lnSpc>
                <a:spcPct val="125000"/>
              </a:lnSpc>
              <a:buFont typeface="+mj-ea"/>
              <a:buAutoNum type="circleNumDbPlain" startAt="6"/>
            </a:pPr>
            <a:endParaRPr lang="en-US" altLang="zh-CN" sz="2000" dirty="0">
              <a:solidFill>
                <a:prstClr val="black"/>
              </a:solidFill>
              <a:latin typeface="Times New Roman" panose="02020603050405020304" pitchFamily="18" charset="0"/>
              <a:cs typeface="Times New Roman" panose="02020603050405020304" pitchFamily="18" charset="0"/>
            </a:endParaRPr>
          </a:p>
          <a:p>
            <a:pPr marL="971550" lvl="1" indent="-514350" algn="just">
              <a:lnSpc>
                <a:spcPct val="125000"/>
              </a:lnSpc>
              <a:buFont typeface="+mj-ea"/>
              <a:buAutoNum type="circleNumDbPlain" startAt="6"/>
            </a:pPr>
            <a:endParaRPr lang="en-US" altLang="zh-CN" sz="2000" dirty="0">
              <a:solidFill>
                <a:prstClr val="black"/>
              </a:solidFill>
              <a:latin typeface="Times New Roman" panose="02020603050405020304" pitchFamily="18" charset="0"/>
              <a:cs typeface="Times New Roman" panose="02020603050405020304" pitchFamily="18" charset="0"/>
            </a:endParaRPr>
          </a:p>
          <a:p>
            <a:pPr marL="971550" lvl="1" indent="-514350" algn="just">
              <a:lnSpc>
                <a:spcPct val="125000"/>
              </a:lnSpc>
              <a:buFont typeface="+mj-ea"/>
              <a:buAutoNum type="circleNumDbPlain" startAt="6"/>
            </a:pPr>
            <a:endParaRPr lang="en-US" altLang="zh-CN" sz="2000" dirty="0">
              <a:solidFill>
                <a:prstClr val="black"/>
              </a:solidFill>
              <a:latin typeface="Times New Roman" panose="02020603050405020304" pitchFamily="18" charset="0"/>
              <a:cs typeface="Times New Roman" panose="02020603050405020304" pitchFamily="18" charset="0"/>
            </a:endParaRPr>
          </a:p>
          <a:p>
            <a:pPr lvl="1" algn="just">
              <a:lnSpc>
                <a:spcPct val="125000"/>
              </a:lnSpc>
            </a:pPr>
            <a:r>
              <a:rPr lang="en-US" altLang="zh-CN" sz="2000" dirty="0">
                <a:solidFill>
                  <a:prstClr val="black"/>
                </a:solidFill>
                <a:latin typeface="Times New Roman" panose="02020603050405020304" pitchFamily="18" charset="0"/>
                <a:cs typeface="Times New Roman" panose="02020603050405020304" pitchFamily="18" charset="0"/>
              </a:rPr>
              <a:t>	</a:t>
            </a:r>
          </a:p>
          <a:p>
            <a:pPr lvl="1" algn="just">
              <a:lnSpc>
                <a:spcPct val="125000"/>
              </a:lnSpc>
            </a:pPr>
            <a:r>
              <a:rPr lang="en-US" altLang="zh-CN" sz="2000" dirty="0">
                <a:solidFill>
                  <a:prstClr val="black"/>
                </a:solidFill>
                <a:latin typeface="Times New Roman" panose="02020603050405020304" pitchFamily="18" charset="0"/>
                <a:cs typeface="Times New Roman" panose="02020603050405020304" pitchFamily="18" charset="0"/>
              </a:rPr>
              <a:t>	The application layer will query the database with the information the user has provided and if it is valid for a user in the system, it will log a user in by creating a cookie on the user’s machine. </a:t>
            </a:r>
          </a:p>
        </p:txBody>
      </p:sp>
      <p:sp>
        <p:nvSpPr>
          <p:cNvPr id="7" name="Rectangle 6">
            <a:extLst>
              <a:ext uri="{FF2B5EF4-FFF2-40B4-BE49-F238E27FC236}">
                <a16:creationId xmlns:a16="http://schemas.microsoft.com/office/drawing/2014/main" id="{71429D8A-2720-AA1F-2B65-FF347C87B1B4}"/>
              </a:ext>
            </a:extLst>
          </p:cNvPr>
          <p:cNvSpPr/>
          <p:nvPr/>
        </p:nvSpPr>
        <p:spPr>
          <a:xfrm>
            <a:off x="486173" y="1221166"/>
            <a:ext cx="5149487" cy="707886"/>
          </a:xfrm>
          <a:prstGeom prst="rect">
            <a:avLst/>
          </a:prstGeom>
        </p:spPr>
        <p:txBody>
          <a:bodyPr wrap="none">
            <a:spAutoFit/>
          </a:bodyPr>
          <a:lstStyle/>
          <a:p>
            <a:r>
              <a:rPr lang="en-US" sz="4000" b="1" dirty="0">
                <a:solidFill>
                  <a:srgbClr val="33339B"/>
                </a:solidFill>
                <a:latin typeface="Times New Roman" panose="02020603050405020304" pitchFamily="18" charset="0"/>
                <a:cs typeface="Times New Roman" panose="02020603050405020304" pitchFamily="18" charset="0"/>
              </a:rPr>
              <a:t>2. </a:t>
            </a:r>
            <a:r>
              <a:rPr lang="en-US" altLang="zh-CN" sz="4000" b="1" dirty="0">
                <a:solidFill>
                  <a:srgbClr val="33339B"/>
                </a:solidFill>
                <a:latin typeface="Times New Roman" panose="02020603050405020304" pitchFamily="18" charset="0"/>
                <a:cs typeface="Times New Roman" panose="02020603050405020304" pitchFamily="18" charset="0"/>
              </a:rPr>
              <a:t>Pages Requirements</a:t>
            </a:r>
            <a:endParaRPr lang="en-US" sz="4000" b="1" dirty="0">
              <a:solidFill>
                <a:srgbClr val="33339B"/>
              </a:solidFill>
              <a:latin typeface="Times New Roman" panose="02020603050405020304" pitchFamily="18" charset="0"/>
              <a:cs typeface="Times New Roman" panose="02020603050405020304" pitchFamily="18" charset="0"/>
            </a:endParaRPr>
          </a:p>
        </p:txBody>
      </p:sp>
      <p:graphicFrame>
        <p:nvGraphicFramePr>
          <p:cNvPr id="5" name="表格 4">
            <a:extLst>
              <a:ext uri="{FF2B5EF4-FFF2-40B4-BE49-F238E27FC236}">
                <a16:creationId xmlns:a16="http://schemas.microsoft.com/office/drawing/2014/main" id="{5604B8F1-111F-C5FF-1160-F3371B774B19}"/>
              </a:ext>
            </a:extLst>
          </p:cNvPr>
          <p:cNvGraphicFramePr>
            <a:graphicFrameLocks noGrp="1"/>
          </p:cNvGraphicFramePr>
          <p:nvPr/>
        </p:nvGraphicFramePr>
        <p:xfrm>
          <a:off x="2729807" y="2944715"/>
          <a:ext cx="6863772" cy="1341120"/>
        </p:xfrm>
        <a:graphic>
          <a:graphicData uri="http://schemas.openxmlformats.org/drawingml/2006/table">
            <a:tbl>
              <a:tblPr firstRow="1" bandRow="1">
                <a:tableStyleId>{5940675A-B579-460E-94D1-54222C63F5DA}</a:tableStyleId>
              </a:tblPr>
              <a:tblGrid>
                <a:gridCol w="3431886">
                  <a:extLst>
                    <a:ext uri="{9D8B030D-6E8A-4147-A177-3AD203B41FA5}">
                      <a16:colId xmlns:a16="http://schemas.microsoft.com/office/drawing/2014/main" val="2198622741"/>
                    </a:ext>
                  </a:extLst>
                </a:gridCol>
                <a:gridCol w="3431886">
                  <a:extLst>
                    <a:ext uri="{9D8B030D-6E8A-4147-A177-3AD203B41FA5}">
                      <a16:colId xmlns:a16="http://schemas.microsoft.com/office/drawing/2014/main" val="3130040378"/>
                    </a:ext>
                  </a:extLst>
                </a:gridCol>
              </a:tblGrid>
              <a:tr h="209312">
                <a:tc>
                  <a:txBody>
                    <a:bodyPr/>
                    <a:lstStyle/>
                    <a:p>
                      <a:r>
                        <a:rPr lang="en-US" altLang="zh-CN" sz="1600" b="1" dirty="0">
                          <a:latin typeface="Times New Roman" panose="02020603050405020304" pitchFamily="18" charset="0"/>
                          <a:cs typeface="Times New Roman" panose="02020603050405020304" pitchFamily="18" charset="0"/>
                        </a:rPr>
                        <a:t>Action</a:t>
                      </a:r>
                      <a:endParaRPr lang="zh-CN" altLang="en-US"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b="1" dirty="0">
                          <a:latin typeface="Times New Roman" panose="02020603050405020304" pitchFamily="18" charset="0"/>
                          <a:cs typeface="Times New Roman" panose="02020603050405020304" pitchFamily="18" charset="0"/>
                        </a:rPr>
                        <a:t>Directed</a:t>
                      </a:r>
                      <a:r>
                        <a:rPr lang="zh-CN" altLang="en-US" sz="1600" b="1" dirty="0">
                          <a:latin typeface="Times New Roman" panose="02020603050405020304" pitchFamily="18" charset="0"/>
                          <a:cs typeface="Times New Roman" panose="02020603050405020304" pitchFamily="18" charset="0"/>
                        </a:rPr>
                        <a:t> </a:t>
                      </a:r>
                      <a:r>
                        <a:rPr lang="en-US" altLang="zh-CN" sz="1600" b="1" dirty="0">
                          <a:latin typeface="Times New Roman" panose="02020603050405020304" pitchFamily="18" charset="0"/>
                          <a:cs typeface="Times New Roman" panose="02020603050405020304" pitchFamily="18" charset="0"/>
                        </a:rPr>
                        <a:t>to</a:t>
                      </a:r>
                      <a:endParaRPr lang="zh-CN" altLang="en-US" sz="16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3518697"/>
                  </a:ext>
                </a:extLst>
              </a:tr>
              <a:tr h="2093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600" kern="1200" dirty="0">
                          <a:solidFill>
                            <a:schemeClr val="tx1"/>
                          </a:solidFill>
                          <a:effectLst/>
                          <a:latin typeface="Times New Roman" panose="02020603050405020304" pitchFamily="18" charset="0"/>
                          <a:ea typeface="+mn-ea"/>
                          <a:cs typeface="Times New Roman" panose="02020603050405020304" pitchFamily="18" charset="0"/>
                        </a:rPr>
                        <a:t>Forgot Password </a:t>
                      </a:r>
                      <a:endParaRPr lang="en" altLang="zh-CN" sz="1600" dirty="0">
                        <a:effectLst/>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600" b="0" kern="1200" dirty="0">
                          <a:solidFill>
                            <a:schemeClr val="tx1"/>
                          </a:solidFill>
                          <a:effectLst/>
                          <a:latin typeface="Times New Roman" panose="02020603050405020304" pitchFamily="18" charset="0"/>
                          <a:ea typeface="+mn-ea"/>
                          <a:cs typeface="Times New Roman" panose="02020603050405020304" pitchFamily="18" charset="0"/>
                        </a:rPr>
                        <a:t>E-mail Message to Administrator </a:t>
                      </a:r>
                      <a:endParaRPr lang="en" altLang="zh-CN" sz="1600" b="0" dirty="0">
                        <a:effectLst/>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7184661"/>
                  </a:ext>
                </a:extLst>
              </a:tr>
              <a:tr h="2093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600" kern="1200" dirty="0">
                          <a:solidFill>
                            <a:schemeClr val="tx1"/>
                          </a:solidFill>
                          <a:effectLst/>
                          <a:latin typeface="Times New Roman" panose="02020603050405020304" pitchFamily="18" charset="0"/>
                          <a:ea typeface="+mn-ea"/>
                          <a:cs typeface="Times New Roman" panose="02020603050405020304" pitchFamily="18" charset="0"/>
                        </a:rPr>
                        <a:t>Login: Incorrect Information </a:t>
                      </a:r>
                      <a:endParaRPr lang="en" altLang="zh-CN" sz="1600" dirty="0">
                        <a:effectLst/>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a:latin typeface="Times New Roman" panose="02020603050405020304" pitchFamily="18" charset="0"/>
                          <a:cs typeface="Times New Roman" panose="02020603050405020304" pitchFamily="18" charset="0"/>
                        </a:rPr>
                        <a:t>Login</a:t>
                      </a:r>
                      <a:r>
                        <a:rPr lang="zh-CN" altLang="en-US" sz="1600" dirty="0">
                          <a:latin typeface="Times New Roman" panose="02020603050405020304" pitchFamily="18" charset="0"/>
                          <a:cs typeface="Times New Roman" panose="02020603050405020304" pitchFamily="18" charset="0"/>
                        </a:rPr>
                        <a:t> </a:t>
                      </a:r>
                      <a:r>
                        <a:rPr lang="en-US" altLang="zh-CN" sz="1600" dirty="0">
                          <a:latin typeface="Times New Roman" panose="02020603050405020304" pitchFamily="18" charset="0"/>
                          <a:cs typeface="Times New Roman" panose="02020603050405020304" pitchFamily="18" charset="0"/>
                        </a:rPr>
                        <a:t>page</a:t>
                      </a:r>
                      <a:endParaRPr lang="zh-CN" altLang="en-US"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079550"/>
                  </a:ext>
                </a:extLst>
              </a:tr>
              <a:tr h="2093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600" kern="1200" dirty="0">
                          <a:solidFill>
                            <a:schemeClr val="tx1"/>
                          </a:solidFill>
                          <a:effectLst/>
                          <a:latin typeface="Times New Roman" panose="02020603050405020304" pitchFamily="18" charset="0"/>
                          <a:ea typeface="+mn-ea"/>
                          <a:cs typeface="Times New Roman" panose="02020603050405020304" pitchFamily="18" charset="0"/>
                        </a:rPr>
                        <a:t>Login: Correct Information </a:t>
                      </a:r>
                      <a:endParaRPr lang="en" altLang="zh-CN" sz="1600" dirty="0">
                        <a:effectLst/>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CN" sz="1600" dirty="0">
                          <a:latin typeface="Times New Roman" panose="02020603050405020304" pitchFamily="18" charset="0"/>
                          <a:cs typeface="Times New Roman" panose="02020603050405020304" pitchFamily="18" charset="0"/>
                        </a:rPr>
                        <a:t>Search page</a:t>
                      </a:r>
                      <a:endParaRPr lang="zh-CN" altLang="en-US"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56877"/>
                  </a:ext>
                </a:extLst>
              </a:tr>
            </a:tbl>
          </a:graphicData>
        </a:graphic>
      </p:graphicFrame>
    </p:spTree>
    <p:extLst>
      <p:ext uri="{BB962C8B-B14F-4D97-AF65-F5344CB8AC3E}">
        <p14:creationId xmlns:p14="http://schemas.microsoft.com/office/powerpoint/2010/main" val="11854145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a:extLst>
              <a:ext uri="{FF2B5EF4-FFF2-40B4-BE49-F238E27FC236}">
                <a16:creationId xmlns:a16="http://schemas.microsoft.com/office/drawing/2014/main" id="{6C75D155-25C3-19C1-F1AA-AAC226DE76FB}"/>
              </a:ext>
            </a:extLst>
          </p:cNvPr>
          <p:cNvSpPr/>
          <p:nvPr/>
        </p:nvSpPr>
        <p:spPr>
          <a:xfrm>
            <a:off x="486173" y="205503"/>
            <a:ext cx="7839680" cy="1015663"/>
          </a:xfrm>
          <a:prstGeom prst="rect">
            <a:avLst/>
          </a:prstGeom>
        </p:spPr>
        <p:txBody>
          <a:bodyPr wrap="square">
            <a:spAutoFit/>
          </a:bodyPr>
          <a:lstStyle/>
          <a:p>
            <a:r>
              <a:rPr lang="en-US" altLang="zh-CN" sz="6000" b="1" dirty="0">
                <a:solidFill>
                  <a:srgbClr val="33339B"/>
                </a:solidFill>
                <a:latin typeface="Times New Roman" panose="02020603050405020304" pitchFamily="18" charset="0"/>
                <a:cs typeface="Times New Roman" panose="02020603050405020304" pitchFamily="18" charset="0"/>
              </a:rPr>
              <a:t>Assignment</a:t>
            </a:r>
          </a:p>
        </p:txBody>
      </p:sp>
      <p:sp>
        <p:nvSpPr>
          <p:cNvPr id="6" name="矩形 5">
            <a:extLst>
              <a:ext uri="{FF2B5EF4-FFF2-40B4-BE49-F238E27FC236}">
                <a16:creationId xmlns:a16="http://schemas.microsoft.com/office/drawing/2014/main" id="{C0D5B375-295B-41AB-90D3-56F5A18CEF36}"/>
              </a:ext>
            </a:extLst>
          </p:cNvPr>
          <p:cNvSpPr/>
          <p:nvPr/>
        </p:nvSpPr>
        <p:spPr>
          <a:xfrm>
            <a:off x="184150" y="1929052"/>
            <a:ext cx="11480800" cy="4288162"/>
          </a:xfrm>
          <a:prstGeom prst="rect">
            <a:avLst/>
          </a:prstGeom>
        </p:spPr>
        <p:txBody>
          <a:bodyPr wrap="square">
            <a:spAutoFit/>
          </a:bodyPr>
          <a:lstStyle/>
          <a:p>
            <a:pPr marL="971550" lvl="1" indent="-514350" algn="just">
              <a:lnSpc>
                <a:spcPct val="125000"/>
              </a:lnSpc>
              <a:buFont typeface="+mj-ea"/>
              <a:buAutoNum type="circleNumDbPlain" startAt="7"/>
            </a:pPr>
            <a:r>
              <a:rPr lang="en-US" altLang="zh-CN" sz="2000" b="1" dirty="0">
                <a:solidFill>
                  <a:prstClr val="black"/>
                </a:solidFill>
                <a:cs typeface="Times New Roman" panose="02020603050405020304" pitchFamily="18" charset="0"/>
              </a:rPr>
              <a:t>Checkout Page : </a:t>
            </a:r>
            <a:r>
              <a:rPr lang="en-US" altLang="zh-CN" sz="2000" dirty="0">
                <a:solidFill>
                  <a:prstClr val="black"/>
                </a:solidFill>
                <a:latin typeface="Times New Roman" panose="02020603050405020304" pitchFamily="18" charset="0"/>
                <a:cs typeface="Times New Roman" panose="02020603050405020304" pitchFamily="18" charset="0"/>
              </a:rPr>
              <a:t>Only when a user has </a:t>
            </a:r>
            <a:r>
              <a:rPr lang="en-US" altLang="zh-CN" sz="2000" b="1" dirty="0">
                <a:solidFill>
                  <a:prstClr val="black"/>
                </a:solidFill>
                <a:latin typeface="Times New Roman" panose="02020603050405020304" pitchFamily="18" charset="0"/>
                <a:cs typeface="Times New Roman" panose="02020603050405020304" pitchFamily="18" charset="0"/>
              </a:rPr>
              <a:t>at least one item in their shopping basket </a:t>
            </a:r>
            <a:r>
              <a:rPr lang="en-US" altLang="zh-CN" sz="2000" dirty="0">
                <a:solidFill>
                  <a:prstClr val="black"/>
                </a:solidFill>
                <a:latin typeface="Times New Roman" panose="02020603050405020304" pitchFamily="18" charset="0"/>
                <a:cs typeface="Times New Roman" panose="02020603050405020304" pitchFamily="18" charset="0"/>
              </a:rPr>
              <a:t>and has </a:t>
            </a:r>
            <a:r>
              <a:rPr lang="en-US" altLang="zh-CN" sz="2000" b="1" dirty="0">
                <a:solidFill>
                  <a:prstClr val="black"/>
                </a:solidFill>
                <a:latin typeface="Times New Roman" panose="02020603050405020304" pitchFamily="18" charset="0"/>
                <a:cs typeface="Times New Roman" panose="02020603050405020304" pitchFamily="18" charset="0"/>
              </a:rPr>
              <a:t>logged into our system</a:t>
            </a:r>
            <a:r>
              <a:rPr lang="en-US" altLang="zh-CN" sz="2000" dirty="0">
                <a:solidFill>
                  <a:prstClr val="black"/>
                </a:solidFill>
                <a:latin typeface="Times New Roman" panose="02020603050405020304" pitchFamily="18" charset="0"/>
                <a:cs typeface="Times New Roman" panose="02020603050405020304" pitchFamily="18" charset="0"/>
              </a:rPr>
              <a:t> will they be able to </a:t>
            </a:r>
            <a:r>
              <a:rPr lang="en-US" altLang="zh-CN" sz="2000" b="1" dirty="0">
                <a:solidFill>
                  <a:prstClr val="black"/>
                </a:solidFill>
                <a:latin typeface="Times New Roman" panose="02020603050405020304" pitchFamily="18" charset="0"/>
                <a:cs typeface="Times New Roman" panose="02020603050405020304" pitchFamily="18" charset="0"/>
              </a:rPr>
              <a:t>proceed to the checkout page</a:t>
            </a:r>
            <a:r>
              <a:rPr lang="en-US" altLang="zh-CN" sz="2000" dirty="0">
                <a:solidFill>
                  <a:prstClr val="black"/>
                </a:solidFill>
                <a:latin typeface="Times New Roman" panose="02020603050405020304" pitchFamily="18" charset="0"/>
                <a:cs typeface="Times New Roman" panose="02020603050405020304" pitchFamily="18" charset="0"/>
              </a:rPr>
              <a:t>. </a:t>
            </a:r>
          </a:p>
          <a:p>
            <a:pPr marL="800100" lvl="1" indent="-342900" algn="just">
              <a:lnSpc>
                <a:spcPct val="125000"/>
              </a:lnSpc>
              <a:buFont typeface="Arial" panose="020B0604020202020204" pitchFamily="34" charset="0"/>
              <a:buChar char="•"/>
            </a:pPr>
            <a:r>
              <a:rPr lang="en-US" altLang="zh-CN" sz="2000" dirty="0">
                <a:solidFill>
                  <a:prstClr val="black"/>
                </a:solidFill>
                <a:latin typeface="Times New Roman" panose="02020603050405020304" pitchFamily="18" charset="0"/>
                <a:cs typeface="Times New Roman" panose="02020603050405020304" pitchFamily="18" charset="0"/>
              </a:rPr>
              <a:t>First, they will be asked to </a:t>
            </a:r>
            <a:r>
              <a:rPr lang="en-US" altLang="zh-CN" sz="2000" b="1" dirty="0">
                <a:solidFill>
                  <a:prstClr val="black"/>
                </a:solidFill>
                <a:latin typeface="Times New Roman" panose="02020603050405020304" pitchFamily="18" charset="0"/>
                <a:cs typeface="Times New Roman" panose="02020603050405020304" pitchFamily="18" charset="0"/>
              </a:rPr>
              <a:t>confirm the items </a:t>
            </a:r>
            <a:r>
              <a:rPr lang="en-US" altLang="zh-CN" sz="2000" dirty="0">
                <a:solidFill>
                  <a:prstClr val="black"/>
                </a:solidFill>
                <a:latin typeface="Times New Roman" panose="02020603050405020304" pitchFamily="18" charset="0"/>
                <a:cs typeface="Times New Roman" panose="02020603050405020304" pitchFamily="18" charset="0"/>
              </a:rPr>
              <a:t>in their order. </a:t>
            </a:r>
          </a:p>
          <a:p>
            <a:pPr marL="800100" lvl="1" indent="-342900" algn="just">
              <a:lnSpc>
                <a:spcPct val="125000"/>
              </a:lnSpc>
              <a:buFont typeface="Arial" panose="020B0604020202020204" pitchFamily="34" charset="0"/>
              <a:buChar char="•"/>
            </a:pPr>
            <a:r>
              <a:rPr lang="en-US" altLang="zh-CN" sz="2000" dirty="0">
                <a:solidFill>
                  <a:prstClr val="black"/>
                </a:solidFill>
                <a:latin typeface="Times New Roman" panose="02020603050405020304" pitchFamily="18" charset="0"/>
                <a:cs typeface="Times New Roman" panose="02020603050405020304" pitchFamily="18" charset="0"/>
              </a:rPr>
              <a:t>Next, they will be asked to </a:t>
            </a:r>
            <a:r>
              <a:rPr lang="en-US" altLang="zh-CN" sz="2000" b="1" dirty="0">
                <a:solidFill>
                  <a:prstClr val="black"/>
                </a:solidFill>
                <a:latin typeface="Times New Roman" panose="02020603050405020304" pitchFamily="18" charset="0"/>
                <a:cs typeface="Times New Roman" panose="02020603050405020304" pitchFamily="18" charset="0"/>
              </a:rPr>
              <a:t>provide a valid credit card </a:t>
            </a:r>
            <a:r>
              <a:rPr lang="en-US" altLang="zh-CN" sz="2000" dirty="0">
                <a:solidFill>
                  <a:prstClr val="black"/>
                </a:solidFill>
                <a:latin typeface="Times New Roman" panose="02020603050405020304" pitchFamily="18" charset="0"/>
                <a:cs typeface="Times New Roman" panose="02020603050405020304" pitchFamily="18" charset="0"/>
              </a:rPr>
              <a:t>for the order as well as shown their </a:t>
            </a:r>
            <a:r>
              <a:rPr lang="en-US" altLang="zh-CN" sz="2000" b="1" dirty="0">
                <a:solidFill>
                  <a:prstClr val="black"/>
                </a:solidFill>
                <a:latin typeface="Times New Roman" panose="02020603050405020304" pitchFamily="18" charset="0"/>
                <a:cs typeface="Times New Roman" panose="02020603050405020304" pitchFamily="18" charset="0"/>
              </a:rPr>
              <a:t>shipping address</a:t>
            </a:r>
            <a:r>
              <a:rPr lang="en-US" altLang="zh-CN" sz="2000" dirty="0">
                <a:solidFill>
                  <a:prstClr val="black"/>
                </a:solidFill>
                <a:latin typeface="Times New Roman" panose="02020603050405020304" pitchFamily="18" charset="0"/>
                <a:cs typeface="Times New Roman" panose="02020603050405020304" pitchFamily="18" charset="0"/>
              </a:rPr>
              <a:t> for the order. </a:t>
            </a:r>
          </a:p>
          <a:p>
            <a:pPr marL="800100" lvl="1" indent="-342900" algn="just">
              <a:lnSpc>
                <a:spcPct val="125000"/>
              </a:lnSpc>
              <a:buFont typeface="Arial" panose="020B0604020202020204" pitchFamily="34" charset="0"/>
              <a:buChar char="•"/>
            </a:pPr>
            <a:r>
              <a:rPr lang="en-US" altLang="zh-CN" sz="2000" dirty="0">
                <a:solidFill>
                  <a:prstClr val="black"/>
                </a:solidFill>
                <a:latin typeface="Times New Roman" panose="02020603050405020304" pitchFamily="18" charset="0"/>
                <a:cs typeface="Times New Roman" panose="02020603050405020304" pitchFamily="18" charset="0"/>
              </a:rPr>
              <a:t>Finally, they will be </a:t>
            </a:r>
            <a:r>
              <a:rPr lang="en-US" altLang="zh-CN" sz="2000" b="1" dirty="0">
                <a:solidFill>
                  <a:prstClr val="black"/>
                </a:solidFill>
                <a:latin typeface="Times New Roman" panose="02020603050405020304" pitchFamily="18" charset="0"/>
                <a:cs typeface="Times New Roman" panose="02020603050405020304" pitchFamily="18" charset="0"/>
              </a:rPr>
              <a:t>shown the information </a:t>
            </a:r>
            <a:r>
              <a:rPr lang="en-US" altLang="zh-CN" sz="2000" dirty="0">
                <a:solidFill>
                  <a:prstClr val="black"/>
                </a:solidFill>
                <a:latin typeface="Times New Roman" panose="02020603050405020304" pitchFamily="18" charset="0"/>
                <a:cs typeface="Times New Roman" panose="02020603050405020304" pitchFamily="18" charset="0"/>
              </a:rPr>
              <a:t>for their entire order and </a:t>
            </a:r>
            <a:r>
              <a:rPr lang="en-US" altLang="zh-CN" sz="2000" b="1" dirty="0">
                <a:solidFill>
                  <a:prstClr val="black"/>
                </a:solidFill>
                <a:latin typeface="Times New Roman" panose="02020603050405020304" pitchFamily="18" charset="0"/>
                <a:cs typeface="Times New Roman" panose="02020603050405020304" pitchFamily="18" charset="0"/>
              </a:rPr>
              <a:t>asked to confirm it</a:t>
            </a:r>
            <a:r>
              <a:rPr lang="en-US" altLang="zh-CN" sz="2000" dirty="0">
                <a:solidFill>
                  <a:prstClr val="black"/>
                </a:solidFill>
                <a:latin typeface="Times New Roman" panose="02020603050405020304" pitchFamily="18" charset="0"/>
                <a:cs typeface="Times New Roman" panose="02020603050405020304" pitchFamily="18" charset="0"/>
              </a:rPr>
              <a:t>. </a:t>
            </a:r>
          </a:p>
          <a:p>
            <a:pPr marL="800100" lvl="1" indent="-342900" algn="just">
              <a:lnSpc>
                <a:spcPct val="125000"/>
              </a:lnSpc>
              <a:buFont typeface="Arial" panose="020B0604020202020204" pitchFamily="34" charset="0"/>
              <a:buChar char="•"/>
            </a:pPr>
            <a:r>
              <a:rPr lang="en-US" altLang="zh-CN" sz="2000" dirty="0">
                <a:solidFill>
                  <a:prstClr val="black"/>
                </a:solidFill>
                <a:latin typeface="Times New Roman" panose="02020603050405020304" pitchFamily="18" charset="0"/>
                <a:cs typeface="Times New Roman" panose="02020603050405020304" pitchFamily="18" charset="0"/>
              </a:rPr>
              <a:t>Once they confirm the order, it is sent to the database for processing. </a:t>
            </a:r>
          </a:p>
          <a:p>
            <a:pPr marL="800100" lvl="1" indent="-342900" algn="just">
              <a:lnSpc>
                <a:spcPct val="125000"/>
              </a:lnSpc>
              <a:buFont typeface="Arial" panose="020B0604020202020204" pitchFamily="34" charset="0"/>
              <a:buChar char="•"/>
            </a:pPr>
            <a:r>
              <a:rPr lang="en-US" altLang="zh-CN" sz="2000" dirty="0">
                <a:solidFill>
                  <a:prstClr val="black"/>
                </a:solidFill>
                <a:latin typeface="Times New Roman" panose="02020603050405020304" pitchFamily="18" charset="0"/>
                <a:cs typeface="Times New Roman" panose="02020603050405020304" pitchFamily="18" charset="0"/>
              </a:rPr>
              <a:t>When the </a:t>
            </a:r>
            <a:r>
              <a:rPr lang="en-US" altLang="zh-CN" sz="2000" b="1" dirty="0">
                <a:solidFill>
                  <a:prstClr val="black"/>
                </a:solidFill>
                <a:latin typeface="Times New Roman" panose="02020603050405020304" pitchFamily="18" charset="0"/>
                <a:cs typeface="Times New Roman" panose="02020603050405020304" pitchFamily="18" charset="0"/>
              </a:rPr>
              <a:t>quantity of the items is insufficient</a:t>
            </a:r>
            <a:r>
              <a:rPr lang="en-US" altLang="zh-CN" sz="2000" dirty="0">
                <a:solidFill>
                  <a:prstClr val="black"/>
                </a:solidFill>
                <a:latin typeface="Times New Roman" panose="02020603050405020304" pitchFamily="18" charset="0"/>
                <a:cs typeface="Times New Roman" panose="02020603050405020304" pitchFamily="18" charset="0"/>
              </a:rPr>
              <a:t>, the </a:t>
            </a:r>
            <a:r>
              <a:rPr lang="en-US" altLang="zh-CN" sz="2000" b="1" dirty="0">
                <a:solidFill>
                  <a:prstClr val="black"/>
                </a:solidFill>
                <a:latin typeface="Times New Roman" panose="02020603050405020304" pitchFamily="18" charset="0"/>
                <a:cs typeface="Times New Roman" panose="02020603050405020304" pitchFamily="18" charset="0"/>
              </a:rPr>
              <a:t>operation will fail </a:t>
            </a:r>
            <a:r>
              <a:rPr lang="en-US" altLang="zh-CN" sz="2000" dirty="0">
                <a:solidFill>
                  <a:prstClr val="black"/>
                </a:solidFill>
                <a:latin typeface="Times New Roman" panose="02020603050405020304" pitchFamily="18" charset="0"/>
                <a:cs typeface="Times New Roman" panose="02020603050405020304" pitchFamily="18" charset="0"/>
              </a:rPr>
              <a:t>and the </a:t>
            </a:r>
            <a:r>
              <a:rPr lang="en-US" altLang="zh-CN" sz="2000" b="1" dirty="0">
                <a:solidFill>
                  <a:prstClr val="black"/>
                </a:solidFill>
                <a:latin typeface="Times New Roman" panose="02020603050405020304" pitchFamily="18" charset="0"/>
                <a:cs typeface="Times New Roman" panose="02020603050405020304" pitchFamily="18" charset="0"/>
              </a:rPr>
              <a:t>corresponding prompt message will be returned</a:t>
            </a:r>
            <a:r>
              <a:rPr lang="en-US" altLang="zh-CN" sz="2000" dirty="0">
                <a:solidFill>
                  <a:prstClr val="black"/>
                </a:solidFill>
                <a:latin typeface="Times New Roman" panose="02020603050405020304" pitchFamily="18" charset="0"/>
                <a:cs typeface="Times New Roman" panose="02020603050405020304" pitchFamily="18" charset="0"/>
              </a:rPr>
              <a:t>. </a:t>
            </a:r>
          </a:p>
          <a:p>
            <a:pPr marL="800100" lvl="1" indent="-342900" algn="just">
              <a:lnSpc>
                <a:spcPct val="125000"/>
              </a:lnSpc>
              <a:buFont typeface="Arial" panose="020B0604020202020204" pitchFamily="34" charset="0"/>
              <a:buChar char="•"/>
            </a:pPr>
            <a:r>
              <a:rPr lang="en-US" altLang="zh-CN" sz="2000" dirty="0">
                <a:solidFill>
                  <a:prstClr val="black"/>
                </a:solidFill>
                <a:latin typeface="Times New Roman" panose="02020603050405020304" pitchFamily="18" charset="0"/>
                <a:cs typeface="Times New Roman" panose="02020603050405020304" pitchFamily="18" charset="0"/>
              </a:rPr>
              <a:t>If the operation is </a:t>
            </a:r>
            <a:r>
              <a:rPr lang="en-US" altLang="zh-CN" sz="2000" b="1" dirty="0">
                <a:solidFill>
                  <a:prstClr val="black"/>
                </a:solidFill>
                <a:latin typeface="Times New Roman" panose="02020603050405020304" pitchFamily="18" charset="0"/>
                <a:cs typeface="Times New Roman" panose="02020603050405020304" pitchFamily="18" charset="0"/>
              </a:rPr>
              <a:t>successful</a:t>
            </a:r>
            <a:r>
              <a:rPr lang="en-US" altLang="zh-CN" sz="2000" dirty="0">
                <a:solidFill>
                  <a:prstClr val="black"/>
                </a:solidFill>
                <a:latin typeface="Times New Roman" panose="02020603050405020304" pitchFamily="18" charset="0"/>
                <a:cs typeface="Times New Roman" panose="02020603050405020304" pitchFamily="18" charset="0"/>
              </a:rPr>
              <a:t>, the quantities of the books in stock will be </a:t>
            </a:r>
            <a:r>
              <a:rPr lang="en-US" altLang="zh-CN" sz="2000" b="1" dirty="0">
                <a:solidFill>
                  <a:prstClr val="black"/>
                </a:solidFill>
                <a:latin typeface="Times New Roman" panose="02020603050405020304" pitchFamily="18" charset="0"/>
                <a:cs typeface="Times New Roman" panose="02020603050405020304" pitchFamily="18" charset="0"/>
              </a:rPr>
              <a:t>decremented</a:t>
            </a:r>
            <a:r>
              <a:rPr lang="en-US" altLang="zh-CN" sz="2000" dirty="0">
                <a:solidFill>
                  <a:prstClr val="black"/>
                </a:solidFill>
                <a:latin typeface="Times New Roman" panose="02020603050405020304" pitchFamily="18" charset="0"/>
                <a:cs typeface="Times New Roman" panose="02020603050405020304" pitchFamily="18" charset="0"/>
              </a:rPr>
              <a:t> by the quantities of books the user purchased for each book. </a:t>
            </a:r>
          </a:p>
        </p:txBody>
      </p:sp>
      <p:sp>
        <p:nvSpPr>
          <p:cNvPr id="7" name="Rectangle 6">
            <a:extLst>
              <a:ext uri="{FF2B5EF4-FFF2-40B4-BE49-F238E27FC236}">
                <a16:creationId xmlns:a16="http://schemas.microsoft.com/office/drawing/2014/main" id="{71429D8A-2720-AA1F-2B65-FF347C87B1B4}"/>
              </a:ext>
            </a:extLst>
          </p:cNvPr>
          <p:cNvSpPr/>
          <p:nvPr/>
        </p:nvSpPr>
        <p:spPr>
          <a:xfrm>
            <a:off x="486173" y="1221166"/>
            <a:ext cx="5149487" cy="707886"/>
          </a:xfrm>
          <a:prstGeom prst="rect">
            <a:avLst/>
          </a:prstGeom>
        </p:spPr>
        <p:txBody>
          <a:bodyPr wrap="none">
            <a:spAutoFit/>
          </a:bodyPr>
          <a:lstStyle/>
          <a:p>
            <a:r>
              <a:rPr lang="en-US" sz="4000" b="1" dirty="0">
                <a:solidFill>
                  <a:srgbClr val="33339B"/>
                </a:solidFill>
                <a:latin typeface="Times New Roman" panose="02020603050405020304" pitchFamily="18" charset="0"/>
                <a:cs typeface="Times New Roman" panose="02020603050405020304" pitchFamily="18" charset="0"/>
              </a:rPr>
              <a:t>2. </a:t>
            </a:r>
            <a:r>
              <a:rPr lang="en-US" altLang="zh-CN" sz="4000" b="1" dirty="0">
                <a:solidFill>
                  <a:srgbClr val="33339B"/>
                </a:solidFill>
                <a:latin typeface="Times New Roman" panose="02020603050405020304" pitchFamily="18" charset="0"/>
                <a:cs typeface="Times New Roman" panose="02020603050405020304" pitchFamily="18" charset="0"/>
              </a:rPr>
              <a:t>Pages Requirements</a:t>
            </a:r>
            <a:endParaRPr lang="en-US" sz="4000" b="1" dirty="0">
              <a:solidFill>
                <a:srgbClr val="33339B"/>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95645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a:extLst>
              <a:ext uri="{FF2B5EF4-FFF2-40B4-BE49-F238E27FC236}">
                <a16:creationId xmlns:a16="http://schemas.microsoft.com/office/drawing/2014/main" id="{6C75D155-25C3-19C1-F1AA-AAC226DE76FB}"/>
              </a:ext>
            </a:extLst>
          </p:cNvPr>
          <p:cNvSpPr/>
          <p:nvPr/>
        </p:nvSpPr>
        <p:spPr>
          <a:xfrm>
            <a:off x="486173" y="205503"/>
            <a:ext cx="7839680" cy="1015663"/>
          </a:xfrm>
          <a:prstGeom prst="rect">
            <a:avLst/>
          </a:prstGeom>
        </p:spPr>
        <p:txBody>
          <a:bodyPr wrap="square">
            <a:spAutoFit/>
          </a:bodyPr>
          <a:lstStyle/>
          <a:p>
            <a:r>
              <a:rPr lang="en-US" altLang="zh-CN" sz="6000" b="1" dirty="0">
                <a:solidFill>
                  <a:srgbClr val="33339B"/>
                </a:solidFill>
                <a:latin typeface="Times New Roman" panose="02020603050405020304" pitchFamily="18" charset="0"/>
                <a:cs typeface="Times New Roman" panose="02020603050405020304" pitchFamily="18" charset="0"/>
              </a:rPr>
              <a:t>Assignment</a:t>
            </a:r>
          </a:p>
        </p:txBody>
      </p:sp>
      <p:sp>
        <p:nvSpPr>
          <p:cNvPr id="7" name="Rectangle 6">
            <a:extLst>
              <a:ext uri="{FF2B5EF4-FFF2-40B4-BE49-F238E27FC236}">
                <a16:creationId xmlns:a16="http://schemas.microsoft.com/office/drawing/2014/main" id="{71429D8A-2720-AA1F-2B65-FF347C87B1B4}"/>
              </a:ext>
            </a:extLst>
          </p:cNvPr>
          <p:cNvSpPr/>
          <p:nvPr/>
        </p:nvSpPr>
        <p:spPr>
          <a:xfrm>
            <a:off x="486173" y="1221166"/>
            <a:ext cx="5996193" cy="707886"/>
          </a:xfrm>
          <a:prstGeom prst="rect">
            <a:avLst/>
          </a:prstGeom>
        </p:spPr>
        <p:txBody>
          <a:bodyPr wrap="none">
            <a:spAutoFit/>
          </a:bodyPr>
          <a:lstStyle/>
          <a:p>
            <a:r>
              <a:rPr lang="en-US" sz="4000" b="1" dirty="0">
                <a:solidFill>
                  <a:srgbClr val="33339B"/>
                </a:solidFill>
                <a:latin typeface="Times New Roman" panose="02020603050405020304" pitchFamily="18" charset="0"/>
                <a:cs typeface="Times New Roman" panose="02020603050405020304" pitchFamily="18" charset="0"/>
              </a:rPr>
              <a:t>3. </a:t>
            </a:r>
            <a:r>
              <a:rPr lang="en-US" altLang="zh-CN" sz="4000" b="1" dirty="0">
                <a:solidFill>
                  <a:srgbClr val="33339B"/>
                </a:solidFill>
                <a:latin typeface="Times New Roman" panose="02020603050405020304" pitchFamily="18" charset="0"/>
                <a:cs typeface="Times New Roman" panose="02020603050405020304" pitchFamily="18" charset="0"/>
              </a:rPr>
              <a:t>Document requirements</a:t>
            </a:r>
            <a:endParaRPr lang="en-US" sz="4000" b="1" dirty="0">
              <a:solidFill>
                <a:srgbClr val="33339B"/>
              </a:solidFill>
              <a:latin typeface="Times New Roman" panose="02020603050405020304" pitchFamily="18" charset="0"/>
              <a:cs typeface="Times New Roman" panose="02020603050405020304" pitchFamily="18" charset="0"/>
            </a:endParaRPr>
          </a:p>
        </p:txBody>
      </p:sp>
      <p:sp>
        <p:nvSpPr>
          <p:cNvPr id="2" name="矩形 1"/>
          <p:cNvSpPr/>
          <p:nvPr/>
        </p:nvSpPr>
        <p:spPr>
          <a:xfrm>
            <a:off x="792480" y="1929052"/>
            <a:ext cx="10530840" cy="4093428"/>
          </a:xfrm>
          <a:prstGeom prst="rect">
            <a:avLst/>
          </a:prstGeom>
        </p:spPr>
        <p:txBody>
          <a:bodyPr wrap="square">
            <a:spAutoFit/>
          </a:bodyPr>
          <a:lstStyle/>
          <a:p>
            <a:pPr marL="457200" indent="-457200">
              <a:buFont typeface="Wingdings" panose="05000000000000000000" pitchFamily="2" charset="2"/>
              <a:buChar char="ü"/>
            </a:pPr>
            <a:r>
              <a:rPr lang="en-US" altLang="zh-CN" sz="2000" dirty="0">
                <a:latin typeface="Times New Roman" panose="02020603050405020304" pitchFamily="18" charset="0"/>
                <a:cs typeface="Times New Roman" panose="02020603050405020304" pitchFamily="18" charset="0"/>
              </a:rPr>
              <a:t>Hand in a </a:t>
            </a:r>
            <a:r>
              <a:rPr lang="en-US" altLang="zh-CN" sz="2000" b="1" dirty="0">
                <a:solidFill>
                  <a:srgbClr val="C00000"/>
                </a:solidFill>
                <a:latin typeface="Times New Roman" panose="02020603050405020304" pitchFamily="18" charset="0"/>
                <a:cs typeface="Times New Roman" panose="02020603050405020304" pitchFamily="18" charset="0"/>
              </a:rPr>
              <a:t>report</a:t>
            </a:r>
            <a:r>
              <a:rPr lang="en-US" altLang="zh-CN" sz="2000" dirty="0">
                <a:latin typeface="Times New Roman" panose="02020603050405020304" pitchFamily="18" charset="0"/>
                <a:cs typeface="Times New Roman" panose="02020603050405020304" pitchFamily="18" charset="0"/>
              </a:rPr>
              <a:t> about the TEAM PROJECT </a:t>
            </a:r>
            <a:r>
              <a:rPr lang="en-US" altLang="zh-CN" sz="2000" b="1" dirty="0">
                <a:solidFill>
                  <a:srgbClr val="C00000"/>
                </a:solidFill>
                <a:latin typeface="Times New Roman" panose="02020603050405020304" pitchFamily="18" charset="0"/>
                <a:cs typeface="Times New Roman" panose="02020603050405020304" pitchFamily="18" charset="0"/>
              </a:rPr>
              <a:t>(Each group only needs to submit one report)</a:t>
            </a:r>
            <a:r>
              <a:rPr lang="en-US" altLang="zh-CN" sz="2000" b="1"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 </a:t>
            </a:r>
          </a:p>
          <a:p>
            <a:pPr marL="914400" lvl="1" indent="-457200">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Information of Team Members and Responsibilities</a:t>
            </a:r>
          </a:p>
          <a:p>
            <a:pPr marL="914400" lvl="1" indent="-457200">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Database Scenario </a:t>
            </a:r>
          </a:p>
          <a:p>
            <a:pPr marL="914400" lvl="1" indent="-457200">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Requirements Analysis</a:t>
            </a:r>
          </a:p>
          <a:p>
            <a:pPr marL="914400" lvl="1" indent="-457200">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ER Diagram Design</a:t>
            </a:r>
          </a:p>
          <a:p>
            <a:pPr marL="914400" lvl="1" indent="-457200">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Technical Framework</a:t>
            </a:r>
          </a:p>
          <a:p>
            <a:pPr marL="914400" lvl="1" indent="-457200">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Functional Design &amp; Software Implementation</a:t>
            </a:r>
          </a:p>
          <a:p>
            <a:pPr marL="914400" lvl="1" indent="-457200">
              <a:buFont typeface="Arial" panose="020B0604020202020204" pitchFamily="34" charset="0"/>
              <a:buChar char="•"/>
            </a:pPr>
            <a:r>
              <a:rPr lang="en-US" altLang="zh-CN" sz="2000" dirty="0">
                <a:latin typeface="Times New Roman" panose="02020603050405020304" pitchFamily="18" charset="0"/>
                <a:cs typeface="Times New Roman" panose="02020603050405020304" pitchFamily="18" charset="0"/>
              </a:rPr>
              <a:t>Results Display</a:t>
            </a:r>
          </a:p>
          <a:p>
            <a:pPr marL="457200" indent="-457200">
              <a:buFont typeface="Wingdings" panose="05000000000000000000" pitchFamily="2" charset="2"/>
              <a:buChar char="ü"/>
            </a:pPr>
            <a:r>
              <a:rPr lang="en-US" altLang="zh-CN" sz="2000" b="1" dirty="0">
                <a:solidFill>
                  <a:srgbClr val="C00000"/>
                </a:solidFill>
                <a:latin typeface="Times New Roman" panose="02020603050405020304" pitchFamily="18" charset="0"/>
                <a:cs typeface="Times New Roman" panose="02020603050405020304" pitchFamily="18" charset="0"/>
              </a:rPr>
              <a:t>code.zip</a:t>
            </a:r>
            <a:r>
              <a:rPr lang="en-US" altLang="zh-CN" sz="2000" dirty="0">
                <a:latin typeface="Times New Roman" panose="02020603050405020304" pitchFamily="18" charset="0"/>
                <a:cs typeface="Times New Roman" panose="02020603050405020304" pitchFamily="18" charset="0"/>
              </a:rPr>
              <a:t>: Source code and README</a:t>
            </a:r>
          </a:p>
          <a:p>
            <a:pPr marL="457200" indent="-457200" algn="just">
              <a:buFont typeface="Wingdings" panose="05000000000000000000" pitchFamily="2" charset="2"/>
              <a:buChar char="ü"/>
            </a:pPr>
            <a:r>
              <a:rPr lang="en-US" altLang="zh-CN" sz="2000" b="1" dirty="0">
                <a:solidFill>
                  <a:srgbClr val="C00000"/>
                </a:solidFill>
                <a:latin typeface="Times New Roman" panose="02020603050405020304" pitchFamily="18" charset="0"/>
                <a:cs typeface="Times New Roman" panose="02020603050405020304" pitchFamily="18" charset="0"/>
              </a:rPr>
              <a:t>PPT/Video/Website Link/Executable Program Package</a:t>
            </a:r>
            <a:r>
              <a:rPr lang="en-US" altLang="zh-CN" sz="2000" dirty="0">
                <a:latin typeface="Times New Roman" panose="02020603050405020304" pitchFamily="18" charset="0"/>
                <a:cs typeface="Times New Roman" panose="02020603050405020304" pitchFamily="18" charset="0"/>
              </a:rPr>
              <a:t>: The medium  of presenting the project. You can choose to use a </a:t>
            </a:r>
            <a:r>
              <a:rPr lang="en-US" altLang="zh-CN" sz="2000" b="1" dirty="0">
                <a:solidFill>
                  <a:srgbClr val="C00000"/>
                </a:solidFill>
                <a:latin typeface="Times New Roman" panose="02020603050405020304" pitchFamily="18" charset="0"/>
                <a:cs typeface="Times New Roman" panose="02020603050405020304" pitchFamily="18" charset="0"/>
              </a:rPr>
              <a:t>PPT</a:t>
            </a:r>
            <a:r>
              <a:rPr lang="en-US" altLang="zh-CN" sz="2000" dirty="0">
                <a:latin typeface="Times New Roman" panose="02020603050405020304" pitchFamily="18" charset="0"/>
                <a:cs typeface="Times New Roman" panose="02020603050405020304" pitchFamily="18" charset="0"/>
              </a:rPr>
              <a:t> to showcase the website or program, or dynamically showcase the content through a recorded </a:t>
            </a:r>
            <a:r>
              <a:rPr lang="en-US" altLang="zh-CN" sz="2000" b="1" dirty="0">
                <a:solidFill>
                  <a:srgbClr val="C00000"/>
                </a:solidFill>
                <a:latin typeface="Times New Roman" panose="02020603050405020304" pitchFamily="18" charset="0"/>
                <a:cs typeface="Times New Roman" panose="02020603050405020304" pitchFamily="18" charset="0"/>
              </a:rPr>
              <a:t>video</a:t>
            </a:r>
            <a:r>
              <a:rPr lang="en-US" altLang="zh-CN" sz="2000" dirty="0">
                <a:latin typeface="Times New Roman" panose="02020603050405020304" pitchFamily="18" charset="0"/>
                <a:cs typeface="Times New Roman" panose="02020603050405020304" pitchFamily="18" charset="0"/>
              </a:rPr>
              <a:t>. You can even present the final project as an accessible </a:t>
            </a:r>
            <a:r>
              <a:rPr lang="en-US" altLang="zh-CN" sz="2000" b="1" dirty="0">
                <a:solidFill>
                  <a:srgbClr val="C00000"/>
                </a:solidFill>
                <a:latin typeface="Times New Roman" panose="02020603050405020304" pitchFamily="18" charset="0"/>
                <a:cs typeface="Times New Roman" panose="02020603050405020304" pitchFamily="18" charset="0"/>
              </a:rPr>
              <a:t>website link </a:t>
            </a:r>
            <a:r>
              <a:rPr lang="en-US" altLang="zh-CN" sz="2000" dirty="0">
                <a:latin typeface="Times New Roman" panose="02020603050405020304" pitchFamily="18" charset="0"/>
                <a:cs typeface="Times New Roman" panose="02020603050405020304" pitchFamily="18" charset="0"/>
              </a:rPr>
              <a:t>or </a:t>
            </a:r>
            <a:r>
              <a:rPr lang="en-US" altLang="zh-CN" sz="2000" b="1" dirty="0">
                <a:solidFill>
                  <a:srgbClr val="C00000"/>
                </a:solidFill>
                <a:latin typeface="Times New Roman" panose="02020603050405020304" pitchFamily="18" charset="0"/>
                <a:cs typeface="Times New Roman" panose="02020603050405020304" pitchFamily="18" charset="0"/>
              </a:rPr>
              <a:t>executable program package</a:t>
            </a:r>
            <a:r>
              <a:rPr lang="en-US" altLang="zh-CN"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145504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9">
            <a:extLst>
              <a:ext uri="{FF2B5EF4-FFF2-40B4-BE49-F238E27FC236}">
                <a16:creationId xmlns:a16="http://schemas.microsoft.com/office/drawing/2014/main" id="{7D89991E-24EE-34F9-B73E-D65B80DCFB55}"/>
              </a:ext>
            </a:extLst>
          </p:cNvPr>
          <p:cNvSpPr/>
          <p:nvPr/>
        </p:nvSpPr>
        <p:spPr>
          <a:xfrm>
            <a:off x="330512" y="177113"/>
            <a:ext cx="10462909" cy="646331"/>
          </a:xfrm>
          <a:prstGeom prst="rect">
            <a:avLst/>
          </a:prstGeom>
        </p:spPr>
        <p:txBody>
          <a:bodyPr wrap="square">
            <a:spAutoFit/>
          </a:bodyPr>
          <a:lstStyle/>
          <a:p>
            <a:r>
              <a:rPr lang="en-US" altLang="zh-CN" sz="3600" b="1" dirty="0">
                <a:solidFill>
                  <a:srgbClr val="33339B"/>
                </a:solidFill>
                <a:latin typeface="Times New Roman" panose="02020603050405020304" pitchFamily="18" charset="0"/>
                <a:cs typeface="Times New Roman" panose="02020603050405020304" pitchFamily="18" charset="0"/>
              </a:rPr>
              <a:t>Requirements for submitting the assignment</a:t>
            </a:r>
          </a:p>
        </p:txBody>
      </p:sp>
      <p:sp>
        <p:nvSpPr>
          <p:cNvPr id="2" name="Rectangle 1">
            <a:extLst>
              <a:ext uri="{FF2B5EF4-FFF2-40B4-BE49-F238E27FC236}">
                <a16:creationId xmlns:a16="http://schemas.microsoft.com/office/drawing/2014/main" id="{457B17A4-A116-4951-B682-60901FBE49A6}"/>
              </a:ext>
            </a:extLst>
          </p:cNvPr>
          <p:cNvSpPr/>
          <p:nvPr/>
        </p:nvSpPr>
        <p:spPr>
          <a:xfrm>
            <a:off x="1343971" y="5329343"/>
            <a:ext cx="9398169" cy="769441"/>
          </a:xfrm>
          <a:prstGeom prst="rect">
            <a:avLst/>
          </a:prstGeom>
          <a:ln>
            <a:solidFill>
              <a:srgbClr val="C00000"/>
            </a:solidFill>
          </a:ln>
        </p:spPr>
        <p:txBody>
          <a:bodyPr wrap="square">
            <a:spAutoFit/>
          </a:bodyPr>
          <a:lstStyle/>
          <a:p>
            <a:r>
              <a:rPr lang="en-US" sz="4400" b="1" dirty="0">
                <a:solidFill>
                  <a:srgbClr val="C00000"/>
                </a:solidFill>
                <a:highlight>
                  <a:srgbClr val="FFFF00"/>
                </a:highlight>
                <a:latin typeface="Times New Roman" panose="02020603050405020304" pitchFamily="18" charset="0"/>
                <a:cs typeface="Times New Roman" panose="02020603050405020304" pitchFamily="18" charset="0"/>
              </a:rPr>
              <a:t>Deadline:</a:t>
            </a:r>
            <a:r>
              <a:rPr lang="zh-CN" altLang="en-US" sz="4400" b="1" dirty="0">
                <a:solidFill>
                  <a:srgbClr val="C00000"/>
                </a:solidFill>
                <a:highlight>
                  <a:srgbClr val="FFFF00"/>
                </a:highlight>
                <a:latin typeface="Times New Roman" panose="02020603050405020304" pitchFamily="18" charset="0"/>
                <a:cs typeface="Times New Roman" panose="02020603050405020304" pitchFamily="18" charset="0"/>
              </a:rPr>
              <a:t> </a:t>
            </a:r>
            <a:r>
              <a:rPr lang="en-US" altLang="zh-CN" sz="4400" b="1" dirty="0">
                <a:solidFill>
                  <a:srgbClr val="C00000"/>
                </a:solidFill>
                <a:highlight>
                  <a:srgbClr val="FFFF00"/>
                </a:highlight>
                <a:latin typeface="Times New Roman" panose="02020603050405020304" pitchFamily="18" charset="0"/>
                <a:cs typeface="Times New Roman" panose="02020603050405020304" pitchFamily="18" charset="0"/>
              </a:rPr>
              <a:t>Beijing time, 01.25, 23:59:59</a:t>
            </a:r>
            <a:endParaRPr lang="en-US" sz="4400" b="1" dirty="0">
              <a:solidFill>
                <a:srgbClr val="C00000"/>
              </a:solidFill>
              <a:highlight>
                <a:srgbClr val="FFFF00"/>
              </a:highlight>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E83EFD8F-C723-E342-0471-4D6B0B02135C}"/>
              </a:ext>
            </a:extLst>
          </p:cNvPr>
          <p:cNvSpPr txBox="1"/>
          <p:nvPr/>
        </p:nvSpPr>
        <p:spPr>
          <a:xfrm>
            <a:off x="279230" y="966893"/>
            <a:ext cx="10462910" cy="4154984"/>
          </a:xfrm>
          <a:prstGeom prst="rect">
            <a:avLst/>
          </a:prstGeom>
          <a:noFill/>
        </p:spPr>
        <p:txBody>
          <a:bodyPr wrap="square">
            <a:spAutoFit/>
          </a:bodyPr>
          <a:lstStyle/>
          <a:p>
            <a:pPr marL="457200" indent="-457200">
              <a:lnSpc>
                <a:spcPct val="150000"/>
              </a:lnSpc>
              <a:buFont typeface="Arial" panose="020B0604020202020204" pitchFamily="34" charset="0"/>
              <a:buChar char="•"/>
            </a:pPr>
            <a:r>
              <a:rPr lang="en-US" altLang="zh-CN" sz="2200" b="1" dirty="0">
                <a:latin typeface="微软雅黑" panose="020B0503020204020204" pitchFamily="34" charset="-122"/>
                <a:ea typeface="微软雅黑" panose="020B0503020204020204" pitchFamily="34" charset="-122"/>
                <a:cs typeface="Times New Roman" panose="02020603050405020304" pitchFamily="18" charset="0"/>
              </a:rPr>
              <a:t>Email address : </a:t>
            </a:r>
            <a:r>
              <a:rPr lang="en-US" altLang="zh-CN" sz="2200" b="1" u="sng" dirty="0">
                <a:solidFill>
                  <a:srgbClr val="33339B"/>
                </a:solidFill>
                <a:latin typeface="Times New Roman" panose="02020603050405020304" pitchFamily="18" charset="0"/>
                <a:ea typeface="DengXian" panose="02010600030101010101" pitchFamily="2" charset="-122"/>
                <a:cs typeface="Times New Roman" panose="02020603050405020304" pitchFamily="18" charset="0"/>
              </a:rPr>
              <a:t>liujoy@seu.edu.cn</a:t>
            </a:r>
            <a:endParaRPr lang="en-US" altLang="zh-CN" sz="2200" b="1" i="1" u="sng" dirty="0">
              <a:solidFill>
                <a:srgbClr val="33339B"/>
              </a:solidFill>
              <a:latin typeface="+mj-lt"/>
              <a:ea typeface="DengXian" panose="02010600030101010101" pitchFamily="2" charset="-122"/>
            </a:endParaRPr>
          </a:p>
          <a:p>
            <a:pPr marL="457200" indent="-457200">
              <a:lnSpc>
                <a:spcPct val="150000"/>
              </a:lnSpc>
              <a:buFont typeface="Arial" panose="020B0604020202020204" pitchFamily="34" charset="0"/>
              <a:buChar char="•"/>
            </a:pPr>
            <a:r>
              <a:rPr lang="en-US" altLang="zh-CN" sz="2200" b="1"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File name format :</a:t>
            </a:r>
            <a:r>
              <a:rPr lang="en-US" altLang="zh-CN" sz="2200" b="1" dirty="0">
                <a:latin typeface="微软雅黑" panose="020B0503020204020204" pitchFamily="34" charset="-122"/>
                <a:ea typeface="微软雅黑" panose="020B0503020204020204" pitchFamily="34" charset="-122"/>
              </a:rPr>
              <a:t> </a:t>
            </a:r>
            <a:r>
              <a:rPr lang="en-US" altLang="zh-CN" sz="2200" b="1" dirty="0" err="1">
                <a:solidFill>
                  <a:srgbClr val="33339B"/>
                </a:solidFill>
                <a:latin typeface="Times New Roman" panose="02020603050405020304" pitchFamily="18" charset="0"/>
                <a:ea typeface="DengXian" panose="02010600030101010101" pitchFamily="2" charset="-122"/>
                <a:cs typeface="Times New Roman" panose="02020603050405020304" pitchFamily="18" charset="0"/>
              </a:rPr>
              <a:t>StudentNumber</a:t>
            </a:r>
            <a:r>
              <a:rPr lang="en-US" altLang="zh-CN" sz="2200" b="1" dirty="0">
                <a:solidFill>
                  <a:srgbClr val="33339B"/>
                </a:solidFill>
                <a:latin typeface="Times New Roman" panose="02020603050405020304" pitchFamily="18" charset="0"/>
                <a:ea typeface="DengXian" panose="02010600030101010101" pitchFamily="2" charset="-122"/>
                <a:cs typeface="Times New Roman" panose="02020603050405020304" pitchFamily="18" charset="0"/>
              </a:rPr>
              <a:t>-Name-Project-X</a:t>
            </a:r>
            <a:endParaRPr lang="en-US" altLang="zh-CN" sz="2200" b="1" dirty="0">
              <a:solidFill>
                <a:srgbClr val="33339B"/>
              </a:solidFill>
              <a:latin typeface="+mj-lt"/>
              <a:ea typeface="DengXian" panose="02010600030101010101" pitchFamily="2" charset="-122"/>
            </a:endParaRPr>
          </a:p>
          <a:p>
            <a:pPr lvl="1">
              <a:lnSpc>
                <a:spcPct val="150000"/>
              </a:lnSpc>
            </a:pPr>
            <a:r>
              <a:rPr lang="en-US" altLang="zh-CN" sz="2200" b="1" dirty="0">
                <a:latin typeface="+mj-lt"/>
                <a:ea typeface="DengXian" panose="02010600030101010101" pitchFamily="2" charset="-122"/>
              </a:rPr>
              <a:t>	</a:t>
            </a:r>
            <a:r>
              <a:rPr lang="en-US" altLang="zh-CN" sz="2200" dirty="0">
                <a:latin typeface="微软雅黑" panose="020B0503020204020204" pitchFamily="34" charset="-122"/>
                <a:ea typeface="微软雅黑" panose="020B0503020204020204" pitchFamily="34" charset="-122"/>
              </a:rPr>
              <a:t>example </a:t>
            </a:r>
            <a:r>
              <a:rPr lang="en-US" altLang="zh-CN" sz="2200" dirty="0">
                <a:latin typeface="+mj-lt"/>
                <a:ea typeface="DengXian" panose="02010600030101010101" pitchFamily="2" charset="-122"/>
              </a:rPr>
              <a:t>: </a:t>
            </a:r>
            <a:r>
              <a:rPr lang="en-US" altLang="zh-CN" sz="2200" i="1" dirty="0">
                <a:solidFill>
                  <a:srgbClr val="33339B"/>
                </a:solidFill>
                <a:highlight>
                  <a:srgbClr val="FFFF00"/>
                </a:highlight>
                <a:latin typeface="微软雅黑" panose="020B0503020204020204" pitchFamily="34" charset="-122"/>
                <a:ea typeface="微软雅黑" panose="020B0503020204020204" pitchFamily="34" charset="-122"/>
                <a:cs typeface="Times New Roman" panose="02020603050405020304" pitchFamily="18" charset="0"/>
              </a:rPr>
              <a:t>71121000-</a:t>
            </a:r>
            <a:r>
              <a:rPr lang="zh-CN" altLang="en-US" sz="2200" i="1" dirty="0">
                <a:solidFill>
                  <a:srgbClr val="33339B"/>
                </a:solidFill>
                <a:highlight>
                  <a:srgbClr val="FFFF00"/>
                </a:highlight>
                <a:latin typeface="微软雅黑" panose="020B0503020204020204" pitchFamily="34" charset="-122"/>
                <a:ea typeface="微软雅黑" panose="020B0503020204020204" pitchFamily="34" charset="-122"/>
                <a:cs typeface="Times New Roman" panose="02020603050405020304" pitchFamily="18" charset="0"/>
              </a:rPr>
              <a:t>王五</a:t>
            </a:r>
            <a:r>
              <a:rPr lang="en-US" altLang="zh-CN" sz="2200" i="1" dirty="0">
                <a:solidFill>
                  <a:srgbClr val="33339B"/>
                </a:solidFill>
                <a:highlight>
                  <a:srgbClr val="FFFF00"/>
                </a:highlight>
                <a:latin typeface="微软雅黑" panose="020B0503020204020204" pitchFamily="34" charset="-122"/>
                <a:ea typeface="微软雅黑" panose="020B0503020204020204" pitchFamily="34" charset="-122"/>
                <a:cs typeface="Times New Roman" panose="02020603050405020304" pitchFamily="18" charset="0"/>
              </a:rPr>
              <a:t>-Project-6.</a:t>
            </a:r>
            <a:r>
              <a:rPr lang="en-US" altLang="zh-CN" sz="2200" i="1" dirty="0">
                <a:solidFill>
                  <a:srgbClr val="C00000"/>
                </a:solidFill>
                <a:highlight>
                  <a:srgbClr val="FFFF00"/>
                </a:highlight>
                <a:latin typeface="微软雅黑" panose="020B0503020204020204" pitchFamily="34" charset="-122"/>
                <a:ea typeface="微软雅黑" panose="020B0503020204020204" pitchFamily="34" charset="-122"/>
                <a:cs typeface="Times New Roman" panose="02020603050405020304" pitchFamily="18" charset="0"/>
              </a:rPr>
              <a:t>zip</a:t>
            </a:r>
          </a:p>
          <a:p>
            <a:pPr marL="457200" indent="-457200">
              <a:lnSpc>
                <a:spcPct val="150000"/>
              </a:lnSpc>
              <a:buFont typeface="Arial" panose="020B0604020202020204" pitchFamily="34" charset="0"/>
              <a:buChar char="•"/>
            </a:pPr>
            <a:r>
              <a:rPr lang="en-US" altLang="zh-CN" sz="2200" b="1" dirty="0">
                <a:latin typeface="微软雅黑" panose="020B0503020204020204" pitchFamily="34" charset="-122"/>
                <a:ea typeface="微软雅黑" panose="020B0503020204020204" pitchFamily="34" charset="-122"/>
              </a:rPr>
              <a:t>The </a:t>
            </a:r>
            <a:r>
              <a:rPr lang="en-US" altLang="zh-CN" sz="2200" b="1" dirty="0">
                <a:solidFill>
                  <a:srgbClr val="C00000"/>
                </a:solidFill>
                <a:latin typeface="微软雅黑" panose="020B0503020204020204" pitchFamily="34" charset="-122"/>
                <a:ea typeface="微软雅黑" panose="020B0503020204020204" pitchFamily="34" charset="-122"/>
              </a:rPr>
              <a:t>zip</a:t>
            </a:r>
            <a:r>
              <a:rPr lang="en-US" altLang="zh-CN" sz="2200" b="1" dirty="0">
                <a:latin typeface="微软雅黑" panose="020B0503020204020204" pitchFamily="34" charset="-122"/>
                <a:ea typeface="微软雅黑" panose="020B0503020204020204" pitchFamily="34" charset="-122"/>
              </a:rPr>
              <a:t> includes 3 files:</a:t>
            </a:r>
          </a:p>
          <a:p>
            <a:pPr>
              <a:lnSpc>
                <a:spcPct val="150000"/>
              </a:lnSpc>
            </a:pPr>
            <a:r>
              <a:rPr lang="en-US" altLang="zh-CN" sz="2200" dirty="0">
                <a:solidFill>
                  <a:srgbClr val="00B0F0"/>
                </a:solidFill>
                <a:latin typeface="+mj-lt"/>
                <a:cs typeface="Times New Roman" panose="02020603050405020304" pitchFamily="18" charset="0"/>
              </a:rPr>
              <a:t>	</a:t>
            </a:r>
            <a:r>
              <a:rPr lang="zh-CN" altLang="en-US" sz="2200" dirty="0">
                <a:solidFill>
                  <a:srgbClr val="C00000"/>
                </a:solidFill>
                <a:latin typeface="+mj-lt"/>
                <a:cs typeface="Times New Roman" panose="02020603050405020304" pitchFamily="18" charset="0"/>
              </a:rPr>
              <a:t>① </a:t>
            </a:r>
            <a:r>
              <a:rPr lang="en-US" altLang="zh-CN" sz="2200" b="1" i="1" dirty="0">
                <a:solidFill>
                  <a:srgbClr val="33339B"/>
                </a:solidFill>
                <a:ea typeface="DengXian" panose="02010600030101010101" pitchFamily="2" charset="-122"/>
              </a:rPr>
              <a:t>report_A6.doc / report_A6.docx / report_A6.pdf</a:t>
            </a:r>
          </a:p>
          <a:p>
            <a:pPr>
              <a:lnSpc>
                <a:spcPct val="150000"/>
              </a:lnSpc>
            </a:pPr>
            <a:r>
              <a:rPr lang="en-US" altLang="zh-CN" sz="2200" b="1" i="1" dirty="0">
                <a:solidFill>
                  <a:srgbClr val="33339B"/>
                </a:solidFill>
                <a:latin typeface="+mj-lt"/>
                <a:ea typeface="DengXian" panose="02010600030101010101" pitchFamily="2" charset="-122"/>
              </a:rPr>
              <a:t>	</a:t>
            </a:r>
            <a:r>
              <a:rPr lang="zh-CN" altLang="en-US" sz="2200" dirty="0">
                <a:solidFill>
                  <a:srgbClr val="C00000"/>
                </a:solidFill>
                <a:latin typeface="+mj-lt"/>
                <a:cs typeface="Times New Roman" panose="02020603050405020304" pitchFamily="18" charset="0"/>
              </a:rPr>
              <a:t>② </a:t>
            </a:r>
            <a:r>
              <a:rPr lang="en-US" altLang="zh-CN" sz="2200" b="1" i="1" dirty="0">
                <a:solidFill>
                  <a:srgbClr val="33339B"/>
                </a:solidFill>
                <a:ea typeface="DengXian" panose="02010600030101010101" pitchFamily="2" charset="-122"/>
              </a:rPr>
              <a:t>code.zip </a:t>
            </a:r>
          </a:p>
          <a:p>
            <a:pPr>
              <a:lnSpc>
                <a:spcPct val="150000"/>
              </a:lnSpc>
            </a:pPr>
            <a:r>
              <a:rPr lang="en-US" altLang="zh-CN" sz="2200" b="1" i="1" dirty="0">
                <a:solidFill>
                  <a:srgbClr val="33339B"/>
                </a:solidFill>
                <a:latin typeface="+mj-lt"/>
                <a:ea typeface="DengXian" panose="02010600030101010101" pitchFamily="2" charset="-122"/>
              </a:rPr>
              <a:t>	</a:t>
            </a:r>
            <a:r>
              <a:rPr lang="zh-CN" altLang="en-US" sz="2200" dirty="0">
                <a:solidFill>
                  <a:srgbClr val="C00000"/>
                </a:solidFill>
                <a:cs typeface="Times New Roman" panose="02020603050405020304" pitchFamily="18" charset="0"/>
              </a:rPr>
              <a:t>③ </a:t>
            </a:r>
            <a:r>
              <a:rPr lang="en-US" altLang="zh-CN" sz="2200" b="1" i="1" dirty="0">
                <a:solidFill>
                  <a:srgbClr val="33339B"/>
                </a:solidFill>
                <a:ea typeface="DengXian" panose="02010600030101010101" pitchFamily="2" charset="-122"/>
              </a:rPr>
              <a:t>PPT/Video/Website Link/Executable Program Package</a:t>
            </a:r>
          </a:p>
          <a:p>
            <a:pPr>
              <a:lnSpc>
                <a:spcPct val="150000"/>
              </a:lnSpc>
            </a:pPr>
            <a:r>
              <a:rPr lang="en-US" altLang="zh-CN" sz="2200" b="1" i="1" dirty="0">
                <a:solidFill>
                  <a:srgbClr val="33339B"/>
                </a:solidFill>
                <a:ea typeface="DengXian" panose="02010600030101010101" pitchFamily="2" charset="-122"/>
              </a:rPr>
              <a:t>	</a:t>
            </a:r>
            <a:endParaRPr lang="en-US" altLang="zh-CN" sz="2200" b="1" dirty="0">
              <a:latin typeface="微软雅黑" panose="020B0503020204020204" pitchFamily="34" charset="-122"/>
              <a:ea typeface="微软雅黑" panose="020B0503020204020204" pitchFamily="34" charset="-122"/>
            </a:endParaRPr>
          </a:p>
        </p:txBody>
      </p:sp>
      <p:sp>
        <p:nvSpPr>
          <p:cNvPr id="12" name="Rectangle 1">
            <a:extLst>
              <a:ext uri="{FF2B5EF4-FFF2-40B4-BE49-F238E27FC236}">
                <a16:creationId xmlns:a16="http://schemas.microsoft.com/office/drawing/2014/main" id="{457B17A4-A116-4951-B682-60901FBE49A6}"/>
              </a:ext>
            </a:extLst>
          </p:cNvPr>
          <p:cNvSpPr/>
          <p:nvPr/>
        </p:nvSpPr>
        <p:spPr>
          <a:xfrm>
            <a:off x="7090414" y="2014564"/>
            <a:ext cx="4659626" cy="707886"/>
          </a:xfrm>
          <a:prstGeom prst="rect">
            <a:avLst/>
          </a:prstGeom>
          <a:ln>
            <a:solidFill>
              <a:srgbClr val="C00000"/>
            </a:solidFill>
          </a:ln>
        </p:spPr>
        <p:txBody>
          <a:bodyPr wrap="square">
            <a:spAutoFit/>
          </a:bodyPr>
          <a:lstStyle/>
          <a:p>
            <a:r>
              <a:rPr lang="en-US" sz="2000" b="1" dirty="0">
                <a:solidFill>
                  <a:srgbClr val="C00000"/>
                </a:solidFill>
                <a:highlight>
                  <a:srgbClr val="FFFF00"/>
                </a:highlight>
                <a:latin typeface="Times New Roman" panose="02020603050405020304" pitchFamily="18" charset="0"/>
                <a:cs typeface="Times New Roman" panose="02020603050405020304" pitchFamily="18" charset="0"/>
              </a:rPr>
              <a:t>The team leader's student ID and name. Each group only needs to submit one.</a:t>
            </a:r>
          </a:p>
        </p:txBody>
      </p:sp>
    </p:spTree>
    <p:extLst>
      <p:ext uri="{BB962C8B-B14F-4D97-AF65-F5344CB8AC3E}">
        <p14:creationId xmlns:p14="http://schemas.microsoft.com/office/powerpoint/2010/main" val="682239576"/>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5111</TotalTime>
  <Words>1530</Words>
  <Application>Microsoft Office PowerPoint</Application>
  <PresentationFormat>宽屏</PresentationFormat>
  <Paragraphs>144</Paragraphs>
  <Slides>20</Slides>
  <Notes>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20</vt:i4>
      </vt:variant>
    </vt:vector>
  </HeadingPairs>
  <TitlesOfParts>
    <vt:vector size="28" baseType="lpstr">
      <vt:lpstr>等线</vt:lpstr>
      <vt:lpstr>微软雅黑</vt:lpstr>
      <vt:lpstr>Arial</vt:lpstr>
      <vt:lpstr>Calibri</vt:lpstr>
      <vt:lpstr>Calibri Light</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Assignment1</dc:title>
  <dc:creator>Wang Hai</dc:creator>
  <cp:lastModifiedBy>佳伟 刘</cp:lastModifiedBy>
  <cp:revision>177</cp:revision>
  <dcterms:created xsi:type="dcterms:W3CDTF">2019-09-23T01:09:19Z</dcterms:created>
  <dcterms:modified xsi:type="dcterms:W3CDTF">2025-12-18T04:15:07Z</dcterms:modified>
</cp:coreProperties>
</file>