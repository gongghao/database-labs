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12" r:id="rId2"/>
    <p:sldId id="390" r:id="rId3"/>
    <p:sldId id="387" r:id="rId4"/>
    <p:sldId id="256" r:id="rId5"/>
    <p:sldId id="375" r:id="rId6"/>
    <p:sldId id="376" r:id="rId7"/>
    <p:sldId id="382" r:id="rId8"/>
    <p:sldId id="389" r:id="rId9"/>
    <p:sldId id="360" r:id="rId10"/>
    <p:sldId id="383" r:id="rId11"/>
    <p:sldId id="38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凌艺 许" initials="凌艺" lastIdx="1" clrIdx="0">
    <p:extLst>
      <p:ext uri="{19B8F6BF-5375-455C-9EA6-DF929625EA0E}">
        <p15:presenceInfo xmlns:p15="http://schemas.microsoft.com/office/powerpoint/2012/main" userId="c090746240165d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B"/>
    <a:srgbClr val="FFFCEB"/>
    <a:srgbClr val="535387"/>
    <a:srgbClr val="F3D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86861" autoAdjust="0"/>
  </p:normalViewPr>
  <p:slideViewPr>
    <p:cSldViewPr snapToGrid="0">
      <p:cViewPr varScale="1">
        <p:scale>
          <a:sx n="143" d="100"/>
          <a:sy n="143" d="100"/>
        </p:scale>
        <p:origin x="6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7868E-8322-402F-ACC5-477E624251D1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0D1AB-2DF8-4949-8D12-111FA1213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778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59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8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614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基于业务需求逻辑的设计模式（书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减少冗余：重复信息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也称为冗余数据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是不好的，因为它浪费空间，增加错误和不一致的可能性。把你的信息分成以主题为基础的表格，减少冗余数据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168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确保数据的正确性和完整性：如果数据库包含不正确的信息，从数据库提取信息的任何报告（单位：工资计算）也将包含不正确的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定义并使用适当的命名约定（规范化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77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定义应用的用途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收集数据，组织在表格和指定主键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创建表之间的关系（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1-1 1-n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n-m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多元）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优化和规范设计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358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左边的简单讲讲，右边的记得提一下，为什么学生账号和学生信息都是严格</a:t>
            </a:r>
            <a:r>
              <a:rPr lang="en-US" altLang="zh-CN" dirty="0"/>
              <a:t>1</a:t>
            </a:r>
            <a:r>
              <a:rPr lang="zh-CN" altLang="en-US" dirty="0"/>
              <a:t>对</a:t>
            </a:r>
            <a:r>
              <a:rPr lang="en-US" altLang="zh-CN" dirty="0"/>
              <a:t>1</a:t>
            </a:r>
            <a:r>
              <a:rPr lang="zh-CN" altLang="en-US" dirty="0"/>
              <a:t>，却还要分开。</a:t>
            </a:r>
            <a:endParaRPr lang="en-US" altLang="zh-CN" dirty="0"/>
          </a:p>
          <a:p>
            <a:r>
              <a:rPr lang="zh-CN" altLang="en-US" dirty="0"/>
              <a:t>这涉及到业界的一个概念，叫做冷热数据分离。</a:t>
            </a:r>
            <a:endParaRPr lang="en-US" altLang="zh-CN" dirty="0"/>
          </a:p>
          <a:p>
            <a:r>
              <a:rPr lang="zh-CN" altLang="en-US" dirty="0"/>
              <a:t>对于那些查询频率比较高的字段，单独放张表，以减轻查询开销。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5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531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例如，基于大学数据库的非常简单的应用程序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不需要编程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zh-CN" altLang="en-US" dirty="0"/>
              <a:t>进行数据库设计</a:t>
            </a:r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学生成绩管理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涉及大学数据库中至少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3~4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个表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能自己设计应用背景吗？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提供的工具实现接口、查询、报表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494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交一份关于任务的报告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Main </a:t>
            </a:r>
            <a:r>
              <a:rPr lang="en-US" altLang="zh-CN" dirty="0" err="1"/>
              <a:t>çontentse</a:t>
            </a:r>
            <a:r>
              <a:rPr lang="en-US" altLang="zh-CN" dirty="0"/>
              <a:t> –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图设计功能设计</a:t>
            </a:r>
            <a:r>
              <a:rPr lang="en-US" altLang="zh-CN" dirty="0"/>
              <a:t>(</a:t>
            </a:r>
            <a:r>
              <a:rPr lang="zh-CN" altLang="en-US" dirty="0"/>
              <a:t>描述你想设计什么功能</a:t>
            </a:r>
            <a:r>
              <a:rPr lang="en-US" altLang="zh-CN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数据库查询</a:t>
            </a:r>
            <a:r>
              <a:rPr lang="en-US" altLang="zh-CN" dirty="0"/>
              <a:t>(</a:t>
            </a:r>
            <a:r>
              <a:rPr lang="zh-CN" altLang="en-US" dirty="0"/>
              <a:t>不要设计地太简单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0D1AB-2DF8-4949-8D12-111FA1213BD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8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A10E1-28C3-455F-9FD1-F0B55423A67C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542C-FEC7-4D6C-837D-0E69C18E291B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4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A9FBF-00A6-497B-A64A-9A9792F46983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1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6F49-1B4E-4891-A82E-D7B529793EF7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3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CE51-E29B-4F19-80D0-BB742E860588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3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FC2F-8F0A-4319-B1D1-15499CA0F6FA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B4E1-8FF2-4401-B349-18D525587C27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6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0272-ECCE-44F7-91EA-501758042665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4F18-922E-4538-82BA-BCEA03EF97CA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2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3E8DB-618C-463E-B09F-3F6FDF6C2736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7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26B2-CDFD-44B0-8E44-FD7D4F4580D4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6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A0A23-103E-4560-9482-F8E1161F7818}" type="datetime1">
              <a:rPr lang="en-US" altLang="zh-CN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8F302-E557-4BC3-87C7-BCBD3AD1B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560522EF-52D9-4B65-D19C-9E9C092ED757}"/>
              </a:ext>
            </a:extLst>
          </p:cNvPr>
          <p:cNvSpPr/>
          <p:nvPr/>
        </p:nvSpPr>
        <p:spPr>
          <a:xfrm>
            <a:off x="1348740" y="2111998"/>
            <a:ext cx="94945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D3387C-A638-D7B2-ACA0-E51011169E4F}"/>
              </a:ext>
            </a:extLst>
          </p:cNvPr>
          <p:cNvSpPr txBox="1"/>
          <p:nvPr/>
        </p:nvSpPr>
        <p:spPr>
          <a:xfrm>
            <a:off x="4130732" y="4571381"/>
            <a:ext cx="3629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TA: Jiawei Liu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9FF2DE-6EBE-45CB-80EF-F02B7BA3C95D}"/>
              </a:ext>
            </a:extLst>
          </p:cNvPr>
          <p:cNvSpPr txBox="1"/>
          <p:nvPr/>
        </p:nvSpPr>
        <p:spPr>
          <a:xfrm>
            <a:off x="3394361" y="3495578"/>
            <a:ext cx="535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 Shuai Wang</a:t>
            </a:r>
          </a:p>
        </p:txBody>
      </p:sp>
    </p:spTree>
    <p:extLst>
      <p:ext uri="{BB962C8B-B14F-4D97-AF65-F5344CB8AC3E}">
        <p14:creationId xmlns:p14="http://schemas.microsoft.com/office/powerpoint/2010/main" val="893996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9">
            <a:extLst>
              <a:ext uri="{FF2B5EF4-FFF2-40B4-BE49-F238E27FC236}">
                <a16:creationId xmlns:a16="http://schemas.microsoft.com/office/drawing/2014/main" id="{7D89991E-24EE-34F9-B73E-D65B80DCFB55}"/>
              </a:ext>
            </a:extLst>
          </p:cNvPr>
          <p:cNvSpPr/>
          <p:nvPr/>
        </p:nvSpPr>
        <p:spPr>
          <a:xfrm>
            <a:off x="546412" y="378537"/>
            <a:ext cx="104629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for submitting the assignment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B17A4-A116-4951-B682-60901FBE49A6}"/>
              </a:ext>
            </a:extLst>
          </p:cNvPr>
          <p:cNvSpPr/>
          <p:nvPr/>
        </p:nvSpPr>
        <p:spPr>
          <a:xfrm>
            <a:off x="1268926" y="6088559"/>
            <a:ext cx="9446112" cy="76944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Deadline:</a:t>
            </a:r>
            <a:r>
              <a:rPr lang="zh-CN" altLang="en-US" sz="4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Beijing time, 12.04, 23:59:59</a:t>
            </a:r>
            <a:endParaRPr lang="en-US" sz="4400" b="1" dirty="0">
              <a:solidFill>
                <a:srgbClr val="C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A8FF96-F473-4283-B263-9D4DB6E0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F302-E557-4BC3-87C7-BCBD3AD1B54C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3EFD8F-C723-E342-0471-4D6B0B02135C}"/>
              </a:ext>
            </a:extLst>
          </p:cNvPr>
          <p:cNvSpPr txBox="1"/>
          <p:nvPr/>
        </p:nvSpPr>
        <p:spPr>
          <a:xfrm>
            <a:off x="546411" y="1082976"/>
            <a:ext cx="10462910" cy="518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Email address : </a:t>
            </a:r>
            <a:r>
              <a:rPr lang="en-US" altLang="zh-CN" sz="3200" b="1" u="sng" dirty="0">
                <a:solidFill>
                  <a:srgbClr val="33339B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liujoy@seu.edu.cn</a:t>
            </a:r>
            <a:endParaRPr lang="en-US" altLang="zh-CN" sz="3200" b="1" i="1" u="sng" dirty="0">
              <a:solidFill>
                <a:srgbClr val="33339B"/>
              </a:solidFill>
              <a:latin typeface="+mj-lt"/>
              <a:ea typeface="DengXia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Format of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Email subject 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and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 name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dirty="0" err="1">
                <a:solidFill>
                  <a:srgbClr val="33339B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StudentNumber</a:t>
            </a:r>
            <a:r>
              <a:rPr lang="en-US" altLang="zh-CN" sz="3200" b="1" dirty="0">
                <a:solidFill>
                  <a:srgbClr val="33339B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-Name-Project-X</a:t>
            </a:r>
            <a:endParaRPr lang="en-US" altLang="zh-CN" sz="3200" b="1" dirty="0">
              <a:solidFill>
                <a:srgbClr val="33339B"/>
              </a:solidFill>
              <a:latin typeface="+mj-lt"/>
              <a:ea typeface="DengXian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3200" b="1" dirty="0">
                <a:latin typeface="+mj-lt"/>
                <a:ea typeface="DengXian" panose="02010600030101010101" pitchFamily="2" charset="-122"/>
              </a:rPr>
              <a:t>	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 </a:t>
            </a:r>
            <a:r>
              <a:rPr lang="en-US" altLang="zh-CN" sz="3200" dirty="0">
                <a:latin typeface="+mj-lt"/>
                <a:ea typeface="DengXian" panose="02010600030101010101" pitchFamily="2" charset="-122"/>
              </a:rPr>
              <a:t>: </a:t>
            </a:r>
            <a:r>
              <a:rPr lang="en-US" altLang="zh-CN" sz="3200" i="1" dirty="0">
                <a:solidFill>
                  <a:srgbClr val="333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71121000-</a:t>
            </a:r>
            <a:r>
              <a:rPr lang="zh-CN" altLang="en-US" sz="3200" i="1" dirty="0">
                <a:solidFill>
                  <a:srgbClr val="333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张三</a:t>
            </a:r>
            <a:r>
              <a:rPr lang="en-US" altLang="zh-CN" sz="3200" i="1" dirty="0">
                <a:solidFill>
                  <a:srgbClr val="333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-Project-4.zip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Including :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		</a:t>
            </a:r>
            <a:r>
              <a:rPr lang="en-US" altLang="zh-CN" sz="3200" b="1" i="1" dirty="0">
                <a:solidFill>
                  <a:srgbClr val="33339B"/>
                </a:solidFill>
                <a:latin typeface="+mj-lt"/>
                <a:ea typeface="DengXian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①</a:t>
            </a:r>
            <a:r>
              <a:rPr lang="en-US" altLang="zh-CN" sz="2800" b="1" i="1" dirty="0">
                <a:solidFill>
                  <a:srgbClr val="33339B"/>
                </a:solidFill>
                <a:latin typeface="+mj-lt"/>
                <a:ea typeface="DengXian" panose="02010600030101010101" pitchFamily="2" charset="-122"/>
              </a:rPr>
              <a:t>report_A4.doc / report_A4.docx / report_A4.pdf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	      </a:t>
            </a:r>
            <a:r>
              <a:rPr lang="zh-CN" altLang="en-US" sz="28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②</a:t>
            </a:r>
            <a:r>
              <a:rPr lang="en-US" altLang="zh-CN" sz="2800" b="1" i="1" dirty="0">
                <a:solidFill>
                  <a:srgbClr val="33339B"/>
                </a:solidFill>
                <a:latin typeface="+mj-lt"/>
                <a:ea typeface="DengXian" panose="02010600030101010101" pitchFamily="2" charset="-122"/>
              </a:rPr>
              <a:t>university_A4.mdb / university_A4.accdb</a:t>
            </a:r>
          </a:p>
        </p:txBody>
      </p:sp>
    </p:spTree>
    <p:extLst>
      <p:ext uri="{BB962C8B-B14F-4D97-AF65-F5344CB8AC3E}">
        <p14:creationId xmlns:p14="http://schemas.microsoft.com/office/powerpoint/2010/main" val="317488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7240D-CD8E-9B76-09DC-277985C5C2D8}"/>
              </a:ext>
            </a:extLst>
          </p:cNvPr>
          <p:cNvSpPr/>
          <p:nvPr/>
        </p:nvSpPr>
        <p:spPr>
          <a:xfrm>
            <a:off x="814963" y="1560092"/>
            <a:ext cx="11112294" cy="2719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Tutorial on ER Diagram</a:t>
            </a:r>
          </a:p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2F0A02F-50C8-DFB8-46B3-67D040FCF552}"/>
              </a:ext>
            </a:extLst>
          </p:cNvPr>
          <p:cNvSpPr/>
          <p:nvPr/>
        </p:nvSpPr>
        <p:spPr>
          <a:xfrm>
            <a:off x="814963" y="452096"/>
            <a:ext cx="1056207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4</a:t>
            </a:r>
          </a:p>
        </p:txBody>
      </p:sp>
    </p:spTree>
    <p:extLst>
      <p:ext uri="{BB962C8B-B14F-4D97-AF65-F5344CB8AC3E}">
        <p14:creationId xmlns:p14="http://schemas.microsoft.com/office/powerpoint/2010/main" val="3504442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0EFE2376-731C-2691-DC44-8647A60415BD}"/>
              </a:ext>
            </a:extLst>
          </p:cNvPr>
          <p:cNvSpPr/>
          <p:nvPr/>
        </p:nvSpPr>
        <p:spPr>
          <a:xfrm>
            <a:off x="176759" y="198815"/>
            <a:ext cx="109743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on ER Diagram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E4CE1FB-70B9-4A46-8F3B-650F8DFA7482}"/>
              </a:ext>
            </a:extLst>
          </p:cNvPr>
          <p:cNvSpPr/>
          <p:nvPr/>
        </p:nvSpPr>
        <p:spPr>
          <a:xfrm>
            <a:off x="279143" y="1121914"/>
            <a:ext cx="62819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Good Database design</a:t>
            </a:r>
          </a:p>
          <a:p>
            <a:endParaRPr lang="en-US" altLang="zh-CN" sz="4000" b="1" dirty="0">
              <a:solidFill>
                <a:srgbClr val="3333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4D03C97-C0E1-4443-A148-6EBD4F232048}"/>
              </a:ext>
            </a:extLst>
          </p:cNvPr>
          <p:cNvSpPr/>
          <p:nvPr/>
        </p:nvSpPr>
        <p:spPr>
          <a:xfrm>
            <a:off x="279143" y="1893259"/>
            <a:ext cx="1169937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schema logically based on business requirements.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first identify your current business scenario and requirements.</a:t>
            </a:r>
          </a:p>
          <a:p>
            <a:pPr lvl="1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system? Logistics inventory? E-commerce platform? Library management? Student information system?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channels available to learn about database design techniques. It is well-established and mature .</a:t>
            </a:r>
          </a:p>
          <a:p>
            <a:pPr lvl="1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tutorials or online resources.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244535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303453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102119" y="198815"/>
            <a:ext cx="1722512" cy="1586381"/>
            <a:chOff x="1494498" y="4747190"/>
            <a:chExt cx="2022910" cy="184731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4498" y="4747190"/>
              <a:ext cx="1273073" cy="183059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8" name="文本框 7"/>
            <p:cNvSpPr txBox="1"/>
            <p:nvPr/>
          </p:nvSpPr>
          <p:spPr>
            <a:xfrm>
              <a:off x="2863062" y="6225172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P223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279143" y="4538887"/>
            <a:ext cx="1093246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redundant data.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information will lead to wasted space, difficulties in updating, inefficient querying, and challenges in maintaining data consistency. Divide your information into tables based on themes to minimize redundant data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(so you must  know your business well)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770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0EFE2376-731C-2691-DC44-8647A60415BD}"/>
              </a:ext>
            </a:extLst>
          </p:cNvPr>
          <p:cNvSpPr/>
          <p:nvPr/>
        </p:nvSpPr>
        <p:spPr>
          <a:xfrm>
            <a:off x="176759" y="198815"/>
            <a:ext cx="109743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on ER Diagram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E4CE1FB-70B9-4A46-8F3B-650F8DFA7482}"/>
              </a:ext>
            </a:extLst>
          </p:cNvPr>
          <p:cNvSpPr/>
          <p:nvPr/>
        </p:nvSpPr>
        <p:spPr>
          <a:xfrm>
            <a:off x="279143" y="1121914"/>
            <a:ext cx="62819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Good Database design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4D03C97-C0E1-4443-A148-6EBD4F232048}"/>
              </a:ext>
            </a:extLst>
          </p:cNvPr>
          <p:cNvSpPr/>
          <p:nvPr/>
        </p:nvSpPr>
        <p:spPr>
          <a:xfrm>
            <a:off x="354969" y="1792318"/>
            <a:ext cx="18473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244535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303453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4969" y="1912517"/>
            <a:ext cx="1139368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data accuracy and integrity.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table contains incorrect or inconsistent information, any reports extracted from the database will also contain erroneous information.</a:t>
            </a:r>
          </a:p>
        </p:txBody>
      </p:sp>
      <p:sp>
        <p:nvSpPr>
          <p:cNvPr id="11" name="矩形 10"/>
          <p:cNvSpPr/>
          <p:nvPr/>
        </p:nvSpPr>
        <p:spPr>
          <a:xfrm>
            <a:off x="354969" y="3318673"/>
            <a:ext cx="1139368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and use the appropriate naming conventions.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appropriate naming conventions, as well as carefully consider the selection of primary keys.</a:t>
            </a:r>
          </a:p>
          <a:p>
            <a:pPr lvl="1" algn="just"/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You may have noticed that in our previous projects, some tables in the university database had inappropriate primary key definitions, and some tables had unclear content definitions.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it is time to improve it and create a more reasonable database system.</a:t>
            </a:r>
          </a:p>
        </p:txBody>
      </p:sp>
    </p:spTree>
    <p:extLst>
      <p:ext uri="{BB962C8B-B14F-4D97-AF65-F5344CB8AC3E}">
        <p14:creationId xmlns:p14="http://schemas.microsoft.com/office/powerpoint/2010/main" val="35421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0EFE2376-731C-2691-DC44-8647A60415BD}"/>
              </a:ext>
            </a:extLst>
          </p:cNvPr>
          <p:cNvSpPr/>
          <p:nvPr/>
        </p:nvSpPr>
        <p:spPr>
          <a:xfrm>
            <a:off x="176759" y="198815"/>
            <a:ext cx="109743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on ER Diagram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E4CE1FB-70B9-4A46-8F3B-650F8DFA7482}"/>
              </a:ext>
            </a:extLst>
          </p:cNvPr>
          <p:cNvSpPr/>
          <p:nvPr/>
        </p:nvSpPr>
        <p:spPr>
          <a:xfrm>
            <a:off x="279143" y="1121914"/>
            <a:ext cx="62819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4D03C97-C0E1-4443-A148-6EBD4F232048}"/>
              </a:ext>
            </a:extLst>
          </p:cNvPr>
          <p:cNvSpPr/>
          <p:nvPr/>
        </p:nvSpPr>
        <p:spPr>
          <a:xfrm>
            <a:off x="354969" y="1792318"/>
            <a:ext cx="18473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244535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303453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9143" y="1980559"/>
            <a:ext cx="1172619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buFont typeface="+mj-ea"/>
              <a:buAutoNum type="circleNumDbPlain"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the application scenarios and specific business logic of this database by ER Diagram</a:t>
            </a:r>
          </a:p>
          <a:p>
            <a:pPr marL="514350" lvl="0" indent="-514350" algn="just">
              <a:buFont typeface="+mj-ea"/>
              <a:buAutoNum type="circleNumDbPlain"/>
            </a:pP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ea"/>
              <a:buAutoNum type="circleNumDbPlain"/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 data, Organize in tables and Specify the primary keys.</a:t>
            </a:r>
          </a:p>
          <a:p>
            <a:pPr marL="514350" indent="-514350" algn="just">
              <a:buFont typeface="+mj-ea"/>
              <a:buAutoNum type="circleNumDbPlain"/>
            </a:pP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relationships among tables.</a:t>
            </a:r>
          </a:p>
          <a:p>
            <a:pPr marL="514350" indent="-514350" algn="just">
              <a:buFont typeface="+mj-ea"/>
              <a:buAutoNum type="circleNumDbPlain"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&amp; Normalize the Design.</a:t>
            </a:r>
          </a:p>
        </p:txBody>
      </p:sp>
    </p:spTree>
    <p:extLst>
      <p:ext uri="{BB962C8B-B14F-4D97-AF65-F5344CB8AC3E}">
        <p14:creationId xmlns:p14="http://schemas.microsoft.com/office/powerpoint/2010/main" val="379433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0EFE2376-731C-2691-DC44-8647A60415BD}"/>
              </a:ext>
            </a:extLst>
          </p:cNvPr>
          <p:cNvSpPr/>
          <p:nvPr/>
        </p:nvSpPr>
        <p:spPr>
          <a:xfrm>
            <a:off x="176759" y="198815"/>
            <a:ext cx="109743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on ER Diagram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E4CE1FB-70B9-4A46-8F3B-650F8DFA7482}"/>
              </a:ext>
            </a:extLst>
          </p:cNvPr>
          <p:cNvSpPr/>
          <p:nvPr/>
        </p:nvSpPr>
        <p:spPr>
          <a:xfrm>
            <a:off x="279143" y="1121914"/>
            <a:ext cx="62819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example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4D03C97-C0E1-4443-A148-6EBD4F232048}"/>
              </a:ext>
            </a:extLst>
          </p:cNvPr>
          <p:cNvSpPr/>
          <p:nvPr/>
        </p:nvSpPr>
        <p:spPr>
          <a:xfrm>
            <a:off x="354969" y="1792318"/>
            <a:ext cx="18473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244535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303453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94" y="2330927"/>
            <a:ext cx="5943681" cy="41538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232CC73-4002-4C09-ABA8-DA99BBED5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25" y="2737740"/>
            <a:ext cx="5512622" cy="3269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388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0EFE2376-731C-2691-DC44-8647A60415BD}"/>
              </a:ext>
            </a:extLst>
          </p:cNvPr>
          <p:cNvSpPr/>
          <p:nvPr/>
        </p:nvSpPr>
        <p:spPr>
          <a:xfrm>
            <a:off x="176759" y="198815"/>
            <a:ext cx="109743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 on ER Diagram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E4CE1FB-70B9-4A46-8F3B-650F8DFA7482}"/>
              </a:ext>
            </a:extLst>
          </p:cNvPr>
          <p:cNvSpPr/>
          <p:nvPr/>
        </p:nvSpPr>
        <p:spPr>
          <a:xfrm>
            <a:off x="279143" y="1121914"/>
            <a:ext cx="62819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example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4D03C97-C0E1-4443-A148-6EBD4F232048}"/>
              </a:ext>
            </a:extLst>
          </p:cNvPr>
          <p:cNvSpPr/>
          <p:nvPr/>
        </p:nvSpPr>
        <p:spPr>
          <a:xfrm>
            <a:off x="354969" y="1792318"/>
            <a:ext cx="18473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244535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A1024E19-8C7D-41B8-9470-534153722F36}"/>
              </a:ext>
            </a:extLst>
          </p:cNvPr>
          <p:cNvSpPr/>
          <p:nvPr/>
        </p:nvSpPr>
        <p:spPr>
          <a:xfrm>
            <a:off x="486172" y="3034533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085F27-3019-45FE-A05D-A5F75F8C6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832" y="1475857"/>
            <a:ext cx="4979625" cy="17490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4175D8D-9C7B-412B-AF04-7429998C9C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17495" y="3305024"/>
            <a:ext cx="5098962" cy="32611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D06F65-81F8-4720-96E0-BD3C448A0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43" y="1829800"/>
            <a:ext cx="3277903" cy="4857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CFA7FE-50CE-46E6-A8DD-A954682FE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424" y="3162823"/>
            <a:ext cx="3004093" cy="211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1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7240D-CD8E-9B76-09DC-277985C5C2D8}"/>
              </a:ext>
            </a:extLst>
          </p:cNvPr>
          <p:cNvSpPr/>
          <p:nvPr/>
        </p:nvSpPr>
        <p:spPr>
          <a:xfrm>
            <a:off x="814963" y="1560092"/>
            <a:ext cx="11112294" cy="2719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Tutorial on ER Diagram</a:t>
            </a:r>
          </a:p>
          <a:p>
            <a:pPr marL="1028700" indent="-102870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2F0A02F-50C8-DFB8-46B3-67D040FCF552}"/>
              </a:ext>
            </a:extLst>
          </p:cNvPr>
          <p:cNvSpPr/>
          <p:nvPr/>
        </p:nvSpPr>
        <p:spPr>
          <a:xfrm>
            <a:off x="814963" y="452096"/>
            <a:ext cx="1056207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4</a:t>
            </a:r>
          </a:p>
        </p:txBody>
      </p:sp>
    </p:spTree>
    <p:extLst>
      <p:ext uri="{BB962C8B-B14F-4D97-AF65-F5344CB8AC3E}">
        <p14:creationId xmlns:p14="http://schemas.microsoft.com/office/powerpoint/2010/main" val="1827727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6C75D155-25C3-19C1-F1AA-AAC226DE76FB}"/>
              </a:ext>
            </a:extLst>
          </p:cNvPr>
          <p:cNvSpPr/>
          <p:nvPr/>
        </p:nvSpPr>
        <p:spPr>
          <a:xfrm>
            <a:off x="486173" y="205503"/>
            <a:ext cx="7839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D5B375-295B-41AB-90D3-56F5A18CEF36}"/>
              </a:ext>
            </a:extLst>
          </p:cNvPr>
          <p:cNvSpPr/>
          <p:nvPr/>
        </p:nvSpPr>
        <p:spPr>
          <a:xfrm>
            <a:off x="486173" y="2236829"/>
            <a:ext cx="11434505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① </a:t>
            </a:r>
            <a:r>
              <a:rPr lang="en-US" altLang="zh-CN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Design a simple application based on the university database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Design a student grade management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Include at least 3~4 tables in your design database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Try to design an application background for it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② </a:t>
            </a:r>
            <a:r>
              <a:rPr lang="en-US" altLang="zh-CN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Use the tools directly offered by Access to implement the </a:t>
            </a:r>
            <a:r>
              <a:rPr lang="en-US" altLang="zh-CN" sz="3200" b="1" dirty="0">
                <a:solidFill>
                  <a:srgbClr val="C00000"/>
                </a:solidFill>
                <a:latin typeface="Calibri Light" panose="020F0302020204030204"/>
                <a:cs typeface="Times New Roman" panose="02020603050405020304" pitchFamily="18" charset="0"/>
              </a:rPr>
              <a:t>interface, queries, report</a:t>
            </a:r>
            <a:r>
              <a:rPr lang="en-US" altLang="zh-CN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, 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29D8A-2720-AA1F-2B65-FF347C87B1B4}"/>
              </a:ext>
            </a:extLst>
          </p:cNvPr>
          <p:cNvSpPr/>
          <p:nvPr/>
        </p:nvSpPr>
        <p:spPr>
          <a:xfrm>
            <a:off x="486173" y="1221166"/>
            <a:ext cx="51337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Content</a:t>
            </a:r>
            <a:endParaRPr lang="en-US" sz="4000" b="1" dirty="0">
              <a:solidFill>
                <a:srgbClr val="3333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00170" y="163218"/>
            <a:ext cx="5920508" cy="175432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database is the most basic.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try to design your own database, such as the mentioned business scenarios.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design an online bookstore database (which was mentioned in the first class), familiarize yourself with the design process of a major project.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D6CAB6-D5BD-4072-A8C8-E8DD80E51396}"/>
              </a:ext>
            </a:extLst>
          </p:cNvPr>
          <p:cNvSpPr/>
          <p:nvPr/>
        </p:nvSpPr>
        <p:spPr>
          <a:xfrm>
            <a:off x="7666181" y="2244730"/>
            <a:ext cx="3177309" cy="60930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8" idx="0"/>
          </p:cNvCxnSpPr>
          <p:nvPr/>
        </p:nvCxnSpPr>
        <p:spPr>
          <a:xfrm flipH="1" flipV="1">
            <a:off x="9254835" y="1913594"/>
            <a:ext cx="1" cy="331136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84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6C75D155-25C3-19C1-F1AA-AAC226DE76FB}"/>
              </a:ext>
            </a:extLst>
          </p:cNvPr>
          <p:cNvSpPr/>
          <p:nvPr/>
        </p:nvSpPr>
        <p:spPr>
          <a:xfrm>
            <a:off x="486173" y="205503"/>
            <a:ext cx="7839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D5B375-295B-41AB-90D3-56F5A18CEF36}"/>
              </a:ext>
            </a:extLst>
          </p:cNvPr>
          <p:cNvSpPr/>
          <p:nvPr/>
        </p:nvSpPr>
        <p:spPr>
          <a:xfrm>
            <a:off x="486173" y="2236829"/>
            <a:ext cx="11434505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③ </a:t>
            </a:r>
            <a:r>
              <a:rPr lang="en-US" altLang="zh-CN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Hand in a report about the assignment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Main contents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E-R diagram design 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Function design (Describe the function you designed)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Database query (Not be too simple)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endParaRPr lang="en-US" altLang="zh-CN" sz="3200" b="1" dirty="0">
              <a:solidFill>
                <a:prstClr val="black"/>
              </a:solidFill>
              <a:latin typeface="Calibri Light" panose="020F0302020204030204"/>
              <a:cs typeface="Times New Roman" panose="02020603050405020304" pitchFamily="18" charset="0"/>
            </a:endParaRPr>
          </a:p>
          <a:p>
            <a:pPr lvl="0"/>
            <a:r>
              <a:rPr lang="zh-CN" altLang="en-US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④ </a:t>
            </a:r>
            <a:r>
              <a:rPr lang="en-US" altLang="zh-CN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Hand in your .</a:t>
            </a:r>
            <a:r>
              <a:rPr lang="en-US" altLang="zh-CN" sz="3200" b="1" dirty="0" err="1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mdb</a:t>
            </a:r>
            <a:r>
              <a:rPr lang="en-US" altLang="zh-CN" sz="3200" b="1" dirty="0">
                <a:solidFill>
                  <a:prstClr val="black"/>
                </a:solidFill>
                <a:latin typeface="Calibri Light" panose="020F0302020204030204"/>
                <a:cs typeface="Times New Roman" panose="02020603050405020304" pitchFamily="18" charset="0"/>
              </a:rPr>
              <a:t> database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1429D8A-2720-AA1F-2B65-FF347C87B1B4}"/>
              </a:ext>
            </a:extLst>
          </p:cNvPr>
          <p:cNvSpPr/>
          <p:nvPr/>
        </p:nvSpPr>
        <p:spPr>
          <a:xfrm>
            <a:off x="486173" y="1221166"/>
            <a:ext cx="51337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4000" b="1" dirty="0">
                <a:solidFill>
                  <a:srgbClr val="3333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Content</a:t>
            </a:r>
            <a:endParaRPr lang="en-US" sz="4000" b="1" dirty="0">
              <a:solidFill>
                <a:srgbClr val="3333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77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4952</TotalTime>
  <Words>824</Words>
  <Application>Microsoft Office PowerPoint</Application>
  <PresentationFormat>宽屏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Assignment1</dc:title>
  <dc:creator>Wang Hai</dc:creator>
  <cp:lastModifiedBy>佳伟 刘</cp:lastModifiedBy>
  <cp:revision>161</cp:revision>
  <dcterms:created xsi:type="dcterms:W3CDTF">2019-09-23T01:09:19Z</dcterms:created>
  <dcterms:modified xsi:type="dcterms:W3CDTF">2025-11-19T05:03:50Z</dcterms:modified>
</cp:coreProperties>
</file>