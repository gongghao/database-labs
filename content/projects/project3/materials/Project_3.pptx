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312" r:id="rId2"/>
    <p:sldId id="373" r:id="rId3"/>
    <p:sldId id="354" r:id="rId4"/>
    <p:sldId id="384" r:id="rId5"/>
    <p:sldId id="385" r:id="rId6"/>
    <p:sldId id="386" r:id="rId7"/>
    <p:sldId id="387" r:id="rId8"/>
    <p:sldId id="388" r:id="rId9"/>
    <p:sldId id="389" r:id="rId10"/>
    <p:sldId id="390" r:id="rId11"/>
    <p:sldId id="391" r:id="rId12"/>
    <p:sldId id="392" r:id="rId13"/>
    <p:sldId id="393" r:id="rId14"/>
    <p:sldId id="394" r:id="rId15"/>
    <p:sldId id="398" r:id="rId16"/>
    <p:sldId id="395" r:id="rId17"/>
    <p:sldId id="360" r:id="rId18"/>
    <p:sldId id="257" r:id="rId19"/>
    <p:sldId id="363" r:id="rId20"/>
    <p:sldId id="366" r:id="rId21"/>
    <p:sldId id="367" r:id="rId22"/>
    <p:sldId id="36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凌艺 许" initials="凌艺" lastIdx="1" clrIdx="0">
    <p:extLst>
      <p:ext uri="{19B8F6BF-5375-455C-9EA6-DF929625EA0E}">
        <p15:presenceInfo xmlns:p15="http://schemas.microsoft.com/office/powerpoint/2012/main" userId="c090746240165d0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9B"/>
    <a:srgbClr val="FFFCEB"/>
    <a:srgbClr val="535387"/>
    <a:srgbClr val="F3DB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85" autoAdjust="0"/>
    <p:restoredTop sz="82628" autoAdjust="0"/>
  </p:normalViewPr>
  <p:slideViewPr>
    <p:cSldViewPr snapToGrid="0">
      <p:cViewPr>
        <p:scale>
          <a:sx n="66" d="100"/>
          <a:sy n="66" d="100"/>
        </p:scale>
        <p:origin x="4332" y="15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7868E-8322-402F-ACC5-477E624251D1}" type="datetimeFigureOut">
              <a:rPr lang="zh-CN" altLang="en-US" smtClean="0"/>
              <a:t>2025/11/5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90D1AB-2DF8-4949-8D12-111FA1213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2778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90D1AB-2DF8-4949-8D12-111FA1213BD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1597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90D1AB-2DF8-4949-8D12-111FA1213BD2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388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90D1AB-2DF8-4949-8D12-111FA1213B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614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90D1AB-2DF8-4949-8D12-111FA1213BD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19024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Maven </a:t>
            </a:r>
            <a:r>
              <a:rPr lang="zh-CN" altLang="en-US" dirty="0"/>
              <a:t>的默认服务器在国外所以下载依赖会很慢，所以我们需要将其改为国内的镜像，一般使用的是阿里云的镜像。</a:t>
            </a:r>
            <a:endParaRPr lang="en-US" altLang="zh-CN" dirty="0"/>
          </a:p>
          <a:p>
            <a:r>
              <a:rPr lang="zh-CN" altLang="en-US" dirty="0"/>
              <a:t>在 </a:t>
            </a:r>
            <a:r>
              <a:rPr lang="en-US" altLang="zh-CN" dirty="0"/>
              <a:t>Maven </a:t>
            </a:r>
            <a:r>
              <a:rPr lang="zh-CN" altLang="en-US" dirty="0"/>
              <a:t>中配置 </a:t>
            </a:r>
            <a:r>
              <a:rPr lang="en-US" altLang="zh-CN" dirty="0"/>
              <a:t>JDK </a:t>
            </a:r>
            <a:r>
              <a:rPr lang="zh-CN" altLang="en-US" dirty="0"/>
              <a:t>版本，可以确保项目在正确的 </a:t>
            </a:r>
            <a:r>
              <a:rPr lang="en-US" altLang="zh-CN" dirty="0"/>
              <a:t>JDK </a:t>
            </a:r>
            <a:r>
              <a:rPr lang="zh-CN" altLang="en-US" dirty="0"/>
              <a:t>环境下进行构建和运行，避免因 </a:t>
            </a:r>
            <a:r>
              <a:rPr lang="en-US" altLang="zh-CN" dirty="0"/>
              <a:t>JDK </a:t>
            </a:r>
            <a:r>
              <a:rPr lang="zh-CN" altLang="en-US" dirty="0"/>
              <a:t>版本不兼容而导致的编译错误或运行时问题。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90D1AB-2DF8-4949-8D12-111FA1213BD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129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90D1AB-2DF8-4949-8D12-111FA1213BD2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531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90D1AB-2DF8-4949-8D12-111FA1213BD2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467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A10E1-28C3-455F-9FD1-F0B55423A67C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50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D542C-FEC7-4D6C-837D-0E69C18E291B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345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A9FBF-00A6-497B-A64A-9A9792F46983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17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EC6F49-1B4E-4891-A82E-D7B529793EF7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31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8CE51-E29B-4F19-80D0-BB742E860588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631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7FC2F-8F0A-4319-B1D1-15499CA0F6FA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366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AB4E1-8FF2-4401-B349-18D525587C27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768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40272-ECCE-44F7-91EA-501758042665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195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14F18-922E-4538-82BA-BCEA03EF97CA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721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3E8DB-618C-463E-B09F-3F6FDF6C2736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87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026B2-CDFD-44B0-8E44-FD7D4F4580D4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64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3A0A23-103E-4560-9482-F8E1161F7818}" type="datetime1">
              <a:rPr lang="en-US" altLang="zh-CN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8F302-E557-4BC3-87C7-BCBD3AD1B5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96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oracle.com/en/industries/hospitality/enterprise-integrations/gaming-integration/24.1/gamig/t_download_jdk17_for_microsoft_windows.htm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maven.apache.org/download.cgi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">
            <a:extLst>
              <a:ext uri="{FF2B5EF4-FFF2-40B4-BE49-F238E27FC236}">
                <a16:creationId xmlns:a16="http://schemas.microsoft.com/office/drawing/2014/main" id="{560522EF-52D9-4B65-D19C-9E9C092ED757}"/>
              </a:ext>
            </a:extLst>
          </p:cNvPr>
          <p:cNvSpPr/>
          <p:nvPr/>
        </p:nvSpPr>
        <p:spPr>
          <a:xfrm>
            <a:off x="1348740" y="2111998"/>
            <a:ext cx="949452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3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D3387C-A638-D7B2-ACA0-E51011169E4F}"/>
              </a:ext>
            </a:extLst>
          </p:cNvPr>
          <p:cNvSpPr txBox="1"/>
          <p:nvPr/>
        </p:nvSpPr>
        <p:spPr>
          <a:xfrm>
            <a:off x="4130732" y="4571381"/>
            <a:ext cx="36291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TA: Jiawei Liu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79FF2DE-6EBE-45CB-80EF-F02B7BA3C95D}"/>
              </a:ext>
            </a:extLst>
          </p:cNvPr>
          <p:cNvSpPr txBox="1"/>
          <p:nvPr/>
        </p:nvSpPr>
        <p:spPr>
          <a:xfrm>
            <a:off x="3394361" y="3495578"/>
            <a:ext cx="5354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Lecturer: Shuai Wang</a:t>
            </a:r>
          </a:p>
        </p:txBody>
      </p:sp>
    </p:spTree>
    <p:extLst>
      <p:ext uri="{BB962C8B-B14F-4D97-AF65-F5344CB8AC3E}">
        <p14:creationId xmlns:p14="http://schemas.microsoft.com/office/powerpoint/2010/main" val="893996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>
            <a:extLst>
              <a:ext uri="{FF2B5EF4-FFF2-40B4-BE49-F238E27FC236}">
                <a16:creationId xmlns:a16="http://schemas.microsoft.com/office/drawing/2014/main" id="{7D89991E-24EE-34F9-B73E-D65B80DCFB55}"/>
              </a:ext>
            </a:extLst>
          </p:cNvPr>
          <p:cNvSpPr/>
          <p:nvPr/>
        </p:nvSpPr>
        <p:spPr>
          <a:xfrm>
            <a:off x="546412" y="378537"/>
            <a:ext cx="1046290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for submitting the assignment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7B17A4-A116-4951-B682-60901FBE49A6}"/>
              </a:ext>
            </a:extLst>
          </p:cNvPr>
          <p:cNvSpPr/>
          <p:nvPr/>
        </p:nvSpPr>
        <p:spPr>
          <a:xfrm>
            <a:off x="1268926" y="6088559"/>
            <a:ext cx="9446112" cy="769441"/>
          </a:xfrm>
          <a:prstGeom prst="rect">
            <a:avLst/>
          </a:prstGeom>
          <a:ln>
            <a:solidFill>
              <a:srgbClr val="C00000"/>
            </a:solidFill>
          </a:ln>
        </p:spPr>
        <p:txBody>
          <a:bodyPr wrap="none">
            <a:spAutoFit/>
          </a:bodyPr>
          <a:lstStyle/>
          <a:p>
            <a:r>
              <a:rPr lang="en-US" sz="4400" b="1" dirty="0">
                <a:solidFill>
                  <a:srgbClr val="C0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Deadline:</a:t>
            </a:r>
            <a:r>
              <a:rPr lang="zh-CN" altLang="en-US" sz="4400" b="1" dirty="0">
                <a:solidFill>
                  <a:srgbClr val="C0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4400" b="1" dirty="0">
                <a:solidFill>
                  <a:srgbClr val="C0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Beijing time, 11.20, 23:59:59</a:t>
            </a:r>
            <a:endParaRPr lang="en-US" sz="4400" b="1" dirty="0">
              <a:solidFill>
                <a:srgbClr val="C0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D0A8FF96-F473-4283-B263-9D4DB6E0E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28F302-E557-4BC3-87C7-BCBD3AD1B54C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3EFD8F-C723-E342-0471-4D6B0B02135C}"/>
              </a:ext>
            </a:extLst>
          </p:cNvPr>
          <p:cNvSpPr txBox="1"/>
          <p:nvPr/>
        </p:nvSpPr>
        <p:spPr>
          <a:xfrm>
            <a:off x="546411" y="1082976"/>
            <a:ext cx="10462910" cy="575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Email address : </a:t>
            </a:r>
            <a:r>
              <a:rPr lang="en-US" altLang="zh-CN" sz="3200" b="1" u="sng" dirty="0">
                <a:solidFill>
                  <a:srgbClr val="33339B"/>
                </a:solidFill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liujoy@seu.edu.cn</a:t>
            </a:r>
            <a:endParaRPr lang="en-US" altLang="zh-CN" sz="3200" b="1" i="1" u="sng" dirty="0">
              <a:solidFill>
                <a:srgbClr val="33339B"/>
              </a:solidFill>
              <a:latin typeface="+mj-lt"/>
              <a:ea typeface="DengXia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3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Format of </a:t>
            </a:r>
            <a:r>
              <a:rPr lang="en-US" altLang="zh-CN" sz="32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Email subject </a:t>
            </a:r>
            <a:r>
              <a:rPr lang="en-US" altLang="zh-CN" sz="3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and </a:t>
            </a:r>
            <a:r>
              <a:rPr lang="en-US" altLang="zh-CN" sz="3200" b="1" dirty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File name</a:t>
            </a:r>
            <a:r>
              <a:rPr lang="en-US" altLang="zh-CN" sz="3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:</a:t>
            </a:r>
            <a:r>
              <a:rPr lang="en-US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3200" b="1" dirty="0" err="1">
                <a:solidFill>
                  <a:srgbClr val="33339B"/>
                </a:solidFill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StudentNumber</a:t>
            </a:r>
            <a:r>
              <a:rPr lang="en-US" altLang="zh-CN" sz="3200" b="1" dirty="0">
                <a:solidFill>
                  <a:srgbClr val="33339B"/>
                </a:solidFill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-Name-Project-X</a:t>
            </a:r>
            <a:endParaRPr lang="en-US" altLang="zh-CN" sz="3200" b="1" dirty="0">
              <a:solidFill>
                <a:srgbClr val="33339B"/>
              </a:solidFill>
              <a:latin typeface="+mj-lt"/>
              <a:ea typeface="DengXian" panose="02010600030101010101" pitchFamily="2" charset="-122"/>
            </a:endParaRPr>
          </a:p>
          <a:p>
            <a:pPr lvl="1">
              <a:lnSpc>
                <a:spcPct val="150000"/>
              </a:lnSpc>
            </a:pPr>
            <a:r>
              <a:rPr lang="en-US" altLang="zh-CN" sz="3200" b="1" dirty="0">
                <a:latin typeface="+mj-lt"/>
                <a:ea typeface="DengXian" panose="02010600030101010101" pitchFamily="2" charset="-122"/>
              </a:rPr>
              <a:t>	</a:t>
            </a:r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example </a:t>
            </a:r>
            <a:r>
              <a:rPr lang="en-US" altLang="zh-CN" sz="3200" dirty="0">
                <a:latin typeface="+mj-lt"/>
                <a:ea typeface="DengXian" panose="02010600030101010101" pitchFamily="2" charset="-122"/>
              </a:rPr>
              <a:t>: </a:t>
            </a:r>
            <a:r>
              <a:rPr lang="en-US" altLang="zh-CN" sz="3200" i="1" dirty="0">
                <a:solidFill>
                  <a:srgbClr val="33339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71121000-</a:t>
            </a:r>
            <a:r>
              <a:rPr lang="zh-CN" altLang="en-US" sz="3200" i="1" dirty="0">
                <a:solidFill>
                  <a:srgbClr val="33339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张三</a:t>
            </a:r>
            <a:r>
              <a:rPr lang="en-US" altLang="zh-CN" sz="3200" i="1" dirty="0">
                <a:solidFill>
                  <a:srgbClr val="33339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-Project-1.zip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Including :</a:t>
            </a:r>
          </a:p>
          <a:p>
            <a:pPr>
              <a:lnSpc>
                <a:spcPct val="150000"/>
              </a:lnSpc>
            </a:pPr>
            <a:r>
              <a:rPr lang="en-US" altLang="zh-CN" sz="3200" dirty="0">
                <a:solidFill>
                  <a:srgbClr val="00B0F0"/>
                </a:solidFill>
                <a:latin typeface="+mj-lt"/>
                <a:cs typeface="Times New Roman" panose="02020603050405020304" pitchFamily="18" charset="0"/>
              </a:rPr>
              <a:t>		</a:t>
            </a:r>
            <a:r>
              <a:rPr lang="en-US" altLang="zh-CN" sz="3200" b="1" i="1" dirty="0">
                <a:solidFill>
                  <a:srgbClr val="33339B"/>
                </a:solidFill>
                <a:latin typeface="+mj-lt"/>
                <a:ea typeface="DengXian" panose="02010600030101010101" pitchFamily="2" charset="-122"/>
              </a:rPr>
              <a:t> </a:t>
            </a:r>
            <a:r>
              <a:rPr lang="zh-CN" altLang="en-US" sz="2800" dirty="0">
                <a:solidFill>
                  <a:srgbClr val="C00000"/>
                </a:solidFill>
                <a:latin typeface="+mj-lt"/>
                <a:cs typeface="Times New Roman" panose="02020603050405020304" pitchFamily="18" charset="0"/>
              </a:rPr>
              <a:t>①</a:t>
            </a:r>
            <a:r>
              <a:rPr lang="en-US" altLang="zh-CN" sz="2800" b="1" i="1" dirty="0">
                <a:solidFill>
                  <a:srgbClr val="33339B"/>
                </a:solidFill>
                <a:latin typeface="+mj-lt"/>
                <a:ea typeface="DengXian" panose="02010600030101010101" pitchFamily="2" charset="-122"/>
              </a:rPr>
              <a:t>report_A3.doc / report_A3.docx / report_A3.pdf</a:t>
            </a:r>
          </a:p>
          <a:p>
            <a:pPr>
              <a:lnSpc>
                <a:spcPct val="150000"/>
              </a:lnSpc>
            </a:pPr>
            <a:r>
              <a:rPr lang="zh-CN" altLang="en-US" sz="2800" dirty="0">
                <a:solidFill>
                  <a:srgbClr val="C00000"/>
                </a:solidFill>
                <a:latin typeface="+mj-lt"/>
                <a:cs typeface="Times New Roman" panose="02020603050405020304" pitchFamily="18" charset="0"/>
              </a:rPr>
              <a:t>            ②</a:t>
            </a:r>
            <a:r>
              <a:rPr lang="en-US" altLang="zh-CN" sz="2800" b="1" i="1" dirty="0">
                <a:solidFill>
                  <a:srgbClr val="33339B"/>
                </a:solidFill>
                <a:latin typeface="+mj-lt"/>
                <a:ea typeface="DengXian" panose="02010600030101010101" pitchFamily="2" charset="-122"/>
              </a:rPr>
              <a:t> code.zip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solidFill>
                  <a:srgbClr val="00B0F0"/>
                </a:solidFill>
                <a:latin typeface="+mj-lt"/>
                <a:cs typeface="Times New Roman" panose="02020603050405020304" pitchFamily="18" charset="0"/>
              </a:rPr>
              <a:t>	</a:t>
            </a:r>
            <a:endParaRPr lang="en-US" altLang="zh-CN" sz="2800" b="1" i="1" dirty="0">
              <a:solidFill>
                <a:srgbClr val="33339B"/>
              </a:solidFill>
              <a:highlight>
                <a:srgbClr val="000000"/>
              </a:highlight>
              <a:latin typeface="+mj-lt"/>
              <a:ea typeface="DengXian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CA5CCC0-D5F1-4F6D-A48F-D662C6AAFB46}"/>
              </a:ext>
            </a:extLst>
          </p:cNvPr>
          <p:cNvSpPr/>
          <p:nvPr/>
        </p:nvSpPr>
        <p:spPr>
          <a:xfrm>
            <a:off x="2002367" y="5683187"/>
            <a:ext cx="1240366" cy="394743"/>
          </a:xfrm>
          <a:prstGeom prst="rect">
            <a:avLst/>
          </a:prstGeom>
          <a:noFill/>
          <a:ln w="38100" cap="rnd">
            <a:solidFill>
              <a:srgbClr val="FF0000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50587"/>
                      <a:gd name="connsiteY0" fmla="*/ 0 h 394743"/>
                      <a:gd name="connsiteX1" fmla="*/ 514788 w 1050587"/>
                      <a:gd name="connsiteY1" fmla="*/ 0 h 394743"/>
                      <a:gd name="connsiteX2" fmla="*/ 1050587 w 1050587"/>
                      <a:gd name="connsiteY2" fmla="*/ 0 h 394743"/>
                      <a:gd name="connsiteX3" fmla="*/ 1050587 w 1050587"/>
                      <a:gd name="connsiteY3" fmla="*/ 394743 h 394743"/>
                      <a:gd name="connsiteX4" fmla="*/ 525294 w 1050587"/>
                      <a:gd name="connsiteY4" fmla="*/ 394743 h 394743"/>
                      <a:gd name="connsiteX5" fmla="*/ 0 w 1050587"/>
                      <a:gd name="connsiteY5" fmla="*/ 394743 h 394743"/>
                      <a:gd name="connsiteX6" fmla="*/ 0 w 1050587"/>
                      <a:gd name="connsiteY6" fmla="*/ 0 h 3947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50587" h="394743" extrusionOk="0">
                        <a:moveTo>
                          <a:pt x="0" y="0"/>
                        </a:moveTo>
                        <a:cubicBezTo>
                          <a:pt x="151848" y="11960"/>
                          <a:pt x="408329" y="-11466"/>
                          <a:pt x="514788" y="0"/>
                        </a:cubicBezTo>
                        <a:cubicBezTo>
                          <a:pt x="621247" y="11466"/>
                          <a:pt x="816671" y="25223"/>
                          <a:pt x="1050587" y="0"/>
                        </a:cubicBezTo>
                        <a:cubicBezTo>
                          <a:pt x="1057600" y="165441"/>
                          <a:pt x="1067614" y="313372"/>
                          <a:pt x="1050587" y="394743"/>
                        </a:cubicBezTo>
                        <a:cubicBezTo>
                          <a:pt x="858526" y="370668"/>
                          <a:pt x="743479" y="402207"/>
                          <a:pt x="525294" y="394743"/>
                        </a:cubicBezTo>
                        <a:cubicBezTo>
                          <a:pt x="307109" y="387279"/>
                          <a:pt x="242024" y="375194"/>
                          <a:pt x="0" y="394743"/>
                        </a:cubicBezTo>
                        <a:cubicBezTo>
                          <a:pt x="-19453" y="242619"/>
                          <a:pt x="-5245" y="179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1F77C5-7508-45CE-B220-4775B9F452A2}"/>
              </a:ext>
            </a:extLst>
          </p:cNvPr>
          <p:cNvSpPr txBox="1"/>
          <p:nvPr/>
        </p:nvSpPr>
        <p:spPr>
          <a:xfrm>
            <a:off x="3638350" y="3899668"/>
            <a:ext cx="8259934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 only necessary code files such as </a:t>
            </a:r>
            <a:r>
              <a:rPr lang="en-US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java/xml</a:t>
            </a:r>
            <a:r>
              <a:rPr lang="en-US" altLang="zh-CN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etc. Other files that you think are important can also be included (such as README). The remaining project files do not need to be submitted. </a:t>
            </a:r>
          </a:p>
          <a:p>
            <a:pPr algn="just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Please limit the size of your code package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64E6265C-EC91-47C6-B0E0-52670249C119}"/>
              </a:ext>
            </a:extLst>
          </p:cNvPr>
          <p:cNvCxnSpPr>
            <a:cxnSpLocks/>
            <a:stCxn id="12" idx="3"/>
            <a:endCxn id="13" idx="2"/>
          </p:cNvCxnSpPr>
          <p:nvPr/>
        </p:nvCxnSpPr>
        <p:spPr>
          <a:xfrm flipV="1">
            <a:off x="3242733" y="5099997"/>
            <a:ext cx="4525584" cy="780562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750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357240D-CD8E-9B76-09DC-277985C5C2D8}"/>
              </a:ext>
            </a:extLst>
          </p:cNvPr>
          <p:cNvSpPr/>
          <p:nvPr/>
        </p:nvSpPr>
        <p:spPr>
          <a:xfrm>
            <a:off x="814963" y="1560092"/>
            <a:ext cx="11112294" cy="2719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28700" indent="-1028700">
              <a:lnSpc>
                <a:spcPct val="150000"/>
              </a:lnSpc>
              <a:buFont typeface="+mj-lt"/>
              <a:buAutoNum type="romanUcPeriod"/>
            </a:pPr>
            <a:r>
              <a:rPr lang="en-US" altLang="zh-CN" sz="6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Times New Roman" panose="02020603050405020304" pitchFamily="18" charset="0"/>
              </a:rPr>
              <a:t>Tutorial with Project Examples</a:t>
            </a:r>
          </a:p>
          <a:p>
            <a:pPr marL="1028700" indent="-1028700">
              <a:lnSpc>
                <a:spcPct val="150000"/>
              </a:lnSpc>
              <a:buFont typeface="+mj-lt"/>
              <a:buAutoNum type="romanUcPeriod"/>
            </a:pPr>
            <a:r>
              <a:rPr lang="en-US" altLang="zh-CN" sz="6000" b="1" dirty="0">
                <a:solidFill>
                  <a:schemeClr val="bg1">
                    <a:lumMod val="50000"/>
                  </a:schemeClr>
                </a:solidFill>
                <a:latin typeface="+mj-lt"/>
                <a:cs typeface="Times New Roman" panose="02020603050405020304" pitchFamily="18" charset="0"/>
              </a:rPr>
              <a:t>Assignment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D2F0A02F-50C8-DFB8-46B3-67D040FCF552}"/>
              </a:ext>
            </a:extLst>
          </p:cNvPr>
          <p:cNvSpPr/>
          <p:nvPr/>
        </p:nvSpPr>
        <p:spPr>
          <a:xfrm>
            <a:off x="814963" y="452096"/>
            <a:ext cx="1056207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6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3</a:t>
            </a:r>
          </a:p>
        </p:txBody>
      </p:sp>
    </p:spTree>
    <p:extLst>
      <p:ext uri="{BB962C8B-B14F-4D97-AF65-F5344CB8AC3E}">
        <p14:creationId xmlns:p14="http://schemas.microsoft.com/office/powerpoint/2010/main" val="3618129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EFAB323-1D77-40B3-B0F6-DBFC8F3B9B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384" y="1737534"/>
            <a:ext cx="5325633" cy="852626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341AC46-884E-4B55-87B8-24F7D14800AB}"/>
              </a:ext>
            </a:extLst>
          </p:cNvPr>
          <p:cNvSpPr txBox="1"/>
          <p:nvPr/>
        </p:nvSpPr>
        <p:spPr>
          <a:xfrm>
            <a:off x="176759" y="1856557"/>
            <a:ext cx="3097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Install JDK17</a:t>
            </a:r>
            <a:endParaRPr lang="zh-CN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87A8475-B6C2-4740-8CE8-92BAC4B612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15" y="3077098"/>
            <a:ext cx="5865243" cy="112283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DF94FB5-224B-4B52-A2D8-5F93E52BA912}"/>
              </a:ext>
            </a:extLst>
          </p:cNvPr>
          <p:cNvSpPr txBox="1"/>
          <p:nvPr/>
        </p:nvSpPr>
        <p:spPr>
          <a:xfrm>
            <a:off x="176759" y="2492323"/>
            <a:ext cx="115312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path (default path contains spaces, not recommended)</a:t>
            </a:r>
            <a:endParaRPr lang="zh-CN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939A7A6-1DB5-46AC-827E-5E40B9F428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715" y="4748054"/>
            <a:ext cx="7450525" cy="2002012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1CFDC89A-2872-464F-AD3B-39DB0958037C}"/>
              </a:ext>
            </a:extLst>
          </p:cNvPr>
          <p:cNvSpPr txBox="1"/>
          <p:nvPr/>
        </p:nvSpPr>
        <p:spPr>
          <a:xfrm>
            <a:off x="61365" y="4142330"/>
            <a:ext cx="45544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Installation completed</a:t>
            </a:r>
            <a:endParaRPr lang="zh-CN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925A823-D085-465A-8418-31A120115109}"/>
              </a:ext>
            </a:extLst>
          </p:cNvPr>
          <p:cNvSpPr txBox="1"/>
          <p:nvPr/>
        </p:nvSpPr>
        <p:spPr>
          <a:xfrm>
            <a:off x="8106240" y="1119782"/>
            <a:ext cx="6095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6"/>
              </a:rPr>
              <a:t>Download JDK17 for Microsoft Windows</a:t>
            </a:r>
            <a:endParaRPr lang="zh-CN" altLang="en-US" dirty="0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CED66290-FA7C-40EF-9D9A-AA7F1B2D6EDC}"/>
              </a:ext>
            </a:extLst>
          </p:cNvPr>
          <p:cNvSpPr/>
          <p:nvPr/>
        </p:nvSpPr>
        <p:spPr>
          <a:xfrm>
            <a:off x="176759" y="1141164"/>
            <a:ext cx="46773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altLang="zh-CN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Preparation Work </a:t>
            </a: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03D371D5-68E9-49E2-9A84-98081EC30CA4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1710094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A45487-4CA8-451A-A500-958349858DF8}"/>
              </a:ext>
            </a:extLst>
          </p:cNvPr>
          <p:cNvSpPr txBox="1"/>
          <p:nvPr/>
        </p:nvSpPr>
        <p:spPr>
          <a:xfrm>
            <a:off x="191489" y="1237166"/>
            <a:ext cx="126849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Press </a:t>
            </a:r>
            <a:r>
              <a:rPr lang="en-US" altLang="zh-C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Win+R</a:t>
            </a: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enter </a:t>
            </a:r>
            <a:r>
              <a:rPr lang="en-US" altLang="zh-C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sysdm.cpl</a:t>
            </a: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Advanced → Environment Variables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87D3402-8C06-4382-814A-A34C1CC15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879" y="1925149"/>
            <a:ext cx="7604816" cy="396026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BD794DD-C6CB-4027-A7D0-C8F867CF79EC}"/>
              </a:ext>
            </a:extLst>
          </p:cNvPr>
          <p:cNvSpPr txBox="1"/>
          <p:nvPr/>
        </p:nvSpPr>
        <p:spPr>
          <a:xfrm>
            <a:off x="191490" y="3463892"/>
            <a:ext cx="60950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Edit system variables</a:t>
            </a:r>
            <a:endParaRPr lang="zh-CN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DF9AB03-C960-4E93-8631-BF7B8772C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30" y="4063725"/>
            <a:ext cx="6611696" cy="2588771"/>
          </a:xfrm>
          <a:prstGeom prst="rect">
            <a:avLst/>
          </a:prstGeom>
        </p:spPr>
      </p:pic>
      <p:sp>
        <p:nvSpPr>
          <p:cNvPr id="8" name="Rectangle 9">
            <a:extLst>
              <a:ext uri="{FF2B5EF4-FFF2-40B4-BE49-F238E27FC236}">
                <a16:creationId xmlns:a16="http://schemas.microsoft.com/office/drawing/2014/main" id="{28AF2192-F3E0-42F8-9607-C57AABDD3250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2715413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8777EA4-85EC-4C68-92D2-2D6DA49B1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661" y="1221165"/>
            <a:ext cx="5472946" cy="160516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19BE85CE-F8F1-46EF-9EDC-28C513353F14}"/>
              </a:ext>
            </a:extLst>
          </p:cNvPr>
          <p:cNvSpPr txBox="1"/>
          <p:nvPr/>
        </p:nvSpPr>
        <p:spPr>
          <a:xfrm>
            <a:off x="118753" y="1504603"/>
            <a:ext cx="230025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Delete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4CC26A-690E-479C-828C-FB901605ADED}"/>
              </a:ext>
            </a:extLst>
          </p:cNvPr>
          <p:cNvSpPr txBox="1"/>
          <p:nvPr/>
        </p:nvSpPr>
        <p:spPr>
          <a:xfrm>
            <a:off x="118753" y="3230607"/>
            <a:ext cx="1214252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Add two variables in Path %JAVA_HOME%\bin and %JAVA_HOME%\</a:t>
            </a:r>
            <a:r>
              <a:rPr lang="en-US" altLang="zh-CN" dirty="0" err="1"/>
              <a:t>jre</a:t>
            </a:r>
            <a:r>
              <a:rPr lang="en-US" altLang="zh-CN" dirty="0"/>
              <a:t>\bin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D596ACD-1447-4234-A83C-02E95CADC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319" y="3816852"/>
            <a:ext cx="6033160" cy="2984352"/>
          </a:xfrm>
          <a:prstGeom prst="rect">
            <a:avLst/>
          </a:prstGeom>
        </p:spPr>
      </p:pic>
      <p:sp>
        <p:nvSpPr>
          <p:cNvPr id="7" name="Rectangle 9">
            <a:extLst>
              <a:ext uri="{FF2B5EF4-FFF2-40B4-BE49-F238E27FC236}">
                <a16:creationId xmlns:a16="http://schemas.microsoft.com/office/drawing/2014/main" id="{B430B3AC-F34E-41FF-A884-BE4CFD41C164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2323708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2AB89B6-9E33-449D-9B10-E820C66685A3}"/>
              </a:ext>
            </a:extLst>
          </p:cNvPr>
          <p:cNvSpPr txBox="1"/>
          <p:nvPr/>
        </p:nvSpPr>
        <p:spPr>
          <a:xfrm>
            <a:off x="118751" y="1092968"/>
            <a:ext cx="1200951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Add the JAVA_SOME variable with the value of the </a:t>
            </a:r>
            <a:r>
              <a:rPr lang="en-US" altLang="zh-CN" dirty="0" err="1"/>
              <a:t>jdk</a:t>
            </a:r>
            <a:r>
              <a:rPr lang="en-US" altLang="zh-CN" dirty="0"/>
              <a:t> installation address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13A1E81-B255-4178-A1C6-C57EEBA4F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3062" y="1657383"/>
            <a:ext cx="6303463" cy="258250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18F21BC-2621-4F09-B894-C23EF8B49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7671" y="4332811"/>
            <a:ext cx="6408854" cy="158624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F568744-4115-4B13-9BD6-22AEE5DFE83E}"/>
              </a:ext>
            </a:extLst>
          </p:cNvPr>
          <p:cNvSpPr txBox="1"/>
          <p:nvPr/>
        </p:nvSpPr>
        <p:spPr>
          <a:xfrm>
            <a:off x="266452" y="5919056"/>
            <a:ext cx="1228576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Confirm all the way until all the windows are closed</a:t>
            </a:r>
            <a:endParaRPr lang="zh-CN" altLang="en-US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8C4B7BAD-9F96-4A17-ACE8-1C1C678F6DCD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4041261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C2E0F26-A384-45D0-825A-87107B4F5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3884" y="2819875"/>
            <a:ext cx="8796374" cy="338218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3D33EE5-2067-452D-9CD8-E6C877B347EF}"/>
              </a:ext>
            </a:extLst>
          </p:cNvPr>
          <p:cNvSpPr txBox="1"/>
          <p:nvPr/>
        </p:nvSpPr>
        <p:spPr>
          <a:xfrm>
            <a:off x="257694" y="1333706"/>
            <a:ext cx="448887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457200" indent="-457200">
              <a:buFont typeface="Arial" panose="020B0604020202020204" pitchFamily="34" charset="0"/>
              <a:buChar char="•"/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Verify installation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1C632DB-F7C4-4E7D-977A-651C84D24E9E}"/>
              </a:ext>
            </a:extLst>
          </p:cNvPr>
          <p:cNvSpPr txBox="1"/>
          <p:nvPr/>
        </p:nvSpPr>
        <p:spPr>
          <a:xfrm>
            <a:off x="257694" y="1772398"/>
            <a:ext cx="882811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457200" indent="-457200">
              <a:buFont typeface="Arial" panose="020B0604020202020204" pitchFamily="34" charset="0"/>
              <a:buChar char="•"/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Press</a:t>
            </a:r>
            <a:r>
              <a:rPr lang="zh-CN" altLang="en-US" dirty="0"/>
              <a:t> </a:t>
            </a:r>
            <a:r>
              <a:rPr lang="en-US" altLang="zh-CN" dirty="0"/>
              <a:t>Win + R</a:t>
            </a:r>
            <a:r>
              <a:rPr lang="zh-CN" altLang="en-US" dirty="0"/>
              <a:t>，</a:t>
            </a:r>
            <a:r>
              <a:rPr lang="en-US" altLang="zh-CN" dirty="0"/>
              <a:t> enter</a:t>
            </a:r>
            <a:r>
              <a:rPr lang="zh-CN" altLang="en-US" dirty="0"/>
              <a:t> </a:t>
            </a:r>
            <a:r>
              <a:rPr lang="en-US" altLang="zh-CN" dirty="0" err="1"/>
              <a:t>cmd</a:t>
            </a:r>
            <a:endParaRPr lang="en-US" altLang="zh-CN" dirty="0"/>
          </a:p>
          <a:p>
            <a:r>
              <a:rPr lang="en-US" altLang="zh-CN" dirty="0"/>
              <a:t>java -version</a:t>
            </a:r>
          </a:p>
          <a:p>
            <a:r>
              <a:rPr lang="en-US" altLang="zh-CN" dirty="0" err="1"/>
              <a:t>javac</a:t>
            </a:r>
            <a:r>
              <a:rPr lang="en-US" altLang="zh-CN" dirty="0"/>
              <a:t> -version</a:t>
            </a:r>
            <a:endParaRPr lang="zh-CN" altLang="en-US" dirty="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EB178D92-BDF5-4BD4-A35E-48C324962684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2168909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8AE7F94F-8EA8-49B0-83CB-BF51EDC7A5ED}"/>
              </a:ext>
            </a:extLst>
          </p:cNvPr>
          <p:cNvSpPr txBox="1"/>
          <p:nvPr/>
        </p:nvSpPr>
        <p:spPr>
          <a:xfrm>
            <a:off x="8553030" y="1111215"/>
            <a:ext cx="35336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hlinkClick r:id="rId2"/>
              </a:rPr>
              <a:t>Download Apache Maven – Maven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837C266-ED6A-4387-9AAC-2490E9CC6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137" y="2711882"/>
            <a:ext cx="6582943" cy="394061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231EE75-F068-4C0B-9D23-D6E933EC4610}"/>
              </a:ext>
            </a:extLst>
          </p:cNvPr>
          <p:cNvSpPr txBox="1"/>
          <p:nvPr/>
        </p:nvSpPr>
        <p:spPr>
          <a:xfrm>
            <a:off x="249382" y="1414850"/>
            <a:ext cx="1149515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Extract the downloaded Maven compressed file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Enter the folder and create a repo folder to store Maven local repository dependencies</a:t>
            </a:r>
            <a:endParaRPr lang="zh-CN" altLang="en-US" dirty="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821AC95-725F-4CF9-8D5B-EEC42EA07CD9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1137427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DDAC2FB-99D3-4691-99D8-66DA95A7B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091" y="2253080"/>
            <a:ext cx="6450306" cy="155734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FF518E1-D8DA-4C85-BBF0-14B5A43AC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290" y="4283553"/>
            <a:ext cx="4340451" cy="249131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5E0EA14B-44F0-4290-ADE6-5FDB4F74C32A}"/>
              </a:ext>
            </a:extLst>
          </p:cNvPr>
          <p:cNvSpPr txBox="1"/>
          <p:nvPr/>
        </p:nvSpPr>
        <p:spPr>
          <a:xfrm>
            <a:off x="226384" y="3801310"/>
            <a:ext cx="117938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Create a new environment variable %MAVEN_HOME%\bin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F7FDC2-77F1-44A6-91F0-CA1D2A0E58AE}"/>
              </a:ext>
            </a:extLst>
          </p:cNvPr>
          <p:cNvSpPr txBox="1"/>
          <p:nvPr/>
        </p:nvSpPr>
        <p:spPr>
          <a:xfrm>
            <a:off x="298491" y="1179602"/>
            <a:ext cx="1133331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Create a new system variable MAVEN_SOME with the value of the Maven installation address</a:t>
            </a:r>
            <a:endParaRPr lang="zh-CN" altLang="en-US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4994052A-FAF3-4EA4-8C11-F6D5109115D1}"/>
              </a:ext>
            </a:extLst>
          </p:cNvPr>
          <p:cNvSpPr/>
          <p:nvPr/>
        </p:nvSpPr>
        <p:spPr>
          <a:xfrm>
            <a:off x="486172" y="163939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3318439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A04CDFE-0719-416F-AAC7-2979F89A9D55}"/>
              </a:ext>
            </a:extLst>
          </p:cNvPr>
          <p:cNvSpPr txBox="1"/>
          <p:nvPr/>
        </p:nvSpPr>
        <p:spPr>
          <a:xfrm>
            <a:off x="315116" y="1247112"/>
            <a:ext cx="118768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457200" indent="-457200">
              <a:buFont typeface="Arial" panose="020B0604020202020204" pitchFamily="34" charset="0"/>
              <a:buChar char="•"/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Win + R -&gt; CMD </a:t>
            </a:r>
            <a:r>
              <a:rPr lang="zh-CN" altLang="en-US" dirty="0"/>
              <a:t>，</a:t>
            </a:r>
            <a:r>
              <a:rPr lang="en-US" altLang="zh-CN" dirty="0"/>
              <a:t>enter</a:t>
            </a:r>
            <a:r>
              <a:rPr lang="zh-CN" altLang="en-US" dirty="0"/>
              <a:t> </a:t>
            </a:r>
            <a:r>
              <a:rPr lang="en-US" altLang="zh-CN" dirty="0" err="1"/>
              <a:t>mvn</a:t>
            </a:r>
            <a:r>
              <a:rPr lang="en-US" altLang="zh-CN" dirty="0"/>
              <a:t> --version (View Maven version)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6CCAA6B-5382-407F-9FC1-2411B12BD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1988820"/>
            <a:ext cx="11094396" cy="4471952"/>
          </a:xfrm>
          <a:prstGeom prst="rect">
            <a:avLst/>
          </a:prstGeom>
        </p:spPr>
      </p:pic>
      <p:sp>
        <p:nvSpPr>
          <p:cNvPr id="4" name="Rectangle 9">
            <a:extLst>
              <a:ext uri="{FF2B5EF4-FFF2-40B4-BE49-F238E27FC236}">
                <a16:creationId xmlns:a16="http://schemas.microsoft.com/office/drawing/2014/main" id="{B3D217C4-0271-44C5-9CC4-92E4241B05E4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773758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C736539-8B0A-4C7F-8782-D7BB7D176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894" y="2159779"/>
            <a:ext cx="4190974" cy="144089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CE4BB40-3FD9-4A3F-A3ED-B93C31E6E1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94" y="3997655"/>
            <a:ext cx="4537427" cy="139184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B5DF57E-FA51-4D06-BF94-78908E0EE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613879"/>
            <a:ext cx="5577037" cy="2444161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F72B4B7A-9E5E-4F21-8A2E-2E9E2AC1EF73}"/>
              </a:ext>
            </a:extLst>
          </p:cNvPr>
          <p:cNvSpPr txBox="1"/>
          <p:nvPr/>
        </p:nvSpPr>
        <p:spPr>
          <a:xfrm>
            <a:off x="326023" y="1134042"/>
            <a:ext cx="104306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Go to the config folder and edit the settings. xml file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5C002C7-9BB3-4F28-A748-14A77873BD5F}"/>
              </a:ext>
            </a:extLst>
          </p:cNvPr>
          <p:cNvSpPr txBox="1"/>
          <p:nvPr/>
        </p:nvSpPr>
        <p:spPr>
          <a:xfrm>
            <a:off x="326023" y="1615381"/>
            <a:ext cx="60950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Specify repo address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75DD4CB-9844-429B-9EB4-C118FCF097A0}"/>
              </a:ext>
            </a:extLst>
          </p:cNvPr>
          <p:cNvSpPr txBox="1"/>
          <p:nvPr/>
        </p:nvSpPr>
        <p:spPr>
          <a:xfrm>
            <a:off x="326023" y="3482254"/>
            <a:ext cx="60950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Configure mirrors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EC24F05-A337-4FD6-A2A6-F0507C00C212}"/>
              </a:ext>
            </a:extLst>
          </p:cNvPr>
          <p:cNvSpPr txBox="1"/>
          <p:nvPr/>
        </p:nvSpPr>
        <p:spPr>
          <a:xfrm>
            <a:off x="409151" y="5562446"/>
            <a:ext cx="60950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Configure JDK version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F8EF7AF-1C16-46F9-8384-DE2D6BEFA2BC}"/>
              </a:ext>
            </a:extLst>
          </p:cNvPr>
          <p:cNvSpPr txBox="1"/>
          <p:nvPr/>
        </p:nvSpPr>
        <p:spPr>
          <a:xfrm>
            <a:off x="409150" y="6058040"/>
            <a:ext cx="118936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sz="2400" dirty="0"/>
              <a:t>The file sent to everyone is an edited version that does not require any changes except for the repo address</a:t>
            </a:r>
            <a:endParaRPr lang="zh-CN" altLang="en-US" sz="2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7BFAF5-A6F3-4B5A-90F5-848DA97FA4F3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1205822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C1F76AE-E71F-4AF4-9DF0-74858159A8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2177204"/>
            <a:ext cx="7232072" cy="458841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D673E14-906A-4204-A968-1586E1E3FAE3}"/>
              </a:ext>
            </a:extLst>
          </p:cNvPr>
          <p:cNvSpPr txBox="1"/>
          <p:nvPr/>
        </p:nvSpPr>
        <p:spPr>
          <a:xfrm>
            <a:off x="105987" y="1161541"/>
            <a:ext cx="1271223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800" dirty="0"/>
              <a:t>Check if the configuration is successful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800" dirty="0"/>
              <a:t>Win + R -&gt; CMD ,</a:t>
            </a:r>
            <a:r>
              <a:rPr lang="zh-CN" altLang="en-US" sz="2800" dirty="0"/>
              <a:t> </a:t>
            </a:r>
            <a:r>
              <a:rPr lang="en-US" altLang="zh-CN" sz="2800" dirty="0"/>
              <a:t>enter </a:t>
            </a:r>
            <a:r>
              <a:rPr lang="en-US" altLang="zh-CN" sz="2800" dirty="0" err="1"/>
              <a:t>mvn</a:t>
            </a:r>
            <a:r>
              <a:rPr lang="en-US" altLang="zh-CN" sz="2800" dirty="0"/>
              <a:t> </a:t>
            </a:r>
            <a:r>
              <a:rPr lang="en-US" altLang="zh-CN" sz="2800" dirty="0" err="1"/>
              <a:t>help:system</a:t>
            </a:r>
            <a:r>
              <a:rPr lang="en-US" altLang="zh-CN" sz="2800" dirty="0"/>
              <a:t> (Print Maven information)</a:t>
            </a:r>
            <a:endParaRPr lang="zh-CN" altLang="en-US" sz="2800" dirty="0"/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28AF68E4-5296-4209-B81B-B04120DA84A5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4137636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A4A7509-3FBB-4604-B81D-4B54F94B927E}"/>
              </a:ext>
            </a:extLst>
          </p:cNvPr>
          <p:cNvSpPr txBox="1"/>
          <p:nvPr/>
        </p:nvSpPr>
        <p:spPr>
          <a:xfrm>
            <a:off x="64424" y="1221166"/>
            <a:ext cx="11398827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800" dirty="0"/>
              <a:t>Create a new folder named </a:t>
            </a:r>
            <a:r>
              <a:rPr lang="en-US" altLang="zh-CN" sz="2800" dirty="0" err="1"/>
              <a:t>LabsAccess</a:t>
            </a:r>
            <a:r>
              <a:rPr lang="en-US" altLang="zh-CN" sz="2800" dirty="0"/>
              <a:t> JDBC as the project address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800" dirty="0"/>
              <a:t>Enter the folder, enter </a:t>
            </a:r>
            <a:r>
              <a:rPr lang="en-US" altLang="zh-CN" sz="2800" dirty="0" err="1"/>
              <a:t>cmd</a:t>
            </a:r>
            <a:r>
              <a:rPr lang="en-US" altLang="zh-CN" sz="2800" dirty="0"/>
              <a:t> in the address bar, and open the command line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800" dirty="0"/>
              <a:t>Enter at the command line: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000" dirty="0" err="1"/>
              <a:t>mvn</a:t>
            </a:r>
            <a:r>
              <a:rPr lang="en-US" altLang="zh-CN" sz="2000" dirty="0"/>
              <a:t> </a:t>
            </a:r>
            <a:r>
              <a:rPr lang="en-US" altLang="zh-CN" sz="2000" dirty="0" err="1"/>
              <a:t>archetype:generate</a:t>
            </a:r>
            <a:r>
              <a:rPr lang="en-US" altLang="zh-CN" sz="2000" dirty="0"/>
              <a:t> -</a:t>
            </a:r>
            <a:r>
              <a:rPr lang="en-US" altLang="zh-CN" sz="2000" dirty="0" err="1"/>
              <a:t>DgroupId</a:t>
            </a:r>
            <a:r>
              <a:rPr lang="en-US" altLang="zh-CN" sz="2000" dirty="0"/>
              <a:t>=</a:t>
            </a:r>
            <a:r>
              <a:rPr lang="en-US" altLang="zh-CN" sz="2000" dirty="0" err="1"/>
              <a:t>com.example</a:t>
            </a:r>
            <a:r>
              <a:rPr lang="en-US" altLang="zh-CN" sz="2000" dirty="0"/>
              <a:t> -</a:t>
            </a:r>
            <a:r>
              <a:rPr lang="en-US" altLang="zh-CN" sz="2000" dirty="0" err="1"/>
              <a:t>DartifactId</a:t>
            </a:r>
            <a:r>
              <a:rPr lang="en-US" altLang="zh-CN" sz="2000" dirty="0"/>
              <a:t>=access-</a:t>
            </a:r>
            <a:r>
              <a:rPr lang="en-US" altLang="zh-CN" sz="2000" dirty="0" err="1"/>
              <a:t>jdbc</a:t>
            </a:r>
            <a:r>
              <a:rPr lang="en-US" altLang="zh-CN" sz="2000" dirty="0"/>
              <a:t>-demo -</a:t>
            </a:r>
            <a:r>
              <a:rPr lang="en-US" altLang="zh-CN" sz="2000" dirty="0" err="1"/>
              <a:t>DarchetypeArtifactId</a:t>
            </a:r>
            <a:r>
              <a:rPr lang="en-US" altLang="zh-CN" sz="2000" dirty="0"/>
              <a:t>=maven-archetype-</a:t>
            </a:r>
            <a:r>
              <a:rPr lang="en-US" altLang="zh-CN" sz="2000" dirty="0" err="1"/>
              <a:t>quickstart</a:t>
            </a:r>
            <a:r>
              <a:rPr lang="en-US" altLang="zh-CN" sz="2000" dirty="0"/>
              <a:t> -</a:t>
            </a:r>
            <a:r>
              <a:rPr lang="en-US" altLang="zh-CN" sz="2000" dirty="0" err="1"/>
              <a:t>DinteractiveMode</a:t>
            </a:r>
            <a:r>
              <a:rPr lang="en-US" altLang="zh-CN" sz="2000" dirty="0"/>
              <a:t>=false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2623B14-24D8-46E7-9349-5892388AE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446" y="3577788"/>
            <a:ext cx="5522660" cy="32404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1A24C56-9E8D-4A25-A4C5-E379C49B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0429" y="4125040"/>
            <a:ext cx="4210050" cy="2295525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9BDFF796-2F57-4C0C-910A-9B663D224836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2385382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4A4A7509-3FBB-4604-B81D-4B54F94B927E}"/>
              </a:ext>
            </a:extLst>
          </p:cNvPr>
          <p:cNvSpPr txBox="1"/>
          <p:nvPr/>
        </p:nvSpPr>
        <p:spPr>
          <a:xfrm>
            <a:off x="64424" y="1221166"/>
            <a:ext cx="113988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Edit pom.xml</a:t>
            </a:r>
            <a:endParaRPr lang="en-US" altLang="zh-CN" sz="2400" dirty="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BDFF796-2F57-4C0C-910A-9B663D224836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CAD3B59-F84A-41B8-A8B7-1D2EC4A39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978" y="2161309"/>
            <a:ext cx="9446300" cy="347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567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FD5172E-A4DF-400C-9E01-660CF8C59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78" y="2282632"/>
            <a:ext cx="3308725" cy="127156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AD9A1E7-730D-4AA9-9A78-7433A790D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" y="4163446"/>
            <a:ext cx="3144634" cy="20050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F5F2EBC-A317-41AB-84BD-EA1E37F16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934" y="1752854"/>
            <a:ext cx="4405156" cy="48644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260D064-71DA-437D-8178-37C4391D1DD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67341"/>
          <a:stretch/>
        </p:blipFill>
        <p:spPr>
          <a:xfrm>
            <a:off x="8752218" y="4897599"/>
            <a:ext cx="2980504" cy="171971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CFCBA45-A4CC-43C9-A7EA-336C9B956F05}"/>
              </a:ext>
            </a:extLst>
          </p:cNvPr>
          <p:cNvSpPr txBox="1"/>
          <p:nvPr/>
        </p:nvSpPr>
        <p:spPr>
          <a:xfrm>
            <a:off x="459278" y="1111463"/>
            <a:ext cx="1013944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Operate the database by writing Java code</a:t>
            </a:r>
            <a:endParaRPr lang="zh-CN" alt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B18E36-55C7-4128-B554-6A3959AD4E14}"/>
              </a:ext>
            </a:extLst>
          </p:cNvPr>
          <p:cNvSpPr/>
          <p:nvPr/>
        </p:nvSpPr>
        <p:spPr>
          <a:xfrm>
            <a:off x="486172" y="205503"/>
            <a:ext cx="1097430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Tutorial with Project Examples</a:t>
            </a:r>
          </a:p>
        </p:txBody>
      </p:sp>
    </p:spTree>
    <p:extLst>
      <p:ext uri="{BB962C8B-B14F-4D97-AF65-F5344CB8AC3E}">
        <p14:creationId xmlns:p14="http://schemas.microsoft.com/office/powerpoint/2010/main" val="7251485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357240D-CD8E-9B76-09DC-277985C5C2D8}"/>
              </a:ext>
            </a:extLst>
          </p:cNvPr>
          <p:cNvSpPr/>
          <p:nvPr/>
        </p:nvSpPr>
        <p:spPr>
          <a:xfrm>
            <a:off x="814963" y="1560092"/>
            <a:ext cx="11112294" cy="2719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28700" indent="-1028700">
              <a:lnSpc>
                <a:spcPct val="150000"/>
              </a:lnSpc>
              <a:buFont typeface="+mj-lt"/>
              <a:buAutoNum type="romanUcPeriod"/>
            </a:pPr>
            <a:r>
              <a:rPr lang="en-US" altLang="zh-CN" sz="6000" b="1" dirty="0">
                <a:solidFill>
                  <a:schemeClr val="bg1">
                    <a:lumMod val="50000"/>
                  </a:schemeClr>
                </a:solidFill>
                <a:latin typeface="+mj-lt"/>
                <a:cs typeface="Times New Roman" panose="02020603050405020304" pitchFamily="18" charset="0"/>
              </a:rPr>
              <a:t>Tutorial with Project Examples</a:t>
            </a:r>
          </a:p>
          <a:p>
            <a:pPr marL="1028700" indent="-1028700">
              <a:lnSpc>
                <a:spcPct val="150000"/>
              </a:lnSpc>
              <a:buFont typeface="+mj-lt"/>
              <a:buAutoNum type="romanUcPeriod"/>
            </a:pPr>
            <a:r>
              <a:rPr lang="en-US" altLang="zh-CN" sz="6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Times New Roman" panose="02020603050405020304" pitchFamily="18" charset="0"/>
              </a:rPr>
              <a:t>Assignment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D2F0A02F-50C8-DFB8-46B3-67D040FCF552}"/>
              </a:ext>
            </a:extLst>
          </p:cNvPr>
          <p:cNvSpPr/>
          <p:nvPr/>
        </p:nvSpPr>
        <p:spPr>
          <a:xfrm>
            <a:off x="814963" y="452096"/>
            <a:ext cx="1056207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6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3</a:t>
            </a:r>
          </a:p>
        </p:txBody>
      </p:sp>
    </p:spTree>
    <p:extLst>
      <p:ext uri="{BB962C8B-B14F-4D97-AF65-F5344CB8AC3E}">
        <p14:creationId xmlns:p14="http://schemas.microsoft.com/office/powerpoint/2010/main" val="18277273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>
            <a:extLst>
              <a:ext uri="{FF2B5EF4-FFF2-40B4-BE49-F238E27FC236}">
                <a16:creationId xmlns:a16="http://schemas.microsoft.com/office/drawing/2014/main" id="{6C75D155-25C3-19C1-F1AA-AAC226DE76FB}"/>
              </a:ext>
            </a:extLst>
          </p:cNvPr>
          <p:cNvSpPr/>
          <p:nvPr/>
        </p:nvSpPr>
        <p:spPr>
          <a:xfrm>
            <a:off x="486173" y="205503"/>
            <a:ext cx="783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D5B375-295B-41AB-90D3-56F5A18CEF36}"/>
              </a:ext>
            </a:extLst>
          </p:cNvPr>
          <p:cNvSpPr/>
          <p:nvPr/>
        </p:nvSpPr>
        <p:spPr>
          <a:xfrm>
            <a:off x="486173" y="2236829"/>
            <a:ext cx="11434505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 to the universities database using Java</a:t>
            </a:r>
          </a:p>
          <a:p>
            <a:pPr marL="514350" indent="-514350" algn="just">
              <a:buFont typeface="+mj-lt"/>
              <a:buAutoNum type="arabicPeriod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adding, deleting, updating, and querying database tables using Java</a:t>
            </a:r>
            <a:endParaRPr lang="en-US" sz="2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29D8A-2720-AA1F-2B65-FF347C87B1B4}"/>
              </a:ext>
            </a:extLst>
          </p:cNvPr>
          <p:cNvSpPr/>
          <p:nvPr/>
        </p:nvSpPr>
        <p:spPr>
          <a:xfrm>
            <a:off x="486173" y="1221166"/>
            <a:ext cx="51337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altLang="zh-CN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 Content</a:t>
            </a:r>
            <a:endParaRPr lang="en-US" sz="4000" b="1" dirty="0">
              <a:solidFill>
                <a:srgbClr val="33339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9760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>
            <a:extLst>
              <a:ext uri="{FF2B5EF4-FFF2-40B4-BE49-F238E27FC236}">
                <a16:creationId xmlns:a16="http://schemas.microsoft.com/office/drawing/2014/main" id="{6C75D155-25C3-19C1-F1AA-AAC226DE76FB}"/>
              </a:ext>
            </a:extLst>
          </p:cNvPr>
          <p:cNvSpPr/>
          <p:nvPr/>
        </p:nvSpPr>
        <p:spPr>
          <a:xfrm>
            <a:off x="486173" y="205503"/>
            <a:ext cx="783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29D8A-2720-AA1F-2B65-FF347C87B1B4}"/>
              </a:ext>
            </a:extLst>
          </p:cNvPr>
          <p:cNvSpPr/>
          <p:nvPr/>
        </p:nvSpPr>
        <p:spPr>
          <a:xfrm>
            <a:off x="486173" y="1221166"/>
            <a:ext cx="51337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altLang="zh-CN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 Content</a:t>
            </a:r>
            <a:endParaRPr lang="en-US" sz="4000" b="1" dirty="0">
              <a:solidFill>
                <a:srgbClr val="33339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68233E5-0AF8-49F8-A1A5-C0D0A5F4BA3F}"/>
              </a:ext>
            </a:extLst>
          </p:cNvPr>
          <p:cNvSpPr txBox="1"/>
          <p:nvPr/>
        </p:nvSpPr>
        <p:spPr>
          <a:xfrm>
            <a:off x="517081" y="2753670"/>
            <a:ext cx="11157837" cy="37856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assignment requires everyone to exercise their subjective initiative:</a:t>
            </a:r>
          </a:p>
          <a:p>
            <a:pPr marL="342900" indent="-342900" algn="just">
              <a:buAutoNum type="arabicPeriod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existing tables in the database, create a new table and design the fields and primary keys for the created table. The report needs to explain the reasons for establishing this table.</a:t>
            </a:r>
          </a:p>
          <a:p>
            <a:pPr marL="342900" indent="-342900" algn="just">
              <a:buAutoNum type="arabicPeriod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the newly created table.</a:t>
            </a:r>
          </a:p>
          <a:p>
            <a:pPr marL="342900" indent="-342900" algn="just">
              <a:buAutoNum type="arabicPeriod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 a row of record in the student table.</a:t>
            </a:r>
          </a:p>
          <a:p>
            <a:pPr marL="342900" indent="-342900" algn="just">
              <a:buAutoNum type="arabicPeriod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the newly inserted record.</a:t>
            </a:r>
          </a:p>
          <a:p>
            <a:pPr marL="342900" indent="-342900" algn="just">
              <a:buAutoNum type="arabicPeriod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Update a record in the student table.</a:t>
            </a:r>
          </a:p>
          <a:p>
            <a:pPr marL="342900" indent="-342900" algn="just">
              <a:buAutoNum type="arabicPeriod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Restore the modified records to their original state.</a:t>
            </a:r>
          </a:p>
          <a:p>
            <a:pPr marL="342900" indent="-342900" algn="just">
              <a:buAutoNum type="arabicPeriod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all the SQL statements in Project 2.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060C8E-2B3E-4C9F-8366-D5F59321788A}"/>
              </a:ext>
            </a:extLst>
          </p:cNvPr>
          <p:cNvSpPr/>
          <p:nvPr/>
        </p:nvSpPr>
        <p:spPr>
          <a:xfrm>
            <a:off x="486172" y="2024360"/>
            <a:ext cx="1143450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 algn="just">
              <a:buFont typeface="+mj-lt"/>
              <a:buAutoNum type="arabicPeriod" startAt="3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6031949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>
            <a:extLst>
              <a:ext uri="{FF2B5EF4-FFF2-40B4-BE49-F238E27FC236}">
                <a16:creationId xmlns:a16="http://schemas.microsoft.com/office/drawing/2014/main" id="{6C75D155-25C3-19C1-F1AA-AAC226DE76FB}"/>
              </a:ext>
            </a:extLst>
          </p:cNvPr>
          <p:cNvSpPr/>
          <p:nvPr/>
        </p:nvSpPr>
        <p:spPr>
          <a:xfrm>
            <a:off x="486173" y="205503"/>
            <a:ext cx="783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29D8A-2720-AA1F-2B65-FF347C87B1B4}"/>
              </a:ext>
            </a:extLst>
          </p:cNvPr>
          <p:cNvSpPr/>
          <p:nvPr/>
        </p:nvSpPr>
        <p:spPr>
          <a:xfrm>
            <a:off x="486173" y="1221166"/>
            <a:ext cx="51337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altLang="zh-CN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 Content</a:t>
            </a:r>
            <a:endParaRPr lang="en-US" sz="4000" b="1" dirty="0">
              <a:solidFill>
                <a:srgbClr val="33339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68233E5-0AF8-49F8-A1A5-C0D0A5F4BA3F}"/>
              </a:ext>
            </a:extLst>
          </p:cNvPr>
          <p:cNvSpPr txBox="1"/>
          <p:nvPr/>
        </p:nvSpPr>
        <p:spPr>
          <a:xfrm>
            <a:off x="294922" y="2642888"/>
            <a:ext cx="11625755" cy="30469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schema of the database is provided below (keys are red, field types are omitted):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student(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sex, age, year,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gpa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dept(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numphds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prof(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course(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cno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major(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section(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cno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sectno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pname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pt-BR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enroll(</a:t>
            </a:r>
            <a:r>
              <a:rPr lang="pt-BR" altLang="zh-CN" sz="2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sid</a:t>
            </a:r>
            <a:r>
              <a:rPr lang="pt-BR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grade, </a:t>
            </a:r>
            <a:r>
              <a:rPr lang="pt-BR" altLang="zh-CN" sz="2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dname</a:t>
            </a:r>
            <a:r>
              <a:rPr lang="pt-BR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altLang="zh-CN" sz="2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cno</a:t>
            </a:r>
            <a:r>
              <a:rPr lang="pt-BR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altLang="zh-CN" sz="2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sectno</a:t>
            </a:r>
            <a:r>
              <a:rPr lang="pt-BR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060C8E-2B3E-4C9F-8366-D5F59321788A}"/>
              </a:ext>
            </a:extLst>
          </p:cNvPr>
          <p:cNvSpPr/>
          <p:nvPr/>
        </p:nvSpPr>
        <p:spPr>
          <a:xfrm>
            <a:off x="486172" y="2024360"/>
            <a:ext cx="1143450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 algn="just">
              <a:buFont typeface="+mj-lt"/>
              <a:buAutoNum type="arabicPeriod" startAt="4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and Sample Data</a:t>
            </a:r>
          </a:p>
        </p:txBody>
      </p:sp>
    </p:spTree>
    <p:extLst>
      <p:ext uri="{BB962C8B-B14F-4D97-AF65-F5344CB8AC3E}">
        <p14:creationId xmlns:p14="http://schemas.microsoft.com/office/powerpoint/2010/main" val="3431532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>
            <a:extLst>
              <a:ext uri="{FF2B5EF4-FFF2-40B4-BE49-F238E27FC236}">
                <a16:creationId xmlns:a16="http://schemas.microsoft.com/office/drawing/2014/main" id="{6C75D155-25C3-19C1-F1AA-AAC226DE76FB}"/>
              </a:ext>
            </a:extLst>
          </p:cNvPr>
          <p:cNvSpPr/>
          <p:nvPr/>
        </p:nvSpPr>
        <p:spPr>
          <a:xfrm>
            <a:off x="486173" y="205503"/>
            <a:ext cx="783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29D8A-2720-AA1F-2B65-FF347C87B1B4}"/>
              </a:ext>
            </a:extLst>
          </p:cNvPr>
          <p:cNvSpPr/>
          <p:nvPr/>
        </p:nvSpPr>
        <p:spPr>
          <a:xfrm>
            <a:off x="486173" y="1221166"/>
            <a:ext cx="51337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altLang="zh-CN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 Content</a:t>
            </a:r>
            <a:endParaRPr lang="en-US" sz="4000" b="1" dirty="0">
              <a:solidFill>
                <a:srgbClr val="33339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68233E5-0AF8-49F8-A1A5-C0D0A5F4BA3F}"/>
              </a:ext>
            </a:extLst>
          </p:cNvPr>
          <p:cNvSpPr txBox="1"/>
          <p:nvPr/>
        </p:nvSpPr>
        <p:spPr>
          <a:xfrm>
            <a:off x="690041" y="2620624"/>
            <a:ext cx="11230636" cy="33547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571500" indent="-571500">
              <a:buFont typeface="Wingdings" panose="05000000000000000000" pitchFamily="2" charset="2"/>
              <a:buChar char="§"/>
            </a:pPr>
            <a:r>
              <a:rPr lang="en-US" altLang="zh-C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the following data files from </a:t>
            </a:r>
            <a:r>
              <a:rPr lang="en-US" altLang="zh-CN" sz="2200" b="1" u="sng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WeChat Group</a:t>
            </a:r>
            <a:r>
              <a:rPr lang="en-US" altLang="zh-C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(The imports you made in Project 1). </a:t>
            </a:r>
          </a:p>
          <a:p>
            <a:pPr marL="2286000" lvl="4" indent="-4572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course.txt</a:t>
            </a:r>
          </a:p>
          <a:p>
            <a:pPr marL="2286000" lvl="4" indent="-4572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dept.txt</a:t>
            </a:r>
          </a:p>
          <a:p>
            <a:pPr marL="2286000" lvl="4" indent="-4572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enroll.txt</a:t>
            </a:r>
          </a:p>
          <a:p>
            <a:pPr marL="2286000" lvl="4" indent="-4572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major.txt</a:t>
            </a:r>
          </a:p>
          <a:p>
            <a:pPr marL="2286000" lvl="4" indent="-4572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prof.txt</a:t>
            </a:r>
          </a:p>
          <a:p>
            <a:pPr marL="2286000" lvl="4" indent="-4572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section.txt</a:t>
            </a:r>
          </a:p>
          <a:p>
            <a:pPr marL="2286000" lvl="4" indent="-4572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student.txt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060C8E-2B3E-4C9F-8366-D5F59321788A}"/>
              </a:ext>
            </a:extLst>
          </p:cNvPr>
          <p:cNvSpPr/>
          <p:nvPr/>
        </p:nvSpPr>
        <p:spPr>
          <a:xfrm>
            <a:off x="486172" y="2024360"/>
            <a:ext cx="1143450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indent="-742950" algn="just">
              <a:buFont typeface="+mj-lt"/>
              <a:buAutoNum type="arabicPeriod" startAt="5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Files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444C0B4-06A9-427A-809A-66F7F7BD8C83}"/>
              </a:ext>
            </a:extLst>
          </p:cNvPr>
          <p:cNvSpPr txBox="1"/>
          <p:nvPr/>
        </p:nvSpPr>
        <p:spPr>
          <a:xfrm>
            <a:off x="6171282" y="4873761"/>
            <a:ext cx="4720616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recommended to use the original </a:t>
            </a:r>
            <a:r>
              <a:rPr lang="en-US" altLang="zh-CN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student.txt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better communication and comparison of correctness among classmates.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475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>
            <a:extLst>
              <a:ext uri="{FF2B5EF4-FFF2-40B4-BE49-F238E27FC236}">
                <a16:creationId xmlns:a16="http://schemas.microsoft.com/office/drawing/2014/main" id="{6C75D155-25C3-19C1-F1AA-AAC226DE76FB}"/>
              </a:ext>
            </a:extLst>
          </p:cNvPr>
          <p:cNvSpPr/>
          <p:nvPr/>
        </p:nvSpPr>
        <p:spPr>
          <a:xfrm>
            <a:off x="486173" y="205503"/>
            <a:ext cx="783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6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Assignment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D5B375-295B-41AB-90D3-56F5A18CEF36}"/>
              </a:ext>
            </a:extLst>
          </p:cNvPr>
          <p:cNvSpPr/>
          <p:nvPr/>
        </p:nvSpPr>
        <p:spPr>
          <a:xfrm>
            <a:off x="183771" y="2133331"/>
            <a:ext cx="11434505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 attention to the address of the database connection, a single slash is an escape character.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an </a:t>
            </a:r>
            <a:r>
              <a:rPr lang="en-US" altLang="zh-CN" sz="24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individual assignment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no group submissions are allowed. 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 in </a:t>
            </a:r>
            <a:r>
              <a:rPr lang="en-US" altLang="zh-CN" sz="24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report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outlines your answers and the process by which you arrived at them.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29D8A-2720-AA1F-2B65-FF347C87B1B4}"/>
              </a:ext>
            </a:extLst>
          </p:cNvPr>
          <p:cNvSpPr/>
          <p:nvPr/>
        </p:nvSpPr>
        <p:spPr>
          <a:xfrm>
            <a:off x="486173" y="1221166"/>
            <a:ext cx="5257721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CN" sz="4000" b="1" dirty="0">
                <a:solidFill>
                  <a:srgbClr val="33339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Few Points to Note</a:t>
            </a:r>
            <a:endParaRPr lang="en-US" sz="4000" b="1" dirty="0">
              <a:solidFill>
                <a:srgbClr val="33339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3739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6028</TotalTime>
  <Words>910</Words>
  <Application>Microsoft Office PowerPoint</Application>
  <PresentationFormat>宽屏</PresentationFormat>
  <Paragraphs>123</Paragraphs>
  <Slides>22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等线</vt:lpstr>
      <vt:lpstr>微软雅黑</vt:lpstr>
      <vt:lpstr>Arial</vt:lpstr>
      <vt:lpstr>Calibri</vt:lpstr>
      <vt:lpstr>Calibri Light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Assignment1</dc:title>
  <dc:creator>Wang Hai</dc:creator>
  <cp:lastModifiedBy>佳伟 刘</cp:lastModifiedBy>
  <cp:revision>168</cp:revision>
  <dcterms:created xsi:type="dcterms:W3CDTF">2019-09-23T01:09:19Z</dcterms:created>
  <dcterms:modified xsi:type="dcterms:W3CDTF">2025-11-05T02:33:22Z</dcterms:modified>
</cp:coreProperties>
</file>