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等线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等线"/>
      </a:defRPr>
    </a:lvl1pPr>
    <a:lvl2pPr indent="228600" latinLnBrk="0">
      <a:defRPr sz="1200">
        <a:latin typeface="+mj-lt"/>
        <a:ea typeface="+mj-ea"/>
        <a:cs typeface="+mj-cs"/>
        <a:sym typeface="等线"/>
      </a:defRPr>
    </a:lvl2pPr>
    <a:lvl3pPr indent="457200" latinLnBrk="0">
      <a:defRPr sz="1200">
        <a:latin typeface="+mj-lt"/>
        <a:ea typeface="+mj-ea"/>
        <a:cs typeface="+mj-cs"/>
        <a:sym typeface="等线"/>
      </a:defRPr>
    </a:lvl3pPr>
    <a:lvl4pPr indent="685800" latinLnBrk="0">
      <a:defRPr sz="1200">
        <a:latin typeface="+mj-lt"/>
        <a:ea typeface="+mj-ea"/>
        <a:cs typeface="+mj-cs"/>
        <a:sym typeface="等线"/>
      </a:defRPr>
    </a:lvl4pPr>
    <a:lvl5pPr indent="914400" latinLnBrk="0">
      <a:defRPr sz="1200">
        <a:latin typeface="+mj-lt"/>
        <a:ea typeface="+mj-ea"/>
        <a:cs typeface="+mj-cs"/>
        <a:sym typeface="等线"/>
      </a:defRPr>
    </a:lvl5pPr>
    <a:lvl6pPr indent="1143000" latinLnBrk="0">
      <a:defRPr sz="1200">
        <a:latin typeface="+mj-lt"/>
        <a:ea typeface="+mj-ea"/>
        <a:cs typeface="+mj-cs"/>
        <a:sym typeface="等线"/>
      </a:defRPr>
    </a:lvl6pPr>
    <a:lvl7pPr indent="1371600" latinLnBrk="0">
      <a:defRPr sz="1200">
        <a:latin typeface="+mj-lt"/>
        <a:ea typeface="+mj-ea"/>
        <a:cs typeface="+mj-cs"/>
        <a:sym typeface="等线"/>
      </a:defRPr>
    </a:lvl7pPr>
    <a:lvl8pPr indent="1600200" latinLnBrk="0">
      <a:defRPr sz="1200">
        <a:latin typeface="+mj-lt"/>
        <a:ea typeface="+mj-ea"/>
        <a:cs typeface="+mj-cs"/>
        <a:sym typeface="等线"/>
      </a:defRPr>
    </a:lvl8pPr>
    <a:lvl9pPr indent="1828800" latinLnBrk="0">
      <a:defRPr sz="1200">
        <a:latin typeface="+mj-lt"/>
        <a:ea typeface="+mj-ea"/>
        <a:cs typeface="+mj-cs"/>
        <a:sym typeface="等线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7" name="Shape 1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Maven 的默认服务器在国外所以下载依赖会很慢，所以我们需要将其改为国内的镜像，一般使用的是阿里云的镜像。</a:t>
            </a:r>
          </a:p>
          <a:p>
            <a:pPr/>
            <a:r>
              <a:t>在 Maven 中配置 JDK 版本，可以确保项目在正确的 JDK 环境下进行构建和运行，避免因 JDK 版本不兼容而导致的编译错误或运行时问题。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/>
          <p:nvPr>
            <p:ph type="title"/>
          </p:nvPr>
        </p:nvSpPr>
        <p:spPr>
          <a:xfrm>
            <a:off x="914400" y="1122362"/>
            <a:ext cx="103632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标题文本</a:t>
            </a:r>
          </a:p>
        </p:txBody>
      </p:sp>
      <p:sp>
        <p:nvSpPr>
          <p:cNvPr id="12" name="正文级别 1…"/>
          <p:cNvSpPr txBox="1"/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21" name="正文级别 1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/>
          <p:nvPr>
            <p:ph type="title"/>
          </p:nvPr>
        </p:nvSpPr>
        <p:spPr>
          <a:xfrm>
            <a:off x="831850" y="1709740"/>
            <a:ext cx="105156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quarter" idx="1"/>
          </p:nvPr>
        </p:nvSpPr>
        <p:spPr>
          <a:xfrm>
            <a:off x="831850" y="4589464"/>
            <a:ext cx="10515601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0" indent="0">
              <a:buSzTx/>
              <a:buFontTx/>
              <a:buNone/>
              <a:defRPr sz="2400"/>
            </a:lvl2pPr>
            <a:lvl3pPr marL="0" indent="0">
              <a:buSzTx/>
              <a:buFontTx/>
              <a:buNone/>
              <a:defRPr sz="2400"/>
            </a:lvl3pPr>
            <a:lvl4pPr marL="0" indent="0">
              <a:buSzTx/>
              <a:buFontTx/>
              <a:buNone/>
              <a:defRPr sz="2400"/>
            </a:lvl4pPr>
            <a:lvl5pPr marL="0" indent="0">
              <a:buSzTx/>
              <a:buFontTx/>
              <a:buNone/>
              <a:defRPr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39" name="正文级别 1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/>
          <p:nvPr>
            <p:ph type="title"/>
          </p:nvPr>
        </p:nvSpPr>
        <p:spPr>
          <a:xfrm>
            <a:off x="839787" y="365127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48" name="正文级别 1…"/>
          <p:cNvSpPr txBox="1"/>
          <p:nvPr>
            <p:ph type="body" sz="quarter" idx="1"/>
          </p:nvPr>
        </p:nvSpPr>
        <p:spPr>
          <a:xfrm>
            <a:off x="839787" y="1681163"/>
            <a:ext cx="5157791" cy="823914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0">
              <a:buSzTx/>
              <a:buFontTx/>
              <a:buNone/>
              <a:defRPr b="1" sz="2400"/>
            </a:lvl2pPr>
            <a:lvl3pPr marL="0" indent="0">
              <a:buSzTx/>
              <a:buFontTx/>
              <a:buNone/>
              <a:defRPr b="1" sz="2400"/>
            </a:lvl3pPr>
            <a:lvl4pPr marL="0" indent="0">
              <a:buSzTx/>
              <a:buFontTx/>
              <a:buNone/>
              <a:defRPr b="1" sz="2400"/>
            </a:lvl4pPr>
            <a:lvl5pPr marL="0" indent="0">
              <a:buSzTx/>
              <a:buFontTx/>
              <a:buNone/>
              <a:defRPr b="1" sz="24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1" y="1681163"/>
            <a:ext cx="5183190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标题文本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标题文本</a:t>
            </a:r>
          </a:p>
        </p:txBody>
      </p:sp>
      <p:sp>
        <p:nvSpPr>
          <p:cNvPr id="73" name="正文级别 1…"/>
          <p:cNvSpPr txBox="1"/>
          <p:nvPr>
            <p:ph type="body" sz="half" idx="1"/>
          </p:nvPr>
        </p:nvSpPr>
        <p:spPr>
          <a:xfrm>
            <a:off x="5183187" y="987427"/>
            <a:ext cx="6172202" cy="487362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6" y="2057400"/>
            <a:ext cx="3932241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标题文本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7"/>
            <a:ext cx="6172202" cy="487362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正文级别 1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1095178" y="6414763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docs.oracle.com/en/industries/hospitality/enterprise-integrations/gaming-integration/24.1/gamig/t_download_jdk17_for_microsoft_windows.htm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maven.apache.org/download.cgi" TargetMode="External"/><Relationship Id="rId3" Type="http://schemas.openxmlformats.org/officeDocument/2006/relationships/image" Target="../media/image1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"/>
          <p:cNvSpPr txBox="1"/>
          <p:nvPr/>
        </p:nvSpPr>
        <p:spPr>
          <a:xfrm>
            <a:off x="1394459" y="2111999"/>
            <a:ext cx="9403082" cy="935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Project 3</a:t>
            </a:r>
          </a:p>
        </p:txBody>
      </p:sp>
      <p:sp>
        <p:nvSpPr>
          <p:cNvPr id="95" name="文本框 10"/>
          <p:cNvSpPr txBox="1"/>
          <p:nvPr/>
        </p:nvSpPr>
        <p:spPr>
          <a:xfrm>
            <a:off x="4176450" y="4571382"/>
            <a:ext cx="3537759" cy="666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TA: Hao Gong</a:t>
            </a:r>
          </a:p>
        </p:txBody>
      </p:sp>
      <p:sp>
        <p:nvSpPr>
          <p:cNvPr id="96" name="文本框 3"/>
          <p:cNvSpPr txBox="1"/>
          <p:nvPr/>
        </p:nvSpPr>
        <p:spPr>
          <a:xfrm>
            <a:off x="3440081" y="3495579"/>
            <a:ext cx="5263346" cy="666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0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Lecturer: Shuai Wang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"/>
          <p:cNvSpPr txBox="1"/>
          <p:nvPr/>
        </p:nvSpPr>
        <p:spPr>
          <a:xfrm>
            <a:off x="592131" y="378537"/>
            <a:ext cx="10371471" cy="666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Requirements for submitting the assignment</a:t>
            </a:r>
          </a:p>
        </p:txBody>
      </p:sp>
      <p:sp>
        <p:nvSpPr>
          <p:cNvPr id="99" name="Rectangle 1"/>
          <p:cNvSpPr/>
          <p:nvPr/>
        </p:nvSpPr>
        <p:spPr>
          <a:xfrm>
            <a:off x="1350532" y="6086683"/>
            <a:ext cx="9286387" cy="724926"/>
          </a:xfrm>
          <a:prstGeom prst="rect">
            <a:avLst/>
          </a:prstGeom>
          <a:ln>
            <a:solidFill>
              <a:srgbClr val="C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4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Deadline: Beijing time, 11.15, 23:59:59</a:t>
            </a:r>
          </a:p>
        </p:txBody>
      </p:sp>
      <p:sp>
        <p:nvSpPr>
          <p:cNvPr id="100" name="灯片编号占位符 2"/>
          <p:cNvSpPr txBox="1"/>
          <p:nvPr>
            <p:ph type="sldNum" sz="quarter" idx="4294967295"/>
          </p:nvPr>
        </p:nvSpPr>
        <p:spPr>
          <a:xfrm>
            <a:off x="11172418" y="6414761"/>
            <a:ext cx="181380" cy="248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1" name="文本框 6"/>
          <p:cNvSpPr txBox="1"/>
          <p:nvPr/>
        </p:nvSpPr>
        <p:spPr>
          <a:xfrm>
            <a:off x="592131" y="1107457"/>
            <a:ext cx="10371471" cy="5583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457200" indent="-457200">
              <a:lnSpc>
                <a:spcPct val="150000"/>
              </a:lnSpc>
              <a:buSzPct val="100000"/>
              <a:buFont typeface="Arial"/>
              <a:buChar char="•"/>
              <a:defRPr b="1" sz="3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Email address : </a:t>
            </a:r>
            <a:r>
              <a:rPr u="sng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seudatabaseqa@seu.edu.cn</a:t>
            </a:r>
            <a:endParaRPr i="1" u="sng">
              <a:solidFill>
                <a:srgbClr val="33339B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marL="457200" indent="-457200">
              <a:lnSpc>
                <a:spcPct val="150000"/>
              </a:lnSpc>
              <a:buSzPct val="100000"/>
              <a:buFont typeface="Arial"/>
              <a:buChar char="•"/>
              <a:defRPr b="1" sz="3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Format of </a:t>
            </a:r>
            <a:r>
              <a:rPr>
                <a:solidFill>
                  <a:srgbClr val="C55A11"/>
                </a:solidFill>
              </a:rPr>
              <a:t>Email subject </a:t>
            </a:r>
            <a:r>
              <a:t>and </a:t>
            </a:r>
            <a:r>
              <a:rPr>
                <a:solidFill>
                  <a:srgbClr val="C55A11"/>
                </a:solidFill>
              </a:rPr>
              <a:t>File name</a:t>
            </a:r>
            <a:r>
              <a:t>: </a:t>
            </a:r>
            <a:r>
              <a:rPr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StudentNumber-Name-Project-X</a:t>
            </a:r>
            <a:endParaRPr>
              <a:solidFill>
                <a:srgbClr val="33339B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lvl="1" indent="457200">
              <a:lnSpc>
                <a:spcPct val="150000"/>
              </a:lnSpc>
              <a:defRPr sz="3200"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	</a:t>
            </a:r>
            <a:r>
              <a:rPr>
                <a:latin typeface="微软雅黑"/>
                <a:ea typeface="微软雅黑"/>
                <a:cs typeface="微软雅黑"/>
                <a:sym typeface="微软雅黑"/>
              </a:rPr>
              <a:t>example </a:t>
            </a:r>
            <a:r>
              <a:t>: </a:t>
            </a:r>
            <a:r>
              <a:rPr i="1">
                <a:solidFill>
                  <a:srgbClr val="33339B"/>
                </a:solidFill>
                <a:latin typeface="微软雅黑"/>
                <a:ea typeface="微软雅黑"/>
                <a:cs typeface="微软雅黑"/>
                <a:sym typeface="微软雅黑"/>
              </a:rPr>
              <a:t>71121000-张三-Project-1.zip</a:t>
            </a:r>
            <a:endParaRPr i="1">
              <a:solidFill>
                <a:srgbClr val="33339B"/>
              </a:solidFill>
              <a:latin typeface="微软雅黑"/>
              <a:ea typeface="微软雅黑"/>
              <a:cs typeface="微软雅黑"/>
              <a:sym typeface="微软雅黑"/>
            </a:endParaRPr>
          </a:p>
          <a:p>
            <a:pPr marL="457200" indent="-457200">
              <a:lnSpc>
                <a:spcPct val="150000"/>
              </a:lnSpc>
              <a:buSzPct val="100000"/>
              <a:buFont typeface="Arial"/>
              <a:buChar char="•"/>
              <a:defRPr b="1" sz="32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Including :</a:t>
            </a:r>
          </a:p>
          <a:p>
            <a:pPr>
              <a:lnSpc>
                <a:spcPct val="150000"/>
              </a:lnSpc>
              <a:defRPr sz="3200">
                <a:solidFill>
                  <a:srgbClr val="00B0F0"/>
                </a:solidFill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		</a:t>
            </a:r>
            <a:r>
              <a:rPr i="1">
                <a:solidFill>
                  <a:srgbClr val="33339B"/>
                </a:solidFill>
              </a:rPr>
              <a:t> </a:t>
            </a:r>
            <a:r>
              <a:rPr sz="2800">
                <a:solidFill>
                  <a:srgbClr val="C00000"/>
                </a:solidFill>
              </a:rPr>
              <a:t>①</a:t>
            </a:r>
            <a:r>
              <a:rPr i="1" sz="2800">
                <a:solidFill>
                  <a:srgbClr val="33339B"/>
                </a:solidFill>
              </a:rPr>
              <a:t>report_A3.doc / report_A3.docx / report_A3.pdf</a:t>
            </a:r>
            <a:endParaRPr i="1" sz="2800">
              <a:solidFill>
                <a:srgbClr val="33339B"/>
              </a:solidFill>
            </a:endParaRPr>
          </a:p>
          <a:p>
            <a:pPr>
              <a:lnSpc>
                <a:spcPct val="150000"/>
              </a:lnSpc>
              <a:defRPr sz="2800">
                <a:solidFill>
                  <a:srgbClr val="C00000"/>
                </a:solidFill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            ②</a:t>
            </a:r>
            <a:r>
              <a:rPr i="1">
                <a:solidFill>
                  <a:srgbClr val="33339B"/>
                </a:solidFill>
              </a:rPr>
              <a:t> code.zip</a:t>
            </a:r>
            <a:endParaRPr i="1">
              <a:solidFill>
                <a:srgbClr val="33339B"/>
              </a:solidFill>
            </a:endParaRPr>
          </a:p>
          <a:p>
            <a:pPr>
              <a:lnSpc>
                <a:spcPct val="150000"/>
              </a:lnSpc>
              <a:defRPr sz="2800">
                <a:solidFill>
                  <a:srgbClr val="00B0F0"/>
                </a:solidFill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	</a:t>
            </a:r>
          </a:p>
        </p:txBody>
      </p:sp>
      <p:sp>
        <p:nvSpPr>
          <p:cNvPr id="102" name="矩形 11"/>
          <p:cNvSpPr/>
          <p:nvPr/>
        </p:nvSpPr>
        <p:spPr>
          <a:xfrm>
            <a:off x="2002365" y="5683186"/>
            <a:ext cx="1240368" cy="394745"/>
          </a:xfrm>
          <a:prstGeom prst="rect">
            <a:avLst/>
          </a:prstGeom>
          <a:ln w="38100" cap="rnd">
            <a:solidFill>
              <a:srgbClr val="FF0000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" name="文本框 12"/>
          <p:cNvSpPr txBox="1"/>
          <p:nvPr/>
        </p:nvSpPr>
        <p:spPr>
          <a:xfrm>
            <a:off x="3638350" y="3899668"/>
            <a:ext cx="8259934" cy="1206496"/>
          </a:xfrm>
          <a:prstGeom prst="rect">
            <a:avLst/>
          </a:prstGeom>
          <a:ln>
            <a:solidFill>
              <a:srgbClr val="C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just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Submit only necessary code files such as </a:t>
            </a:r>
            <a:r>
              <a:rPr b="1">
                <a:latin typeface="Calibri"/>
                <a:ea typeface="Calibri"/>
                <a:cs typeface="Calibri"/>
                <a:sym typeface="Calibri"/>
              </a:rPr>
              <a:t>java/xml</a:t>
            </a:r>
            <a:r>
              <a:rPr b="1" i="1"/>
              <a:t> </a:t>
            </a:r>
            <a:r>
              <a:t>etc. Other files that you think are important can also be included (such as README). The remaining project files do not need to be submitted. </a:t>
            </a:r>
          </a:p>
          <a:p>
            <a:pPr algn="just">
              <a:defRPr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Please limit the size of your code package</a:t>
            </a:r>
            <a:r>
              <a:rPr b="0"/>
              <a:t>.</a:t>
            </a:r>
          </a:p>
        </p:txBody>
      </p:sp>
      <p:cxnSp>
        <p:nvCxnSpPr>
          <p:cNvPr id="104" name="连接符: 肘形 13"/>
          <p:cNvCxnSpPr>
            <a:stCxn id="102" idx="0"/>
            <a:endCxn id="103" idx="0"/>
          </p:cNvCxnSpPr>
          <p:nvPr/>
        </p:nvCxnSpPr>
        <p:spPr>
          <a:xfrm flipV="1">
            <a:off x="2616200" y="4508500"/>
            <a:ext cx="5156200" cy="1371600"/>
          </a:xfrm>
          <a:prstGeom prst="bentConnector2">
            <a:avLst/>
          </a:prstGeom>
          <a:ln w="6350">
            <a:solidFill>
              <a:srgbClr val="C00000"/>
            </a:solidFill>
            <a:miter/>
            <a:tailEnd type="triangle"/>
          </a:ln>
        </p:spPr>
      </p:cxn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9"/>
          <p:cNvSpPr txBox="1"/>
          <p:nvPr/>
        </p:nvSpPr>
        <p:spPr>
          <a:xfrm>
            <a:off x="860682" y="1560091"/>
            <a:ext cx="11020856" cy="2156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028700" indent="-1028700">
              <a:lnSpc>
                <a:spcPct val="150000"/>
              </a:lnSpc>
              <a:buSzPct val="100000"/>
              <a:buAutoNum type="romanUcPeriod" startAt="1"/>
              <a:defRPr sz="6000" u="sng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Tutorial with Project Examples</a:t>
            </a:r>
          </a:p>
          <a:p>
            <a:pPr marL="1028700" indent="-1028700">
              <a:lnSpc>
                <a:spcPct val="150000"/>
              </a:lnSpc>
              <a:buSzPct val="100000"/>
              <a:buAutoNum type="romanUcPeriod" startAt="1"/>
              <a:defRPr sz="6000">
                <a:solidFill>
                  <a:srgbClr val="808080"/>
                </a:solidFill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Assignment</a:t>
            </a:r>
          </a:p>
        </p:txBody>
      </p:sp>
      <p:sp>
        <p:nvSpPr>
          <p:cNvPr id="107" name="Rectangle 9"/>
          <p:cNvSpPr txBox="1"/>
          <p:nvPr/>
        </p:nvSpPr>
        <p:spPr>
          <a:xfrm>
            <a:off x="860682" y="452095"/>
            <a:ext cx="10470637" cy="1021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6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Project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15384" y="1737534"/>
            <a:ext cx="5325634" cy="852628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文本框 3"/>
          <p:cNvSpPr txBox="1"/>
          <p:nvPr/>
        </p:nvSpPr>
        <p:spPr>
          <a:xfrm>
            <a:off x="222478" y="1856558"/>
            <a:ext cx="2988825" cy="54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Install JDK17</a:t>
            </a:r>
          </a:p>
        </p:txBody>
      </p:sp>
      <p:pic>
        <p:nvPicPr>
          <p:cNvPr id="111" name="图片 5" descr="图片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55715" y="3077098"/>
            <a:ext cx="5865244" cy="1122835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文本框 6"/>
          <p:cNvSpPr txBox="1"/>
          <p:nvPr/>
        </p:nvSpPr>
        <p:spPr>
          <a:xfrm>
            <a:off x="222477" y="2492324"/>
            <a:ext cx="11346418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Change path (default path contains spaces, not recommended)</a:t>
            </a:r>
          </a:p>
        </p:txBody>
      </p:sp>
      <p:pic>
        <p:nvPicPr>
          <p:cNvPr id="113" name="图片 8" descr="图片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55715" y="4748052"/>
            <a:ext cx="7450526" cy="200201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文本框 11"/>
          <p:cNvSpPr txBox="1"/>
          <p:nvPr/>
        </p:nvSpPr>
        <p:spPr>
          <a:xfrm>
            <a:off x="107084" y="4142331"/>
            <a:ext cx="4433450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Installation completed</a:t>
            </a:r>
          </a:p>
        </p:txBody>
      </p:sp>
      <p:sp>
        <p:nvSpPr>
          <p:cNvPr id="115" name="文本框 13"/>
          <p:cNvSpPr txBox="1"/>
          <p:nvPr/>
        </p:nvSpPr>
        <p:spPr>
          <a:xfrm>
            <a:off x="8151959" y="1119783"/>
            <a:ext cx="6003590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ea typeface="Calibri"/>
                <a:cs typeface="Calibri"/>
                <a:sym typeface="Calibri"/>
                <a:hlinkClick r:id="rId5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 invalidUrl="" action="" tgtFrame="" tooltip="" history="1" highlightClick="0" endSnd="0"/>
              </a:rPr>
              <a:t>Download JDK17 for Microsoft Windows</a:t>
            </a:r>
          </a:p>
        </p:txBody>
      </p:sp>
      <p:sp>
        <p:nvSpPr>
          <p:cNvPr id="116" name="Rectangle 6"/>
          <p:cNvSpPr txBox="1"/>
          <p:nvPr/>
        </p:nvSpPr>
        <p:spPr>
          <a:xfrm>
            <a:off x="222478" y="1141164"/>
            <a:ext cx="4585905" cy="666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1. Preparation Work </a:t>
            </a:r>
          </a:p>
        </p:txBody>
      </p:sp>
      <p:sp>
        <p:nvSpPr>
          <p:cNvPr id="117" name="Rectangle 9"/>
          <p:cNvSpPr txBox="1"/>
          <p:nvPr/>
        </p:nvSpPr>
        <p:spPr>
          <a:xfrm>
            <a:off x="531891" y="205503"/>
            <a:ext cx="10882869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Tutorial with Project Examples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文本框 3"/>
          <p:cNvSpPr txBox="1"/>
          <p:nvPr/>
        </p:nvSpPr>
        <p:spPr>
          <a:xfrm>
            <a:off x="237208" y="1237165"/>
            <a:ext cx="12593488" cy="48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Press Win+R, enter sysdm.cpl → Advanced → Environment Variables</a:t>
            </a:r>
          </a:p>
        </p:txBody>
      </p:sp>
      <p:pic>
        <p:nvPicPr>
          <p:cNvPr id="120" name="图片 5" descr="图片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082879" y="1925147"/>
            <a:ext cx="7604816" cy="3960264"/>
          </a:xfrm>
          <a:prstGeom prst="rect">
            <a:avLst/>
          </a:prstGeom>
          <a:ln w="12700">
            <a:miter lim="400000"/>
          </a:ln>
        </p:spPr>
      </p:pic>
      <p:sp>
        <p:nvSpPr>
          <p:cNvPr id="121" name="文本框 6"/>
          <p:cNvSpPr txBox="1"/>
          <p:nvPr/>
        </p:nvSpPr>
        <p:spPr>
          <a:xfrm>
            <a:off x="237209" y="3463893"/>
            <a:ext cx="6003572" cy="4827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Edit system variables</a:t>
            </a:r>
          </a:p>
        </p:txBody>
      </p:sp>
      <p:pic>
        <p:nvPicPr>
          <p:cNvPr id="122" name="图片 8" descr="图片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0529" y="4063724"/>
            <a:ext cx="6611698" cy="2588773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Rectangle 9"/>
          <p:cNvSpPr txBox="1"/>
          <p:nvPr/>
        </p:nvSpPr>
        <p:spPr>
          <a:xfrm>
            <a:off x="531891" y="205503"/>
            <a:ext cx="10882869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Tutorial with Project Examples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20661" y="1221164"/>
            <a:ext cx="5472948" cy="1605163"/>
          </a:xfrm>
          <a:prstGeom prst="rect">
            <a:avLst/>
          </a:prstGeom>
          <a:ln w="12700">
            <a:miter lim="400000"/>
          </a:ln>
        </p:spPr>
      </p:pic>
      <p:sp>
        <p:nvSpPr>
          <p:cNvPr id="126" name="文本框 3"/>
          <p:cNvSpPr txBox="1"/>
          <p:nvPr/>
        </p:nvSpPr>
        <p:spPr>
          <a:xfrm>
            <a:off x="164471" y="1504604"/>
            <a:ext cx="2208815" cy="54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Delete</a:t>
            </a:r>
          </a:p>
        </p:txBody>
      </p:sp>
      <p:sp>
        <p:nvSpPr>
          <p:cNvPr id="127" name="文本框 5"/>
          <p:cNvSpPr txBox="1"/>
          <p:nvPr/>
        </p:nvSpPr>
        <p:spPr>
          <a:xfrm>
            <a:off x="164472" y="3230608"/>
            <a:ext cx="12051083" cy="1013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Add two variables in Path %JAVA_HOME%\bin and %JAVA_HOME%\jre\bin</a:t>
            </a:r>
          </a:p>
        </p:txBody>
      </p:sp>
      <p:pic>
        <p:nvPicPr>
          <p:cNvPr id="128" name="图片 7" descr="图片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427319" y="3816851"/>
            <a:ext cx="6033161" cy="2984354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Rectangle 9"/>
          <p:cNvSpPr txBox="1"/>
          <p:nvPr/>
        </p:nvSpPr>
        <p:spPr>
          <a:xfrm>
            <a:off x="531891" y="205503"/>
            <a:ext cx="10882869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Tutorial with Project Examples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文本框 1"/>
          <p:cNvSpPr txBox="1"/>
          <p:nvPr/>
        </p:nvSpPr>
        <p:spPr>
          <a:xfrm>
            <a:off x="164469" y="1092968"/>
            <a:ext cx="11918081" cy="1013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Add the JAVA_SOME variable with the value of the jdk installation address</a:t>
            </a:r>
          </a:p>
        </p:txBody>
      </p:sp>
      <p:pic>
        <p:nvPicPr>
          <p:cNvPr id="132" name="图片 3" descr="图片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23062" y="1657381"/>
            <a:ext cx="6303465" cy="258250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5" descr="图片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217670" y="4332811"/>
            <a:ext cx="6408857" cy="1586247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文本框 6"/>
          <p:cNvSpPr txBox="1"/>
          <p:nvPr/>
        </p:nvSpPr>
        <p:spPr>
          <a:xfrm>
            <a:off x="312170" y="5919057"/>
            <a:ext cx="12194330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Confirm all the way until all the windows are closed</a:t>
            </a:r>
          </a:p>
        </p:txBody>
      </p:sp>
      <p:sp>
        <p:nvSpPr>
          <p:cNvPr id="135" name="Rectangle 9"/>
          <p:cNvSpPr txBox="1"/>
          <p:nvPr/>
        </p:nvSpPr>
        <p:spPr>
          <a:xfrm>
            <a:off x="531891" y="205503"/>
            <a:ext cx="10882869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Tutorial with Project Examples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63883" y="2819874"/>
            <a:ext cx="8796375" cy="3382184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文本框 3"/>
          <p:cNvSpPr txBox="1"/>
          <p:nvPr/>
        </p:nvSpPr>
        <p:spPr>
          <a:xfrm>
            <a:off x="303413" y="1333706"/>
            <a:ext cx="4397435" cy="54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Verify installation</a:t>
            </a:r>
          </a:p>
        </p:txBody>
      </p:sp>
      <p:sp>
        <p:nvSpPr>
          <p:cNvPr id="139" name="文本框 4"/>
          <p:cNvSpPr txBox="1"/>
          <p:nvPr/>
        </p:nvSpPr>
        <p:spPr>
          <a:xfrm>
            <a:off x="303414" y="1772399"/>
            <a:ext cx="8736677" cy="160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Press Win + R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</a:t>
            </a:r>
            <a:r>
              <a:t> enter cmd</a:t>
            </a:r>
          </a:p>
          <a:p>
            <a: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java -version</a:t>
            </a:r>
          </a:p>
          <a:p>
            <a: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javac -version</a:t>
            </a:r>
          </a:p>
        </p:txBody>
      </p:sp>
      <p:sp>
        <p:nvSpPr>
          <p:cNvPr id="140" name="Rectangle 9"/>
          <p:cNvSpPr txBox="1"/>
          <p:nvPr/>
        </p:nvSpPr>
        <p:spPr>
          <a:xfrm>
            <a:off x="531891" y="205503"/>
            <a:ext cx="10882869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Tutorial with Project Examples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文本框 2"/>
          <p:cNvSpPr txBox="1"/>
          <p:nvPr/>
        </p:nvSpPr>
        <p:spPr>
          <a:xfrm>
            <a:off x="8598748" y="1111216"/>
            <a:ext cx="3442237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ea typeface="Calibri"/>
                <a:cs typeface="Calibri"/>
                <a:sym typeface="Calibri"/>
                <a:hlinkClick r:id="rId2" invalidUrl="" action="" tgtFrame="" tooltip="" history="1" highlightClick="0" endSnd="0"/>
              </a:defRPr>
            </a:lvl1pPr>
          </a:lstStyle>
          <a:p>
            <a:pPr>
              <a:defRPr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Download Apache Maven – Maven</a:t>
            </a:r>
          </a:p>
        </p:txBody>
      </p:sp>
      <p:pic>
        <p:nvPicPr>
          <p:cNvPr id="143" name="图片 4" descr="图片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54136" y="2711880"/>
            <a:ext cx="6582944" cy="3940618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文本框 6"/>
          <p:cNvSpPr txBox="1"/>
          <p:nvPr/>
        </p:nvSpPr>
        <p:spPr>
          <a:xfrm>
            <a:off x="295100" y="1414849"/>
            <a:ext cx="11403715" cy="148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Extract the downloaded Maven compressed file</a:t>
            </a:r>
          </a:p>
          <a:p>
            <a: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Enter the folder and create a repo folder to store Maven local repository dependencies</a:t>
            </a:r>
          </a:p>
        </p:txBody>
      </p:sp>
      <p:sp>
        <p:nvSpPr>
          <p:cNvPr id="145" name="Rectangle 9"/>
          <p:cNvSpPr txBox="1"/>
          <p:nvPr/>
        </p:nvSpPr>
        <p:spPr>
          <a:xfrm>
            <a:off x="531891" y="205503"/>
            <a:ext cx="10882869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Tutorial with Project Examples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25090" y="2253078"/>
            <a:ext cx="6450308" cy="155734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图片 6" descr="图片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20289" y="4283552"/>
            <a:ext cx="4340453" cy="2491321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文本框 8"/>
          <p:cNvSpPr txBox="1"/>
          <p:nvPr/>
        </p:nvSpPr>
        <p:spPr>
          <a:xfrm>
            <a:off x="272103" y="3801310"/>
            <a:ext cx="11702381" cy="54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Create a new environment variable %MAVEN_HOME%\bin</a:t>
            </a:r>
          </a:p>
        </p:txBody>
      </p:sp>
      <p:sp>
        <p:nvSpPr>
          <p:cNvPr id="150" name="文本框 9"/>
          <p:cNvSpPr txBox="1"/>
          <p:nvPr/>
        </p:nvSpPr>
        <p:spPr>
          <a:xfrm>
            <a:off x="344210" y="1179603"/>
            <a:ext cx="11241879" cy="1013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Create a new system variable MAVEN_SOME with the value of the Maven installation address</a:t>
            </a:r>
          </a:p>
        </p:txBody>
      </p:sp>
      <p:sp>
        <p:nvSpPr>
          <p:cNvPr id="151" name="Rectangle 9"/>
          <p:cNvSpPr txBox="1"/>
          <p:nvPr/>
        </p:nvSpPr>
        <p:spPr>
          <a:xfrm>
            <a:off x="531891" y="163938"/>
            <a:ext cx="10882869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Tutorial with Project Examples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文本框 2"/>
          <p:cNvSpPr txBox="1"/>
          <p:nvPr/>
        </p:nvSpPr>
        <p:spPr>
          <a:xfrm>
            <a:off x="360834" y="1247112"/>
            <a:ext cx="11785448" cy="662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Win + R -&gt; CMD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</a:t>
            </a:r>
            <a:r>
              <a:t>enter mvn --version (View Maven version)</a:t>
            </a:r>
          </a:p>
        </p:txBody>
      </p:sp>
      <p:pic>
        <p:nvPicPr>
          <p:cNvPr id="154" name="图片 4" descr="图片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0080" y="1988820"/>
            <a:ext cx="11094398" cy="4471952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Rectangle 9"/>
          <p:cNvSpPr txBox="1"/>
          <p:nvPr/>
        </p:nvSpPr>
        <p:spPr>
          <a:xfrm>
            <a:off x="531891" y="205503"/>
            <a:ext cx="10882869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Tutorial with Project Examples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图片 2" descr="图片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7894" y="2159779"/>
            <a:ext cx="4190975" cy="14408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图片 4" descr="图片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67894" y="3997654"/>
            <a:ext cx="4537427" cy="13918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图片 6" descr="图片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096000" y="3613879"/>
            <a:ext cx="5577038" cy="2444163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文本框 10"/>
          <p:cNvSpPr txBox="1"/>
          <p:nvPr/>
        </p:nvSpPr>
        <p:spPr>
          <a:xfrm>
            <a:off x="371742" y="1134043"/>
            <a:ext cx="10339207" cy="54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Go to the config folder and edit the settings. xml file</a:t>
            </a:r>
          </a:p>
        </p:txBody>
      </p:sp>
      <p:sp>
        <p:nvSpPr>
          <p:cNvPr id="161" name="文本框 11"/>
          <p:cNvSpPr txBox="1"/>
          <p:nvPr/>
        </p:nvSpPr>
        <p:spPr>
          <a:xfrm>
            <a:off x="371742" y="1615380"/>
            <a:ext cx="6003590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Specify repo address</a:t>
            </a:r>
          </a:p>
        </p:txBody>
      </p:sp>
      <p:sp>
        <p:nvSpPr>
          <p:cNvPr id="162" name="文本框 12"/>
          <p:cNvSpPr txBox="1"/>
          <p:nvPr/>
        </p:nvSpPr>
        <p:spPr>
          <a:xfrm>
            <a:off x="371742" y="3482255"/>
            <a:ext cx="6003590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Configure mirrors</a:t>
            </a:r>
          </a:p>
        </p:txBody>
      </p:sp>
      <p:sp>
        <p:nvSpPr>
          <p:cNvPr id="163" name="文本框 13"/>
          <p:cNvSpPr txBox="1"/>
          <p:nvPr/>
        </p:nvSpPr>
        <p:spPr>
          <a:xfrm>
            <a:off x="454870" y="5562447"/>
            <a:ext cx="6003590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Configure JDK version</a:t>
            </a:r>
          </a:p>
        </p:txBody>
      </p:sp>
      <p:sp>
        <p:nvSpPr>
          <p:cNvPr id="164" name="文本框 14"/>
          <p:cNvSpPr txBox="1"/>
          <p:nvPr/>
        </p:nvSpPr>
        <p:spPr>
          <a:xfrm>
            <a:off x="454869" y="6058040"/>
            <a:ext cx="11802247" cy="764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The file sent to everyone is an edited version that does not require any changes except for the repo address</a:t>
            </a:r>
          </a:p>
        </p:txBody>
      </p:sp>
      <p:sp>
        <p:nvSpPr>
          <p:cNvPr id="165" name="Rectangle 9"/>
          <p:cNvSpPr txBox="1"/>
          <p:nvPr/>
        </p:nvSpPr>
        <p:spPr>
          <a:xfrm>
            <a:off x="531891" y="205503"/>
            <a:ext cx="10882869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Tutorial with Project Examples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片 3" descr="图片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79962" y="2177202"/>
            <a:ext cx="7232075" cy="4588418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文本框 5"/>
          <p:cNvSpPr txBox="1"/>
          <p:nvPr/>
        </p:nvSpPr>
        <p:spPr>
          <a:xfrm>
            <a:off x="151705" y="1161542"/>
            <a:ext cx="12620802" cy="8891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457200" indent="-457200">
              <a:buSzPct val="100000"/>
              <a:buFont typeface="Arial"/>
              <a:buChar char="•"/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Check if the configuration is successful</a:t>
            </a:r>
            <a:endParaRPr sz="3200"/>
          </a:p>
          <a:p>
            <a:pPr marL="457200" indent="-457200">
              <a:buSzPct val="100000"/>
              <a:buFont typeface="Arial"/>
              <a:buChar char="•"/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Win + R -&gt; CMD , enter mvn help:system (Print Maven information)</a:t>
            </a:r>
          </a:p>
        </p:txBody>
      </p:sp>
      <p:sp>
        <p:nvSpPr>
          <p:cNvPr id="171" name="Rectangle 9"/>
          <p:cNvSpPr txBox="1"/>
          <p:nvPr/>
        </p:nvSpPr>
        <p:spPr>
          <a:xfrm>
            <a:off x="531891" y="205503"/>
            <a:ext cx="10882869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Tutorial with Project Examples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文本框 2"/>
          <p:cNvSpPr txBox="1"/>
          <p:nvPr/>
        </p:nvSpPr>
        <p:spPr>
          <a:xfrm>
            <a:off x="110143" y="1221166"/>
            <a:ext cx="11307389" cy="229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457200" indent="-457200">
              <a:buSzPct val="100000"/>
              <a:buFont typeface="Arial"/>
              <a:buChar char="•"/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Create a new folder named LabsAccess JDBC as the project address</a:t>
            </a:r>
            <a:endParaRPr sz="3200"/>
          </a:p>
          <a:p>
            <a:pPr marL="457200" indent="-457200">
              <a:buSzPct val="100000"/>
              <a:buFont typeface="Arial"/>
              <a:buChar char="•"/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Enter the folder, enter cmd in the address bar, and open the command line</a:t>
            </a:r>
            <a:endParaRPr sz="3200"/>
          </a:p>
          <a:p>
            <a:pPr marL="457200" indent="-457200">
              <a:buSzPct val="100000"/>
              <a:buFont typeface="Arial"/>
              <a:buChar char="•"/>
              <a:defRPr b="1"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Enter at the command line:</a:t>
            </a:r>
            <a:endParaRPr sz="3200"/>
          </a:p>
          <a:p>
            <a:pPr marL="457200" indent="-457200">
              <a:buSzPct val="100000"/>
              <a:buFont typeface="Arial"/>
              <a:buChar char="•"/>
              <a:defRPr b="1" sz="20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mvn archetype:generate -DgroupId=com.example -DartifactId=access-jdbc-demo -DarchetypeArtifactId=maven-archetype-quickstart -DinteractiveMode=false</a:t>
            </a:r>
          </a:p>
        </p:txBody>
      </p:sp>
      <p:pic>
        <p:nvPicPr>
          <p:cNvPr id="174" name="图片 4" descr="图片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0445" y="3577787"/>
            <a:ext cx="5522663" cy="3240407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图片 6" descr="图片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250427" y="4125040"/>
            <a:ext cx="4210053" cy="2295527"/>
          </a:xfrm>
          <a:prstGeom prst="rect">
            <a:avLst/>
          </a:prstGeom>
          <a:ln w="12700">
            <a:miter lim="400000"/>
          </a:ln>
        </p:spPr>
      </p:pic>
      <p:sp>
        <p:nvSpPr>
          <p:cNvPr id="176" name="Rectangle 9"/>
          <p:cNvSpPr txBox="1"/>
          <p:nvPr/>
        </p:nvSpPr>
        <p:spPr>
          <a:xfrm>
            <a:off x="531891" y="205503"/>
            <a:ext cx="10882869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Tutorial with Project Examples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文本框 2"/>
          <p:cNvSpPr txBox="1"/>
          <p:nvPr/>
        </p:nvSpPr>
        <p:spPr>
          <a:xfrm>
            <a:off x="110143" y="1221165"/>
            <a:ext cx="11307389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Edit pom.xml</a:t>
            </a:r>
          </a:p>
        </p:txBody>
      </p:sp>
      <p:sp>
        <p:nvSpPr>
          <p:cNvPr id="179" name="Rectangle 9"/>
          <p:cNvSpPr txBox="1"/>
          <p:nvPr/>
        </p:nvSpPr>
        <p:spPr>
          <a:xfrm>
            <a:off x="531891" y="205503"/>
            <a:ext cx="10882869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Tutorial with Project Examples</a:t>
            </a:r>
          </a:p>
        </p:txBody>
      </p:sp>
      <p:pic>
        <p:nvPicPr>
          <p:cNvPr id="180" name="图片 3" descr="图片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62978" y="2161307"/>
            <a:ext cx="9446301" cy="347552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图片 2" descr="图片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9278" y="2282631"/>
            <a:ext cx="3308726" cy="1271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图片 4" descr="图片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9278" y="4163445"/>
            <a:ext cx="3144636" cy="20050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图片 6" descr="图片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182933" y="1752854"/>
            <a:ext cx="4405158" cy="48644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图片 8" descr="图片 8"/>
          <p:cNvPicPr>
            <a:picLocks noChangeAspect="1"/>
          </p:cNvPicPr>
          <p:nvPr/>
        </p:nvPicPr>
        <p:blipFill>
          <a:blip r:embed="rId5">
            <a:extLst/>
          </a:blip>
          <a:srcRect l="0" t="0" r="67341" b="0"/>
          <a:stretch>
            <a:fillRect/>
          </a:stretch>
        </p:blipFill>
        <p:spPr>
          <a:xfrm>
            <a:off x="8752216" y="4897599"/>
            <a:ext cx="2980506" cy="1719719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文本框 7"/>
          <p:cNvSpPr txBox="1"/>
          <p:nvPr/>
        </p:nvSpPr>
        <p:spPr>
          <a:xfrm>
            <a:off x="504996" y="1111462"/>
            <a:ext cx="10048013" cy="54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457200" indent="-457200">
              <a:buSzPct val="100000"/>
              <a:buFont typeface="Arial"/>
              <a:buChar char="•"/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Operate the database by writing Java code</a:t>
            </a:r>
          </a:p>
        </p:txBody>
      </p:sp>
      <p:sp>
        <p:nvSpPr>
          <p:cNvPr id="187" name="Rectangle 9"/>
          <p:cNvSpPr txBox="1"/>
          <p:nvPr/>
        </p:nvSpPr>
        <p:spPr>
          <a:xfrm>
            <a:off x="531891" y="205503"/>
            <a:ext cx="10882869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Tutorial with Project Examples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9"/>
          <p:cNvSpPr txBox="1"/>
          <p:nvPr/>
        </p:nvSpPr>
        <p:spPr>
          <a:xfrm>
            <a:off x="860682" y="1560091"/>
            <a:ext cx="11020856" cy="2156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1028700" indent="-1028700">
              <a:lnSpc>
                <a:spcPct val="150000"/>
              </a:lnSpc>
              <a:buSzPct val="100000"/>
              <a:buAutoNum type="romanUcPeriod" startAt="1"/>
              <a:defRPr sz="6000">
                <a:solidFill>
                  <a:srgbClr val="808080"/>
                </a:solidFill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Tutorial with Project Examples</a:t>
            </a:r>
          </a:p>
          <a:p>
            <a:pPr marL="1028700" indent="-1028700">
              <a:lnSpc>
                <a:spcPct val="150000"/>
              </a:lnSpc>
              <a:buSzPct val="100000"/>
              <a:buAutoNum type="romanUcPeriod" startAt="1"/>
              <a:defRPr sz="6000" u="sng"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Calibri Light"/>
                <a:ea typeface="Calibri Light"/>
                <a:cs typeface="Calibri Light"/>
                <a:sym typeface="Calibri Light"/>
              </a:defRPr>
            </a:pPr>
            <a:r>
              <a:t>Assignment</a:t>
            </a:r>
          </a:p>
        </p:txBody>
      </p:sp>
      <p:sp>
        <p:nvSpPr>
          <p:cNvPr id="190" name="Rectangle 9"/>
          <p:cNvSpPr txBox="1"/>
          <p:nvPr/>
        </p:nvSpPr>
        <p:spPr>
          <a:xfrm>
            <a:off x="860682" y="452095"/>
            <a:ext cx="10470637" cy="1021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66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Project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Rectangle 9"/>
          <p:cNvSpPr txBox="1"/>
          <p:nvPr/>
        </p:nvSpPr>
        <p:spPr>
          <a:xfrm>
            <a:off x="531893" y="205503"/>
            <a:ext cx="7748238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Assignment</a:t>
            </a:r>
          </a:p>
        </p:txBody>
      </p:sp>
      <p:sp>
        <p:nvSpPr>
          <p:cNvPr id="193" name="矩形 5"/>
          <p:cNvSpPr txBox="1"/>
          <p:nvPr/>
        </p:nvSpPr>
        <p:spPr>
          <a:xfrm>
            <a:off x="531891" y="2236829"/>
            <a:ext cx="11343069" cy="1701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514350" indent="-514350" algn="just">
              <a:buSzPct val="100000"/>
              <a:buAutoNum type="arabicPeriod" startAt="1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Connect to the universities database using Java</a:t>
            </a:r>
          </a:p>
          <a:p>
            <a:pPr marL="514350" indent="-514350" algn="just">
              <a:buSzPct val="100000"/>
              <a:buAutoNum type="arabicPeriod" startAt="1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514350" indent="-514350" algn="just">
              <a:buSzPct val="100000"/>
              <a:buAutoNum type="arabicPeriod" startAt="2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Implement adding, deleting, updating, and querying database tables using Java</a:t>
            </a:r>
          </a:p>
        </p:txBody>
      </p:sp>
      <p:sp>
        <p:nvSpPr>
          <p:cNvPr id="194" name="Rectangle 6"/>
          <p:cNvSpPr txBox="1"/>
          <p:nvPr/>
        </p:nvSpPr>
        <p:spPr>
          <a:xfrm>
            <a:off x="531891" y="1221165"/>
            <a:ext cx="5001081" cy="666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4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1. Assignment Content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9"/>
          <p:cNvSpPr txBox="1"/>
          <p:nvPr/>
        </p:nvSpPr>
        <p:spPr>
          <a:xfrm>
            <a:off x="531893" y="205503"/>
            <a:ext cx="7748238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Assignment</a:t>
            </a:r>
          </a:p>
        </p:txBody>
      </p:sp>
      <p:sp>
        <p:nvSpPr>
          <p:cNvPr id="197" name="Rectangle 6"/>
          <p:cNvSpPr txBox="1"/>
          <p:nvPr/>
        </p:nvSpPr>
        <p:spPr>
          <a:xfrm>
            <a:off x="531891" y="1221165"/>
            <a:ext cx="5001081" cy="666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4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1. Assignment Content</a:t>
            </a:r>
          </a:p>
        </p:txBody>
      </p:sp>
      <p:sp>
        <p:nvSpPr>
          <p:cNvPr id="198" name="文本框 7"/>
          <p:cNvSpPr txBox="1"/>
          <p:nvPr/>
        </p:nvSpPr>
        <p:spPr>
          <a:xfrm>
            <a:off x="517079" y="2753668"/>
            <a:ext cx="11157841" cy="3517016"/>
          </a:xfrm>
          <a:prstGeom prst="rect">
            <a:avLst/>
          </a:prstGeom>
          <a:solidFill>
            <a:srgbClr val="DEEBF7"/>
          </a:solidFill>
          <a:ln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just"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assignment requires everyone to exercise their subjective initiative:</a:t>
            </a:r>
          </a:p>
          <a:p>
            <a:pPr marL="342900" indent="-342900" algn="just">
              <a:buSzPct val="100000"/>
              <a:buAutoNum type="arabicPeriod" startAt="1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Based on existing tables in the database, create a new table and design the fields and primary keys for the created table. The report needs to explain the reasons for establishing this table.</a:t>
            </a:r>
          </a:p>
          <a:p>
            <a:pPr marL="342900" indent="-342900" algn="just">
              <a:buSzPct val="100000"/>
              <a:buAutoNum type="arabicPeriod" startAt="1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Delete the newly created table.</a:t>
            </a:r>
          </a:p>
          <a:p>
            <a:pPr marL="342900" indent="-342900" algn="just">
              <a:buSzPct val="100000"/>
              <a:buAutoNum type="arabicPeriod" startAt="1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Insert a row of record in the student table.</a:t>
            </a:r>
          </a:p>
          <a:p>
            <a:pPr marL="342900" indent="-342900" algn="just">
              <a:buSzPct val="100000"/>
              <a:buAutoNum type="arabicPeriod" startAt="1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Delete the newly inserted record.</a:t>
            </a:r>
          </a:p>
          <a:p>
            <a:pPr marL="342900" indent="-342900" algn="just">
              <a:buSzPct val="100000"/>
              <a:buAutoNum type="arabicPeriod" startAt="1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Update a record in the student table.</a:t>
            </a:r>
          </a:p>
          <a:p>
            <a:pPr marL="342900" indent="-342900" algn="just">
              <a:buSzPct val="100000"/>
              <a:buAutoNum type="arabicPeriod" startAt="1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Restore the modified records to their original state.</a:t>
            </a:r>
          </a:p>
          <a:p>
            <a:pPr marL="342900" indent="-342900" algn="just">
              <a:buSzPct val="100000"/>
              <a:buAutoNum type="arabicPeriod" startAt="1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Execute all the SQL statements in Project 2.</a:t>
            </a:r>
          </a:p>
        </p:txBody>
      </p:sp>
      <p:sp>
        <p:nvSpPr>
          <p:cNvPr id="199" name="矩形 8"/>
          <p:cNvSpPr txBox="1"/>
          <p:nvPr/>
        </p:nvSpPr>
        <p:spPr>
          <a:xfrm>
            <a:off x="531890" y="2024359"/>
            <a:ext cx="11343069" cy="48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742948" indent="-742948" algn="just">
              <a:buSzPct val="100000"/>
              <a:buAutoNum type="arabicPeriod" startAt="3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Questions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9"/>
          <p:cNvSpPr txBox="1"/>
          <p:nvPr/>
        </p:nvSpPr>
        <p:spPr>
          <a:xfrm>
            <a:off x="531893" y="205503"/>
            <a:ext cx="7748238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Assignment</a:t>
            </a:r>
          </a:p>
        </p:txBody>
      </p:sp>
      <p:sp>
        <p:nvSpPr>
          <p:cNvPr id="202" name="Rectangle 6"/>
          <p:cNvSpPr txBox="1"/>
          <p:nvPr/>
        </p:nvSpPr>
        <p:spPr>
          <a:xfrm>
            <a:off x="531891" y="1221165"/>
            <a:ext cx="5001081" cy="666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4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1. Assignment Content</a:t>
            </a:r>
          </a:p>
        </p:txBody>
      </p:sp>
      <p:sp>
        <p:nvSpPr>
          <p:cNvPr id="203" name="文本框 7"/>
          <p:cNvSpPr txBox="1"/>
          <p:nvPr/>
        </p:nvSpPr>
        <p:spPr>
          <a:xfrm>
            <a:off x="294920" y="2642886"/>
            <a:ext cx="11625759" cy="2831216"/>
          </a:xfrm>
          <a:prstGeom prst="rect">
            <a:avLst/>
          </a:prstGeom>
          <a:solidFill>
            <a:srgbClr val="DEEBF7"/>
          </a:solidFill>
          <a:ln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342900" indent="-342900">
              <a:buSzPct val="100000"/>
              <a:buChar char="▪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The schema of the database is provided below (keys are red, field types are omitted):</a:t>
            </a:r>
          </a:p>
          <a:p>
            <a:pPr lvl="2" marL="1371600" indent="-457200">
              <a:buSzPct val="100000"/>
              <a:buFont typeface="Arial"/>
              <a:buChar char="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student(</a:t>
            </a:r>
            <a:r>
              <a:rPr>
                <a:solidFill>
                  <a:srgbClr val="C00000"/>
                </a:solidFill>
              </a:rPr>
              <a:t>sid</a:t>
            </a:r>
            <a:r>
              <a:t>, sname, sex, age, year, gpa)</a:t>
            </a:r>
          </a:p>
          <a:p>
            <a:pPr lvl="2" marL="1371600" indent="-457200">
              <a:buSzPct val="100000"/>
              <a:buFont typeface="Arial"/>
              <a:buChar char="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dept(</a:t>
            </a:r>
            <a:r>
              <a:rPr>
                <a:solidFill>
                  <a:srgbClr val="C00000"/>
                </a:solidFill>
              </a:rPr>
              <a:t>dname</a:t>
            </a:r>
            <a:r>
              <a:t>, numphds)</a:t>
            </a:r>
          </a:p>
          <a:p>
            <a:pPr lvl="2" marL="1371600" indent="-457200">
              <a:buSzPct val="100000"/>
              <a:buFont typeface="Arial"/>
              <a:buChar char="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prof(</a:t>
            </a:r>
            <a:r>
              <a:rPr>
                <a:solidFill>
                  <a:srgbClr val="C00000"/>
                </a:solidFill>
              </a:rPr>
              <a:t>pname</a:t>
            </a:r>
            <a:r>
              <a:t>, dname)</a:t>
            </a:r>
          </a:p>
          <a:p>
            <a:pPr lvl="2" marL="1371600" indent="-457200">
              <a:buSzPct val="100000"/>
              <a:buFont typeface="Arial"/>
              <a:buChar char="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course(</a:t>
            </a:r>
            <a:r>
              <a:rPr>
                <a:solidFill>
                  <a:srgbClr val="C00000"/>
                </a:solidFill>
              </a:rPr>
              <a:t>cno</a:t>
            </a:r>
            <a:r>
              <a:t>, cname, </a:t>
            </a:r>
            <a:r>
              <a:rPr>
                <a:solidFill>
                  <a:srgbClr val="C00000"/>
                </a:solidFill>
              </a:rPr>
              <a:t>dname</a:t>
            </a:r>
            <a:r>
              <a:t>)</a:t>
            </a:r>
          </a:p>
          <a:p>
            <a:pPr lvl="2" marL="1371600" indent="-457200">
              <a:buSzPct val="100000"/>
              <a:buFont typeface="Arial"/>
              <a:buChar char="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major(</a:t>
            </a:r>
            <a:r>
              <a:rPr>
                <a:solidFill>
                  <a:srgbClr val="C00000"/>
                </a:solidFill>
              </a:rPr>
              <a:t>dname</a:t>
            </a:r>
            <a:r>
              <a:t>, </a:t>
            </a:r>
            <a:r>
              <a:rPr>
                <a:solidFill>
                  <a:srgbClr val="C00000"/>
                </a:solidFill>
              </a:rPr>
              <a:t>sid</a:t>
            </a:r>
            <a:r>
              <a:t>)</a:t>
            </a:r>
          </a:p>
          <a:p>
            <a:pPr lvl="2" marL="1371600" indent="-457200">
              <a:buSzPct val="100000"/>
              <a:buFont typeface="Arial"/>
              <a:buChar char="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section(</a:t>
            </a:r>
            <a:r>
              <a:rPr>
                <a:solidFill>
                  <a:srgbClr val="C00000"/>
                </a:solidFill>
              </a:rPr>
              <a:t>dname</a:t>
            </a:r>
            <a:r>
              <a:t>, </a:t>
            </a:r>
            <a:r>
              <a:rPr>
                <a:solidFill>
                  <a:srgbClr val="C00000"/>
                </a:solidFill>
              </a:rPr>
              <a:t>cno</a:t>
            </a:r>
            <a:r>
              <a:t>, </a:t>
            </a:r>
            <a:r>
              <a:rPr>
                <a:solidFill>
                  <a:srgbClr val="C00000"/>
                </a:solidFill>
              </a:rPr>
              <a:t>sectno</a:t>
            </a:r>
            <a:r>
              <a:t>, pname)</a:t>
            </a:r>
          </a:p>
          <a:p>
            <a:pPr lvl="2" marL="1371600" indent="-457200">
              <a:buSzPct val="100000"/>
              <a:buFont typeface="Arial"/>
              <a:buChar char="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enroll(</a:t>
            </a:r>
            <a:r>
              <a:rPr>
                <a:solidFill>
                  <a:srgbClr val="C00000"/>
                </a:solidFill>
              </a:rPr>
              <a:t>sid</a:t>
            </a:r>
            <a:r>
              <a:t>, grade, </a:t>
            </a:r>
            <a:r>
              <a:rPr>
                <a:solidFill>
                  <a:srgbClr val="C00000"/>
                </a:solidFill>
              </a:rPr>
              <a:t>dname</a:t>
            </a:r>
            <a:r>
              <a:t>, </a:t>
            </a:r>
            <a:r>
              <a:rPr>
                <a:solidFill>
                  <a:srgbClr val="C00000"/>
                </a:solidFill>
              </a:rPr>
              <a:t>cno</a:t>
            </a:r>
            <a:r>
              <a:t>, </a:t>
            </a:r>
            <a:r>
              <a:rPr>
                <a:solidFill>
                  <a:srgbClr val="C00000"/>
                </a:solidFill>
              </a:rPr>
              <a:t>sectno</a:t>
            </a:r>
            <a:r>
              <a:t>)</a:t>
            </a:r>
          </a:p>
        </p:txBody>
      </p:sp>
      <p:sp>
        <p:nvSpPr>
          <p:cNvPr id="204" name="矩形 8"/>
          <p:cNvSpPr txBox="1"/>
          <p:nvPr/>
        </p:nvSpPr>
        <p:spPr>
          <a:xfrm>
            <a:off x="531890" y="2024359"/>
            <a:ext cx="11343069" cy="48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742948" indent="-742948" algn="just">
              <a:buSzPct val="100000"/>
              <a:buAutoNum type="arabicPeriod" startAt="4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Schema and Sample Data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 9"/>
          <p:cNvSpPr txBox="1"/>
          <p:nvPr/>
        </p:nvSpPr>
        <p:spPr>
          <a:xfrm>
            <a:off x="531893" y="205503"/>
            <a:ext cx="7748238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Assignment</a:t>
            </a:r>
          </a:p>
        </p:txBody>
      </p:sp>
      <p:sp>
        <p:nvSpPr>
          <p:cNvPr id="207" name="Rectangle 6"/>
          <p:cNvSpPr txBox="1"/>
          <p:nvPr/>
        </p:nvSpPr>
        <p:spPr>
          <a:xfrm>
            <a:off x="531891" y="1221165"/>
            <a:ext cx="5001081" cy="666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4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1. Assignment Content</a:t>
            </a:r>
          </a:p>
        </p:txBody>
      </p:sp>
      <p:sp>
        <p:nvSpPr>
          <p:cNvPr id="208" name="文本框 7"/>
          <p:cNvSpPr txBox="1"/>
          <p:nvPr/>
        </p:nvSpPr>
        <p:spPr>
          <a:xfrm>
            <a:off x="690039" y="2620622"/>
            <a:ext cx="11230640" cy="3148716"/>
          </a:xfrm>
          <a:prstGeom prst="rect">
            <a:avLst/>
          </a:prstGeom>
          <a:solidFill>
            <a:srgbClr val="DEEBF7"/>
          </a:solidFill>
          <a:ln>
            <a:solidFill>
              <a:schemeClr val="accent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571500" indent="-571500">
              <a:buSzPct val="100000"/>
              <a:buChar char="▪"/>
              <a:defRPr b="1" sz="2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Download the following data files from </a:t>
            </a:r>
            <a:r>
              <a:rPr u="sng">
                <a:solidFill>
                  <a:srgbClr val="C00000"/>
                </a:solidFill>
              </a:rPr>
              <a:t>WeChat Group</a:t>
            </a:r>
            <a:r>
              <a:t>(The imports you made in Project 1). </a:t>
            </a:r>
          </a:p>
          <a:p>
            <a:pPr lvl="4" marL="2286000" indent="-457200">
              <a:buSzPct val="100000"/>
              <a:buFont typeface="Times New Roman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course.txt</a:t>
            </a:r>
          </a:p>
          <a:p>
            <a:pPr lvl="4" marL="2286000" indent="-457200">
              <a:buSzPct val="100000"/>
              <a:buFont typeface="Times New Roman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dept.txt</a:t>
            </a:r>
          </a:p>
          <a:p>
            <a:pPr lvl="4" marL="2286000" indent="-457200">
              <a:buSzPct val="100000"/>
              <a:buFont typeface="Times New Roman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enroll.txt</a:t>
            </a:r>
          </a:p>
          <a:p>
            <a:pPr lvl="4" marL="2286000" indent="-457200">
              <a:buSzPct val="100000"/>
              <a:buFont typeface="Times New Roman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major.txt</a:t>
            </a:r>
          </a:p>
          <a:p>
            <a:pPr lvl="4" marL="2286000" indent="-457200">
              <a:buSzPct val="100000"/>
              <a:buFont typeface="Times New Roman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prof.txt</a:t>
            </a:r>
          </a:p>
          <a:p>
            <a:pPr lvl="4" marL="2286000" indent="-457200">
              <a:buSzPct val="100000"/>
              <a:buFont typeface="Times New Roman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section.txt</a:t>
            </a:r>
          </a:p>
          <a:p>
            <a:pPr lvl="4" marL="2286000" indent="-457200">
              <a:buSzPct val="100000"/>
              <a:buFont typeface="Times New Roman"/>
              <a:buChar char="➢"/>
              <a:defRPr b="1"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student.txt</a:t>
            </a:r>
          </a:p>
        </p:txBody>
      </p:sp>
      <p:sp>
        <p:nvSpPr>
          <p:cNvPr id="209" name="矩形 8"/>
          <p:cNvSpPr txBox="1"/>
          <p:nvPr/>
        </p:nvSpPr>
        <p:spPr>
          <a:xfrm>
            <a:off x="531890" y="2024359"/>
            <a:ext cx="11343069" cy="4827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L="742948" indent="-742948" algn="just">
              <a:buSzPct val="100000"/>
              <a:buAutoNum type="arabicPeriod" startAt="5"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Data Files</a:t>
            </a:r>
          </a:p>
        </p:txBody>
      </p:sp>
      <p:sp>
        <p:nvSpPr>
          <p:cNvPr id="210" name="文本框 1"/>
          <p:cNvSpPr txBox="1"/>
          <p:nvPr/>
        </p:nvSpPr>
        <p:spPr>
          <a:xfrm>
            <a:off x="6171281" y="4873761"/>
            <a:ext cx="4720618" cy="891353"/>
          </a:xfrm>
          <a:prstGeom prst="rect">
            <a:avLst/>
          </a:prstGeom>
          <a:ln>
            <a:solidFill>
              <a:srgbClr val="C0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algn="just">
              <a:defRPr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It is recommended to use the original </a:t>
            </a:r>
            <a:r>
              <a:rPr>
                <a:solidFill>
                  <a:srgbClr val="C00000"/>
                </a:solidFill>
              </a:rPr>
              <a:t>student.txt </a:t>
            </a:r>
            <a:r>
              <a:t>for better communication and comparison of correctness among classmates.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Rectangle 9"/>
          <p:cNvSpPr txBox="1"/>
          <p:nvPr/>
        </p:nvSpPr>
        <p:spPr>
          <a:xfrm>
            <a:off x="531893" y="205503"/>
            <a:ext cx="7748238" cy="935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Assignment</a:t>
            </a:r>
          </a:p>
        </p:txBody>
      </p:sp>
      <p:sp>
        <p:nvSpPr>
          <p:cNvPr id="213" name="矩形 5"/>
          <p:cNvSpPr txBox="1"/>
          <p:nvPr/>
        </p:nvSpPr>
        <p:spPr>
          <a:xfrm>
            <a:off x="229489" y="2133331"/>
            <a:ext cx="11343069" cy="2821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514350" indent="-514350" algn="just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Pay attention to the address of the database connection, a single slash is an escape character.</a:t>
            </a:r>
          </a:p>
          <a:p>
            <a:pPr marL="514350" indent="-514350" algn="just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514350" indent="-514350" algn="just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This is an </a:t>
            </a:r>
            <a:r>
              <a:rPr b="1">
                <a:solidFill>
                  <a:srgbClr val="C00000"/>
                </a:solidFill>
              </a:rPr>
              <a:t>individual assignment</a:t>
            </a:r>
            <a:r>
              <a:rPr b="1"/>
              <a:t> </a:t>
            </a:r>
            <a:r>
              <a:t>– no group submissions are allowed. </a:t>
            </a:r>
          </a:p>
          <a:p>
            <a:pPr marL="514350" indent="-514350" algn="just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L="514350" indent="-514350" algn="just">
              <a:buSzPct val="1000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Hand in </a:t>
            </a:r>
            <a:r>
              <a:rPr>
                <a:solidFill>
                  <a:srgbClr val="C00000"/>
                </a:solidFill>
              </a:rPr>
              <a:t>a report </a:t>
            </a:r>
            <a:r>
              <a:t>which outlines your answers and the process by which you arrived at them.</a:t>
            </a:r>
          </a:p>
        </p:txBody>
      </p:sp>
      <p:sp>
        <p:nvSpPr>
          <p:cNvPr id="214" name="Rectangle 6"/>
          <p:cNvSpPr txBox="1"/>
          <p:nvPr/>
        </p:nvSpPr>
        <p:spPr>
          <a:xfrm>
            <a:off x="531892" y="1221165"/>
            <a:ext cx="5127089" cy="666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4000">
                <a:solidFill>
                  <a:srgbClr val="33339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2. A Few Points to Note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等线"/>
        <a:ea typeface="等线"/>
        <a:cs typeface="等线"/>
      </a:majorFont>
      <a:minorFont>
        <a:latin typeface="Helvetica"/>
        <a:ea typeface="Helvetica"/>
        <a:cs typeface="Helvetic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等线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