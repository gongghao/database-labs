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2"/>
  </p:notesMasterIdLst>
  <p:sldIdLst>
    <p:sldId id="312" r:id="rId2"/>
    <p:sldId id="373" r:id="rId3"/>
    <p:sldId id="357" r:id="rId4"/>
    <p:sldId id="354" r:id="rId5"/>
    <p:sldId id="256" r:id="rId6"/>
    <p:sldId id="359" r:id="rId7"/>
    <p:sldId id="377" r:id="rId8"/>
    <p:sldId id="378" r:id="rId9"/>
    <p:sldId id="381" r:id="rId10"/>
    <p:sldId id="383" r:id="rId11"/>
    <p:sldId id="379" r:id="rId12"/>
    <p:sldId id="360" r:id="rId13"/>
    <p:sldId id="257" r:id="rId14"/>
    <p:sldId id="363" r:id="rId15"/>
    <p:sldId id="365" r:id="rId16"/>
    <p:sldId id="366" r:id="rId17"/>
    <p:sldId id="367" r:id="rId18"/>
    <p:sldId id="362" r:id="rId19"/>
    <p:sldId id="368" r:id="rId20"/>
    <p:sldId id="3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凌艺 许" initials="凌艺" lastIdx="1" clrIdx="0">
    <p:extLst>
      <p:ext uri="{19B8F6BF-5375-455C-9EA6-DF929625EA0E}">
        <p15:presenceInfo xmlns:p15="http://schemas.microsoft.com/office/powerpoint/2012/main" userId="c090746240165d0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339B"/>
    <a:srgbClr val="FFFCEB"/>
    <a:srgbClr val="535387"/>
    <a:srgbClr val="F3DBA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976" autoAdjust="0"/>
    <p:restoredTop sz="74487" autoAdjust="0"/>
  </p:normalViewPr>
  <p:slideViewPr>
    <p:cSldViewPr snapToGrid="0">
      <p:cViewPr varScale="1">
        <p:scale>
          <a:sx n="73" d="100"/>
          <a:sy n="73" d="100"/>
        </p:scale>
        <p:origin x="610"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E7868E-8322-402F-ACC5-477E624251D1}" type="datetimeFigureOut">
              <a:rPr lang="zh-CN" altLang="en-US" smtClean="0"/>
              <a:t>2025/10/22</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90D1AB-2DF8-4949-8D12-111FA1213BD2}" type="slidenum">
              <a:rPr lang="zh-CN" altLang="en-US" smtClean="0"/>
              <a:t>‹#›</a:t>
            </a:fld>
            <a:endParaRPr lang="zh-CN" altLang="en-US"/>
          </a:p>
        </p:txBody>
      </p:sp>
    </p:spTree>
    <p:extLst>
      <p:ext uri="{BB962C8B-B14F-4D97-AF65-F5344CB8AC3E}">
        <p14:creationId xmlns:p14="http://schemas.microsoft.com/office/powerpoint/2010/main" val="2342778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1</a:t>
            </a:fld>
            <a:endParaRPr lang="zh-CN" altLang="en-US"/>
          </a:p>
        </p:txBody>
      </p:sp>
    </p:spTree>
    <p:extLst>
      <p:ext uri="{BB962C8B-B14F-4D97-AF65-F5344CB8AC3E}">
        <p14:creationId xmlns:p14="http://schemas.microsoft.com/office/powerpoint/2010/main" val="21615970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2</a:t>
            </a:fld>
            <a:endParaRPr lang="zh-CN" altLang="en-US"/>
          </a:p>
        </p:txBody>
      </p:sp>
    </p:spTree>
    <p:extLst>
      <p:ext uri="{BB962C8B-B14F-4D97-AF65-F5344CB8AC3E}">
        <p14:creationId xmlns:p14="http://schemas.microsoft.com/office/powerpoint/2010/main" val="563881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3</a:t>
            </a:fld>
            <a:endParaRPr lang="zh-CN" altLang="en-US"/>
          </a:p>
        </p:txBody>
      </p:sp>
    </p:spTree>
    <p:extLst>
      <p:ext uri="{BB962C8B-B14F-4D97-AF65-F5344CB8AC3E}">
        <p14:creationId xmlns:p14="http://schemas.microsoft.com/office/powerpoint/2010/main" val="36266316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4</a:t>
            </a:fld>
            <a:endParaRPr lang="zh-CN" altLang="en-US"/>
          </a:p>
        </p:txBody>
      </p:sp>
    </p:spTree>
    <p:extLst>
      <p:ext uri="{BB962C8B-B14F-4D97-AF65-F5344CB8AC3E}">
        <p14:creationId xmlns:p14="http://schemas.microsoft.com/office/powerpoint/2010/main" val="33046140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6</a:t>
            </a:fld>
            <a:endParaRPr lang="zh-CN" altLang="en-US"/>
          </a:p>
        </p:txBody>
      </p:sp>
    </p:spTree>
    <p:extLst>
      <p:ext uri="{BB962C8B-B14F-4D97-AF65-F5344CB8AC3E}">
        <p14:creationId xmlns:p14="http://schemas.microsoft.com/office/powerpoint/2010/main" val="26667967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7</a:t>
            </a:fld>
            <a:endParaRPr lang="zh-CN" altLang="en-US"/>
          </a:p>
        </p:txBody>
      </p:sp>
    </p:spTree>
    <p:extLst>
      <p:ext uri="{BB962C8B-B14F-4D97-AF65-F5344CB8AC3E}">
        <p14:creationId xmlns:p14="http://schemas.microsoft.com/office/powerpoint/2010/main" val="4245961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8</a:t>
            </a:fld>
            <a:endParaRPr lang="zh-CN" altLang="en-US"/>
          </a:p>
        </p:txBody>
      </p:sp>
    </p:spTree>
    <p:extLst>
      <p:ext uri="{BB962C8B-B14F-4D97-AF65-F5344CB8AC3E}">
        <p14:creationId xmlns:p14="http://schemas.microsoft.com/office/powerpoint/2010/main" val="30930725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9</a:t>
            </a:fld>
            <a:endParaRPr lang="zh-CN" altLang="en-US"/>
          </a:p>
        </p:txBody>
      </p:sp>
    </p:spTree>
    <p:extLst>
      <p:ext uri="{BB962C8B-B14F-4D97-AF65-F5344CB8AC3E}">
        <p14:creationId xmlns:p14="http://schemas.microsoft.com/office/powerpoint/2010/main" val="40877695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10</a:t>
            </a:fld>
            <a:endParaRPr lang="zh-CN" altLang="en-US"/>
          </a:p>
        </p:txBody>
      </p:sp>
    </p:spTree>
    <p:extLst>
      <p:ext uri="{BB962C8B-B14F-4D97-AF65-F5344CB8AC3E}">
        <p14:creationId xmlns:p14="http://schemas.microsoft.com/office/powerpoint/2010/main" val="2759606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11</a:t>
            </a:fld>
            <a:endParaRPr lang="zh-CN" altLang="en-US"/>
          </a:p>
        </p:txBody>
      </p:sp>
    </p:spTree>
    <p:extLst>
      <p:ext uri="{BB962C8B-B14F-4D97-AF65-F5344CB8AC3E}">
        <p14:creationId xmlns:p14="http://schemas.microsoft.com/office/powerpoint/2010/main" val="17629617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12</a:t>
            </a:fld>
            <a:endParaRPr lang="zh-CN" altLang="en-US"/>
          </a:p>
        </p:txBody>
      </p:sp>
    </p:spTree>
    <p:extLst>
      <p:ext uri="{BB962C8B-B14F-4D97-AF65-F5344CB8AC3E}">
        <p14:creationId xmlns:p14="http://schemas.microsoft.com/office/powerpoint/2010/main" val="34095318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distinct</a:t>
            </a:r>
            <a:r>
              <a:rPr lang="zh-CN" altLang="en-US" dirty="0"/>
              <a:t>不像</a:t>
            </a:r>
            <a:r>
              <a:rPr lang="en-US" altLang="zh-CN" dirty="0" err="1"/>
              <a:t>mysql</a:t>
            </a:r>
            <a:r>
              <a:rPr lang="zh-CN" altLang="en-US" dirty="0"/>
              <a:t>那样方便，所以</a:t>
            </a:r>
          </a:p>
        </p:txBody>
      </p:sp>
      <p:sp>
        <p:nvSpPr>
          <p:cNvPr id="4" name="灯片编号占位符 3"/>
          <p:cNvSpPr>
            <a:spLocks noGrp="1"/>
          </p:cNvSpPr>
          <p:nvPr>
            <p:ph type="sldNum" sz="quarter" idx="5"/>
          </p:nvPr>
        </p:nvSpPr>
        <p:spPr/>
        <p:txBody>
          <a:bodyPr/>
          <a:lstStyle/>
          <a:p>
            <a:fld id="{7990D1AB-2DF8-4949-8D12-111FA1213BD2}" type="slidenum">
              <a:rPr lang="zh-CN" altLang="en-US" smtClean="0"/>
              <a:t>18</a:t>
            </a:fld>
            <a:endParaRPr lang="zh-CN" altLang="en-US"/>
          </a:p>
        </p:txBody>
      </p:sp>
    </p:spTree>
    <p:extLst>
      <p:ext uri="{BB962C8B-B14F-4D97-AF65-F5344CB8AC3E}">
        <p14:creationId xmlns:p14="http://schemas.microsoft.com/office/powerpoint/2010/main" val="18094678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20</a:t>
            </a:fld>
            <a:endParaRPr lang="zh-CN" altLang="en-US"/>
          </a:p>
        </p:txBody>
      </p:sp>
    </p:spTree>
    <p:extLst>
      <p:ext uri="{BB962C8B-B14F-4D97-AF65-F5344CB8AC3E}">
        <p14:creationId xmlns:p14="http://schemas.microsoft.com/office/powerpoint/2010/main" val="35166594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914400" y="1122363"/>
            <a:ext cx="10363200" cy="2387600"/>
          </a:xfrm>
        </p:spPr>
        <p:txBody>
          <a:bodyPr anchor="b"/>
          <a:lstStyle>
            <a:lvl1pPr algn="ctr">
              <a:defRPr sz="6000"/>
            </a:lvl1pPr>
          </a:lstStyle>
          <a:p>
            <a:r>
              <a:rPr lang="zh-CN" altLang="en-US"/>
              <a:t>单击此处编辑母版标题样式</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p>
            <a:fld id="{D17A10E1-28C3-455F-9FD1-F0B55423A67C}" type="datetime1">
              <a:rPr lang="en-US" altLang="zh-CN" smtClean="0"/>
              <a:t>10/22/2025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2109509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10"/>
          </p:nvPr>
        </p:nvSpPr>
        <p:spPr/>
        <p:txBody>
          <a:bodyPr/>
          <a:lstStyle/>
          <a:p>
            <a:fld id="{A72D542C-FEC7-4D6C-837D-0E69C18E291B}" type="datetime1">
              <a:rPr lang="en-US" altLang="zh-CN" smtClean="0"/>
              <a:t>10/22/2025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31653452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zh-CN" altLang="en-US"/>
              <a:t>单击此处编辑母版标题样式</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编辑母版文本样式</a:t>
            </a:r>
          </a:p>
        </p:txBody>
      </p:sp>
      <p:sp>
        <p:nvSpPr>
          <p:cNvPr id="4" name="Date Placeholder 3"/>
          <p:cNvSpPr>
            <a:spLocks noGrp="1"/>
          </p:cNvSpPr>
          <p:nvPr>
            <p:ph type="dt" sz="half" idx="10"/>
          </p:nvPr>
        </p:nvSpPr>
        <p:spPr/>
        <p:txBody>
          <a:bodyPr/>
          <a:lstStyle/>
          <a:p>
            <a:fld id="{6C3A9FBF-00A6-497B-A64A-9A9792F46983}" type="datetime1">
              <a:rPr lang="en-US" altLang="zh-CN" smtClean="0"/>
              <a:t>10/22/2025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16253174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5" name="Date Placeholder 4"/>
          <p:cNvSpPr>
            <a:spLocks noGrp="1"/>
          </p:cNvSpPr>
          <p:nvPr>
            <p:ph type="dt" sz="half" idx="10"/>
          </p:nvPr>
        </p:nvSpPr>
        <p:spPr/>
        <p:txBody>
          <a:bodyPr/>
          <a:lstStyle/>
          <a:p>
            <a:fld id="{45EC6F49-1B4E-4891-A82E-D7B529793EF7}" type="datetime1">
              <a:rPr lang="en-US" altLang="zh-CN" smtClean="0"/>
              <a:t>10/22/2025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13601313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zh-CN" altLang="en-US"/>
              <a:t>单击此处编辑母版标题样式</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4" name="Content Placeholder 3"/>
          <p:cNvSpPr>
            <a:spLocks noGrp="1"/>
          </p:cNvSpPr>
          <p:nvPr>
            <p:ph sz="half" idx="2"/>
          </p:nvPr>
        </p:nvSpPr>
        <p:spPr>
          <a:xfrm>
            <a:off x="839789" y="2505075"/>
            <a:ext cx="5157787"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6" name="Content Placeholder 5"/>
          <p:cNvSpPr>
            <a:spLocks noGrp="1"/>
          </p:cNvSpPr>
          <p:nvPr>
            <p:ph sz="quarter" idx="4"/>
          </p:nvPr>
        </p:nvSpPr>
        <p:spPr>
          <a:xfrm>
            <a:off x="6172201" y="2505075"/>
            <a:ext cx="5183188"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7" name="Date Placeholder 6"/>
          <p:cNvSpPr>
            <a:spLocks noGrp="1"/>
          </p:cNvSpPr>
          <p:nvPr>
            <p:ph type="dt" sz="half" idx="10"/>
          </p:nvPr>
        </p:nvSpPr>
        <p:spPr/>
        <p:txBody>
          <a:bodyPr/>
          <a:lstStyle/>
          <a:p>
            <a:fld id="{28D8CE51-E29B-4F19-80D0-BB742E860588}" type="datetime1">
              <a:rPr lang="en-US" altLang="zh-CN" smtClean="0"/>
              <a:t>10/22/2025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13616315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Date Placeholder 2"/>
          <p:cNvSpPr>
            <a:spLocks noGrp="1"/>
          </p:cNvSpPr>
          <p:nvPr>
            <p:ph type="dt" sz="half" idx="10"/>
          </p:nvPr>
        </p:nvSpPr>
        <p:spPr/>
        <p:txBody>
          <a:bodyPr/>
          <a:lstStyle/>
          <a:p>
            <a:fld id="{D9E7FC2F-8F0A-4319-B1D1-15499CA0F6FA}" type="datetime1">
              <a:rPr lang="en-US" altLang="zh-CN" smtClean="0"/>
              <a:t>10/22/2025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12693669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8BAB4E1-8FF2-4401-B349-18D525587C27}" type="datetime1">
              <a:rPr lang="en-US" altLang="zh-CN" smtClean="0"/>
              <a:t>10/22/2025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28997685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Date Placeholder 4"/>
          <p:cNvSpPr>
            <a:spLocks noGrp="1"/>
          </p:cNvSpPr>
          <p:nvPr>
            <p:ph type="dt" sz="half" idx="10"/>
          </p:nvPr>
        </p:nvSpPr>
        <p:spPr/>
        <p:txBody>
          <a:bodyPr/>
          <a:lstStyle/>
          <a:p>
            <a:fld id="{DA240272-ECCE-44F7-91EA-501758042665}" type="datetime1">
              <a:rPr lang="en-US" altLang="zh-CN" smtClean="0"/>
              <a:t>10/22/2025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12731957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Date Placeholder 4"/>
          <p:cNvSpPr>
            <a:spLocks noGrp="1"/>
          </p:cNvSpPr>
          <p:nvPr>
            <p:ph type="dt" sz="half" idx="10"/>
          </p:nvPr>
        </p:nvSpPr>
        <p:spPr/>
        <p:txBody>
          <a:bodyPr/>
          <a:lstStyle/>
          <a:p>
            <a:fld id="{46214F18-922E-4538-82BA-BCEA03EF97CA}" type="datetime1">
              <a:rPr lang="en-US" altLang="zh-CN" smtClean="0"/>
              <a:t>10/22/2025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21447217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Vertical Text Placeholder 2"/>
          <p:cNvSpPr>
            <a:spLocks noGrp="1"/>
          </p:cNvSpPr>
          <p:nvPr>
            <p:ph type="body" orient="vert" idx="1"/>
          </p:nvPr>
        </p:nvSpPr>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10"/>
          </p:nvPr>
        </p:nvSpPr>
        <p:spPr/>
        <p:txBody>
          <a:bodyPr/>
          <a:lstStyle/>
          <a:p>
            <a:fld id="{8F73E8DB-618C-463E-B09F-3F6FDF6C2736}" type="datetime1">
              <a:rPr lang="en-US" altLang="zh-CN" smtClean="0"/>
              <a:t>10/22/2025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8638737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zh-CN" altLang="en-US"/>
              <a:t>单击此处编辑母版标题样式</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10"/>
          </p:nvPr>
        </p:nvSpPr>
        <p:spPr/>
        <p:txBody>
          <a:bodyPr/>
          <a:lstStyle/>
          <a:p>
            <a:fld id="{21E026B2-CDFD-44B0-8E44-FD7D4F4580D4}" type="datetime1">
              <a:rPr lang="en-US" altLang="zh-CN" smtClean="0"/>
              <a:t>10/22/2025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34792644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93A0A23-103E-4560-9482-F8E1161F7818}" type="datetime1">
              <a:rPr lang="en-US" altLang="zh-CN" smtClean="0"/>
              <a:t>10/22/2025</a:t>
            </a:fld>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28F302-E557-4BC3-87C7-BCBD3AD1B54C}" type="slidenum">
              <a:rPr lang="en-US" smtClean="0"/>
              <a:t>‹#›</a:t>
            </a:fld>
            <a:endParaRPr lang="en-US"/>
          </a:p>
        </p:txBody>
      </p:sp>
    </p:spTree>
    <p:extLst>
      <p:ext uri="{BB962C8B-B14F-4D97-AF65-F5344CB8AC3E}">
        <p14:creationId xmlns:p14="http://schemas.microsoft.com/office/powerpoint/2010/main" val="208896765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hyperlink" Target="https://www.nowcoder.com/"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hyperlink" Target="https://leetcode.c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a:extLst>
              <a:ext uri="{FF2B5EF4-FFF2-40B4-BE49-F238E27FC236}">
                <a16:creationId xmlns:a16="http://schemas.microsoft.com/office/drawing/2014/main" id="{560522EF-52D9-4B65-D19C-9E9C092ED757}"/>
              </a:ext>
            </a:extLst>
          </p:cNvPr>
          <p:cNvSpPr/>
          <p:nvPr/>
        </p:nvSpPr>
        <p:spPr>
          <a:xfrm>
            <a:off x="1348740" y="2111998"/>
            <a:ext cx="9494520" cy="1015663"/>
          </a:xfrm>
          <a:prstGeom prst="rect">
            <a:avLst/>
          </a:prstGeom>
        </p:spPr>
        <p:txBody>
          <a:bodyPr wrap="square">
            <a:spAutoFit/>
          </a:bodyPr>
          <a:lstStyle/>
          <a:p>
            <a:pPr algn="ctr"/>
            <a:r>
              <a:rPr lang="en-US" altLang="zh-CN" sz="6000" b="1" dirty="0">
                <a:solidFill>
                  <a:srgbClr val="33339B"/>
                </a:solidFill>
                <a:latin typeface="Times New Roman" panose="02020603050405020304" pitchFamily="18" charset="0"/>
                <a:cs typeface="Times New Roman" panose="02020603050405020304" pitchFamily="18" charset="0"/>
              </a:rPr>
              <a:t>Project 2</a:t>
            </a:r>
          </a:p>
        </p:txBody>
      </p:sp>
      <p:sp>
        <p:nvSpPr>
          <p:cNvPr id="11" name="文本框 10">
            <a:extLst>
              <a:ext uri="{FF2B5EF4-FFF2-40B4-BE49-F238E27FC236}">
                <a16:creationId xmlns:a16="http://schemas.microsoft.com/office/drawing/2014/main" id="{CED3387C-A638-D7B2-ACA0-E51011169E4F}"/>
              </a:ext>
            </a:extLst>
          </p:cNvPr>
          <p:cNvSpPr txBox="1"/>
          <p:nvPr/>
        </p:nvSpPr>
        <p:spPr>
          <a:xfrm>
            <a:off x="4130732" y="4571381"/>
            <a:ext cx="3629198" cy="707886"/>
          </a:xfrm>
          <a:prstGeom prst="rect">
            <a:avLst/>
          </a:prstGeom>
          <a:noFill/>
        </p:spPr>
        <p:txBody>
          <a:bodyPr wrap="square" rtlCol="0">
            <a:spAutoFit/>
          </a:bodyPr>
          <a:lstStyle/>
          <a:p>
            <a:r>
              <a:rPr lang="en-US" altLang="zh-CN" sz="4000" b="1" dirty="0">
                <a:latin typeface="Times New Roman" panose="02020603050405020304" pitchFamily="18" charset="0"/>
                <a:cs typeface="Times New Roman" panose="02020603050405020304" pitchFamily="18" charset="0"/>
              </a:rPr>
              <a:t>TA: Jiawei Liu</a:t>
            </a:r>
          </a:p>
        </p:txBody>
      </p:sp>
      <p:sp>
        <p:nvSpPr>
          <p:cNvPr id="4" name="文本框 3">
            <a:extLst>
              <a:ext uri="{FF2B5EF4-FFF2-40B4-BE49-F238E27FC236}">
                <a16:creationId xmlns:a16="http://schemas.microsoft.com/office/drawing/2014/main" id="{A79FF2DE-6EBE-45CB-80EF-F02B7BA3C95D}"/>
              </a:ext>
            </a:extLst>
          </p:cNvPr>
          <p:cNvSpPr txBox="1"/>
          <p:nvPr/>
        </p:nvSpPr>
        <p:spPr>
          <a:xfrm>
            <a:off x="3394361" y="3495578"/>
            <a:ext cx="5354784" cy="707886"/>
          </a:xfrm>
          <a:prstGeom prst="rect">
            <a:avLst/>
          </a:prstGeom>
          <a:noFill/>
        </p:spPr>
        <p:txBody>
          <a:bodyPr wrap="square" rtlCol="0">
            <a:spAutoFit/>
          </a:bodyPr>
          <a:lstStyle/>
          <a:p>
            <a:r>
              <a:rPr lang="en-US" altLang="zh-CN" sz="4000" b="1" dirty="0">
                <a:latin typeface="Times New Roman" panose="02020603050405020304" pitchFamily="18" charset="0"/>
                <a:cs typeface="Times New Roman" panose="02020603050405020304" pitchFamily="18" charset="0"/>
              </a:rPr>
              <a:t>Lecturer: Shuai Wang</a:t>
            </a:r>
          </a:p>
        </p:txBody>
      </p:sp>
    </p:spTree>
    <p:extLst>
      <p:ext uri="{BB962C8B-B14F-4D97-AF65-F5344CB8AC3E}">
        <p14:creationId xmlns:p14="http://schemas.microsoft.com/office/powerpoint/2010/main" val="8939963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9">
            <a:extLst>
              <a:ext uri="{FF2B5EF4-FFF2-40B4-BE49-F238E27FC236}">
                <a16:creationId xmlns:a16="http://schemas.microsoft.com/office/drawing/2014/main" id="{7D89991E-24EE-34F9-B73E-D65B80DCFB55}"/>
              </a:ext>
            </a:extLst>
          </p:cNvPr>
          <p:cNvSpPr/>
          <p:nvPr/>
        </p:nvSpPr>
        <p:spPr>
          <a:xfrm>
            <a:off x="546412" y="378537"/>
            <a:ext cx="10462909" cy="707886"/>
          </a:xfrm>
          <a:prstGeom prst="rect">
            <a:avLst/>
          </a:prstGeom>
        </p:spPr>
        <p:txBody>
          <a:bodyPr wrap="square">
            <a:spAutoFit/>
          </a:bodyPr>
          <a:lstStyle/>
          <a:p>
            <a:r>
              <a:rPr lang="en-US" altLang="zh-CN" sz="4000" b="1" dirty="0">
                <a:solidFill>
                  <a:srgbClr val="33339B"/>
                </a:solidFill>
                <a:latin typeface="Times New Roman" panose="02020603050405020304" pitchFamily="18" charset="0"/>
                <a:cs typeface="Times New Roman" panose="02020603050405020304" pitchFamily="18" charset="0"/>
              </a:rPr>
              <a:t>Requirements for submitting the assignment</a:t>
            </a:r>
          </a:p>
        </p:txBody>
      </p:sp>
      <p:sp>
        <p:nvSpPr>
          <p:cNvPr id="2" name="Rectangle 1">
            <a:extLst>
              <a:ext uri="{FF2B5EF4-FFF2-40B4-BE49-F238E27FC236}">
                <a16:creationId xmlns:a16="http://schemas.microsoft.com/office/drawing/2014/main" id="{457B17A4-A116-4951-B682-60901FBE49A6}"/>
              </a:ext>
            </a:extLst>
          </p:cNvPr>
          <p:cNvSpPr/>
          <p:nvPr/>
        </p:nvSpPr>
        <p:spPr>
          <a:xfrm>
            <a:off x="1268926" y="6088559"/>
            <a:ext cx="9446112" cy="769441"/>
          </a:xfrm>
          <a:prstGeom prst="rect">
            <a:avLst/>
          </a:prstGeom>
          <a:ln>
            <a:solidFill>
              <a:srgbClr val="C00000"/>
            </a:solidFill>
          </a:ln>
        </p:spPr>
        <p:txBody>
          <a:bodyPr wrap="none">
            <a:spAutoFit/>
          </a:bodyPr>
          <a:lstStyle/>
          <a:p>
            <a:r>
              <a:rPr lang="en-US" sz="4400" b="1" dirty="0">
                <a:solidFill>
                  <a:srgbClr val="C00000"/>
                </a:solidFill>
                <a:highlight>
                  <a:srgbClr val="FFFF00"/>
                </a:highlight>
                <a:latin typeface="Times New Roman" panose="02020603050405020304" pitchFamily="18" charset="0"/>
                <a:cs typeface="Times New Roman" panose="02020603050405020304" pitchFamily="18" charset="0"/>
              </a:rPr>
              <a:t>Deadline:</a:t>
            </a:r>
            <a:r>
              <a:rPr lang="zh-CN" altLang="en-US" sz="4400" b="1" dirty="0">
                <a:solidFill>
                  <a:srgbClr val="C00000"/>
                </a:solidFill>
                <a:highlight>
                  <a:srgbClr val="FFFF00"/>
                </a:highlight>
                <a:latin typeface="Times New Roman" panose="02020603050405020304" pitchFamily="18" charset="0"/>
                <a:cs typeface="Times New Roman" panose="02020603050405020304" pitchFamily="18" charset="0"/>
              </a:rPr>
              <a:t> </a:t>
            </a:r>
            <a:r>
              <a:rPr lang="en-US" altLang="zh-CN" sz="4400" b="1" dirty="0">
                <a:solidFill>
                  <a:srgbClr val="C00000"/>
                </a:solidFill>
                <a:highlight>
                  <a:srgbClr val="FFFF00"/>
                </a:highlight>
                <a:latin typeface="Times New Roman" panose="02020603050405020304" pitchFamily="18" charset="0"/>
                <a:cs typeface="Times New Roman" panose="02020603050405020304" pitchFamily="18" charset="0"/>
              </a:rPr>
              <a:t>Beijing time, 11.06, 23:59:59</a:t>
            </a:r>
            <a:endParaRPr lang="en-US" sz="4400" b="1" dirty="0">
              <a:solidFill>
                <a:srgbClr val="C00000"/>
              </a:solidFill>
              <a:highlight>
                <a:srgbClr val="FFFF00"/>
              </a:highlight>
              <a:latin typeface="Times New Roman" panose="02020603050405020304" pitchFamily="18" charset="0"/>
              <a:cs typeface="Times New Roman" panose="02020603050405020304" pitchFamily="18" charset="0"/>
            </a:endParaRPr>
          </a:p>
        </p:txBody>
      </p:sp>
      <p:sp>
        <p:nvSpPr>
          <p:cNvPr id="3" name="灯片编号占位符 2">
            <a:extLst>
              <a:ext uri="{FF2B5EF4-FFF2-40B4-BE49-F238E27FC236}">
                <a16:creationId xmlns:a16="http://schemas.microsoft.com/office/drawing/2014/main" id="{D0A8FF96-F473-4283-B263-9D4DB6E0E44D}"/>
              </a:ext>
            </a:extLst>
          </p:cNvPr>
          <p:cNvSpPr>
            <a:spLocks noGrp="1"/>
          </p:cNvSpPr>
          <p:nvPr>
            <p:ph type="sldNum" sz="quarter" idx="12"/>
          </p:nvPr>
        </p:nvSpPr>
        <p:spPr/>
        <p:txBody>
          <a:bodyPr/>
          <a:lstStyle/>
          <a:p>
            <a:fld id="{9128F302-E557-4BC3-87C7-BCBD3AD1B54C}" type="slidenum">
              <a:rPr lang="en-US" smtClean="0"/>
              <a:t>2</a:t>
            </a:fld>
            <a:endParaRPr lang="en-US" dirty="0"/>
          </a:p>
        </p:txBody>
      </p:sp>
      <p:sp>
        <p:nvSpPr>
          <p:cNvPr id="7" name="文本框 6">
            <a:extLst>
              <a:ext uri="{FF2B5EF4-FFF2-40B4-BE49-F238E27FC236}">
                <a16:creationId xmlns:a16="http://schemas.microsoft.com/office/drawing/2014/main" id="{E83EFD8F-C723-E342-0471-4D6B0B02135C}"/>
              </a:ext>
            </a:extLst>
          </p:cNvPr>
          <p:cNvSpPr txBox="1"/>
          <p:nvPr/>
        </p:nvSpPr>
        <p:spPr>
          <a:xfrm>
            <a:off x="546411" y="1082976"/>
            <a:ext cx="10462910" cy="5187639"/>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altLang="zh-CN" sz="3200" b="1" dirty="0">
                <a:latin typeface="微软雅黑" panose="020B0503020204020204" pitchFamily="34" charset="-122"/>
                <a:ea typeface="微软雅黑" panose="020B0503020204020204" pitchFamily="34" charset="-122"/>
                <a:cs typeface="Times New Roman" panose="02020603050405020304" pitchFamily="18" charset="0"/>
              </a:rPr>
              <a:t>Email address : </a:t>
            </a:r>
            <a:r>
              <a:rPr lang="en-US" altLang="zh-CN" sz="3200" b="1" u="sng" dirty="0">
                <a:solidFill>
                  <a:srgbClr val="33339B"/>
                </a:solidFill>
                <a:latin typeface="Times New Roman" panose="02020603050405020304" pitchFamily="18" charset="0"/>
                <a:ea typeface="DengXian" panose="02010600030101010101" pitchFamily="2" charset="-122"/>
                <a:cs typeface="Times New Roman" panose="02020603050405020304" pitchFamily="18" charset="0"/>
              </a:rPr>
              <a:t>liujoy@seu.edu.cn</a:t>
            </a:r>
            <a:endParaRPr lang="en-US" altLang="zh-CN" sz="3200" b="1" i="1" u="sng" dirty="0">
              <a:solidFill>
                <a:srgbClr val="33339B"/>
              </a:solidFill>
              <a:latin typeface="+mj-lt"/>
              <a:ea typeface="DengXian" panose="02010600030101010101" pitchFamily="2" charset="-122"/>
            </a:endParaRPr>
          </a:p>
          <a:p>
            <a:pPr marL="457200" indent="-457200">
              <a:lnSpc>
                <a:spcPct val="150000"/>
              </a:lnSpc>
              <a:buFont typeface="Arial" panose="020B0604020202020204" pitchFamily="34" charset="0"/>
              <a:buChar char="•"/>
            </a:pPr>
            <a:r>
              <a:rPr lang="en-US" altLang="zh-CN" sz="3200" b="1"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rPr>
              <a:t>Format of Email subject and File name:</a:t>
            </a:r>
            <a:r>
              <a:rPr lang="en-US" altLang="zh-CN" sz="3200" b="1" dirty="0">
                <a:latin typeface="微软雅黑" panose="020B0503020204020204" pitchFamily="34" charset="-122"/>
                <a:ea typeface="微软雅黑" panose="020B0503020204020204" pitchFamily="34" charset="-122"/>
              </a:rPr>
              <a:t> </a:t>
            </a:r>
            <a:r>
              <a:rPr lang="en-US" altLang="zh-CN" sz="3200" b="1" dirty="0" err="1">
                <a:solidFill>
                  <a:srgbClr val="33339B"/>
                </a:solidFill>
                <a:latin typeface="Times New Roman" panose="02020603050405020304" pitchFamily="18" charset="0"/>
                <a:ea typeface="DengXian" panose="02010600030101010101" pitchFamily="2" charset="-122"/>
                <a:cs typeface="Times New Roman" panose="02020603050405020304" pitchFamily="18" charset="0"/>
              </a:rPr>
              <a:t>StudentNumber</a:t>
            </a:r>
            <a:r>
              <a:rPr lang="en-US" altLang="zh-CN" sz="3200" b="1" dirty="0">
                <a:solidFill>
                  <a:srgbClr val="33339B"/>
                </a:solidFill>
                <a:latin typeface="Times New Roman" panose="02020603050405020304" pitchFamily="18" charset="0"/>
                <a:ea typeface="DengXian" panose="02010600030101010101" pitchFamily="2" charset="-122"/>
                <a:cs typeface="Times New Roman" panose="02020603050405020304" pitchFamily="18" charset="0"/>
              </a:rPr>
              <a:t>-Name-Project-X</a:t>
            </a:r>
            <a:endParaRPr lang="en-US" altLang="zh-CN" sz="3200" b="1" dirty="0">
              <a:solidFill>
                <a:srgbClr val="33339B"/>
              </a:solidFill>
              <a:latin typeface="+mj-lt"/>
              <a:ea typeface="DengXian" panose="02010600030101010101" pitchFamily="2" charset="-122"/>
            </a:endParaRPr>
          </a:p>
          <a:p>
            <a:pPr lvl="1">
              <a:lnSpc>
                <a:spcPct val="150000"/>
              </a:lnSpc>
            </a:pPr>
            <a:r>
              <a:rPr lang="en-US" altLang="zh-CN" sz="3200" b="1" dirty="0">
                <a:latin typeface="+mj-lt"/>
                <a:ea typeface="DengXian" panose="02010600030101010101" pitchFamily="2" charset="-122"/>
              </a:rPr>
              <a:t>	</a:t>
            </a:r>
            <a:r>
              <a:rPr lang="en-US" altLang="zh-CN" sz="3200" dirty="0">
                <a:latin typeface="微软雅黑" panose="020B0503020204020204" pitchFamily="34" charset="-122"/>
                <a:ea typeface="微软雅黑" panose="020B0503020204020204" pitchFamily="34" charset="-122"/>
              </a:rPr>
              <a:t>example </a:t>
            </a:r>
            <a:r>
              <a:rPr lang="en-US" altLang="zh-CN" sz="3200" dirty="0">
                <a:latin typeface="+mj-lt"/>
                <a:ea typeface="DengXian" panose="02010600030101010101" pitchFamily="2" charset="-122"/>
              </a:rPr>
              <a:t>: </a:t>
            </a:r>
            <a:r>
              <a:rPr lang="en-US" altLang="zh-CN" sz="3200" i="1" dirty="0">
                <a:solidFill>
                  <a:srgbClr val="33339B"/>
                </a:solidFill>
                <a:latin typeface="微软雅黑" panose="020B0503020204020204" pitchFamily="34" charset="-122"/>
                <a:ea typeface="微软雅黑" panose="020B0503020204020204" pitchFamily="34" charset="-122"/>
                <a:cs typeface="Times New Roman" panose="02020603050405020304" pitchFamily="18" charset="0"/>
              </a:rPr>
              <a:t>71121000-</a:t>
            </a:r>
            <a:r>
              <a:rPr lang="zh-CN" altLang="en-US" sz="3200" i="1" dirty="0">
                <a:solidFill>
                  <a:srgbClr val="33339B"/>
                </a:solidFill>
                <a:latin typeface="微软雅黑" panose="020B0503020204020204" pitchFamily="34" charset="-122"/>
                <a:ea typeface="微软雅黑" panose="020B0503020204020204" pitchFamily="34" charset="-122"/>
                <a:cs typeface="Times New Roman" panose="02020603050405020304" pitchFamily="18" charset="0"/>
              </a:rPr>
              <a:t>张三</a:t>
            </a:r>
            <a:r>
              <a:rPr lang="en-US" altLang="zh-CN" sz="3200" i="1" dirty="0">
                <a:solidFill>
                  <a:srgbClr val="33339B"/>
                </a:solidFill>
                <a:latin typeface="微软雅黑" panose="020B0503020204020204" pitchFamily="34" charset="-122"/>
                <a:ea typeface="微软雅黑" panose="020B0503020204020204" pitchFamily="34" charset="-122"/>
                <a:cs typeface="Times New Roman" panose="02020603050405020304" pitchFamily="18" charset="0"/>
              </a:rPr>
              <a:t>-Project-1.zip</a:t>
            </a:r>
          </a:p>
          <a:p>
            <a:pPr marL="457200" indent="-457200">
              <a:lnSpc>
                <a:spcPct val="150000"/>
              </a:lnSpc>
              <a:buFont typeface="Arial" panose="020B0604020202020204" pitchFamily="34" charset="0"/>
              <a:buChar char="•"/>
            </a:pPr>
            <a:r>
              <a:rPr lang="en-US" altLang="zh-CN" sz="3200" b="1" dirty="0">
                <a:latin typeface="微软雅黑" panose="020B0503020204020204" pitchFamily="34" charset="-122"/>
                <a:ea typeface="微软雅黑" panose="020B0503020204020204" pitchFamily="34" charset="-122"/>
              </a:rPr>
              <a:t>Including :</a:t>
            </a:r>
          </a:p>
          <a:p>
            <a:pPr>
              <a:lnSpc>
                <a:spcPct val="150000"/>
              </a:lnSpc>
            </a:pPr>
            <a:r>
              <a:rPr lang="en-US" altLang="zh-CN" sz="3200" dirty="0">
                <a:solidFill>
                  <a:srgbClr val="00B0F0"/>
                </a:solidFill>
                <a:latin typeface="+mj-lt"/>
                <a:cs typeface="Times New Roman" panose="02020603050405020304" pitchFamily="18" charset="0"/>
              </a:rPr>
              <a:t>		</a:t>
            </a:r>
            <a:r>
              <a:rPr lang="en-US" altLang="zh-CN" sz="3200" b="1" i="1" dirty="0">
                <a:solidFill>
                  <a:srgbClr val="33339B"/>
                </a:solidFill>
                <a:latin typeface="+mj-lt"/>
                <a:ea typeface="DengXian" panose="02010600030101010101" pitchFamily="2" charset="-122"/>
              </a:rPr>
              <a:t> </a:t>
            </a:r>
            <a:r>
              <a:rPr lang="zh-CN" altLang="en-US" sz="2800" dirty="0">
                <a:solidFill>
                  <a:srgbClr val="C00000"/>
                </a:solidFill>
                <a:latin typeface="+mj-lt"/>
                <a:cs typeface="Times New Roman" panose="02020603050405020304" pitchFamily="18" charset="0"/>
              </a:rPr>
              <a:t>①</a:t>
            </a:r>
            <a:r>
              <a:rPr lang="en-US" altLang="zh-CN" sz="2800" b="1" i="1" dirty="0">
                <a:solidFill>
                  <a:srgbClr val="33339B"/>
                </a:solidFill>
                <a:latin typeface="+mj-lt"/>
                <a:ea typeface="DengXian" panose="02010600030101010101" pitchFamily="2" charset="-122"/>
              </a:rPr>
              <a:t>report_A2.doc / report_A2.docx / report_A2.pdf</a:t>
            </a:r>
          </a:p>
          <a:p>
            <a:pPr>
              <a:lnSpc>
                <a:spcPct val="150000"/>
              </a:lnSpc>
            </a:pPr>
            <a:r>
              <a:rPr lang="en-US" altLang="zh-CN" sz="2800" dirty="0">
                <a:solidFill>
                  <a:srgbClr val="00B0F0"/>
                </a:solidFill>
                <a:latin typeface="+mj-lt"/>
                <a:cs typeface="Times New Roman" panose="02020603050405020304" pitchFamily="18" charset="0"/>
              </a:rPr>
              <a:t>	      </a:t>
            </a:r>
            <a:r>
              <a:rPr lang="zh-CN" altLang="en-US" sz="2800" dirty="0">
                <a:solidFill>
                  <a:srgbClr val="C00000"/>
                </a:solidFill>
                <a:latin typeface="+mj-lt"/>
                <a:cs typeface="Times New Roman" panose="02020603050405020304" pitchFamily="18" charset="0"/>
              </a:rPr>
              <a:t>②</a:t>
            </a:r>
            <a:r>
              <a:rPr lang="en-US" altLang="zh-CN" sz="2800" b="1" i="1" dirty="0">
                <a:solidFill>
                  <a:srgbClr val="33339B"/>
                </a:solidFill>
                <a:latin typeface="+mj-lt"/>
                <a:ea typeface="DengXian" panose="02010600030101010101" pitchFamily="2" charset="-122"/>
              </a:rPr>
              <a:t>university_A2.mdb / university_A2.accdb</a:t>
            </a:r>
          </a:p>
        </p:txBody>
      </p:sp>
    </p:spTree>
    <p:extLst>
      <p:ext uri="{BB962C8B-B14F-4D97-AF65-F5344CB8AC3E}">
        <p14:creationId xmlns:p14="http://schemas.microsoft.com/office/powerpoint/2010/main" val="20957509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9">
            <a:extLst>
              <a:ext uri="{FF2B5EF4-FFF2-40B4-BE49-F238E27FC236}">
                <a16:creationId xmlns:a16="http://schemas.microsoft.com/office/drawing/2014/main" id="{7D89991E-24EE-34F9-B73E-D65B80DCFB55}"/>
              </a:ext>
            </a:extLst>
          </p:cNvPr>
          <p:cNvSpPr/>
          <p:nvPr/>
        </p:nvSpPr>
        <p:spPr>
          <a:xfrm>
            <a:off x="546412" y="147705"/>
            <a:ext cx="10462909" cy="707886"/>
          </a:xfrm>
          <a:prstGeom prst="rect">
            <a:avLst/>
          </a:prstGeom>
        </p:spPr>
        <p:txBody>
          <a:bodyPr wrap="square">
            <a:spAutoFit/>
          </a:bodyPr>
          <a:lstStyle/>
          <a:p>
            <a:r>
              <a:rPr lang="en-US" altLang="zh-CN" sz="4000" b="1" dirty="0">
                <a:solidFill>
                  <a:srgbClr val="33339B"/>
                </a:solidFill>
                <a:latin typeface="Times New Roman" panose="02020603050405020304" pitchFamily="18" charset="0"/>
                <a:cs typeface="Times New Roman" panose="02020603050405020304" pitchFamily="18" charset="0"/>
              </a:rPr>
              <a:t>Requirements for submitting the assignment</a:t>
            </a:r>
          </a:p>
        </p:txBody>
      </p:sp>
      <p:sp>
        <p:nvSpPr>
          <p:cNvPr id="7" name="文本框 6">
            <a:extLst>
              <a:ext uri="{FF2B5EF4-FFF2-40B4-BE49-F238E27FC236}">
                <a16:creationId xmlns:a16="http://schemas.microsoft.com/office/drawing/2014/main" id="{E83EFD8F-C723-E342-0471-4D6B0B02135C}"/>
              </a:ext>
            </a:extLst>
          </p:cNvPr>
          <p:cNvSpPr txBox="1"/>
          <p:nvPr/>
        </p:nvSpPr>
        <p:spPr>
          <a:xfrm>
            <a:off x="139615" y="1261991"/>
            <a:ext cx="11912770" cy="3905043"/>
          </a:xfrm>
          <a:prstGeom prst="rect">
            <a:avLst/>
          </a:prstGeom>
          <a:noFill/>
        </p:spPr>
        <p:txBody>
          <a:bodyPr wrap="square">
            <a:spAutoFit/>
          </a:bodyPr>
          <a:lstStyle/>
          <a:p>
            <a:pPr>
              <a:lnSpc>
                <a:spcPct val="150000"/>
              </a:lnSpc>
            </a:pPr>
            <a:r>
              <a:rPr lang="en-US" altLang="zh-CN" sz="2400" b="1" dirty="0">
                <a:solidFill>
                  <a:srgbClr val="C00000"/>
                </a:solidFill>
                <a:latin typeface="微软雅黑" panose="020B0503020204020204" pitchFamily="34" charset="-122"/>
                <a:ea typeface="微软雅黑" panose="020B0503020204020204" pitchFamily="34" charset="-122"/>
                <a:cs typeface="Times New Roman" panose="02020603050405020304" pitchFamily="18" charset="0"/>
              </a:rPr>
              <a:t>Note: </a:t>
            </a:r>
          </a:p>
          <a:p>
            <a:pPr marL="457200" indent="-457200">
              <a:lnSpc>
                <a:spcPct val="150000"/>
              </a:lnSpc>
              <a:buFont typeface="Arial" panose="020B0604020202020204" pitchFamily="34" charset="0"/>
              <a:buChar char="•"/>
            </a:pPr>
            <a:r>
              <a:rPr lang="en-US" altLang="zh-CN" sz="2400" b="1" dirty="0">
                <a:latin typeface="微软雅黑" panose="020B0503020204020204" pitchFamily="34" charset="-122"/>
                <a:ea typeface="微软雅黑" panose="020B0503020204020204" pitchFamily="34" charset="-122"/>
                <a:cs typeface="Times New Roman" panose="02020603050405020304" pitchFamily="18" charset="0"/>
              </a:rPr>
              <a:t>Name and submit the files according to the </a:t>
            </a:r>
            <a:r>
              <a:rPr lang="en-US" altLang="zh-CN" sz="2400" b="1" dirty="0">
                <a:solidFill>
                  <a:srgbClr val="C00000"/>
                </a:solidFill>
                <a:latin typeface="微软雅黑" panose="020B0503020204020204" pitchFamily="34" charset="-122"/>
                <a:ea typeface="微软雅黑" panose="020B0503020204020204" pitchFamily="34" charset="-122"/>
                <a:cs typeface="Times New Roman" panose="02020603050405020304" pitchFamily="18" charset="0"/>
              </a:rPr>
              <a:t>prescribed format</a:t>
            </a:r>
            <a:r>
              <a:rPr lang="en-US" altLang="zh-CN" sz="2400" b="1" dirty="0">
                <a:latin typeface="微软雅黑" panose="020B0503020204020204" pitchFamily="34" charset="-122"/>
                <a:ea typeface="微软雅黑" panose="020B0503020204020204" pitchFamily="34" charset="-122"/>
                <a:cs typeface="Times New Roman" panose="02020603050405020304" pitchFamily="18" charset="0"/>
              </a:rPr>
              <a:t>!</a:t>
            </a:r>
          </a:p>
          <a:p>
            <a:pPr marL="457200" indent="-457200">
              <a:lnSpc>
                <a:spcPct val="150000"/>
              </a:lnSpc>
              <a:buFont typeface="Arial" panose="020B0604020202020204" pitchFamily="34" charset="0"/>
              <a:buChar char="•"/>
            </a:pPr>
            <a:r>
              <a:rPr lang="en-US" altLang="zh-CN" sz="2400" b="1" dirty="0">
                <a:latin typeface="微软雅黑" panose="020B0503020204020204" pitchFamily="34" charset="-122"/>
                <a:ea typeface="微软雅黑" panose="020B0503020204020204" pitchFamily="34" charset="-122"/>
              </a:rPr>
              <a:t>Include the </a:t>
            </a:r>
            <a:r>
              <a:rPr lang="en-US" altLang="zh-CN" sz="2400" b="1" dirty="0">
                <a:solidFill>
                  <a:srgbClr val="C00000"/>
                </a:solidFill>
                <a:latin typeface="微软雅黑" panose="020B0503020204020204" pitchFamily="34" charset="-122"/>
                <a:ea typeface="微软雅黑" panose="020B0503020204020204" pitchFamily="34" charset="-122"/>
              </a:rPr>
              <a:t>required files (docx, </a:t>
            </a:r>
            <a:r>
              <a:rPr lang="en-US" altLang="zh-CN" sz="2400" b="1" dirty="0" err="1">
                <a:solidFill>
                  <a:srgbClr val="C00000"/>
                </a:solidFill>
                <a:latin typeface="微软雅黑" panose="020B0503020204020204" pitchFamily="34" charset="-122"/>
                <a:ea typeface="微软雅黑" panose="020B0503020204020204" pitchFamily="34" charset="-122"/>
              </a:rPr>
              <a:t>accdb</a:t>
            </a:r>
            <a:r>
              <a:rPr lang="en-US" altLang="zh-CN" sz="2400" b="1" dirty="0">
                <a:solidFill>
                  <a:srgbClr val="C00000"/>
                </a:solidFill>
                <a:latin typeface="微软雅黑" panose="020B0503020204020204" pitchFamily="34" charset="-122"/>
                <a:ea typeface="微软雅黑" panose="020B0503020204020204" pitchFamily="34" charset="-122"/>
              </a:rPr>
              <a:t>, pdf..)</a:t>
            </a:r>
            <a:r>
              <a:rPr lang="en-US" altLang="zh-CN" sz="2400" b="1" dirty="0">
                <a:latin typeface="微软雅黑" panose="020B0503020204020204" pitchFamily="34" charset="-122"/>
                <a:ea typeface="微软雅黑" panose="020B0503020204020204" pitchFamily="34" charset="-122"/>
              </a:rPr>
              <a:t>. Each one is indispensable!</a:t>
            </a:r>
          </a:p>
          <a:p>
            <a:pPr marL="457200" indent="-457200">
              <a:lnSpc>
                <a:spcPct val="150000"/>
              </a:lnSpc>
              <a:buFont typeface="Arial" panose="020B0604020202020204" pitchFamily="34" charset="0"/>
              <a:buChar char="•"/>
            </a:pPr>
            <a:r>
              <a:rPr lang="en-US" altLang="zh-CN" sz="2400" b="1" dirty="0">
                <a:latin typeface="微软雅黑" panose="020B0503020204020204" pitchFamily="34" charset="-122"/>
                <a:ea typeface="微软雅黑" panose="020B0503020204020204" pitchFamily="34" charset="-122"/>
              </a:rPr>
              <a:t>Submit all the files in a </a:t>
            </a:r>
            <a:r>
              <a:rPr lang="en-US" altLang="zh-CN" sz="2400" b="1" dirty="0">
                <a:solidFill>
                  <a:srgbClr val="C00000"/>
                </a:solidFill>
                <a:latin typeface="微软雅黑" panose="020B0503020204020204" pitchFamily="34" charset="-122"/>
                <a:ea typeface="微软雅黑" panose="020B0503020204020204" pitchFamily="34" charset="-122"/>
              </a:rPr>
              <a:t>compressed format (zip, rar…)</a:t>
            </a:r>
            <a:r>
              <a:rPr lang="en-US" altLang="zh-CN" sz="2400" b="1" dirty="0">
                <a:latin typeface="微软雅黑" panose="020B0503020204020204" pitchFamily="34" charset="-122"/>
                <a:ea typeface="微软雅黑" panose="020B0503020204020204" pitchFamily="34" charset="-122"/>
              </a:rPr>
              <a:t>!</a:t>
            </a:r>
          </a:p>
          <a:p>
            <a:pPr marL="457200" indent="-457200">
              <a:lnSpc>
                <a:spcPct val="150000"/>
              </a:lnSpc>
              <a:buFont typeface="Arial" panose="020B0604020202020204" pitchFamily="34" charset="0"/>
              <a:buChar char="•"/>
            </a:pPr>
            <a:r>
              <a:rPr lang="en-US" altLang="zh-CN" sz="2400" b="1" dirty="0">
                <a:latin typeface="微软雅黑" panose="020B0503020204020204" pitchFamily="34" charset="-122"/>
                <a:ea typeface="微软雅黑" panose="020B0503020204020204" pitchFamily="34" charset="-122"/>
              </a:rPr>
              <a:t>Ensure the accuracy of your </a:t>
            </a:r>
            <a:r>
              <a:rPr lang="en-US" altLang="zh-CN" sz="2400" b="1" dirty="0">
                <a:solidFill>
                  <a:srgbClr val="C00000"/>
                </a:solidFill>
                <a:latin typeface="微软雅黑" panose="020B0503020204020204" pitchFamily="34" charset="-122"/>
                <a:ea typeface="微软雅黑" panose="020B0503020204020204" pitchFamily="34" charset="-122"/>
              </a:rPr>
              <a:t>name</a:t>
            </a:r>
            <a:r>
              <a:rPr lang="en-US" altLang="zh-CN" sz="2400" b="1" dirty="0">
                <a:latin typeface="微软雅黑" panose="020B0503020204020204" pitchFamily="34" charset="-122"/>
                <a:ea typeface="微软雅黑" panose="020B0503020204020204" pitchFamily="34" charset="-122"/>
              </a:rPr>
              <a:t>, </a:t>
            </a:r>
            <a:r>
              <a:rPr lang="en-US" altLang="zh-CN" sz="2400" b="1" dirty="0">
                <a:solidFill>
                  <a:srgbClr val="C00000"/>
                </a:solidFill>
                <a:latin typeface="微软雅黑" panose="020B0503020204020204" pitchFamily="34" charset="-122"/>
                <a:ea typeface="微软雅黑" panose="020B0503020204020204" pitchFamily="34" charset="-122"/>
              </a:rPr>
              <a:t>student ID</a:t>
            </a:r>
            <a:r>
              <a:rPr lang="en-US" altLang="zh-CN" sz="2400" b="1" dirty="0">
                <a:latin typeface="微软雅黑" panose="020B0503020204020204" pitchFamily="34" charset="-122"/>
                <a:ea typeface="微软雅黑" panose="020B0503020204020204" pitchFamily="34" charset="-122"/>
              </a:rPr>
              <a:t>, and even the </a:t>
            </a:r>
            <a:r>
              <a:rPr lang="en-US" altLang="zh-CN" sz="2400" b="1" dirty="0">
                <a:solidFill>
                  <a:srgbClr val="C00000"/>
                </a:solidFill>
                <a:latin typeface="微软雅黑" panose="020B0503020204020204" pitchFamily="34" charset="-122"/>
                <a:ea typeface="微软雅黑" panose="020B0503020204020204" pitchFamily="34" charset="-122"/>
              </a:rPr>
              <a:t>subject</a:t>
            </a:r>
            <a:r>
              <a:rPr lang="en-US" altLang="zh-CN" sz="2400" b="1" dirty="0">
                <a:latin typeface="微软雅黑" panose="020B0503020204020204" pitchFamily="34" charset="-122"/>
                <a:ea typeface="微软雅黑" panose="020B0503020204020204" pitchFamily="34" charset="-122"/>
              </a:rPr>
              <a:t> you are submitting for!!!</a:t>
            </a:r>
          </a:p>
          <a:p>
            <a:pPr marL="457200" indent="-457200">
              <a:lnSpc>
                <a:spcPct val="150000"/>
              </a:lnSpc>
              <a:buFont typeface="Arial" panose="020B0604020202020204" pitchFamily="34" charset="0"/>
              <a:buChar char="•"/>
            </a:pPr>
            <a:r>
              <a:rPr lang="en-US" altLang="zh-CN" sz="2400" b="1" dirty="0">
                <a:latin typeface="微软雅黑" panose="020B0503020204020204" pitchFamily="34" charset="-122"/>
                <a:ea typeface="微软雅黑" panose="020B0503020204020204" pitchFamily="34" charset="-122"/>
              </a:rPr>
              <a:t>Submit your report on time!! Late submissions will </a:t>
            </a:r>
            <a:r>
              <a:rPr lang="en-US" altLang="zh-CN" sz="2400" b="1" dirty="0">
                <a:solidFill>
                  <a:srgbClr val="C00000"/>
                </a:solidFill>
                <a:latin typeface="微软雅黑" panose="020B0503020204020204" pitchFamily="34" charset="-122"/>
                <a:ea typeface="微软雅黑" panose="020B0503020204020204" pitchFamily="34" charset="-122"/>
              </a:rPr>
              <a:t>not be accepted </a:t>
            </a:r>
            <a:r>
              <a:rPr lang="en-US" altLang="zh-CN" sz="2400" b="1" dirty="0">
                <a:latin typeface="微软雅黑" panose="020B0503020204020204" pitchFamily="34" charset="-122"/>
                <a:ea typeface="微软雅黑" panose="020B0503020204020204" pitchFamily="34" charset="-122"/>
              </a:rPr>
              <a:t>now!</a:t>
            </a:r>
          </a:p>
        </p:txBody>
      </p:sp>
    </p:spTree>
    <p:extLst>
      <p:ext uri="{BB962C8B-B14F-4D97-AF65-F5344CB8AC3E}">
        <p14:creationId xmlns:p14="http://schemas.microsoft.com/office/powerpoint/2010/main" val="27093187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357240D-CD8E-9B76-09DC-277985C5C2D8}"/>
              </a:ext>
            </a:extLst>
          </p:cNvPr>
          <p:cNvSpPr/>
          <p:nvPr/>
        </p:nvSpPr>
        <p:spPr>
          <a:xfrm>
            <a:off x="814963" y="1560092"/>
            <a:ext cx="11112294" cy="2719206"/>
          </a:xfrm>
          <a:prstGeom prst="rect">
            <a:avLst/>
          </a:prstGeom>
        </p:spPr>
        <p:txBody>
          <a:bodyPr wrap="square">
            <a:spAutoFit/>
          </a:bodyPr>
          <a:lstStyle/>
          <a:p>
            <a:pPr marL="1028700" indent="-1028700">
              <a:lnSpc>
                <a:spcPct val="150000"/>
              </a:lnSpc>
              <a:buFont typeface="+mj-lt"/>
              <a:buAutoNum type="romanUcPeriod"/>
            </a:pPr>
            <a:r>
              <a:rPr lang="en-US" altLang="zh-CN" sz="6000" b="1" u="sng" dirty="0">
                <a:effectLst>
                  <a:outerShdw blurRad="38100" dist="38100" dir="2700000" algn="tl">
                    <a:srgbClr val="000000">
                      <a:alpha val="43137"/>
                    </a:srgbClr>
                  </a:outerShdw>
                </a:effectLst>
                <a:latin typeface="+mj-lt"/>
                <a:cs typeface="Times New Roman" panose="02020603050405020304" pitchFamily="18" charset="0"/>
              </a:rPr>
              <a:t>Tutorial with Project Examples</a:t>
            </a:r>
          </a:p>
          <a:p>
            <a:pPr marL="1028700" indent="-1028700">
              <a:lnSpc>
                <a:spcPct val="150000"/>
              </a:lnSpc>
              <a:buFont typeface="+mj-lt"/>
              <a:buAutoNum type="romanUcPeriod"/>
            </a:pPr>
            <a:r>
              <a:rPr lang="en-US" altLang="zh-CN" sz="6000" b="1" dirty="0">
                <a:solidFill>
                  <a:schemeClr val="bg1">
                    <a:lumMod val="50000"/>
                  </a:schemeClr>
                </a:solidFill>
                <a:latin typeface="+mj-lt"/>
                <a:cs typeface="Times New Roman" panose="02020603050405020304" pitchFamily="18" charset="0"/>
              </a:rPr>
              <a:t>Assignment</a:t>
            </a:r>
          </a:p>
        </p:txBody>
      </p:sp>
      <p:sp>
        <p:nvSpPr>
          <p:cNvPr id="3" name="Rectangle 9">
            <a:extLst>
              <a:ext uri="{FF2B5EF4-FFF2-40B4-BE49-F238E27FC236}">
                <a16:creationId xmlns:a16="http://schemas.microsoft.com/office/drawing/2014/main" id="{D2F0A02F-50C8-DFB8-46B3-67D040FCF552}"/>
              </a:ext>
            </a:extLst>
          </p:cNvPr>
          <p:cNvSpPr/>
          <p:nvPr/>
        </p:nvSpPr>
        <p:spPr>
          <a:xfrm>
            <a:off x="814963" y="452096"/>
            <a:ext cx="10562074" cy="1107996"/>
          </a:xfrm>
          <a:prstGeom prst="rect">
            <a:avLst/>
          </a:prstGeom>
        </p:spPr>
        <p:txBody>
          <a:bodyPr wrap="square">
            <a:spAutoFit/>
          </a:bodyPr>
          <a:lstStyle/>
          <a:p>
            <a:pPr algn="ctr"/>
            <a:r>
              <a:rPr lang="en-US" altLang="zh-CN" sz="6600" b="1" dirty="0">
                <a:solidFill>
                  <a:srgbClr val="C00000"/>
                </a:solidFill>
                <a:latin typeface="Times New Roman" panose="02020603050405020304" pitchFamily="18" charset="0"/>
                <a:cs typeface="Times New Roman" panose="02020603050405020304" pitchFamily="18" charset="0"/>
              </a:rPr>
              <a:t>Project 2</a:t>
            </a:r>
          </a:p>
        </p:txBody>
      </p:sp>
    </p:spTree>
    <p:extLst>
      <p:ext uri="{BB962C8B-B14F-4D97-AF65-F5344CB8AC3E}">
        <p14:creationId xmlns:p14="http://schemas.microsoft.com/office/powerpoint/2010/main" val="361812963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9">
            <a:extLst>
              <a:ext uri="{FF2B5EF4-FFF2-40B4-BE49-F238E27FC236}">
                <a16:creationId xmlns:a16="http://schemas.microsoft.com/office/drawing/2014/main" id="{0EFE2376-731C-2691-DC44-8647A60415BD}"/>
              </a:ext>
            </a:extLst>
          </p:cNvPr>
          <p:cNvSpPr/>
          <p:nvPr/>
        </p:nvSpPr>
        <p:spPr>
          <a:xfrm>
            <a:off x="486172" y="205503"/>
            <a:ext cx="109743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Tutorial with Project Examples</a:t>
            </a:r>
          </a:p>
        </p:txBody>
      </p:sp>
      <p:sp>
        <p:nvSpPr>
          <p:cNvPr id="20" name="Rectangle 6">
            <a:extLst>
              <a:ext uri="{FF2B5EF4-FFF2-40B4-BE49-F238E27FC236}">
                <a16:creationId xmlns:a16="http://schemas.microsoft.com/office/drawing/2014/main" id="{FE4CE1FB-70B9-4A46-8F3B-650F8DFA7482}"/>
              </a:ext>
            </a:extLst>
          </p:cNvPr>
          <p:cNvSpPr/>
          <p:nvPr/>
        </p:nvSpPr>
        <p:spPr>
          <a:xfrm>
            <a:off x="176759" y="1141164"/>
            <a:ext cx="4677343" cy="707886"/>
          </a:xfrm>
          <a:prstGeom prst="rect">
            <a:avLst/>
          </a:prstGeom>
        </p:spPr>
        <p:txBody>
          <a:bodyPr wrap="square">
            <a:spAutoFit/>
          </a:bodyPr>
          <a:lstStyle/>
          <a:p>
            <a:r>
              <a:rPr lang="en-US" sz="4000" b="1" dirty="0">
                <a:solidFill>
                  <a:srgbClr val="33339B"/>
                </a:solidFill>
                <a:latin typeface="Times New Roman" panose="02020603050405020304" pitchFamily="18" charset="0"/>
                <a:cs typeface="Times New Roman" panose="02020603050405020304" pitchFamily="18" charset="0"/>
              </a:rPr>
              <a:t>1. </a:t>
            </a:r>
            <a:r>
              <a:rPr lang="en-US" altLang="zh-CN" sz="4000" b="1" dirty="0">
                <a:solidFill>
                  <a:srgbClr val="33339B"/>
                </a:solidFill>
                <a:latin typeface="Times New Roman" panose="02020603050405020304" pitchFamily="18" charset="0"/>
                <a:cs typeface="Times New Roman" panose="02020603050405020304" pitchFamily="18" charset="0"/>
              </a:rPr>
              <a:t>Preparation Work </a:t>
            </a:r>
          </a:p>
        </p:txBody>
      </p:sp>
      <p:sp>
        <p:nvSpPr>
          <p:cNvPr id="21" name="Rectangle 8">
            <a:extLst>
              <a:ext uri="{FF2B5EF4-FFF2-40B4-BE49-F238E27FC236}">
                <a16:creationId xmlns:a16="http://schemas.microsoft.com/office/drawing/2014/main" id="{74D03C97-C0E1-4443-A148-6EBD4F232048}"/>
              </a:ext>
            </a:extLst>
          </p:cNvPr>
          <p:cNvSpPr/>
          <p:nvPr/>
        </p:nvSpPr>
        <p:spPr>
          <a:xfrm>
            <a:off x="486172" y="1856173"/>
            <a:ext cx="6428363" cy="584775"/>
          </a:xfrm>
          <a:prstGeom prst="rect">
            <a:avLst/>
          </a:prstGeom>
        </p:spPr>
        <p:txBody>
          <a:bodyPr wrap="none">
            <a:spAutoFit/>
          </a:bodyPr>
          <a:lstStyle/>
          <a:p>
            <a:r>
              <a:rPr lang="zh-CN" altLang="en-US" sz="3200" b="1" dirty="0">
                <a:latin typeface="Times New Roman" panose="02020603050405020304" pitchFamily="18" charset="0"/>
                <a:cs typeface="Times New Roman" panose="02020603050405020304" pitchFamily="18" charset="0"/>
              </a:rPr>
              <a:t>①</a:t>
            </a:r>
            <a:r>
              <a:rPr lang="en-US" sz="3200" b="1" dirty="0">
                <a:latin typeface="Times New Roman" panose="02020603050405020304" pitchFamily="18" charset="0"/>
                <a:cs typeface="Times New Roman" panose="02020603050405020304" pitchFamily="18" charset="0"/>
              </a:rPr>
              <a:t>Download the following data files</a:t>
            </a:r>
          </a:p>
        </p:txBody>
      </p:sp>
      <p:pic>
        <p:nvPicPr>
          <p:cNvPr id="23" name="图片 22">
            <a:extLst>
              <a:ext uri="{FF2B5EF4-FFF2-40B4-BE49-F238E27FC236}">
                <a16:creationId xmlns:a16="http://schemas.microsoft.com/office/drawing/2014/main" id="{13FB28C7-D230-4ED1-A05B-3B41C12AC432}"/>
              </a:ext>
            </a:extLst>
          </p:cNvPr>
          <p:cNvPicPr>
            <a:picLocks noChangeAspect="1"/>
          </p:cNvPicPr>
          <p:nvPr/>
        </p:nvPicPr>
        <p:blipFill rotWithShape="1">
          <a:blip r:embed="rId2"/>
          <a:srcRect t="27923"/>
          <a:stretch/>
        </p:blipFill>
        <p:spPr>
          <a:xfrm>
            <a:off x="2446016" y="2549350"/>
            <a:ext cx="3649984" cy="760633"/>
          </a:xfrm>
          <a:prstGeom prst="rect">
            <a:avLst/>
          </a:prstGeom>
          <a:ln>
            <a:solidFill>
              <a:schemeClr val="tx1"/>
            </a:solidFill>
          </a:ln>
        </p:spPr>
      </p:pic>
      <p:sp>
        <p:nvSpPr>
          <p:cNvPr id="24" name="Rectangle 8">
            <a:extLst>
              <a:ext uri="{FF2B5EF4-FFF2-40B4-BE49-F238E27FC236}">
                <a16:creationId xmlns:a16="http://schemas.microsoft.com/office/drawing/2014/main" id="{A1024E19-8C7D-41B8-9470-534153722F36}"/>
              </a:ext>
            </a:extLst>
          </p:cNvPr>
          <p:cNvSpPr/>
          <p:nvPr/>
        </p:nvSpPr>
        <p:spPr>
          <a:xfrm>
            <a:off x="486172" y="3309983"/>
            <a:ext cx="10517174" cy="584775"/>
          </a:xfrm>
          <a:prstGeom prst="rect">
            <a:avLst/>
          </a:prstGeom>
        </p:spPr>
        <p:txBody>
          <a:bodyPr wrap="none">
            <a:spAutoFit/>
          </a:bodyPr>
          <a:lstStyle/>
          <a:p>
            <a:r>
              <a:rPr lang="zh-CN" altLang="en-US" sz="3200" b="1" dirty="0">
                <a:latin typeface="Times New Roman" panose="02020603050405020304" pitchFamily="18" charset="0"/>
                <a:cs typeface="Times New Roman" panose="02020603050405020304" pitchFamily="18" charset="0"/>
              </a:rPr>
              <a:t>②</a:t>
            </a:r>
            <a:r>
              <a:rPr lang="en-US" sz="3200" b="1" dirty="0">
                <a:latin typeface="Times New Roman" panose="02020603050405020304" pitchFamily="18" charset="0"/>
                <a:cs typeface="Times New Roman" panose="02020603050405020304" pitchFamily="18" charset="0"/>
              </a:rPr>
              <a:t>Import the txt into the lab2.accdb and create three tables</a:t>
            </a:r>
          </a:p>
        </p:txBody>
      </p:sp>
      <p:pic>
        <p:nvPicPr>
          <p:cNvPr id="25" name="Picture 1">
            <a:extLst>
              <a:ext uri="{FF2B5EF4-FFF2-40B4-BE49-F238E27FC236}">
                <a16:creationId xmlns:a16="http://schemas.microsoft.com/office/drawing/2014/main" id="{E3B2CE25-C505-4F4F-ADD9-EA914F6A2C56}"/>
              </a:ext>
            </a:extLst>
          </p:cNvPr>
          <p:cNvPicPr>
            <a:picLocks noChangeAspect="1"/>
          </p:cNvPicPr>
          <p:nvPr/>
        </p:nvPicPr>
        <p:blipFill rotWithShape="1">
          <a:blip r:embed="rId3">
            <a:extLst>
              <a:ext uri="{28A0092B-C50C-407E-A947-70E740481C1C}">
                <a14:useLocalDpi xmlns:a14="http://schemas.microsoft.com/office/drawing/2010/main" val="0"/>
              </a:ext>
            </a:extLst>
          </a:blip>
          <a:srcRect l="4814" r="351" b="51729"/>
          <a:stretch/>
        </p:blipFill>
        <p:spPr>
          <a:xfrm>
            <a:off x="837072" y="4486656"/>
            <a:ext cx="3644251" cy="1832081"/>
          </a:xfrm>
          <a:prstGeom prst="rect">
            <a:avLst/>
          </a:prstGeom>
          <a:ln>
            <a:solidFill>
              <a:schemeClr val="tx1"/>
            </a:solidFill>
          </a:ln>
        </p:spPr>
      </p:pic>
      <p:sp>
        <p:nvSpPr>
          <p:cNvPr id="26" name="文本框 25">
            <a:extLst>
              <a:ext uri="{FF2B5EF4-FFF2-40B4-BE49-F238E27FC236}">
                <a16:creationId xmlns:a16="http://schemas.microsoft.com/office/drawing/2014/main" id="{8544FCAD-D495-4722-8442-C391E907D4EF}"/>
              </a:ext>
            </a:extLst>
          </p:cNvPr>
          <p:cNvSpPr txBox="1"/>
          <p:nvPr/>
        </p:nvSpPr>
        <p:spPr>
          <a:xfrm>
            <a:off x="2136541" y="4040656"/>
            <a:ext cx="962549" cy="368755"/>
          </a:xfrm>
          <a:prstGeom prst="rect">
            <a:avLst/>
          </a:prstGeom>
          <a:noFill/>
        </p:spPr>
        <p:txBody>
          <a:bodyPr wrap="square">
            <a:spAutoFit/>
          </a:bodyPr>
          <a:lstStyle/>
          <a:p>
            <a:pPr algn="just">
              <a:lnSpc>
                <a:spcPct val="107000"/>
              </a:lnSpc>
              <a:spcAft>
                <a:spcPts val="800"/>
              </a:spcAft>
            </a:pPr>
            <a:r>
              <a:rPr lang="en-US" altLang="zh-CN" sz="1800" b="1" dirty="0">
                <a:solidFill>
                  <a:srgbClr val="000000"/>
                </a:solidFill>
                <a:latin typeface="Times New Roman" panose="02020603050405020304" pitchFamily="18" charset="0"/>
                <a:ea typeface="DengXian" panose="02010600030101010101" pitchFamily="2" charset="-122"/>
                <a:cs typeface="Times New Roman" panose="02020603050405020304" pitchFamily="18" charset="0"/>
              </a:rPr>
              <a:t>Sailor</a:t>
            </a:r>
          </a:p>
        </p:txBody>
      </p:sp>
      <p:pic>
        <p:nvPicPr>
          <p:cNvPr id="27" name="Picture 1">
            <a:extLst>
              <a:ext uri="{FF2B5EF4-FFF2-40B4-BE49-F238E27FC236}">
                <a16:creationId xmlns:a16="http://schemas.microsoft.com/office/drawing/2014/main" id="{D97FE4F5-7E6D-4220-902A-C66C69F87EE8}"/>
              </a:ext>
            </a:extLst>
          </p:cNvPr>
          <p:cNvPicPr>
            <a:picLocks noChangeAspect="1"/>
          </p:cNvPicPr>
          <p:nvPr/>
        </p:nvPicPr>
        <p:blipFill rotWithShape="1">
          <a:blip r:embed="rId4">
            <a:extLst>
              <a:ext uri="{28A0092B-C50C-407E-A947-70E740481C1C}">
                <a14:useLocalDpi xmlns:a14="http://schemas.microsoft.com/office/drawing/2010/main" val="0"/>
              </a:ext>
            </a:extLst>
          </a:blip>
          <a:srcRect l="9055"/>
          <a:stretch/>
        </p:blipFill>
        <p:spPr>
          <a:xfrm>
            <a:off x="5096633" y="4486656"/>
            <a:ext cx="2636858" cy="1832081"/>
          </a:xfrm>
          <a:prstGeom prst="rect">
            <a:avLst/>
          </a:prstGeom>
          <a:ln>
            <a:solidFill>
              <a:schemeClr val="tx1"/>
            </a:solidFill>
          </a:ln>
        </p:spPr>
      </p:pic>
      <p:sp>
        <p:nvSpPr>
          <p:cNvPr id="28" name="Rectangle 8">
            <a:extLst>
              <a:ext uri="{FF2B5EF4-FFF2-40B4-BE49-F238E27FC236}">
                <a16:creationId xmlns:a16="http://schemas.microsoft.com/office/drawing/2014/main" id="{C7EACCDD-051C-4BFB-8E6F-15A27A7741C7}"/>
              </a:ext>
            </a:extLst>
          </p:cNvPr>
          <p:cNvSpPr/>
          <p:nvPr/>
        </p:nvSpPr>
        <p:spPr>
          <a:xfrm>
            <a:off x="6057150" y="4040656"/>
            <a:ext cx="962549" cy="368755"/>
          </a:xfrm>
          <a:prstGeom prst="rect">
            <a:avLst/>
          </a:prstGeom>
          <a:noFill/>
        </p:spPr>
        <p:txBody>
          <a:bodyPr wrap="square">
            <a:spAutoFit/>
          </a:bodyPr>
          <a:lstStyle/>
          <a:p>
            <a:pPr algn="just">
              <a:lnSpc>
                <a:spcPct val="107000"/>
              </a:lnSpc>
              <a:spcAft>
                <a:spcPts val="800"/>
              </a:spcAft>
            </a:pPr>
            <a:r>
              <a:rPr lang="en-US" b="1" dirty="0">
                <a:solidFill>
                  <a:srgbClr val="000000"/>
                </a:solidFill>
                <a:latin typeface="Times New Roman" panose="02020603050405020304" pitchFamily="18" charset="0"/>
                <a:ea typeface="DengXian" panose="02010600030101010101" pitchFamily="2" charset="-122"/>
                <a:cs typeface="Times New Roman" panose="02020603050405020304" pitchFamily="18" charset="0"/>
              </a:rPr>
              <a:t>Boats</a:t>
            </a:r>
          </a:p>
        </p:txBody>
      </p:sp>
      <p:sp>
        <p:nvSpPr>
          <p:cNvPr id="29" name="Rectangle 8">
            <a:extLst>
              <a:ext uri="{FF2B5EF4-FFF2-40B4-BE49-F238E27FC236}">
                <a16:creationId xmlns:a16="http://schemas.microsoft.com/office/drawing/2014/main" id="{3D434855-6314-45DB-9E55-2C125349B3CB}"/>
              </a:ext>
            </a:extLst>
          </p:cNvPr>
          <p:cNvSpPr/>
          <p:nvPr/>
        </p:nvSpPr>
        <p:spPr>
          <a:xfrm>
            <a:off x="9417104" y="4040656"/>
            <a:ext cx="1318415" cy="368755"/>
          </a:xfrm>
          <a:prstGeom prst="rect">
            <a:avLst/>
          </a:prstGeom>
          <a:noFill/>
        </p:spPr>
        <p:txBody>
          <a:bodyPr wrap="square">
            <a:spAutoFit/>
          </a:bodyPr>
          <a:lstStyle/>
          <a:p>
            <a:pPr algn="just">
              <a:lnSpc>
                <a:spcPct val="107000"/>
              </a:lnSpc>
              <a:spcAft>
                <a:spcPts val="800"/>
              </a:spcAft>
            </a:pPr>
            <a:r>
              <a:rPr lang="en-US" b="1" dirty="0">
                <a:solidFill>
                  <a:srgbClr val="000000"/>
                </a:solidFill>
                <a:latin typeface="Times New Roman" panose="02020603050405020304" pitchFamily="18" charset="0"/>
                <a:ea typeface="DengXian" panose="02010600030101010101" pitchFamily="2" charset="-122"/>
                <a:cs typeface="Times New Roman" panose="02020603050405020304" pitchFamily="18" charset="0"/>
              </a:rPr>
              <a:t>Reserves</a:t>
            </a:r>
          </a:p>
        </p:txBody>
      </p:sp>
      <p:pic>
        <p:nvPicPr>
          <p:cNvPr id="30" name="图片 29">
            <a:extLst>
              <a:ext uri="{FF2B5EF4-FFF2-40B4-BE49-F238E27FC236}">
                <a16:creationId xmlns:a16="http://schemas.microsoft.com/office/drawing/2014/main" id="{ABE37918-29BD-4CF2-BDC7-D2FF9D059E83}"/>
              </a:ext>
            </a:extLst>
          </p:cNvPr>
          <p:cNvPicPr>
            <a:picLocks noChangeAspect="1"/>
          </p:cNvPicPr>
          <p:nvPr/>
        </p:nvPicPr>
        <p:blipFill>
          <a:blip r:embed="rId5"/>
          <a:stretch>
            <a:fillRect/>
          </a:stretch>
        </p:blipFill>
        <p:spPr>
          <a:xfrm>
            <a:off x="8673918" y="4470466"/>
            <a:ext cx="2566367" cy="1832081"/>
          </a:xfrm>
          <a:prstGeom prst="rect">
            <a:avLst/>
          </a:prstGeom>
          <a:ln>
            <a:solidFill>
              <a:schemeClr val="tx1"/>
            </a:solidFill>
          </a:ln>
        </p:spPr>
      </p:pic>
      <p:sp>
        <p:nvSpPr>
          <p:cNvPr id="13" name="文本框 12">
            <a:extLst>
              <a:ext uri="{FF2B5EF4-FFF2-40B4-BE49-F238E27FC236}">
                <a16:creationId xmlns:a16="http://schemas.microsoft.com/office/drawing/2014/main" id="{12978A86-B3E9-42E4-8C26-98381CC9CB05}"/>
              </a:ext>
            </a:extLst>
          </p:cNvPr>
          <p:cNvSpPr txBox="1"/>
          <p:nvPr/>
        </p:nvSpPr>
        <p:spPr>
          <a:xfrm>
            <a:off x="6002707" y="1280462"/>
            <a:ext cx="5342421" cy="646331"/>
          </a:xfrm>
          <a:prstGeom prst="rect">
            <a:avLst/>
          </a:prstGeom>
          <a:noFill/>
          <a:ln>
            <a:solidFill>
              <a:srgbClr val="C00000"/>
            </a:solidFill>
          </a:ln>
        </p:spPr>
        <p:txBody>
          <a:bodyPr wrap="square" rtlCol="0">
            <a:spAutoFit/>
          </a:bodyPr>
          <a:lstStyle/>
          <a:p>
            <a:pPr algn="just"/>
            <a:r>
              <a:rPr lang="en-US" altLang="zh-CN" dirty="0">
                <a:latin typeface="Times New Roman" panose="02020603050405020304" pitchFamily="18" charset="0"/>
                <a:cs typeface="Times New Roman" panose="02020603050405020304" pitchFamily="18" charset="0"/>
              </a:rPr>
              <a:t>It is solely used for demonstrating the operational process and is not part of the experimental requirements.</a:t>
            </a:r>
            <a:endParaRPr lang="zh-CN" alt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977022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9">
            <a:extLst>
              <a:ext uri="{FF2B5EF4-FFF2-40B4-BE49-F238E27FC236}">
                <a16:creationId xmlns:a16="http://schemas.microsoft.com/office/drawing/2014/main" id="{0EFE2376-731C-2691-DC44-8647A60415BD}"/>
              </a:ext>
            </a:extLst>
          </p:cNvPr>
          <p:cNvSpPr/>
          <p:nvPr/>
        </p:nvSpPr>
        <p:spPr>
          <a:xfrm>
            <a:off x="486172" y="205503"/>
            <a:ext cx="109743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Tutorial with Project Examples</a:t>
            </a:r>
          </a:p>
        </p:txBody>
      </p:sp>
      <p:sp>
        <p:nvSpPr>
          <p:cNvPr id="20" name="Rectangle 6">
            <a:extLst>
              <a:ext uri="{FF2B5EF4-FFF2-40B4-BE49-F238E27FC236}">
                <a16:creationId xmlns:a16="http://schemas.microsoft.com/office/drawing/2014/main" id="{FE4CE1FB-70B9-4A46-8F3B-650F8DFA7482}"/>
              </a:ext>
            </a:extLst>
          </p:cNvPr>
          <p:cNvSpPr/>
          <p:nvPr/>
        </p:nvSpPr>
        <p:spPr>
          <a:xfrm>
            <a:off x="176758" y="1141164"/>
            <a:ext cx="7877743" cy="707886"/>
          </a:xfrm>
          <a:prstGeom prst="rect">
            <a:avLst/>
          </a:prstGeom>
        </p:spPr>
        <p:txBody>
          <a:bodyPr wrap="square">
            <a:spAutoFit/>
          </a:bodyPr>
          <a:lstStyle/>
          <a:p>
            <a:r>
              <a:rPr lang="en-US" sz="4000" b="1" dirty="0">
                <a:solidFill>
                  <a:srgbClr val="33339B"/>
                </a:solidFill>
                <a:latin typeface="Times New Roman" panose="02020603050405020304" pitchFamily="18" charset="0"/>
                <a:cs typeface="Times New Roman" panose="02020603050405020304" pitchFamily="18" charset="0"/>
              </a:rPr>
              <a:t>2. </a:t>
            </a:r>
            <a:r>
              <a:rPr lang="en-US" altLang="zh-CN" sz="4000" b="1" dirty="0">
                <a:solidFill>
                  <a:srgbClr val="33339B"/>
                </a:solidFill>
                <a:latin typeface="Times New Roman" panose="02020603050405020304" pitchFamily="18" charset="0"/>
                <a:cs typeface="Times New Roman" panose="02020603050405020304" pitchFamily="18" charset="0"/>
              </a:rPr>
              <a:t>Simple Example of Using SQL</a:t>
            </a:r>
          </a:p>
        </p:txBody>
      </p:sp>
      <p:sp>
        <p:nvSpPr>
          <p:cNvPr id="13" name="Rectangle 8">
            <a:extLst>
              <a:ext uri="{FF2B5EF4-FFF2-40B4-BE49-F238E27FC236}">
                <a16:creationId xmlns:a16="http://schemas.microsoft.com/office/drawing/2014/main" id="{DF2831E3-3B99-40DA-B6A9-BCE788DC2931}"/>
              </a:ext>
            </a:extLst>
          </p:cNvPr>
          <p:cNvSpPr/>
          <p:nvPr/>
        </p:nvSpPr>
        <p:spPr>
          <a:xfrm>
            <a:off x="486172" y="1856173"/>
            <a:ext cx="9918217" cy="584775"/>
          </a:xfrm>
          <a:prstGeom prst="rect">
            <a:avLst/>
          </a:prstGeom>
        </p:spPr>
        <p:txBody>
          <a:bodyPr wrap="square">
            <a:spAutoFit/>
          </a:bodyPr>
          <a:lstStyle/>
          <a:p>
            <a:r>
              <a:rPr lang="en-US" sz="3200" b="1" dirty="0">
                <a:latin typeface="Times New Roman" panose="02020603050405020304" pitchFamily="18" charset="0"/>
                <a:cs typeface="Times New Roman" panose="02020603050405020304" pitchFamily="18" charset="0"/>
              </a:rPr>
              <a:t>Print records in Boats Table that Boat’s color is red</a:t>
            </a:r>
          </a:p>
        </p:txBody>
      </p:sp>
      <p:grpSp>
        <p:nvGrpSpPr>
          <p:cNvPr id="7" name="组合 6">
            <a:extLst>
              <a:ext uri="{FF2B5EF4-FFF2-40B4-BE49-F238E27FC236}">
                <a16:creationId xmlns:a16="http://schemas.microsoft.com/office/drawing/2014/main" id="{6811F219-AF4A-4A21-9C54-D65681A76750}"/>
              </a:ext>
            </a:extLst>
          </p:cNvPr>
          <p:cNvGrpSpPr/>
          <p:nvPr/>
        </p:nvGrpSpPr>
        <p:grpSpPr>
          <a:xfrm>
            <a:off x="486172" y="2751950"/>
            <a:ext cx="11034337" cy="3323809"/>
            <a:chOff x="486172" y="2751950"/>
            <a:chExt cx="11034337" cy="3323809"/>
          </a:xfrm>
        </p:grpSpPr>
        <p:pic>
          <p:nvPicPr>
            <p:cNvPr id="4" name="图片 3">
              <a:extLst>
                <a:ext uri="{FF2B5EF4-FFF2-40B4-BE49-F238E27FC236}">
                  <a16:creationId xmlns:a16="http://schemas.microsoft.com/office/drawing/2014/main" id="{236B7920-D79C-43AB-BCED-82A6841E7EC5}"/>
                </a:ext>
              </a:extLst>
            </p:cNvPr>
            <p:cNvPicPr>
              <a:picLocks noChangeAspect="1"/>
            </p:cNvPicPr>
            <p:nvPr/>
          </p:nvPicPr>
          <p:blipFill>
            <a:blip r:embed="rId3"/>
            <a:stretch>
              <a:fillRect/>
            </a:stretch>
          </p:blipFill>
          <p:spPr>
            <a:xfrm>
              <a:off x="486172" y="2751950"/>
              <a:ext cx="5352381" cy="332380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6" name="图片 5">
              <a:extLst>
                <a:ext uri="{FF2B5EF4-FFF2-40B4-BE49-F238E27FC236}">
                  <a16:creationId xmlns:a16="http://schemas.microsoft.com/office/drawing/2014/main" id="{FD6ADCE3-2071-4ACC-B06B-D6A1DE8A858D}"/>
                </a:ext>
              </a:extLst>
            </p:cNvPr>
            <p:cNvPicPr>
              <a:picLocks noChangeAspect="1"/>
            </p:cNvPicPr>
            <p:nvPr/>
          </p:nvPicPr>
          <p:blipFill>
            <a:blip r:embed="rId4"/>
            <a:stretch>
              <a:fillRect/>
            </a:stretch>
          </p:blipFill>
          <p:spPr>
            <a:xfrm>
              <a:off x="7739557" y="3863385"/>
              <a:ext cx="3780952" cy="112381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cxnSp>
          <p:nvCxnSpPr>
            <p:cNvPr id="8" name="直接箭头连接符 7">
              <a:extLst>
                <a:ext uri="{FF2B5EF4-FFF2-40B4-BE49-F238E27FC236}">
                  <a16:creationId xmlns:a16="http://schemas.microsoft.com/office/drawing/2014/main" id="{6CC5CB47-CC66-458E-944D-7312CD09B7C6}"/>
                </a:ext>
              </a:extLst>
            </p:cNvPr>
            <p:cNvCxnSpPr>
              <a:stCxn id="4" idx="3"/>
              <a:endCxn id="6" idx="1"/>
            </p:cNvCxnSpPr>
            <p:nvPr/>
          </p:nvCxnSpPr>
          <p:spPr>
            <a:xfrm>
              <a:off x="5838553" y="4413855"/>
              <a:ext cx="1901004" cy="11435"/>
            </a:xfrm>
            <a:prstGeom prst="straightConnector1">
              <a:avLst/>
            </a:prstGeom>
            <a:ln w="63500" cap="rnd">
              <a:round/>
              <a:headEnd w="lg" len="lg"/>
              <a:tailEnd type="triangle"/>
            </a:ln>
          </p:spPr>
          <p:style>
            <a:lnRef idx="1">
              <a:schemeClr val="accent1"/>
            </a:lnRef>
            <a:fillRef idx="0">
              <a:schemeClr val="accent1"/>
            </a:fillRef>
            <a:effectRef idx="0">
              <a:schemeClr val="accent1"/>
            </a:effectRef>
            <a:fontRef idx="minor">
              <a:schemeClr val="tx1"/>
            </a:fontRef>
          </p:style>
        </p:cxnSp>
        <p:sp>
          <p:nvSpPr>
            <p:cNvPr id="12" name="Rectangle 8">
              <a:extLst>
                <a:ext uri="{FF2B5EF4-FFF2-40B4-BE49-F238E27FC236}">
                  <a16:creationId xmlns:a16="http://schemas.microsoft.com/office/drawing/2014/main" id="{93B99C8C-D08A-4E73-B9DE-C1567FA0D6E2}"/>
                </a:ext>
              </a:extLst>
            </p:cNvPr>
            <p:cNvSpPr/>
            <p:nvPr/>
          </p:nvSpPr>
          <p:spPr>
            <a:xfrm>
              <a:off x="6096000" y="3829080"/>
              <a:ext cx="1513560" cy="584775"/>
            </a:xfrm>
            <a:prstGeom prst="rect">
              <a:avLst/>
            </a:prstGeom>
          </p:spPr>
          <p:txBody>
            <a:bodyPr wrap="square">
              <a:spAutoFit/>
            </a:bodyPr>
            <a:lstStyle/>
            <a:p>
              <a:r>
                <a:rPr lang="en-US" sz="3200" b="1" dirty="0">
                  <a:latin typeface="Times New Roman" panose="02020603050405020304" pitchFamily="18" charset="0"/>
                  <a:cs typeface="Times New Roman" panose="02020603050405020304" pitchFamily="18" charset="0"/>
                </a:rPr>
                <a:t>Result</a:t>
              </a:r>
            </a:p>
          </p:txBody>
        </p:sp>
      </p:grpSp>
    </p:spTree>
    <p:extLst>
      <p:ext uri="{BB962C8B-B14F-4D97-AF65-F5344CB8AC3E}">
        <p14:creationId xmlns:p14="http://schemas.microsoft.com/office/powerpoint/2010/main" val="40100172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9">
            <a:extLst>
              <a:ext uri="{FF2B5EF4-FFF2-40B4-BE49-F238E27FC236}">
                <a16:creationId xmlns:a16="http://schemas.microsoft.com/office/drawing/2014/main" id="{0EFE2376-731C-2691-DC44-8647A60415BD}"/>
              </a:ext>
            </a:extLst>
          </p:cNvPr>
          <p:cNvSpPr/>
          <p:nvPr/>
        </p:nvSpPr>
        <p:spPr>
          <a:xfrm>
            <a:off x="486172" y="205503"/>
            <a:ext cx="109743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Tutorial with Project Examples</a:t>
            </a:r>
          </a:p>
        </p:txBody>
      </p:sp>
      <p:sp>
        <p:nvSpPr>
          <p:cNvPr id="20" name="Rectangle 6">
            <a:extLst>
              <a:ext uri="{FF2B5EF4-FFF2-40B4-BE49-F238E27FC236}">
                <a16:creationId xmlns:a16="http://schemas.microsoft.com/office/drawing/2014/main" id="{FE4CE1FB-70B9-4A46-8F3B-650F8DFA7482}"/>
              </a:ext>
            </a:extLst>
          </p:cNvPr>
          <p:cNvSpPr/>
          <p:nvPr/>
        </p:nvSpPr>
        <p:spPr>
          <a:xfrm>
            <a:off x="176758" y="1141164"/>
            <a:ext cx="7877743" cy="707886"/>
          </a:xfrm>
          <a:prstGeom prst="rect">
            <a:avLst/>
          </a:prstGeom>
        </p:spPr>
        <p:txBody>
          <a:bodyPr wrap="square">
            <a:spAutoFit/>
          </a:bodyPr>
          <a:lstStyle/>
          <a:p>
            <a:r>
              <a:rPr lang="en-US" sz="4000" b="1" dirty="0">
                <a:solidFill>
                  <a:srgbClr val="33339B"/>
                </a:solidFill>
                <a:latin typeface="Times New Roman" panose="02020603050405020304" pitchFamily="18" charset="0"/>
                <a:cs typeface="Times New Roman" panose="02020603050405020304" pitchFamily="18" charset="0"/>
              </a:rPr>
              <a:t>3. </a:t>
            </a:r>
            <a:r>
              <a:rPr lang="en-US" altLang="zh-CN" sz="4000" b="1" dirty="0">
                <a:solidFill>
                  <a:srgbClr val="33339B"/>
                </a:solidFill>
                <a:latin typeface="Times New Roman" panose="02020603050405020304" pitchFamily="18" charset="0"/>
                <a:cs typeface="Times New Roman" panose="02020603050405020304" pitchFamily="18" charset="0"/>
              </a:rPr>
              <a:t>Simple tests</a:t>
            </a:r>
          </a:p>
        </p:txBody>
      </p:sp>
      <p:sp>
        <p:nvSpPr>
          <p:cNvPr id="13" name="Rectangle 8">
            <a:extLst>
              <a:ext uri="{FF2B5EF4-FFF2-40B4-BE49-F238E27FC236}">
                <a16:creationId xmlns:a16="http://schemas.microsoft.com/office/drawing/2014/main" id="{DF2831E3-3B99-40DA-B6A9-BCE788DC2931}"/>
              </a:ext>
            </a:extLst>
          </p:cNvPr>
          <p:cNvSpPr/>
          <p:nvPr/>
        </p:nvSpPr>
        <p:spPr>
          <a:xfrm>
            <a:off x="486172" y="1856173"/>
            <a:ext cx="9918217" cy="584775"/>
          </a:xfrm>
          <a:prstGeom prst="rect">
            <a:avLst/>
          </a:prstGeom>
        </p:spPr>
        <p:txBody>
          <a:bodyPr wrap="square">
            <a:spAutoFit/>
          </a:bodyPr>
          <a:lstStyle/>
          <a:p>
            <a:r>
              <a:rPr lang="en-US" sz="3200" b="1" dirty="0">
                <a:latin typeface="Times New Roman" panose="02020603050405020304" pitchFamily="18" charset="0"/>
                <a:cs typeface="Times New Roman" panose="02020603050405020304" pitchFamily="18" charset="0"/>
              </a:rPr>
              <a:t>Names of sailors who have booked red </a:t>
            </a:r>
            <a:r>
              <a:rPr lang="en-US" altLang="zh-CN" sz="3200" b="1" dirty="0">
                <a:latin typeface="Times New Roman" panose="02020603050405020304" pitchFamily="18" charset="0"/>
                <a:cs typeface="Times New Roman" panose="02020603050405020304" pitchFamily="18" charset="0"/>
              </a:rPr>
              <a:t>boat</a:t>
            </a:r>
            <a:r>
              <a:rPr lang="en-US" sz="3200" b="1" dirty="0">
                <a:latin typeface="Times New Roman" panose="02020603050405020304" pitchFamily="18" charset="0"/>
                <a:cs typeface="Times New Roman" panose="02020603050405020304" pitchFamily="18" charset="0"/>
              </a:rPr>
              <a:t>s</a:t>
            </a:r>
            <a:r>
              <a:rPr lang="zh-CN" altLang="en-US" sz="3200" b="1" dirty="0">
                <a:latin typeface="Times New Roman" panose="02020603050405020304" pitchFamily="18" charset="0"/>
                <a:cs typeface="Times New Roman" panose="02020603050405020304" pitchFamily="18" charset="0"/>
              </a:rPr>
              <a:t> </a:t>
            </a:r>
            <a:r>
              <a:rPr lang="en-US" altLang="zh-CN" sz="3200" b="1" dirty="0">
                <a:latin typeface="Times New Roman" panose="02020603050405020304" pitchFamily="18" charset="0"/>
                <a:cs typeface="Times New Roman" panose="02020603050405020304" pitchFamily="18" charset="0"/>
              </a:rPr>
              <a:t>(1)</a:t>
            </a:r>
            <a:endParaRPr lang="en-US" sz="32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9586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9">
            <a:extLst>
              <a:ext uri="{FF2B5EF4-FFF2-40B4-BE49-F238E27FC236}">
                <a16:creationId xmlns:a16="http://schemas.microsoft.com/office/drawing/2014/main" id="{0EFE2376-731C-2691-DC44-8647A60415BD}"/>
              </a:ext>
            </a:extLst>
          </p:cNvPr>
          <p:cNvSpPr/>
          <p:nvPr/>
        </p:nvSpPr>
        <p:spPr>
          <a:xfrm>
            <a:off x="486172" y="205503"/>
            <a:ext cx="109743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Tutorial with Project Examples</a:t>
            </a:r>
          </a:p>
        </p:txBody>
      </p:sp>
      <p:sp>
        <p:nvSpPr>
          <p:cNvPr id="20" name="Rectangle 6">
            <a:extLst>
              <a:ext uri="{FF2B5EF4-FFF2-40B4-BE49-F238E27FC236}">
                <a16:creationId xmlns:a16="http://schemas.microsoft.com/office/drawing/2014/main" id="{FE4CE1FB-70B9-4A46-8F3B-650F8DFA7482}"/>
              </a:ext>
            </a:extLst>
          </p:cNvPr>
          <p:cNvSpPr/>
          <p:nvPr/>
        </p:nvSpPr>
        <p:spPr>
          <a:xfrm>
            <a:off x="176758" y="1141164"/>
            <a:ext cx="7877743" cy="707886"/>
          </a:xfrm>
          <a:prstGeom prst="rect">
            <a:avLst/>
          </a:prstGeom>
        </p:spPr>
        <p:txBody>
          <a:bodyPr wrap="square">
            <a:spAutoFit/>
          </a:bodyPr>
          <a:lstStyle/>
          <a:p>
            <a:r>
              <a:rPr lang="en-US" sz="4000" b="1" dirty="0">
                <a:solidFill>
                  <a:srgbClr val="33339B"/>
                </a:solidFill>
                <a:latin typeface="Times New Roman" panose="02020603050405020304" pitchFamily="18" charset="0"/>
                <a:cs typeface="Times New Roman" panose="02020603050405020304" pitchFamily="18" charset="0"/>
              </a:rPr>
              <a:t>3. </a:t>
            </a:r>
            <a:r>
              <a:rPr lang="en-US" altLang="zh-CN" sz="4000" b="1" dirty="0">
                <a:solidFill>
                  <a:srgbClr val="33339B"/>
                </a:solidFill>
                <a:latin typeface="Times New Roman" panose="02020603050405020304" pitchFamily="18" charset="0"/>
                <a:cs typeface="Times New Roman" panose="02020603050405020304" pitchFamily="18" charset="0"/>
              </a:rPr>
              <a:t>Simple tests</a:t>
            </a:r>
          </a:p>
        </p:txBody>
      </p:sp>
      <p:sp>
        <p:nvSpPr>
          <p:cNvPr id="13" name="Rectangle 8">
            <a:extLst>
              <a:ext uri="{FF2B5EF4-FFF2-40B4-BE49-F238E27FC236}">
                <a16:creationId xmlns:a16="http://schemas.microsoft.com/office/drawing/2014/main" id="{DF2831E3-3B99-40DA-B6A9-BCE788DC2931}"/>
              </a:ext>
            </a:extLst>
          </p:cNvPr>
          <p:cNvSpPr/>
          <p:nvPr/>
        </p:nvSpPr>
        <p:spPr>
          <a:xfrm>
            <a:off x="486172" y="1856173"/>
            <a:ext cx="9918217" cy="584775"/>
          </a:xfrm>
          <a:prstGeom prst="rect">
            <a:avLst/>
          </a:prstGeom>
        </p:spPr>
        <p:txBody>
          <a:bodyPr wrap="square">
            <a:spAutoFit/>
          </a:bodyPr>
          <a:lstStyle/>
          <a:p>
            <a:r>
              <a:rPr lang="en-US" sz="3200" b="1" dirty="0">
                <a:latin typeface="Times New Roman" panose="02020603050405020304" pitchFamily="18" charset="0"/>
                <a:cs typeface="Times New Roman" panose="02020603050405020304" pitchFamily="18" charset="0"/>
              </a:rPr>
              <a:t>Names of sailors who have booked red </a:t>
            </a:r>
            <a:r>
              <a:rPr lang="en-US" altLang="zh-CN" sz="3200" b="1" dirty="0">
                <a:latin typeface="Times New Roman" panose="02020603050405020304" pitchFamily="18" charset="0"/>
                <a:cs typeface="Times New Roman" panose="02020603050405020304" pitchFamily="18" charset="0"/>
              </a:rPr>
              <a:t>boat</a:t>
            </a:r>
            <a:r>
              <a:rPr lang="en-US" sz="3200" b="1" dirty="0">
                <a:latin typeface="Times New Roman" panose="02020603050405020304" pitchFamily="18" charset="0"/>
                <a:cs typeface="Times New Roman" panose="02020603050405020304" pitchFamily="18" charset="0"/>
              </a:rPr>
              <a:t>s</a:t>
            </a:r>
            <a:r>
              <a:rPr lang="zh-CN" altLang="en-US" sz="3200" b="1" dirty="0">
                <a:latin typeface="Times New Roman" panose="02020603050405020304" pitchFamily="18" charset="0"/>
                <a:cs typeface="Times New Roman" panose="02020603050405020304" pitchFamily="18" charset="0"/>
              </a:rPr>
              <a:t> </a:t>
            </a:r>
            <a:r>
              <a:rPr lang="en-US" altLang="zh-CN" sz="3200" b="1" dirty="0">
                <a:latin typeface="Times New Roman" panose="02020603050405020304" pitchFamily="18" charset="0"/>
                <a:cs typeface="Times New Roman" panose="02020603050405020304" pitchFamily="18" charset="0"/>
              </a:rPr>
              <a:t>(2)</a:t>
            </a:r>
            <a:endParaRPr lang="en-US" sz="32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328620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9">
            <a:extLst>
              <a:ext uri="{FF2B5EF4-FFF2-40B4-BE49-F238E27FC236}">
                <a16:creationId xmlns:a16="http://schemas.microsoft.com/office/drawing/2014/main" id="{0EFE2376-731C-2691-DC44-8647A60415BD}"/>
              </a:ext>
            </a:extLst>
          </p:cNvPr>
          <p:cNvSpPr/>
          <p:nvPr/>
        </p:nvSpPr>
        <p:spPr>
          <a:xfrm>
            <a:off x="486172" y="205503"/>
            <a:ext cx="109743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Tutorial with Project Examples</a:t>
            </a:r>
          </a:p>
        </p:txBody>
      </p:sp>
      <p:sp>
        <p:nvSpPr>
          <p:cNvPr id="20" name="Rectangle 6">
            <a:extLst>
              <a:ext uri="{FF2B5EF4-FFF2-40B4-BE49-F238E27FC236}">
                <a16:creationId xmlns:a16="http://schemas.microsoft.com/office/drawing/2014/main" id="{FE4CE1FB-70B9-4A46-8F3B-650F8DFA7482}"/>
              </a:ext>
            </a:extLst>
          </p:cNvPr>
          <p:cNvSpPr/>
          <p:nvPr/>
        </p:nvSpPr>
        <p:spPr>
          <a:xfrm>
            <a:off x="176758" y="1141164"/>
            <a:ext cx="7877743" cy="707886"/>
          </a:xfrm>
          <a:prstGeom prst="rect">
            <a:avLst/>
          </a:prstGeom>
        </p:spPr>
        <p:txBody>
          <a:bodyPr wrap="square">
            <a:spAutoFit/>
          </a:bodyPr>
          <a:lstStyle/>
          <a:p>
            <a:r>
              <a:rPr lang="en-US" sz="4000" b="1" dirty="0">
                <a:solidFill>
                  <a:srgbClr val="33339B"/>
                </a:solidFill>
                <a:latin typeface="Times New Roman" panose="02020603050405020304" pitchFamily="18" charset="0"/>
                <a:cs typeface="Times New Roman" panose="02020603050405020304" pitchFamily="18" charset="0"/>
              </a:rPr>
              <a:t>3. </a:t>
            </a:r>
            <a:r>
              <a:rPr lang="en-US" altLang="zh-CN" sz="4000" b="1" dirty="0">
                <a:solidFill>
                  <a:srgbClr val="33339B"/>
                </a:solidFill>
                <a:latin typeface="Times New Roman" panose="02020603050405020304" pitchFamily="18" charset="0"/>
                <a:cs typeface="Times New Roman" panose="02020603050405020304" pitchFamily="18" charset="0"/>
              </a:rPr>
              <a:t>Simple tests</a:t>
            </a:r>
          </a:p>
        </p:txBody>
      </p:sp>
      <p:sp>
        <p:nvSpPr>
          <p:cNvPr id="13" name="Rectangle 8">
            <a:extLst>
              <a:ext uri="{FF2B5EF4-FFF2-40B4-BE49-F238E27FC236}">
                <a16:creationId xmlns:a16="http://schemas.microsoft.com/office/drawing/2014/main" id="{DF2831E3-3B99-40DA-B6A9-BCE788DC2931}"/>
              </a:ext>
            </a:extLst>
          </p:cNvPr>
          <p:cNvSpPr/>
          <p:nvPr/>
        </p:nvSpPr>
        <p:spPr>
          <a:xfrm>
            <a:off x="486172" y="1856173"/>
            <a:ext cx="11063749" cy="584775"/>
          </a:xfrm>
          <a:prstGeom prst="rect">
            <a:avLst/>
          </a:prstGeom>
        </p:spPr>
        <p:txBody>
          <a:bodyPr wrap="square">
            <a:spAutoFit/>
          </a:bodyPr>
          <a:lstStyle/>
          <a:p>
            <a:r>
              <a:rPr lang="en-US" altLang="zh-CN" sz="3200" b="1" dirty="0">
                <a:latin typeface="Times New Roman" panose="02020603050405020304" pitchFamily="18" charset="0"/>
                <a:cs typeface="Times New Roman" panose="02020603050405020304" pitchFamily="18" charset="0"/>
              </a:rPr>
              <a:t>Names of sailors who have booked boats within 2019</a:t>
            </a:r>
            <a:r>
              <a:rPr lang="zh-CN" altLang="en-US" sz="3200" b="1" dirty="0">
                <a:latin typeface="Times New Roman" panose="02020603050405020304" pitchFamily="18" charset="0"/>
                <a:cs typeface="Times New Roman" panose="02020603050405020304" pitchFamily="18" charset="0"/>
              </a:rPr>
              <a:t> </a:t>
            </a:r>
            <a:r>
              <a:rPr lang="en-US" altLang="zh-CN" sz="3200" b="1" dirty="0">
                <a:latin typeface="Times New Roman" panose="02020603050405020304" pitchFamily="18" charset="0"/>
                <a:cs typeface="Times New Roman" panose="02020603050405020304" pitchFamily="18" charset="0"/>
              </a:rPr>
              <a:t>(1)</a:t>
            </a:r>
            <a:endParaRPr lang="en-US" sz="32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736755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9">
            <a:extLst>
              <a:ext uri="{FF2B5EF4-FFF2-40B4-BE49-F238E27FC236}">
                <a16:creationId xmlns:a16="http://schemas.microsoft.com/office/drawing/2014/main" id="{0EFE2376-731C-2691-DC44-8647A60415BD}"/>
              </a:ext>
            </a:extLst>
          </p:cNvPr>
          <p:cNvSpPr/>
          <p:nvPr/>
        </p:nvSpPr>
        <p:spPr>
          <a:xfrm>
            <a:off x="486172" y="205503"/>
            <a:ext cx="109743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Tutorial with Project Examples</a:t>
            </a:r>
          </a:p>
        </p:txBody>
      </p:sp>
      <p:sp>
        <p:nvSpPr>
          <p:cNvPr id="20" name="Rectangle 6">
            <a:extLst>
              <a:ext uri="{FF2B5EF4-FFF2-40B4-BE49-F238E27FC236}">
                <a16:creationId xmlns:a16="http://schemas.microsoft.com/office/drawing/2014/main" id="{FE4CE1FB-70B9-4A46-8F3B-650F8DFA7482}"/>
              </a:ext>
            </a:extLst>
          </p:cNvPr>
          <p:cNvSpPr/>
          <p:nvPr/>
        </p:nvSpPr>
        <p:spPr>
          <a:xfrm>
            <a:off x="176758" y="1141164"/>
            <a:ext cx="7877743" cy="707886"/>
          </a:xfrm>
          <a:prstGeom prst="rect">
            <a:avLst/>
          </a:prstGeom>
        </p:spPr>
        <p:txBody>
          <a:bodyPr wrap="square">
            <a:spAutoFit/>
          </a:bodyPr>
          <a:lstStyle/>
          <a:p>
            <a:r>
              <a:rPr lang="en-US" sz="4000" b="1" dirty="0">
                <a:solidFill>
                  <a:srgbClr val="33339B"/>
                </a:solidFill>
                <a:latin typeface="Times New Roman" panose="02020603050405020304" pitchFamily="18" charset="0"/>
                <a:cs typeface="Times New Roman" panose="02020603050405020304" pitchFamily="18" charset="0"/>
              </a:rPr>
              <a:t>3. </a:t>
            </a:r>
            <a:r>
              <a:rPr lang="en-US" altLang="zh-CN" sz="4000" b="1" dirty="0">
                <a:solidFill>
                  <a:srgbClr val="33339B"/>
                </a:solidFill>
                <a:latin typeface="Times New Roman" panose="02020603050405020304" pitchFamily="18" charset="0"/>
                <a:cs typeface="Times New Roman" panose="02020603050405020304" pitchFamily="18" charset="0"/>
              </a:rPr>
              <a:t>Simple tests</a:t>
            </a:r>
          </a:p>
        </p:txBody>
      </p:sp>
      <p:sp>
        <p:nvSpPr>
          <p:cNvPr id="13" name="Rectangle 8">
            <a:extLst>
              <a:ext uri="{FF2B5EF4-FFF2-40B4-BE49-F238E27FC236}">
                <a16:creationId xmlns:a16="http://schemas.microsoft.com/office/drawing/2014/main" id="{DF2831E3-3B99-40DA-B6A9-BCE788DC2931}"/>
              </a:ext>
            </a:extLst>
          </p:cNvPr>
          <p:cNvSpPr/>
          <p:nvPr/>
        </p:nvSpPr>
        <p:spPr>
          <a:xfrm>
            <a:off x="486172" y="1856173"/>
            <a:ext cx="11063749" cy="584775"/>
          </a:xfrm>
          <a:prstGeom prst="rect">
            <a:avLst/>
          </a:prstGeom>
        </p:spPr>
        <p:txBody>
          <a:bodyPr wrap="square">
            <a:spAutoFit/>
          </a:bodyPr>
          <a:lstStyle/>
          <a:p>
            <a:r>
              <a:rPr lang="en-US" altLang="zh-CN" sz="3200" b="1" dirty="0">
                <a:latin typeface="Times New Roman" panose="02020603050405020304" pitchFamily="18" charset="0"/>
                <a:cs typeface="Times New Roman" panose="02020603050405020304" pitchFamily="18" charset="0"/>
              </a:rPr>
              <a:t>Names of sailors who have booked boats within 2019</a:t>
            </a:r>
            <a:r>
              <a:rPr lang="zh-CN" altLang="en-US" sz="3200" b="1" dirty="0">
                <a:latin typeface="Times New Roman" panose="02020603050405020304" pitchFamily="18" charset="0"/>
                <a:cs typeface="Times New Roman" panose="02020603050405020304" pitchFamily="18" charset="0"/>
              </a:rPr>
              <a:t> </a:t>
            </a:r>
            <a:r>
              <a:rPr lang="en-US" altLang="zh-CN" sz="3200" b="1" dirty="0">
                <a:latin typeface="Times New Roman" panose="02020603050405020304" pitchFamily="18" charset="0"/>
                <a:cs typeface="Times New Roman" panose="02020603050405020304" pitchFamily="18" charset="0"/>
              </a:rPr>
              <a:t>(2)</a:t>
            </a:r>
            <a:endParaRPr lang="en-US" sz="32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992705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9">
            <a:extLst>
              <a:ext uri="{FF2B5EF4-FFF2-40B4-BE49-F238E27FC236}">
                <a16:creationId xmlns:a16="http://schemas.microsoft.com/office/drawing/2014/main" id="{0EFE2376-731C-2691-DC44-8647A60415BD}"/>
              </a:ext>
            </a:extLst>
          </p:cNvPr>
          <p:cNvSpPr/>
          <p:nvPr/>
        </p:nvSpPr>
        <p:spPr>
          <a:xfrm>
            <a:off x="486172" y="205503"/>
            <a:ext cx="109743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Tutorial with Project Examples</a:t>
            </a:r>
          </a:p>
        </p:txBody>
      </p:sp>
      <p:sp>
        <p:nvSpPr>
          <p:cNvPr id="20" name="Rectangle 6">
            <a:extLst>
              <a:ext uri="{FF2B5EF4-FFF2-40B4-BE49-F238E27FC236}">
                <a16:creationId xmlns:a16="http://schemas.microsoft.com/office/drawing/2014/main" id="{FE4CE1FB-70B9-4A46-8F3B-650F8DFA7482}"/>
              </a:ext>
            </a:extLst>
          </p:cNvPr>
          <p:cNvSpPr/>
          <p:nvPr/>
        </p:nvSpPr>
        <p:spPr>
          <a:xfrm>
            <a:off x="176758" y="1141164"/>
            <a:ext cx="7877743" cy="707886"/>
          </a:xfrm>
          <a:prstGeom prst="rect">
            <a:avLst/>
          </a:prstGeom>
        </p:spPr>
        <p:txBody>
          <a:bodyPr wrap="square">
            <a:spAutoFit/>
          </a:bodyPr>
          <a:lstStyle/>
          <a:p>
            <a:r>
              <a:rPr lang="en-US" sz="4000" b="1" dirty="0">
                <a:solidFill>
                  <a:srgbClr val="33339B"/>
                </a:solidFill>
                <a:latin typeface="Times New Roman" panose="02020603050405020304" pitchFamily="18" charset="0"/>
                <a:cs typeface="Times New Roman" panose="02020603050405020304" pitchFamily="18" charset="0"/>
              </a:rPr>
              <a:t>3. </a:t>
            </a:r>
            <a:r>
              <a:rPr lang="en-US" altLang="zh-CN" sz="4000" b="1" dirty="0">
                <a:solidFill>
                  <a:srgbClr val="33339B"/>
                </a:solidFill>
                <a:latin typeface="Times New Roman" panose="02020603050405020304" pitchFamily="18" charset="0"/>
                <a:cs typeface="Times New Roman" panose="02020603050405020304" pitchFamily="18" charset="0"/>
              </a:rPr>
              <a:t>Simple tests</a:t>
            </a:r>
          </a:p>
        </p:txBody>
      </p:sp>
      <p:sp>
        <p:nvSpPr>
          <p:cNvPr id="13" name="Rectangle 8">
            <a:extLst>
              <a:ext uri="{FF2B5EF4-FFF2-40B4-BE49-F238E27FC236}">
                <a16:creationId xmlns:a16="http://schemas.microsoft.com/office/drawing/2014/main" id="{DF2831E3-3B99-40DA-B6A9-BCE788DC2931}"/>
              </a:ext>
            </a:extLst>
          </p:cNvPr>
          <p:cNvSpPr/>
          <p:nvPr/>
        </p:nvSpPr>
        <p:spPr>
          <a:xfrm>
            <a:off x="486172" y="1856173"/>
            <a:ext cx="9918217" cy="584775"/>
          </a:xfrm>
          <a:prstGeom prst="rect">
            <a:avLst/>
          </a:prstGeom>
        </p:spPr>
        <p:txBody>
          <a:bodyPr wrap="square">
            <a:spAutoFit/>
          </a:bodyPr>
          <a:lstStyle/>
          <a:p>
            <a:r>
              <a:rPr lang="en-US" altLang="zh-CN" sz="3200" b="1" dirty="0">
                <a:latin typeface="Times New Roman" panose="02020603050405020304" pitchFamily="18" charset="0"/>
                <a:cs typeface="Times New Roman" panose="02020603050405020304" pitchFamily="18" charset="0"/>
              </a:rPr>
              <a:t>Boat</a:t>
            </a:r>
            <a:r>
              <a:rPr lang="en-US" sz="3200" b="1" dirty="0">
                <a:latin typeface="Times New Roman" panose="02020603050405020304" pitchFamily="18" charset="0"/>
                <a:cs typeface="Times New Roman" panose="02020603050405020304" pitchFamily="18" charset="0"/>
              </a:rPr>
              <a:t> names booked by at least 2 different sailors</a:t>
            </a:r>
          </a:p>
        </p:txBody>
      </p:sp>
    </p:spTree>
    <p:extLst>
      <p:ext uri="{BB962C8B-B14F-4D97-AF65-F5344CB8AC3E}">
        <p14:creationId xmlns:p14="http://schemas.microsoft.com/office/powerpoint/2010/main" val="6618134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357240D-CD8E-9B76-09DC-277985C5C2D8}"/>
              </a:ext>
            </a:extLst>
          </p:cNvPr>
          <p:cNvSpPr/>
          <p:nvPr/>
        </p:nvSpPr>
        <p:spPr>
          <a:xfrm>
            <a:off x="814963" y="1560092"/>
            <a:ext cx="11112294" cy="2719206"/>
          </a:xfrm>
          <a:prstGeom prst="rect">
            <a:avLst/>
          </a:prstGeom>
        </p:spPr>
        <p:txBody>
          <a:bodyPr wrap="square">
            <a:spAutoFit/>
          </a:bodyPr>
          <a:lstStyle/>
          <a:p>
            <a:pPr marL="1028700" indent="-1028700">
              <a:lnSpc>
                <a:spcPct val="150000"/>
              </a:lnSpc>
              <a:buFont typeface="+mj-lt"/>
              <a:buAutoNum type="romanUcPeriod"/>
            </a:pPr>
            <a:r>
              <a:rPr lang="en-US" altLang="zh-CN" sz="6000" b="1" dirty="0">
                <a:solidFill>
                  <a:schemeClr val="bg1">
                    <a:lumMod val="50000"/>
                  </a:schemeClr>
                </a:solidFill>
                <a:latin typeface="+mj-lt"/>
                <a:cs typeface="Times New Roman" panose="02020603050405020304" pitchFamily="18" charset="0"/>
              </a:rPr>
              <a:t>Tutorial with Project Examples</a:t>
            </a:r>
          </a:p>
          <a:p>
            <a:pPr marL="1028700" indent="-1028700">
              <a:lnSpc>
                <a:spcPct val="150000"/>
              </a:lnSpc>
              <a:buFont typeface="+mj-lt"/>
              <a:buAutoNum type="romanUcPeriod"/>
            </a:pPr>
            <a:r>
              <a:rPr lang="en-US" altLang="zh-CN" sz="6000" b="1" u="sng" dirty="0">
                <a:effectLst>
                  <a:outerShdw blurRad="38100" dist="38100" dir="2700000" algn="tl">
                    <a:srgbClr val="000000">
                      <a:alpha val="43137"/>
                    </a:srgbClr>
                  </a:outerShdw>
                </a:effectLst>
                <a:latin typeface="+mj-lt"/>
                <a:cs typeface="Times New Roman" panose="02020603050405020304" pitchFamily="18" charset="0"/>
              </a:rPr>
              <a:t>Assignment</a:t>
            </a:r>
          </a:p>
        </p:txBody>
      </p:sp>
      <p:sp>
        <p:nvSpPr>
          <p:cNvPr id="3" name="Rectangle 9">
            <a:extLst>
              <a:ext uri="{FF2B5EF4-FFF2-40B4-BE49-F238E27FC236}">
                <a16:creationId xmlns:a16="http://schemas.microsoft.com/office/drawing/2014/main" id="{D2F0A02F-50C8-DFB8-46B3-67D040FCF552}"/>
              </a:ext>
            </a:extLst>
          </p:cNvPr>
          <p:cNvSpPr/>
          <p:nvPr/>
        </p:nvSpPr>
        <p:spPr>
          <a:xfrm>
            <a:off x="814963" y="452096"/>
            <a:ext cx="10562074" cy="1107996"/>
          </a:xfrm>
          <a:prstGeom prst="rect">
            <a:avLst/>
          </a:prstGeom>
        </p:spPr>
        <p:txBody>
          <a:bodyPr wrap="square">
            <a:spAutoFit/>
          </a:bodyPr>
          <a:lstStyle/>
          <a:p>
            <a:pPr algn="ctr"/>
            <a:r>
              <a:rPr lang="en-US" altLang="zh-CN" sz="6600" b="1" dirty="0">
                <a:solidFill>
                  <a:srgbClr val="C00000"/>
                </a:solidFill>
                <a:latin typeface="Times New Roman" panose="02020603050405020304" pitchFamily="18" charset="0"/>
                <a:cs typeface="Times New Roman" panose="02020603050405020304" pitchFamily="18" charset="0"/>
              </a:rPr>
              <a:t>Project 2</a:t>
            </a:r>
          </a:p>
        </p:txBody>
      </p:sp>
    </p:spTree>
    <p:extLst>
      <p:ext uri="{BB962C8B-B14F-4D97-AF65-F5344CB8AC3E}">
        <p14:creationId xmlns:p14="http://schemas.microsoft.com/office/powerpoint/2010/main" val="18277273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a:extLst>
              <a:ext uri="{FF2B5EF4-FFF2-40B4-BE49-F238E27FC236}">
                <a16:creationId xmlns:a16="http://schemas.microsoft.com/office/drawing/2014/main" id="{6C75D155-25C3-19C1-F1AA-AAC226DE76FB}"/>
              </a:ext>
            </a:extLst>
          </p:cNvPr>
          <p:cNvSpPr/>
          <p:nvPr/>
        </p:nvSpPr>
        <p:spPr>
          <a:xfrm>
            <a:off x="486173" y="205503"/>
            <a:ext cx="7839680"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Assignment</a:t>
            </a:r>
          </a:p>
        </p:txBody>
      </p:sp>
      <p:sp>
        <p:nvSpPr>
          <p:cNvPr id="6" name="矩形 5">
            <a:extLst>
              <a:ext uri="{FF2B5EF4-FFF2-40B4-BE49-F238E27FC236}">
                <a16:creationId xmlns:a16="http://schemas.microsoft.com/office/drawing/2014/main" id="{C0D5B375-295B-41AB-90D3-56F5A18CEF36}"/>
              </a:ext>
            </a:extLst>
          </p:cNvPr>
          <p:cNvSpPr/>
          <p:nvPr/>
        </p:nvSpPr>
        <p:spPr>
          <a:xfrm>
            <a:off x="486173" y="2236829"/>
            <a:ext cx="11434505" cy="2677656"/>
          </a:xfrm>
          <a:prstGeom prst="rect">
            <a:avLst/>
          </a:prstGeom>
        </p:spPr>
        <p:txBody>
          <a:bodyPr wrap="square">
            <a:spAutoFit/>
          </a:bodyPr>
          <a:lstStyle/>
          <a:p>
            <a:pPr marL="514350" indent="-514350" algn="just">
              <a:buFont typeface="+mj-lt"/>
              <a:buAutoNum type="arabicPeriod"/>
            </a:pPr>
            <a:r>
              <a:rPr lang="en-US" sz="2800" dirty="0">
                <a:latin typeface="Times New Roman" panose="02020603050405020304" pitchFamily="18" charset="0"/>
                <a:cs typeface="Times New Roman" panose="02020603050405020304" pitchFamily="18" charset="0"/>
              </a:rPr>
              <a:t>Use </a:t>
            </a:r>
            <a:r>
              <a:rPr lang="en-US" sz="2800" b="1" dirty="0">
                <a:latin typeface="Times New Roman" panose="02020603050405020304" pitchFamily="18" charset="0"/>
                <a:cs typeface="Times New Roman" panose="02020603050405020304" pitchFamily="18" charset="0"/>
              </a:rPr>
              <a:t>SQL</a:t>
            </a:r>
            <a:r>
              <a:rPr lang="en-US" sz="2800" dirty="0">
                <a:latin typeface="Times New Roman" panose="02020603050405020304" pitchFamily="18" charset="0"/>
                <a:cs typeface="Times New Roman" panose="02020603050405020304" pitchFamily="18" charset="0"/>
              </a:rPr>
              <a:t> queries on university database.</a:t>
            </a:r>
          </a:p>
          <a:p>
            <a:pPr marL="514350" indent="-514350" algn="just">
              <a:buFont typeface="+mj-lt"/>
              <a:buAutoNum type="arabicPeriod"/>
            </a:pPr>
            <a:endParaRPr lang="en-US" sz="2800" dirty="0">
              <a:latin typeface="Times New Roman" panose="02020603050405020304" pitchFamily="18" charset="0"/>
              <a:cs typeface="Times New Roman" panose="02020603050405020304" pitchFamily="18" charset="0"/>
            </a:endParaRPr>
          </a:p>
          <a:p>
            <a:pPr marL="514350" indent="-514350" algn="just">
              <a:buFont typeface="+mj-lt"/>
              <a:buAutoNum type="arabicPeriod"/>
            </a:pPr>
            <a:r>
              <a:rPr lang="en-US" sz="2800" dirty="0">
                <a:latin typeface="Times New Roman" panose="02020603050405020304" pitchFamily="18" charset="0"/>
                <a:cs typeface="Times New Roman" panose="02020603050405020304" pitchFamily="18" charset="0"/>
              </a:rPr>
              <a:t>Write </a:t>
            </a:r>
            <a:r>
              <a:rPr lang="en-US" sz="2800" b="1" dirty="0">
                <a:latin typeface="Times New Roman" panose="02020603050405020304" pitchFamily="18" charset="0"/>
                <a:cs typeface="Times New Roman" panose="02020603050405020304" pitchFamily="18" charset="0"/>
              </a:rPr>
              <a:t>SQL</a:t>
            </a:r>
            <a:r>
              <a:rPr lang="en-US" sz="2800" dirty="0">
                <a:latin typeface="Times New Roman" panose="02020603050405020304" pitchFamily="18" charset="0"/>
                <a:cs typeface="Times New Roman" panose="02020603050405020304" pitchFamily="18" charset="0"/>
              </a:rPr>
              <a:t> queries that answer the questions below (one query per question) and run them on the </a:t>
            </a:r>
            <a:r>
              <a:rPr lang="en-US" sz="2800" dirty="0">
                <a:solidFill>
                  <a:srgbClr val="C00000"/>
                </a:solidFill>
                <a:latin typeface="Times New Roman" panose="02020603050405020304" pitchFamily="18" charset="0"/>
                <a:cs typeface="Times New Roman" panose="02020603050405020304" pitchFamily="18" charset="0"/>
              </a:rPr>
              <a:t>Microsoft ACCESS Database System </a:t>
            </a:r>
            <a:r>
              <a:rPr lang="en-US" sz="2800" dirty="0">
                <a:latin typeface="Times New Roman" panose="02020603050405020304" pitchFamily="18" charset="0"/>
                <a:cs typeface="Times New Roman" panose="02020603050405020304" pitchFamily="18" charset="0"/>
              </a:rPr>
              <a:t>using its SQL interpreter. </a:t>
            </a:r>
          </a:p>
          <a:p>
            <a:pPr marL="514350" indent="-514350" algn="just">
              <a:buFont typeface="+mj-lt"/>
              <a:buAutoNum type="arabicPeriod"/>
            </a:pPr>
            <a:endParaRPr lang="en-US" sz="2800" dirty="0">
              <a:solidFill>
                <a:srgbClr val="000000"/>
              </a:solidFill>
              <a:latin typeface="Times New Roman" panose="02020603050405020304" pitchFamily="18" charset="0"/>
              <a:cs typeface="Times New Roman" panose="02020603050405020304" pitchFamily="18" charset="0"/>
            </a:endParaRPr>
          </a:p>
        </p:txBody>
      </p:sp>
      <p:sp>
        <p:nvSpPr>
          <p:cNvPr id="7" name="Rectangle 6">
            <a:extLst>
              <a:ext uri="{FF2B5EF4-FFF2-40B4-BE49-F238E27FC236}">
                <a16:creationId xmlns:a16="http://schemas.microsoft.com/office/drawing/2014/main" id="{71429D8A-2720-AA1F-2B65-FF347C87B1B4}"/>
              </a:ext>
            </a:extLst>
          </p:cNvPr>
          <p:cNvSpPr/>
          <p:nvPr/>
        </p:nvSpPr>
        <p:spPr>
          <a:xfrm>
            <a:off x="486173" y="1221166"/>
            <a:ext cx="5133713" cy="707886"/>
          </a:xfrm>
          <a:prstGeom prst="rect">
            <a:avLst/>
          </a:prstGeom>
        </p:spPr>
        <p:txBody>
          <a:bodyPr wrap="none">
            <a:spAutoFit/>
          </a:bodyPr>
          <a:lstStyle/>
          <a:p>
            <a:r>
              <a:rPr lang="en-US" sz="4000" b="1" dirty="0">
                <a:solidFill>
                  <a:srgbClr val="33339B"/>
                </a:solidFill>
                <a:latin typeface="Times New Roman" panose="02020603050405020304" pitchFamily="18" charset="0"/>
                <a:cs typeface="Times New Roman" panose="02020603050405020304" pitchFamily="18" charset="0"/>
              </a:rPr>
              <a:t>1. </a:t>
            </a:r>
            <a:r>
              <a:rPr lang="en-US" altLang="zh-CN" sz="4000" b="1" dirty="0">
                <a:solidFill>
                  <a:srgbClr val="33339B"/>
                </a:solidFill>
                <a:latin typeface="Times New Roman" panose="02020603050405020304" pitchFamily="18" charset="0"/>
                <a:cs typeface="Times New Roman" panose="02020603050405020304" pitchFamily="18" charset="0"/>
              </a:rPr>
              <a:t>Assignment Content</a:t>
            </a:r>
            <a:endParaRPr lang="en-US" sz="4000" b="1" dirty="0">
              <a:solidFill>
                <a:srgbClr val="33339B"/>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489760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a:extLst>
              <a:ext uri="{FF2B5EF4-FFF2-40B4-BE49-F238E27FC236}">
                <a16:creationId xmlns:a16="http://schemas.microsoft.com/office/drawing/2014/main" id="{6C75D155-25C3-19C1-F1AA-AAC226DE76FB}"/>
              </a:ext>
            </a:extLst>
          </p:cNvPr>
          <p:cNvSpPr/>
          <p:nvPr/>
        </p:nvSpPr>
        <p:spPr>
          <a:xfrm>
            <a:off x="486173" y="205503"/>
            <a:ext cx="7839680"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Assignment</a:t>
            </a:r>
          </a:p>
        </p:txBody>
      </p:sp>
      <p:sp>
        <p:nvSpPr>
          <p:cNvPr id="7" name="Rectangle 6">
            <a:extLst>
              <a:ext uri="{FF2B5EF4-FFF2-40B4-BE49-F238E27FC236}">
                <a16:creationId xmlns:a16="http://schemas.microsoft.com/office/drawing/2014/main" id="{71429D8A-2720-AA1F-2B65-FF347C87B1B4}"/>
              </a:ext>
            </a:extLst>
          </p:cNvPr>
          <p:cNvSpPr/>
          <p:nvPr/>
        </p:nvSpPr>
        <p:spPr>
          <a:xfrm>
            <a:off x="486173" y="1221166"/>
            <a:ext cx="5133713" cy="707886"/>
          </a:xfrm>
          <a:prstGeom prst="rect">
            <a:avLst/>
          </a:prstGeom>
        </p:spPr>
        <p:txBody>
          <a:bodyPr wrap="none">
            <a:spAutoFit/>
          </a:bodyPr>
          <a:lstStyle/>
          <a:p>
            <a:r>
              <a:rPr lang="en-US" sz="4000" b="1" dirty="0">
                <a:solidFill>
                  <a:srgbClr val="33339B"/>
                </a:solidFill>
                <a:latin typeface="Times New Roman" panose="02020603050405020304" pitchFamily="18" charset="0"/>
                <a:cs typeface="Times New Roman" panose="02020603050405020304" pitchFamily="18" charset="0"/>
              </a:rPr>
              <a:t>1. </a:t>
            </a:r>
            <a:r>
              <a:rPr lang="en-US" altLang="zh-CN" sz="4000" b="1" dirty="0">
                <a:solidFill>
                  <a:srgbClr val="33339B"/>
                </a:solidFill>
                <a:latin typeface="Times New Roman" panose="02020603050405020304" pitchFamily="18" charset="0"/>
                <a:cs typeface="Times New Roman" panose="02020603050405020304" pitchFamily="18" charset="0"/>
              </a:rPr>
              <a:t>Assignment Content</a:t>
            </a:r>
            <a:endParaRPr lang="en-US" sz="4000" b="1" dirty="0">
              <a:solidFill>
                <a:srgbClr val="33339B"/>
              </a:solidFill>
              <a:latin typeface="Times New Roman" panose="02020603050405020304" pitchFamily="18" charset="0"/>
              <a:cs typeface="Times New Roman" panose="02020603050405020304" pitchFamily="18" charset="0"/>
            </a:endParaRPr>
          </a:p>
        </p:txBody>
      </p:sp>
      <p:sp>
        <p:nvSpPr>
          <p:cNvPr id="8" name="文本框 7">
            <a:extLst>
              <a:ext uri="{FF2B5EF4-FFF2-40B4-BE49-F238E27FC236}">
                <a16:creationId xmlns:a16="http://schemas.microsoft.com/office/drawing/2014/main" id="{268233E5-0AF8-49F8-A1A5-C0D0A5F4BA3F}"/>
              </a:ext>
            </a:extLst>
          </p:cNvPr>
          <p:cNvSpPr txBox="1"/>
          <p:nvPr/>
        </p:nvSpPr>
        <p:spPr>
          <a:xfrm>
            <a:off x="517081" y="2753670"/>
            <a:ext cx="11157837" cy="3693319"/>
          </a:xfrm>
          <a:prstGeom prst="rect">
            <a:avLst/>
          </a:prstGeom>
          <a:solidFill>
            <a:schemeClr val="accent5">
              <a:lumMod val="20000"/>
              <a:lumOff val="80000"/>
            </a:schemeClr>
          </a:solidFill>
          <a:ln>
            <a:solidFill>
              <a:schemeClr val="accent1"/>
            </a:solidFill>
          </a:ln>
        </p:spPr>
        <p:txBody>
          <a:bodyPr wrap="square">
            <a:spAutoFit/>
          </a:bodyPr>
          <a:lstStyle/>
          <a:p>
            <a:pPr marL="342900" indent="-342900" algn="just">
              <a:buAutoNum type="arabicPeriod"/>
            </a:pPr>
            <a:r>
              <a:rPr lang="en-US" altLang="zh-CN" sz="1800" b="1" dirty="0">
                <a:latin typeface="Times New Roman" panose="02020603050405020304" pitchFamily="18" charset="0"/>
                <a:cs typeface="Times New Roman" panose="02020603050405020304" pitchFamily="18" charset="0"/>
              </a:rPr>
              <a:t>Print the names of professors who work in departments that have fewer than 50 PhD students. </a:t>
            </a:r>
          </a:p>
          <a:p>
            <a:pPr marL="342900" indent="-342900" algn="just">
              <a:buAutoNum type="arabicPeriod"/>
            </a:pPr>
            <a:endParaRPr lang="en-US" altLang="zh-CN" sz="1800" b="1" dirty="0">
              <a:latin typeface="Times New Roman" panose="02020603050405020304" pitchFamily="18" charset="0"/>
              <a:cs typeface="Times New Roman" panose="02020603050405020304" pitchFamily="18" charset="0"/>
            </a:endParaRPr>
          </a:p>
          <a:p>
            <a:pPr marL="342900" indent="-342900" algn="just">
              <a:buFontTx/>
              <a:buAutoNum type="arabicPeriod"/>
            </a:pPr>
            <a:r>
              <a:rPr lang="en-US" altLang="zh-CN" sz="1800" b="1" dirty="0">
                <a:latin typeface="Times New Roman" panose="02020603050405020304" pitchFamily="18" charset="0"/>
                <a:cs typeface="Times New Roman" panose="02020603050405020304" pitchFamily="18" charset="0"/>
              </a:rPr>
              <a:t>Print the name(s) of student(s) with the lowest </a:t>
            </a:r>
            <a:r>
              <a:rPr lang="en-US" altLang="zh-CN" sz="1800" b="1" dirty="0" err="1">
                <a:latin typeface="Times New Roman" panose="02020603050405020304" pitchFamily="18" charset="0"/>
                <a:cs typeface="Times New Roman" panose="02020603050405020304" pitchFamily="18" charset="0"/>
              </a:rPr>
              <a:t>gpa</a:t>
            </a:r>
            <a:r>
              <a:rPr lang="en-US" altLang="zh-CN" sz="1800" b="1" dirty="0">
                <a:latin typeface="Times New Roman" panose="02020603050405020304" pitchFamily="18" charset="0"/>
                <a:cs typeface="Times New Roman" panose="02020603050405020304" pitchFamily="18" charset="0"/>
              </a:rPr>
              <a:t>.</a:t>
            </a:r>
          </a:p>
          <a:p>
            <a:pPr marL="342900" indent="-342900" algn="just">
              <a:buFontTx/>
              <a:buAutoNum type="arabicPeriod"/>
            </a:pPr>
            <a:endParaRPr lang="en-US" altLang="zh-CN" b="1" dirty="0">
              <a:latin typeface="Times New Roman" panose="02020603050405020304" pitchFamily="18" charset="0"/>
              <a:cs typeface="Times New Roman" panose="02020603050405020304" pitchFamily="18" charset="0"/>
            </a:endParaRPr>
          </a:p>
          <a:p>
            <a:pPr marL="342900" indent="-342900" algn="just">
              <a:buFontTx/>
              <a:buAutoNum type="arabicPeriod"/>
            </a:pPr>
            <a:r>
              <a:rPr lang="en-US" altLang="zh-CN" sz="1800" b="1" dirty="0">
                <a:latin typeface="Times New Roman" panose="02020603050405020304" pitchFamily="18" charset="0"/>
                <a:cs typeface="Times New Roman" panose="02020603050405020304" pitchFamily="18" charset="0"/>
              </a:rPr>
              <a:t>For each Computer Sciences class, print the </a:t>
            </a:r>
            <a:r>
              <a:rPr lang="en-US" altLang="zh-CN" sz="1800" b="1" dirty="0" err="1">
                <a:latin typeface="Times New Roman" panose="02020603050405020304" pitchFamily="18" charset="0"/>
                <a:cs typeface="Times New Roman" panose="02020603050405020304" pitchFamily="18" charset="0"/>
              </a:rPr>
              <a:t>cno</a:t>
            </a:r>
            <a:r>
              <a:rPr lang="en-US" altLang="zh-CN" sz="1800" b="1" dirty="0">
                <a:latin typeface="Times New Roman" panose="02020603050405020304" pitchFamily="18" charset="0"/>
                <a:cs typeface="Times New Roman" panose="02020603050405020304" pitchFamily="18" charset="0"/>
              </a:rPr>
              <a:t>, </a:t>
            </a:r>
            <a:r>
              <a:rPr lang="en-US" altLang="zh-CN" sz="1800" b="1" dirty="0" err="1">
                <a:latin typeface="Times New Roman" panose="02020603050405020304" pitchFamily="18" charset="0"/>
                <a:cs typeface="Times New Roman" panose="02020603050405020304" pitchFamily="18" charset="0"/>
              </a:rPr>
              <a:t>sectno</a:t>
            </a:r>
            <a:r>
              <a:rPr lang="en-US" altLang="zh-CN" sz="1800" b="1" dirty="0">
                <a:latin typeface="Times New Roman" panose="02020603050405020304" pitchFamily="18" charset="0"/>
                <a:cs typeface="Times New Roman" panose="02020603050405020304" pitchFamily="18" charset="0"/>
              </a:rPr>
              <a:t>, and the average </a:t>
            </a:r>
            <a:r>
              <a:rPr lang="en-US" altLang="zh-CN" sz="1800" b="1" dirty="0" err="1">
                <a:latin typeface="Times New Roman" panose="02020603050405020304" pitchFamily="18" charset="0"/>
                <a:cs typeface="Times New Roman" panose="02020603050405020304" pitchFamily="18" charset="0"/>
              </a:rPr>
              <a:t>gpa</a:t>
            </a:r>
            <a:r>
              <a:rPr lang="en-US" altLang="zh-CN" sz="1800" b="1" dirty="0">
                <a:latin typeface="Times New Roman" panose="02020603050405020304" pitchFamily="18" charset="0"/>
                <a:cs typeface="Times New Roman" panose="02020603050405020304" pitchFamily="18" charset="0"/>
              </a:rPr>
              <a:t> of the students enrolled in the class. </a:t>
            </a:r>
          </a:p>
          <a:p>
            <a:pPr marL="342900" indent="-342900" algn="just">
              <a:buFontTx/>
              <a:buAutoNum type="arabicPeriod"/>
            </a:pPr>
            <a:endParaRPr lang="en-US" altLang="zh-CN" sz="1800" b="1" dirty="0">
              <a:latin typeface="Times New Roman" panose="02020603050405020304" pitchFamily="18" charset="0"/>
              <a:cs typeface="Times New Roman" panose="02020603050405020304" pitchFamily="18" charset="0"/>
            </a:endParaRPr>
          </a:p>
          <a:p>
            <a:pPr marL="342900" indent="-342900" algn="just">
              <a:buAutoNum type="arabicPeriod"/>
            </a:pPr>
            <a:r>
              <a:rPr lang="en-US" altLang="zh-CN" sz="1800" b="1" dirty="0">
                <a:latin typeface="Times New Roman" panose="02020603050405020304" pitchFamily="18" charset="0"/>
                <a:cs typeface="Times New Roman" panose="02020603050405020304" pitchFamily="18" charset="0"/>
              </a:rPr>
              <a:t>Print the course names, course numbers and section numbers of all classes with more than six students enrolled in them.</a:t>
            </a:r>
          </a:p>
          <a:p>
            <a:pPr marL="342900" indent="-342900" algn="just">
              <a:buAutoNum type="arabicPeriod"/>
            </a:pPr>
            <a:endParaRPr lang="en-US" altLang="zh-CN" sz="1800" b="1" dirty="0">
              <a:latin typeface="Times New Roman" panose="02020603050405020304" pitchFamily="18" charset="0"/>
              <a:cs typeface="Times New Roman" panose="02020603050405020304" pitchFamily="18" charset="0"/>
            </a:endParaRPr>
          </a:p>
          <a:p>
            <a:pPr marL="342900" indent="-342900" algn="just">
              <a:buAutoNum type="arabicPeriod"/>
            </a:pPr>
            <a:r>
              <a:rPr lang="en-US" altLang="zh-CN" sz="1800" b="1" dirty="0">
                <a:latin typeface="Times New Roman" panose="02020603050405020304" pitchFamily="18" charset="0"/>
                <a:cs typeface="Times New Roman" panose="02020603050405020304" pitchFamily="18" charset="0"/>
              </a:rPr>
              <a:t>Print the name(s) and </a:t>
            </a:r>
            <a:r>
              <a:rPr lang="en-US" altLang="zh-CN" sz="1800" b="1" dirty="0" err="1">
                <a:latin typeface="Times New Roman" panose="02020603050405020304" pitchFamily="18" charset="0"/>
                <a:cs typeface="Times New Roman" panose="02020603050405020304" pitchFamily="18" charset="0"/>
              </a:rPr>
              <a:t>sid</a:t>
            </a:r>
            <a:r>
              <a:rPr lang="en-US" altLang="zh-CN" sz="1800" b="1" dirty="0">
                <a:latin typeface="Times New Roman" panose="02020603050405020304" pitchFamily="18" charset="0"/>
                <a:cs typeface="Times New Roman" panose="02020603050405020304" pitchFamily="18" charset="0"/>
              </a:rPr>
              <a:t>(s) of the student(s) enrolled in the most classes.</a:t>
            </a:r>
          </a:p>
          <a:p>
            <a:pPr marL="342900" indent="-342900" algn="just">
              <a:buAutoNum type="arabicPeriod"/>
            </a:pPr>
            <a:endParaRPr lang="en-US" altLang="zh-CN" sz="1800" b="1" dirty="0">
              <a:latin typeface="Times New Roman" panose="02020603050405020304" pitchFamily="18" charset="0"/>
              <a:cs typeface="Times New Roman" panose="02020603050405020304" pitchFamily="18" charset="0"/>
            </a:endParaRPr>
          </a:p>
          <a:p>
            <a:pPr marL="342900" indent="-342900" algn="just">
              <a:buFontTx/>
              <a:buAutoNum type="arabicPeriod"/>
            </a:pPr>
            <a:r>
              <a:rPr lang="en-US" altLang="zh-CN" sz="1800" b="1" dirty="0">
                <a:latin typeface="Times New Roman" panose="02020603050405020304" pitchFamily="18" charset="0"/>
                <a:cs typeface="Times New Roman" panose="02020603050405020304" pitchFamily="18" charset="0"/>
              </a:rPr>
              <a:t>Print the names of departments that have one or more majors who are under 18 years old. </a:t>
            </a:r>
          </a:p>
        </p:txBody>
      </p:sp>
      <p:sp>
        <p:nvSpPr>
          <p:cNvPr id="9" name="矩形 8">
            <a:extLst>
              <a:ext uri="{FF2B5EF4-FFF2-40B4-BE49-F238E27FC236}">
                <a16:creationId xmlns:a16="http://schemas.microsoft.com/office/drawing/2014/main" id="{BD060C8E-2B3E-4C9F-8366-D5F59321788A}"/>
              </a:ext>
            </a:extLst>
          </p:cNvPr>
          <p:cNvSpPr/>
          <p:nvPr/>
        </p:nvSpPr>
        <p:spPr>
          <a:xfrm>
            <a:off x="486172" y="2024360"/>
            <a:ext cx="11434505" cy="523220"/>
          </a:xfrm>
          <a:prstGeom prst="rect">
            <a:avLst/>
          </a:prstGeom>
        </p:spPr>
        <p:txBody>
          <a:bodyPr wrap="square">
            <a:spAutoFit/>
          </a:bodyPr>
          <a:lstStyle/>
          <a:p>
            <a:pPr marL="742950" indent="-742950" algn="just">
              <a:buFont typeface="+mj-lt"/>
              <a:buAutoNum type="arabicPeriod" startAt="3"/>
            </a:pPr>
            <a:r>
              <a:rPr lang="en-US" sz="2800" dirty="0">
                <a:latin typeface="Times New Roman" panose="02020603050405020304" pitchFamily="18" charset="0"/>
                <a:cs typeface="Times New Roman" panose="02020603050405020304" pitchFamily="18" charset="0"/>
              </a:rPr>
              <a:t>Questions</a:t>
            </a:r>
          </a:p>
        </p:txBody>
      </p:sp>
    </p:spTree>
    <p:extLst>
      <p:ext uri="{BB962C8B-B14F-4D97-AF65-F5344CB8AC3E}">
        <p14:creationId xmlns:p14="http://schemas.microsoft.com/office/powerpoint/2010/main" val="36031949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a:extLst>
              <a:ext uri="{FF2B5EF4-FFF2-40B4-BE49-F238E27FC236}">
                <a16:creationId xmlns:a16="http://schemas.microsoft.com/office/drawing/2014/main" id="{6C75D155-25C3-19C1-F1AA-AAC226DE76FB}"/>
              </a:ext>
            </a:extLst>
          </p:cNvPr>
          <p:cNvSpPr/>
          <p:nvPr/>
        </p:nvSpPr>
        <p:spPr>
          <a:xfrm>
            <a:off x="486173" y="205503"/>
            <a:ext cx="7839680"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Assignment</a:t>
            </a:r>
          </a:p>
        </p:txBody>
      </p:sp>
      <p:sp>
        <p:nvSpPr>
          <p:cNvPr id="7" name="Rectangle 6">
            <a:extLst>
              <a:ext uri="{FF2B5EF4-FFF2-40B4-BE49-F238E27FC236}">
                <a16:creationId xmlns:a16="http://schemas.microsoft.com/office/drawing/2014/main" id="{71429D8A-2720-AA1F-2B65-FF347C87B1B4}"/>
              </a:ext>
            </a:extLst>
          </p:cNvPr>
          <p:cNvSpPr/>
          <p:nvPr/>
        </p:nvSpPr>
        <p:spPr>
          <a:xfrm>
            <a:off x="486173" y="1221166"/>
            <a:ext cx="5133713" cy="707886"/>
          </a:xfrm>
          <a:prstGeom prst="rect">
            <a:avLst/>
          </a:prstGeom>
        </p:spPr>
        <p:txBody>
          <a:bodyPr wrap="none">
            <a:spAutoFit/>
          </a:bodyPr>
          <a:lstStyle/>
          <a:p>
            <a:r>
              <a:rPr lang="en-US" sz="4000" b="1" dirty="0">
                <a:solidFill>
                  <a:srgbClr val="33339B"/>
                </a:solidFill>
                <a:latin typeface="Times New Roman" panose="02020603050405020304" pitchFamily="18" charset="0"/>
                <a:cs typeface="Times New Roman" panose="02020603050405020304" pitchFamily="18" charset="0"/>
              </a:rPr>
              <a:t>1. </a:t>
            </a:r>
            <a:r>
              <a:rPr lang="en-US" altLang="zh-CN" sz="4000" b="1" dirty="0">
                <a:solidFill>
                  <a:srgbClr val="33339B"/>
                </a:solidFill>
                <a:latin typeface="Times New Roman" panose="02020603050405020304" pitchFamily="18" charset="0"/>
                <a:cs typeface="Times New Roman" panose="02020603050405020304" pitchFamily="18" charset="0"/>
              </a:rPr>
              <a:t>Assignment Content</a:t>
            </a:r>
            <a:endParaRPr lang="en-US" sz="4000" b="1" dirty="0">
              <a:solidFill>
                <a:srgbClr val="33339B"/>
              </a:solidFill>
              <a:latin typeface="Times New Roman" panose="02020603050405020304" pitchFamily="18" charset="0"/>
              <a:cs typeface="Times New Roman" panose="02020603050405020304" pitchFamily="18" charset="0"/>
            </a:endParaRPr>
          </a:p>
        </p:txBody>
      </p:sp>
      <p:sp>
        <p:nvSpPr>
          <p:cNvPr id="8" name="文本框 7">
            <a:extLst>
              <a:ext uri="{FF2B5EF4-FFF2-40B4-BE49-F238E27FC236}">
                <a16:creationId xmlns:a16="http://schemas.microsoft.com/office/drawing/2014/main" id="{268233E5-0AF8-49F8-A1A5-C0D0A5F4BA3F}"/>
              </a:ext>
            </a:extLst>
          </p:cNvPr>
          <p:cNvSpPr txBox="1"/>
          <p:nvPr/>
        </p:nvSpPr>
        <p:spPr>
          <a:xfrm>
            <a:off x="566245" y="2642888"/>
            <a:ext cx="11274357" cy="3970318"/>
          </a:xfrm>
          <a:prstGeom prst="rect">
            <a:avLst/>
          </a:prstGeom>
          <a:solidFill>
            <a:schemeClr val="accent5">
              <a:lumMod val="20000"/>
              <a:lumOff val="80000"/>
            </a:schemeClr>
          </a:solidFill>
          <a:ln>
            <a:solidFill>
              <a:schemeClr val="accent1"/>
            </a:solidFill>
          </a:ln>
        </p:spPr>
        <p:txBody>
          <a:bodyPr wrap="square">
            <a:spAutoFit/>
          </a:bodyPr>
          <a:lstStyle/>
          <a:p>
            <a:pPr marL="342900" indent="-342900" algn="just">
              <a:buFont typeface="+mj-lt"/>
              <a:buAutoNum type="arabicPeriod" startAt="7"/>
            </a:pPr>
            <a:r>
              <a:rPr lang="en-US" altLang="zh-CN" b="1" dirty="0">
                <a:latin typeface="Times New Roman" panose="02020603050405020304" pitchFamily="18" charset="0"/>
                <a:cs typeface="Times New Roman" panose="02020603050405020304" pitchFamily="18" charset="0"/>
              </a:rPr>
              <a:t>Print the names and majors of students who are taking one of the College Geometry courses. (Hint: You'll need to use the "like" predicate and the string matching character in your query).</a:t>
            </a:r>
          </a:p>
          <a:p>
            <a:pPr marL="342900" indent="-342900" algn="just">
              <a:buFont typeface="+mj-lt"/>
              <a:buAutoNum type="arabicPeriod" startAt="7"/>
            </a:pPr>
            <a:endParaRPr lang="en-US" altLang="zh-CN" b="1" dirty="0">
              <a:latin typeface="Times New Roman" panose="02020603050405020304" pitchFamily="18" charset="0"/>
              <a:cs typeface="Times New Roman" panose="02020603050405020304" pitchFamily="18" charset="0"/>
            </a:endParaRPr>
          </a:p>
          <a:p>
            <a:pPr marL="342900" indent="-342900" algn="just">
              <a:buFontTx/>
              <a:buAutoNum type="arabicPeriod" startAt="7"/>
            </a:pPr>
            <a:r>
              <a:rPr lang="en-US" altLang="zh-CN" b="1" dirty="0">
                <a:latin typeface="Times New Roman" panose="02020603050405020304" pitchFamily="18" charset="0"/>
                <a:cs typeface="Times New Roman" panose="02020603050405020304" pitchFamily="18" charset="0"/>
              </a:rPr>
              <a:t>For those departments that have no majors taking a College Geometry course, print the department name and the number of PhD students in the department. </a:t>
            </a:r>
          </a:p>
          <a:p>
            <a:pPr marL="342900" indent="-342900" algn="just">
              <a:buFontTx/>
              <a:buAutoNum type="arabicPeriod" startAt="7"/>
            </a:pPr>
            <a:endParaRPr lang="en-US" altLang="zh-CN" b="1" dirty="0">
              <a:latin typeface="Times New Roman" panose="02020603050405020304" pitchFamily="18" charset="0"/>
              <a:cs typeface="Times New Roman" panose="02020603050405020304" pitchFamily="18" charset="0"/>
            </a:endParaRPr>
          </a:p>
          <a:p>
            <a:pPr marL="342900" indent="-342900" algn="just">
              <a:buFontTx/>
              <a:buAutoNum type="arabicPeriod" startAt="7"/>
            </a:pPr>
            <a:r>
              <a:rPr lang="en-US" altLang="zh-CN" b="1" dirty="0">
                <a:latin typeface="Times New Roman" panose="02020603050405020304" pitchFamily="18" charset="0"/>
                <a:cs typeface="Times New Roman" panose="02020603050405020304" pitchFamily="18" charset="0"/>
              </a:rPr>
              <a:t>Print the names of students who are taking both a Computer Sciences course and a Mathematics course. </a:t>
            </a:r>
          </a:p>
          <a:p>
            <a:pPr marL="342900" indent="-342900" algn="just">
              <a:buFontTx/>
              <a:buAutoNum type="arabicPeriod" startAt="7"/>
            </a:pPr>
            <a:endParaRPr lang="en-US" altLang="zh-CN" b="1" dirty="0">
              <a:latin typeface="Times New Roman" panose="02020603050405020304" pitchFamily="18" charset="0"/>
              <a:cs typeface="Times New Roman" panose="02020603050405020304" pitchFamily="18" charset="0"/>
            </a:endParaRPr>
          </a:p>
          <a:p>
            <a:pPr marL="342900" indent="-342900" algn="just">
              <a:buAutoNum type="arabicPeriod" startAt="7"/>
            </a:pPr>
            <a:r>
              <a:rPr lang="en-US" altLang="zh-CN" b="1" dirty="0">
                <a:latin typeface="Times New Roman" panose="02020603050405020304" pitchFamily="18" charset="0"/>
                <a:cs typeface="Times New Roman" panose="02020603050405020304" pitchFamily="18" charset="0"/>
              </a:rPr>
              <a:t>Print the age difference between the oldest and youngest Computer Sciences major(s). </a:t>
            </a:r>
          </a:p>
          <a:p>
            <a:pPr marL="342900" indent="-342900" algn="just">
              <a:buAutoNum type="arabicPeriod" startAt="7"/>
            </a:pPr>
            <a:endParaRPr lang="en-US" altLang="zh-CN" b="1" dirty="0">
              <a:latin typeface="Times New Roman" panose="02020603050405020304" pitchFamily="18" charset="0"/>
              <a:cs typeface="Times New Roman" panose="02020603050405020304" pitchFamily="18" charset="0"/>
            </a:endParaRPr>
          </a:p>
          <a:p>
            <a:pPr marL="342900" indent="-342900" algn="just">
              <a:buAutoNum type="arabicPeriod" startAt="7"/>
            </a:pPr>
            <a:r>
              <a:rPr lang="en-US" altLang="zh-CN" b="1" dirty="0">
                <a:latin typeface="Times New Roman" panose="02020603050405020304" pitchFamily="18" charset="0"/>
                <a:cs typeface="Times New Roman" panose="02020603050405020304" pitchFamily="18" charset="0"/>
              </a:rPr>
              <a:t>For each department that has one or more majors with a GPA under 1.0, print the name of the department and the average GPA of its majors. </a:t>
            </a:r>
          </a:p>
          <a:p>
            <a:pPr marL="342900" indent="-342900" algn="just">
              <a:buAutoNum type="arabicPeriod" startAt="7"/>
            </a:pPr>
            <a:endParaRPr lang="en-US" altLang="zh-CN" b="1" dirty="0">
              <a:latin typeface="Times New Roman" panose="02020603050405020304" pitchFamily="18" charset="0"/>
              <a:cs typeface="Times New Roman" panose="02020603050405020304" pitchFamily="18" charset="0"/>
            </a:endParaRPr>
          </a:p>
          <a:p>
            <a:pPr marL="342900" indent="-342900" algn="just">
              <a:buFontTx/>
              <a:buAutoNum type="arabicPeriod" startAt="7"/>
            </a:pPr>
            <a:r>
              <a:rPr lang="en-US" altLang="zh-CN" b="1" dirty="0">
                <a:latin typeface="Times New Roman" panose="02020603050405020304" pitchFamily="18" charset="0"/>
                <a:cs typeface="Times New Roman" panose="02020603050405020304" pitchFamily="18" charset="0"/>
              </a:rPr>
              <a:t>Print the ids, names, and GPAs of the students who are currently taking all of the Civil Engineering courses.</a:t>
            </a:r>
          </a:p>
        </p:txBody>
      </p:sp>
      <p:sp>
        <p:nvSpPr>
          <p:cNvPr id="9" name="矩形 8">
            <a:extLst>
              <a:ext uri="{FF2B5EF4-FFF2-40B4-BE49-F238E27FC236}">
                <a16:creationId xmlns:a16="http://schemas.microsoft.com/office/drawing/2014/main" id="{BD060C8E-2B3E-4C9F-8366-D5F59321788A}"/>
              </a:ext>
            </a:extLst>
          </p:cNvPr>
          <p:cNvSpPr/>
          <p:nvPr/>
        </p:nvSpPr>
        <p:spPr>
          <a:xfrm>
            <a:off x="486172" y="2024360"/>
            <a:ext cx="11434505" cy="523220"/>
          </a:xfrm>
          <a:prstGeom prst="rect">
            <a:avLst/>
          </a:prstGeom>
        </p:spPr>
        <p:txBody>
          <a:bodyPr wrap="square">
            <a:spAutoFit/>
          </a:bodyPr>
          <a:lstStyle/>
          <a:p>
            <a:pPr marL="742950" indent="-742950" algn="just">
              <a:buFont typeface="+mj-lt"/>
              <a:buAutoNum type="arabicPeriod" startAt="3"/>
            </a:pPr>
            <a:r>
              <a:rPr lang="en-US" sz="2800" dirty="0">
                <a:latin typeface="Times New Roman" panose="02020603050405020304" pitchFamily="18" charset="0"/>
                <a:cs typeface="Times New Roman" panose="02020603050405020304" pitchFamily="18" charset="0"/>
              </a:rPr>
              <a:t>Questions</a:t>
            </a:r>
          </a:p>
        </p:txBody>
      </p:sp>
    </p:spTree>
    <p:extLst>
      <p:ext uri="{BB962C8B-B14F-4D97-AF65-F5344CB8AC3E}">
        <p14:creationId xmlns:p14="http://schemas.microsoft.com/office/powerpoint/2010/main" val="34115294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a:extLst>
              <a:ext uri="{FF2B5EF4-FFF2-40B4-BE49-F238E27FC236}">
                <a16:creationId xmlns:a16="http://schemas.microsoft.com/office/drawing/2014/main" id="{6C75D155-25C3-19C1-F1AA-AAC226DE76FB}"/>
              </a:ext>
            </a:extLst>
          </p:cNvPr>
          <p:cNvSpPr/>
          <p:nvPr/>
        </p:nvSpPr>
        <p:spPr>
          <a:xfrm>
            <a:off x="486173" y="205503"/>
            <a:ext cx="7839680"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Assignment</a:t>
            </a:r>
          </a:p>
        </p:txBody>
      </p:sp>
      <p:sp>
        <p:nvSpPr>
          <p:cNvPr id="7" name="Rectangle 6">
            <a:extLst>
              <a:ext uri="{FF2B5EF4-FFF2-40B4-BE49-F238E27FC236}">
                <a16:creationId xmlns:a16="http://schemas.microsoft.com/office/drawing/2014/main" id="{71429D8A-2720-AA1F-2B65-FF347C87B1B4}"/>
              </a:ext>
            </a:extLst>
          </p:cNvPr>
          <p:cNvSpPr/>
          <p:nvPr/>
        </p:nvSpPr>
        <p:spPr>
          <a:xfrm>
            <a:off x="486173" y="1221166"/>
            <a:ext cx="5133713" cy="707886"/>
          </a:xfrm>
          <a:prstGeom prst="rect">
            <a:avLst/>
          </a:prstGeom>
        </p:spPr>
        <p:txBody>
          <a:bodyPr wrap="none">
            <a:spAutoFit/>
          </a:bodyPr>
          <a:lstStyle/>
          <a:p>
            <a:r>
              <a:rPr lang="en-US" sz="4000" b="1" dirty="0">
                <a:solidFill>
                  <a:srgbClr val="33339B"/>
                </a:solidFill>
                <a:latin typeface="Times New Roman" panose="02020603050405020304" pitchFamily="18" charset="0"/>
                <a:cs typeface="Times New Roman" panose="02020603050405020304" pitchFamily="18" charset="0"/>
              </a:rPr>
              <a:t>1. </a:t>
            </a:r>
            <a:r>
              <a:rPr lang="en-US" altLang="zh-CN" sz="4000" b="1" dirty="0">
                <a:solidFill>
                  <a:srgbClr val="33339B"/>
                </a:solidFill>
                <a:latin typeface="Times New Roman" panose="02020603050405020304" pitchFamily="18" charset="0"/>
                <a:cs typeface="Times New Roman" panose="02020603050405020304" pitchFamily="18" charset="0"/>
              </a:rPr>
              <a:t>Assignment Content</a:t>
            </a:r>
            <a:endParaRPr lang="en-US" sz="4000" b="1" dirty="0">
              <a:solidFill>
                <a:srgbClr val="33339B"/>
              </a:solidFill>
              <a:latin typeface="Times New Roman" panose="02020603050405020304" pitchFamily="18" charset="0"/>
              <a:cs typeface="Times New Roman" panose="02020603050405020304" pitchFamily="18" charset="0"/>
            </a:endParaRPr>
          </a:p>
        </p:txBody>
      </p:sp>
      <p:sp>
        <p:nvSpPr>
          <p:cNvPr id="8" name="文本框 7">
            <a:extLst>
              <a:ext uri="{FF2B5EF4-FFF2-40B4-BE49-F238E27FC236}">
                <a16:creationId xmlns:a16="http://schemas.microsoft.com/office/drawing/2014/main" id="{268233E5-0AF8-49F8-A1A5-C0D0A5F4BA3F}"/>
              </a:ext>
            </a:extLst>
          </p:cNvPr>
          <p:cNvSpPr txBox="1"/>
          <p:nvPr/>
        </p:nvSpPr>
        <p:spPr>
          <a:xfrm>
            <a:off x="294922" y="2642888"/>
            <a:ext cx="11625755" cy="3046988"/>
          </a:xfrm>
          <a:prstGeom prst="rect">
            <a:avLst/>
          </a:prstGeom>
          <a:solidFill>
            <a:schemeClr val="accent5">
              <a:lumMod val="20000"/>
              <a:lumOff val="80000"/>
            </a:schemeClr>
          </a:solidFill>
          <a:ln>
            <a:solidFill>
              <a:schemeClr val="accent1"/>
            </a:solidFill>
          </a:ln>
        </p:spPr>
        <p:txBody>
          <a:bodyPr wrap="square">
            <a:spAutoFit/>
          </a:bodyPr>
          <a:lstStyle/>
          <a:p>
            <a:pPr marL="342900" indent="-342900">
              <a:buFont typeface="Wingdings" panose="05000000000000000000" pitchFamily="2" charset="2"/>
              <a:buChar char="§"/>
            </a:pPr>
            <a:r>
              <a:rPr lang="en-US" altLang="zh-CN" sz="2400" b="1" dirty="0">
                <a:latin typeface="Times New Roman" panose="02020603050405020304" pitchFamily="18" charset="0"/>
                <a:cs typeface="Times New Roman" panose="02020603050405020304" pitchFamily="18" charset="0"/>
              </a:rPr>
              <a:t>The schema of the database is provided below (keys are red, field types are omitted):</a:t>
            </a:r>
          </a:p>
          <a:p>
            <a:pPr marL="1371600" lvl="2" indent="-457200">
              <a:buFont typeface="Arial" panose="020B0604020202020204" pitchFamily="34" charset="0"/>
              <a:buChar char="•"/>
            </a:pPr>
            <a:r>
              <a:rPr lang="en-US" altLang="zh-CN" sz="2400" b="1" dirty="0">
                <a:latin typeface="Times New Roman" panose="02020603050405020304" pitchFamily="18" charset="0"/>
                <a:cs typeface="Times New Roman" panose="02020603050405020304" pitchFamily="18" charset="0"/>
              </a:rPr>
              <a:t>    student(</a:t>
            </a:r>
            <a:r>
              <a:rPr lang="en-US" altLang="zh-CN" sz="2400" b="1" dirty="0" err="1">
                <a:solidFill>
                  <a:srgbClr val="C00000"/>
                </a:solidFill>
                <a:latin typeface="Times New Roman" panose="02020603050405020304" pitchFamily="18" charset="0"/>
                <a:cs typeface="Times New Roman" panose="02020603050405020304" pitchFamily="18" charset="0"/>
              </a:rPr>
              <a:t>sid</a:t>
            </a:r>
            <a:r>
              <a:rPr lang="en-US" altLang="zh-CN" sz="2400" b="1" dirty="0">
                <a:latin typeface="Times New Roman" panose="02020603050405020304" pitchFamily="18" charset="0"/>
                <a:cs typeface="Times New Roman" panose="02020603050405020304" pitchFamily="18" charset="0"/>
              </a:rPr>
              <a:t>, </a:t>
            </a:r>
            <a:r>
              <a:rPr lang="en-US" altLang="zh-CN" sz="2400" b="1" dirty="0" err="1">
                <a:latin typeface="Times New Roman" panose="02020603050405020304" pitchFamily="18" charset="0"/>
                <a:cs typeface="Times New Roman" panose="02020603050405020304" pitchFamily="18" charset="0"/>
              </a:rPr>
              <a:t>sname</a:t>
            </a:r>
            <a:r>
              <a:rPr lang="en-US" altLang="zh-CN" sz="2400" b="1" dirty="0">
                <a:latin typeface="Times New Roman" panose="02020603050405020304" pitchFamily="18" charset="0"/>
                <a:cs typeface="Times New Roman" panose="02020603050405020304" pitchFamily="18" charset="0"/>
              </a:rPr>
              <a:t>, sex, age, year, </a:t>
            </a:r>
            <a:r>
              <a:rPr lang="en-US" altLang="zh-CN" sz="2400" b="1" dirty="0" err="1">
                <a:latin typeface="Times New Roman" panose="02020603050405020304" pitchFamily="18" charset="0"/>
                <a:cs typeface="Times New Roman" panose="02020603050405020304" pitchFamily="18" charset="0"/>
              </a:rPr>
              <a:t>gpa</a:t>
            </a:r>
            <a:r>
              <a:rPr lang="en-US" altLang="zh-CN" sz="2400" b="1" dirty="0">
                <a:latin typeface="Times New Roman" panose="02020603050405020304" pitchFamily="18" charset="0"/>
                <a:cs typeface="Times New Roman" panose="02020603050405020304" pitchFamily="18" charset="0"/>
              </a:rPr>
              <a:t>)</a:t>
            </a:r>
          </a:p>
          <a:p>
            <a:pPr marL="1371600" lvl="2" indent="-457200">
              <a:buFont typeface="Arial" panose="020B0604020202020204" pitchFamily="34" charset="0"/>
              <a:buChar char="•"/>
            </a:pPr>
            <a:r>
              <a:rPr lang="en-US" altLang="zh-CN" sz="2400" b="1" dirty="0">
                <a:latin typeface="Times New Roman" panose="02020603050405020304" pitchFamily="18" charset="0"/>
                <a:cs typeface="Times New Roman" panose="02020603050405020304" pitchFamily="18" charset="0"/>
              </a:rPr>
              <a:t>    dept(</a:t>
            </a:r>
            <a:r>
              <a:rPr lang="en-US" altLang="zh-CN" sz="2400" b="1" dirty="0" err="1">
                <a:solidFill>
                  <a:srgbClr val="C00000"/>
                </a:solidFill>
                <a:latin typeface="Times New Roman" panose="02020603050405020304" pitchFamily="18" charset="0"/>
                <a:cs typeface="Times New Roman" panose="02020603050405020304" pitchFamily="18" charset="0"/>
              </a:rPr>
              <a:t>dname</a:t>
            </a:r>
            <a:r>
              <a:rPr lang="en-US" altLang="zh-CN" sz="2400" b="1" dirty="0">
                <a:latin typeface="Times New Roman" panose="02020603050405020304" pitchFamily="18" charset="0"/>
                <a:cs typeface="Times New Roman" panose="02020603050405020304" pitchFamily="18" charset="0"/>
              </a:rPr>
              <a:t>, </a:t>
            </a:r>
            <a:r>
              <a:rPr lang="en-US" altLang="zh-CN" sz="2400" b="1" dirty="0" err="1">
                <a:latin typeface="Times New Roman" panose="02020603050405020304" pitchFamily="18" charset="0"/>
                <a:cs typeface="Times New Roman" panose="02020603050405020304" pitchFamily="18" charset="0"/>
              </a:rPr>
              <a:t>numphds</a:t>
            </a:r>
            <a:r>
              <a:rPr lang="en-US" altLang="zh-CN" sz="2400" b="1" dirty="0">
                <a:latin typeface="Times New Roman" panose="02020603050405020304" pitchFamily="18" charset="0"/>
                <a:cs typeface="Times New Roman" panose="02020603050405020304" pitchFamily="18" charset="0"/>
              </a:rPr>
              <a:t>)</a:t>
            </a:r>
          </a:p>
          <a:p>
            <a:pPr marL="1371600" lvl="2" indent="-457200">
              <a:buFont typeface="Arial" panose="020B0604020202020204" pitchFamily="34" charset="0"/>
              <a:buChar char="•"/>
            </a:pPr>
            <a:r>
              <a:rPr lang="en-US" altLang="zh-CN" sz="2400" b="1" dirty="0">
                <a:latin typeface="Times New Roman" panose="02020603050405020304" pitchFamily="18" charset="0"/>
                <a:cs typeface="Times New Roman" panose="02020603050405020304" pitchFamily="18" charset="0"/>
              </a:rPr>
              <a:t>    prof(</a:t>
            </a:r>
            <a:r>
              <a:rPr lang="en-US" altLang="zh-CN" sz="2400" b="1" dirty="0" err="1">
                <a:solidFill>
                  <a:srgbClr val="C00000"/>
                </a:solidFill>
                <a:latin typeface="Times New Roman" panose="02020603050405020304" pitchFamily="18" charset="0"/>
                <a:cs typeface="Times New Roman" panose="02020603050405020304" pitchFamily="18" charset="0"/>
              </a:rPr>
              <a:t>pname</a:t>
            </a:r>
            <a:r>
              <a:rPr lang="en-US" altLang="zh-CN" sz="2400" b="1" dirty="0">
                <a:latin typeface="Times New Roman" panose="02020603050405020304" pitchFamily="18" charset="0"/>
                <a:cs typeface="Times New Roman" panose="02020603050405020304" pitchFamily="18" charset="0"/>
              </a:rPr>
              <a:t>, </a:t>
            </a:r>
            <a:r>
              <a:rPr lang="en-US" altLang="zh-CN" sz="2400" b="1" dirty="0" err="1">
                <a:latin typeface="Times New Roman" panose="02020603050405020304" pitchFamily="18" charset="0"/>
                <a:cs typeface="Times New Roman" panose="02020603050405020304" pitchFamily="18" charset="0"/>
              </a:rPr>
              <a:t>dname</a:t>
            </a:r>
            <a:r>
              <a:rPr lang="en-US" altLang="zh-CN" sz="2400" b="1" dirty="0">
                <a:latin typeface="Times New Roman" panose="02020603050405020304" pitchFamily="18" charset="0"/>
                <a:cs typeface="Times New Roman" panose="02020603050405020304" pitchFamily="18" charset="0"/>
              </a:rPr>
              <a:t>)</a:t>
            </a:r>
          </a:p>
          <a:p>
            <a:pPr marL="1371600" lvl="2" indent="-457200">
              <a:buFont typeface="Arial" panose="020B0604020202020204" pitchFamily="34" charset="0"/>
              <a:buChar char="•"/>
            </a:pPr>
            <a:r>
              <a:rPr lang="en-US" altLang="zh-CN" sz="2400" b="1" dirty="0">
                <a:latin typeface="Times New Roman" panose="02020603050405020304" pitchFamily="18" charset="0"/>
                <a:cs typeface="Times New Roman" panose="02020603050405020304" pitchFamily="18" charset="0"/>
              </a:rPr>
              <a:t>    course(</a:t>
            </a:r>
            <a:r>
              <a:rPr lang="en-US" altLang="zh-CN" sz="2400" b="1" dirty="0" err="1">
                <a:solidFill>
                  <a:srgbClr val="C00000"/>
                </a:solidFill>
                <a:latin typeface="Times New Roman" panose="02020603050405020304" pitchFamily="18" charset="0"/>
                <a:cs typeface="Times New Roman" panose="02020603050405020304" pitchFamily="18" charset="0"/>
              </a:rPr>
              <a:t>cno</a:t>
            </a:r>
            <a:r>
              <a:rPr lang="en-US" altLang="zh-CN" sz="2400" b="1" dirty="0">
                <a:latin typeface="Times New Roman" panose="02020603050405020304" pitchFamily="18" charset="0"/>
                <a:cs typeface="Times New Roman" panose="02020603050405020304" pitchFamily="18" charset="0"/>
              </a:rPr>
              <a:t>, </a:t>
            </a:r>
            <a:r>
              <a:rPr lang="en-US" altLang="zh-CN" sz="2400" b="1" dirty="0" err="1">
                <a:latin typeface="Times New Roman" panose="02020603050405020304" pitchFamily="18" charset="0"/>
                <a:cs typeface="Times New Roman" panose="02020603050405020304" pitchFamily="18" charset="0"/>
              </a:rPr>
              <a:t>cname</a:t>
            </a:r>
            <a:r>
              <a:rPr lang="en-US" altLang="zh-CN" sz="2400" b="1" dirty="0">
                <a:latin typeface="Times New Roman" panose="02020603050405020304" pitchFamily="18" charset="0"/>
                <a:cs typeface="Times New Roman" panose="02020603050405020304" pitchFamily="18" charset="0"/>
              </a:rPr>
              <a:t>, </a:t>
            </a:r>
            <a:r>
              <a:rPr lang="en-US" altLang="zh-CN" sz="2400" b="1" dirty="0" err="1">
                <a:solidFill>
                  <a:srgbClr val="C00000"/>
                </a:solidFill>
                <a:latin typeface="Times New Roman" panose="02020603050405020304" pitchFamily="18" charset="0"/>
                <a:cs typeface="Times New Roman" panose="02020603050405020304" pitchFamily="18" charset="0"/>
              </a:rPr>
              <a:t>dname</a:t>
            </a:r>
            <a:r>
              <a:rPr lang="en-US" altLang="zh-CN" sz="2400" b="1" dirty="0">
                <a:latin typeface="Times New Roman" panose="02020603050405020304" pitchFamily="18" charset="0"/>
                <a:cs typeface="Times New Roman" panose="02020603050405020304" pitchFamily="18" charset="0"/>
              </a:rPr>
              <a:t>)</a:t>
            </a:r>
          </a:p>
          <a:p>
            <a:pPr marL="1371600" lvl="2" indent="-457200">
              <a:buFont typeface="Arial" panose="020B0604020202020204" pitchFamily="34" charset="0"/>
              <a:buChar char="•"/>
            </a:pPr>
            <a:r>
              <a:rPr lang="en-US" altLang="zh-CN" sz="2400" b="1" dirty="0">
                <a:latin typeface="Times New Roman" panose="02020603050405020304" pitchFamily="18" charset="0"/>
                <a:cs typeface="Times New Roman" panose="02020603050405020304" pitchFamily="18" charset="0"/>
              </a:rPr>
              <a:t>    major(</a:t>
            </a:r>
            <a:r>
              <a:rPr lang="en-US" altLang="zh-CN" sz="2400" b="1" dirty="0" err="1">
                <a:solidFill>
                  <a:srgbClr val="C00000"/>
                </a:solidFill>
                <a:latin typeface="Times New Roman" panose="02020603050405020304" pitchFamily="18" charset="0"/>
                <a:cs typeface="Times New Roman" panose="02020603050405020304" pitchFamily="18" charset="0"/>
              </a:rPr>
              <a:t>dname</a:t>
            </a:r>
            <a:r>
              <a:rPr lang="en-US" altLang="zh-CN" sz="2400" b="1" dirty="0">
                <a:latin typeface="Times New Roman" panose="02020603050405020304" pitchFamily="18" charset="0"/>
                <a:cs typeface="Times New Roman" panose="02020603050405020304" pitchFamily="18" charset="0"/>
              </a:rPr>
              <a:t>, </a:t>
            </a:r>
            <a:r>
              <a:rPr lang="en-US" altLang="zh-CN" sz="2400" b="1" dirty="0" err="1">
                <a:solidFill>
                  <a:srgbClr val="C00000"/>
                </a:solidFill>
                <a:latin typeface="Times New Roman" panose="02020603050405020304" pitchFamily="18" charset="0"/>
                <a:cs typeface="Times New Roman" panose="02020603050405020304" pitchFamily="18" charset="0"/>
              </a:rPr>
              <a:t>sid</a:t>
            </a:r>
            <a:r>
              <a:rPr lang="en-US" altLang="zh-CN" sz="2400" b="1" dirty="0">
                <a:latin typeface="Times New Roman" panose="02020603050405020304" pitchFamily="18" charset="0"/>
                <a:cs typeface="Times New Roman" panose="02020603050405020304" pitchFamily="18" charset="0"/>
              </a:rPr>
              <a:t>)</a:t>
            </a:r>
          </a:p>
          <a:p>
            <a:pPr marL="1371600" lvl="2" indent="-457200">
              <a:buFont typeface="Arial" panose="020B0604020202020204" pitchFamily="34" charset="0"/>
              <a:buChar char="•"/>
            </a:pPr>
            <a:r>
              <a:rPr lang="en-US" altLang="zh-CN" sz="2400" b="1" dirty="0">
                <a:latin typeface="Times New Roman" panose="02020603050405020304" pitchFamily="18" charset="0"/>
                <a:cs typeface="Times New Roman" panose="02020603050405020304" pitchFamily="18" charset="0"/>
              </a:rPr>
              <a:t>    section(</a:t>
            </a:r>
            <a:r>
              <a:rPr lang="en-US" altLang="zh-CN" sz="2400" b="1" dirty="0" err="1">
                <a:solidFill>
                  <a:srgbClr val="C00000"/>
                </a:solidFill>
                <a:latin typeface="Times New Roman" panose="02020603050405020304" pitchFamily="18" charset="0"/>
                <a:cs typeface="Times New Roman" panose="02020603050405020304" pitchFamily="18" charset="0"/>
              </a:rPr>
              <a:t>dname</a:t>
            </a:r>
            <a:r>
              <a:rPr lang="en-US" altLang="zh-CN" sz="2400" b="1" dirty="0">
                <a:latin typeface="Times New Roman" panose="02020603050405020304" pitchFamily="18" charset="0"/>
                <a:cs typeface="Times New Roman" panose="02020603050405020304" pitchFamily="18" charset="0"/>
              </a:rPr>
              <a:t>, </a:t>
            </a:r>
            <a:r>
              <a:rPr lang="en-US" altLang="zh-CN" sz="2400" b="1" dirty="0" err="1">
                <a:solidFill>
                  <a:srgbClr val="C00000"/>
                </a:solidFill>
                <a:latin typeface="Times New Roman" panose="02020603050405020304" pitchFamily="18" charset="0"/>
                <a:cs typeface="Times New Roman" panose="02020603050405020304" pitchFamily="18" charset="0"/>
              </a:rPr>
              <a:t>cno</a:t>
            </a:r>
            <a:r>
              <a:rPr lang="en-US" altLang="zh-CN" sz="2400" b="1" dirty="0">
                <a:latin typeface="Times New Roman" panose="02020603050405020304" pitchFamily="18" charset="0"/>
                <a:cs typeface="Times New Roman" panose="02020603050405020304" pitchFamily="18" charset="0"/>
              </a:rPr>
              <a:t>, </a:t>
            </a:r>
            <a:r>
              <a:rPr lang="en-US" altLang="zh-CN" sz="2400" b="1" dirty="0" err="1">
                <a:solidFill>
                  <a:srgbClr val="C00000"/>
                </a:solidFill>
                <a:latin typeface="Times New Roman" panose="02020603050405020304" pitchFamily="18" charset="0"/>
                <a:cs typeface="Times New Roman" panose="02020603050405020304" pitchFamily="18" charset="0"/>
              </a:rPr>
              <a:t>sectno</a:t>
            </a:r>
            <a:r>
              <a:rPr lang="en-US" altLang="zh-CN" sz="2400" b="1" dirty="0">
                <a:latin typeface="Times New Roman" panose="02020603050405020304" pitchFamily="18" charset="0"/>
                <a:cs typeface="Times New Roman" panose="02020603050405020304" pitchFamily="18" charset="0"/>
              </a:rPr>
              <a:t>, </a:t>
            </a:r>
            <a:r>
              <a:rPr lang="en-US" altLang="zh-CN" sz="2400" b="1" dirty="0" err="1">
                <a:latin typeface="Times New Roman" panose="02020603050405020304" pitchFamily="18" charset="0"/>
                <a:cs typeface="Times New Roman" panose="02020603050405020304" pitchFamily="18" charset="0"/>
              </a:rPr>
              <a:t>pname</a:t>
            </a:r>
            <a:r>
              <a:rPr lang="en-US" altLang="zh-CN" sz="2400" b="1" dirty="0">
                <a:latin typeface="Times New Roman" panose="02020603050405020304" pitchFamily="18" charset="0"/>
                <a:cs typeface="Times New Roman" panose="02020603050405020304" pitchFamily="18" charset="0"/>
              </a:rPr>
              <a:t>)</a:t>
            </a:r>
          </a:p>
          <a:p>
            <a:pPr marL="1371600" lvl="2" indent="-457200">
              <a:buFont typeface="Arial" panose="020B0604020202020204" pitchFamily="34" charset="0"/>
              <a:buChar char="•"/>
            </a:pPr>
            <a:r>
              <a:rPr lang="pt-BR" altLang="zh-CN" sz="2400" b="1" dirty="0">
                <a:latin typeface="Times New Roman" panose="02020603050405020304" pitchFamily="18" charset="0"/>
                <a:cs typeface="Times New Roman" panose="02020603050405020304" pitchFamily="18" charset="0"/>
              </a:rPr>
              <a:t>    enroll(</a:t>
            </a:r>
            <a:r>
              <a:rPr lang="pt-BR" altLang="zh-CN" sz="2400" b="1" dirty="0">
                <a:solidFill>
                  <a:srgbClr val="C00000"/>
                </a:solidFill>
                <a:latin typeface="Times New Roman" panose="02020603050405020304" pitchFamily="18" charset="0"/>
                <a:cs typeface="Times New Roman" panose="02020603050405020304" pitchFamily="18" charset="0"/>
              </a:rPr>
              <a:t>sid</a:t>
            </a:r>
            <a:r>
              <a:rPr lang="pt-BR" altLang="zh-CN" sz="2400" b="1" dirty="0">
                <a:latin typeface="Times New Roman" panose="02020603050405020304" pitchFamily="18" charset="0"/>
                <a:cs typeface="Times New Roman" panose="02020603050405020304" pitchFamily="18" charset="0"/>
              </a:rPr>
              <a:t>, grade, </a:t>
            </a:r>
            <a:r>
              <a:rPr lang="pt-BR" altLang="zh-CN" sz="2400" b="1" dirty="0">
                <a:solidFill>
                  <a:srgbClr val="C00000"/>
                </a:solidFill>
                <a:latin typeface="Times New Roman" panose="02020603050405020304" pitchFamily="18" charset="0"/>
                <a:cs typeface="Times New Roman" panose="02020603050405020304" pitchFamily="18" charset="0"/>
              </a:rPr>
              <a:t>dname</a:t>
            </a:r>
            <a:r>
              <a:rPr lang="pt-BR" altLang="zh-CN" sz="2400" b="1" dirty="0">
                <a:latin typeface="Times New Roman" panose="02020603050405020304" pitchFamily="18" charset="0"/>
                <a:cs typeface="Times New Roman" panose="02020603050405020304" pitchFamily="18" charset="0"/>
              </a:rPr>
              <a:t>, </a:t>
            </a:r>
            <a:r>
              <a:rPr lang="pt-BR" altLang="zh-CN" sz="2400" b="1" dirty="0">
                <a:solidFill>
                  <a:srgbClr val="C00000"/>
                </a:solidFill>
                <a:latin typeface="Times New Roman" panose="02020603050405020304" pitchFamily="18" charset="0"/>
                <a:cs typeface="Times New Roman" panose="02020603050405020304" pitchFamily="18" charset="0"/>
              </a:rPr>
              <a:t>cno</a:t>
            </a:r>
            <a:r>
              <a:rPr lang="pt-BR" altLang="zh-CN" sz="2400" b="1" dirty="0">
                <a:latin typeface="Times New Roman" panose="02020603050405020304" pitchFamily="18" charset="0"/>
                <a:cs typeface="Times New Roman" panose="02020603050405020304" pitchFamily="18" charset="0"/>
              </a:rPr>
              <a:t>, </a:t>
            </a:r>
            <a:r>
              <a:rPr lang="pt-BR" altLang="zh-CN" sz="2400" b="1" dirty="0">
                <a:solidFill>
                  <a:srgbClr val="C00000"/>
                </a:solidFill>
                <a:latin typeface="Times New Roman" panose="02020603050405020304" pitchFamily="18" charset="0"/>
                <a:cs typeface="Times New Roman" panose="02020603050405020304" pitchFamily="18" charset="0"/>
              </a:rPr>
              <a:t>sectno</a:t>
            </a:r>
            <a:r>
              <a:rPr lang="pt-BR" altLang="zh-CN" sz="2400" b="1" dirty="0">
                <a:latin typeface="Times New Roman" panose="02020603050405020304" pitchFamily="18" charset="0"/>
                <a:cs typeface="Times New Roman" panose="02020603050405020304" pitchFamily="18" charset="0"/>
              </a:rPr>
              <a:t>)</a:t>
            </a:r>
          </a:p>
        </p:txBody>
      </p:sp>
      <p:sp>
        <p:nvSpPr>
          <p:cNvPr id="9" name="矩形 8">
            <a:extLst>
              <a:ext uri="{FF2B5EF4-FFF2-40B4-BE49-F238E27FC236}">
                <a16:creationId xmlns:a16="http://schemas.microsoft.com/office/drawing/2014/main" id="{BD060C8E-2B3E-4C9F-8366-D5F59321788A}"/>
              </a:ext>
            </a:extLst>
          </p:cNvPr>
          <p:cNvSpPr/>
          <p:nvPr/>
        </p:nvSpPr>
        <p:spPr>
          <a:xfrm>
            <a:off x="486172" y="2024360"/>
            <a:ext cx="11434505" cy="523220"/>
          </a:xfrm>
          <a:prstGeom prst="rect">
            <a:avLst/>
          </a:prstGeom>
        </p:spPr>
        <p:txBody>
          <a:bodyPr wrap="square">
            <a:spAutoFit/>
          </a:bodyPr>
          <a:lstStyle/>
          <a:p>
            <a:pPr marL="742950" indent="-742950" algn="just">
              <a:buFont typeface="+mj-lt"/>
              <a:buAutoNum type="arabicPeriod" startAt="4"/>
            </a:pPr>
            <a:r>
              <a:rPr lang="en-US" sz="2800" dirty="0">
                <a:latin typeface="Times New Roman" panose="02020603050405020304" pitchFamily="18" charset="0"/>
                <a:cs typeface="Times New Roman" panose="02020603050405020304" pitchFamily="18" charset="0"/>
              </a:rPr>
              <a:t>Schema and Sample Data</a:t>
            </a:r>
          </a:p>
        </p:txBody>
      </p:sp>
    </p:spTree>
    <p:extLst>
      <p:ext uri="{BB962C8B-B14F-4D97-AF65-F5344CB8AC3E}">
        <p14:creationId xmlns:p14="http://schemas.microsoft.com/office/powerpoint/2010/main" val="34315321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a:extLst>
              <a:ext uri="{FF2B5EF4-FFF2-40B4-BE49-F238E27FC236}">
                <a16:creationId xmlns:a16="http://schemas.microsoft.com/office/drawing/2014/main" id="{6C75D155-25C3-19C1-F1AA-AAC226DE76FB}"/>
              </a:ext>
            </a:extLst>
          </p:cNvPr>
          <p:cNvSpPr/>
          <p:nvPr/>
        </p:nvSpPr>
        <p:spPr>
          <a:xfrm>
            <a:off x="486173" y="205503"/>
            <a:ext cx="7839680"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Assignment</a:t>
            </a:r>
          </a:p>
        </p:txBody>
      </p:sp>
      <p:sp>
        <p:nvSpPr>
          <p:cNvPr id="7" name="Rectangle 6">
            <a:extLst>
              <a:ext uri="{FF2B5EF4-FFF2-40B4-BE49-F238E27FC236}">
                <a16:creationId xmlns:a16="http://schemas.microsoft.com/office/drawing/2014/main" id="{71429D8A-2720-AA1F-2B65-FF347C87B1B4}"/>
              </a:ext>
            </a:extLst>
          </p:cNvPr>
          <p:cNvSpPr/>
          <p:nvPr/>
        </p:nvSpPr>
        <p:spPr>
          <a:xfrm>
            <a:off x="486173" y="1221166"/>
            <a:ext cx="5133713" cy="707886"/>
          </a:xfrm>
          <a:prstGeom prst="rect">
            <a:avLst/>
          </a:prstGeom>
        </p:spPr>
        <p:txBody>
          <a:bodyPr wrap="none">
            <a:spAutoFit/>
          </a:bodyPr>
          <a:lstStyle/>
          <a:p>
            <a:r>
              <a:rPr lang="en-US" sz="4000" b="1" dirty="0">
                <a:solidFill>
                  <a:srgbClr val="33339B"/>
                </a:solidFill>
                <a:latin typeface="Times New Roman" panose="02020603050405020304" pitchFamily="18" charset="0"/>
                <a:cs typeface="Times New Roman" panose="02020603050405020304" pitchFamily="18" charset="0"/>
              </a:rPr>
              <a:t>1. </a:t>
            </a:r>
            <a:r>
              <a:rPr lang="en-US" altLang="zh-CN" sz="4000" b="1" dirty="0">
                <a:solidFill>
                  <a:srgbClr val="33339B"/>
                </a:solidFill>
                <a:latin typeface="Times New Roman" panose="02020603050405020304" pitchFamily="18" charset="0"/>
                <a:cs typeface="Times New Roman" panose="02020603050405020304" pitchFamily="18" charset="0"/>
              </a:rPr>
              <a:t>Assignment Content</a:t>
            </a:r>
            <a:endParaRPr lang="en-US" sz="4000" b="1" dirty="0">
              <a:solidFill>
                <a:srgbClr val="33339B"/>
              </a:solidFill>
              <a:latin typeface="Times New Roman" panose="02020603050405020304" pitchFamily="18" charset="0"/>
              <a:cs typeface="Times New Roman" panose="02020603050405020304" pitchFamily="18" charset="0"/>
            </a:endParaRPr>
          </a:p>
        </p:txBody>
      </p:sp>
      <p:sp>
        <p:nvSpPr>
          <p:cNvPr id="8" name="文本框 7">
            <a:extLst>
              <a:ext uri="{FF2B5EF4-FFF2-40B4-BE49-F238E27FC236}">
                <a16:creationId xmlns:a16="http://schemas.microsoft.com/office/drawing/2014/main" id="{268233E5-0AF8-49F8-A1A5-C0D0A5F4BA3F}"/>
              </a:ext>
            </a:extLst>
          </p:cNvPr>
          <p:cNvSpPr txBox="1"/>
          <p:nvPr/>
        </p:nvSpPr>
        <p:spPr>
          <a:xfrm>
            <a:off x="690041" y="2620624"/>
            <a:ext cx="11230636" cy="3354765"/>
          </a:xfrm>
          <a:prstGeom prst="rect">
            <a:avLst/>
          </a:prstGeom>
          <a:solidFill>
            <a:schemeClr val="accent5">
              <a:lumMod val="20000"/>
              <a:lumOff val="80000"/>
            </a:schemeClr>
          </a:solidFill>
          <a:ln>
            <a:solidFill>
              <a:schemeClr val="accent1"/>
            </a:solidFill>
          </a:ln>
        </p:spPr>
        <p:txBody>
          <a:bodyPr wrap="square">
            <a:spAutoFit/>
          </a:bodyPr>
          <a:lstStyle/>
          <a:p>
            <a:pPr marL="571500" indent="-571500">
              <a:buFont typeface="Wingdings" panose="05000000000000000000" pitchFamily="2" charset="2"/>
              <a:buChar char="§"/>
            </a:pPr>
            <a:r>
              <a:rPr lang="en-US" altLang="zh-CN" sz="2200" b="1" dirty="0">
                <a:latin typeface="Times New Roman" panose="02020603050405020304" pitchFamily="18" charset="0"/>
                <a:cs typeface="Times New Roman" panose="02020603050405020304" pitchFamily="18" charset="0"/>
              </a:rPr>
              <a:t>Download the following data files from </a:t>
            </a:r>
            <a:r>
              <a:rPr lang="en-US" altLang="zh-CN" sz="2200" b="1" u="sng" dirty="0">
                <a:solidFill>
                  <a:srgbClr val="C00000"/>
                </a:solidFill>
                <a:latin typeface="Times New Roman" panose="02020603050405020304" pitchFamily="18" charset="0"/>
                <a:cs typeface="Times New Roman" panose="02020603050405020304" pitchFamily="18" charset="0"/>
              </a:rPr>
              <a:t>WeChat Group</a:t>
            </a:r>
            <a:r>
              <a:rPr lang="en-US" altLang="zh-CN" sz="2200" b="1" dirty="0">
                <a:latin typeface="Times New Roman" panose="02020603050405020304" pitchFamily="18" charset="0"/>
                <a:cs typeface="Times New Roman" panose="02020603050405020304" pitchFamily="18" charset="0"/>
              </a:rPr>
              <a:t>(The imports you made in Project 1). </a:t>
            </a:r>
          </a:p>
          <a:p>
            <a:pPr marL="2286000" lvl="4" indent="-457200">
              <a:buFont typeface="Wingdings" panose="05000000000000000000" pitchFamily="2" charset="2"/>
              <a:buChar char="Ø"/>
            </a:pPr>
            <a:r>
              <a:rPr lang="en-US" altLang="zh-CN" sz="2400" b="1" dirty="0">
                <a:latin typeface="Times New Roman" panose="02020603050405020304" pitchFamily="18" charset="0"/>
                <a:cs typeface="Times New Roman" panose="02020603050405020304" pitchFamily="18" charset="0"/>
              </a:rPr>
              <a:t>course.txt</a:t>
            </a:r>
          </a:p>
          <a:p>
            <a:pPr marL="2286000" lvl="4" indent="-457200">
              <a:buFont typeface="Wingdings" panose="05000000000000000000" pitchFamily="2" charset="2"/>
              <a:buChar char="Ø"/>
            </a:pPr>
            <a:r>
              <a:rPr lang="en-US" altLang="zh-CN" sz="2400" b="1" dirty="0">
                <a:latin typeface="Times New Roman" panose="02020603050405020304" pitchFamily="18" charset="0"/>
                <a:cs typeface="Times New Roman" panose="02020603050405020304" pitchFamily="18" charset="0"/>
              </a:rPr>
              <a:t>dept.txt</a:t>
            </a:r>
          </a:p>
          <a:p>
            <a:pPr marL="2286000" lvl="4" indent="-457200">
              <a:buFont typeface="Wingdings" panose="05000000000000000000" pitchFamily="2" charset="2"/>
              <a:buChar char="Ø"/>
            </a:pPr>
            <a:r>
              <a:rPr lang="en-US" altLang="zh-CN" sz="2400" b="1" dirty="0">
                <a:latin typeface="Times New Roman" panose="02020603050405020304" pitchFamily="18" charset="0"/>
                <a:cs typeface="Times New Roman" panose="02020603050405020304" pitchFamily="18" charset="0"/>
              </a:rPr>
              <a:t>enroll.txt</a:t>
            </a:r>
          </a:p>
          <a:p>
            <a:pPr marL="2286000" lvl="4" indent="-457200">
              <a:buFont typeface="Wingdings" panose="05000000000000000000" pitchFamily="2" charset="2"/>
              <a:buChar char="Ø"/>
            </a:pPr>
            <a:r>
              <a:rPr lang="en-US" altLang="zh-CN" sz="2400" b="1" dirty="0">
                <a:latin typeface="Times New Roman" panose="02020603050405020304" pitchFamily="18" charset="0"/>
                <a:cs typeface="Times New Roman" panose="02020603050405020304" pitchFamily="18" charset="0"/>
              </a:rPr>
              <a:t>major.txt</a:t>
            </a:r>
          </a:p>
          <a:p>
            <a:pPr marL="2286000" lvl="4" indent="-457200">
              <a:buFont typeface="Wingdings" panose="05000000000000000000" pitchFamily="2" charset="2"/>
              <a:buChar char="Ø"/>
            </a:pPr>
            <a:r>
              <a:rPr lang="en-US" altLang="zh-CN" sz="2400" b="1" dirty="0">
                <a:latin typeface="Times New Roman" panose="02020603050405020304" pitchFamily="18" charset="0"/>
                <a:cs typeface="Times New Roman" panose="02020603050405020304" pitchFamily="18" charset="0"/>
              </a:rPr>
              <a:t>prof.txt</a:t>
            </a:r>
          </a:p>
          <a:p>
            <a:pPr marL="2286000" lvl="4" indent="-457200">
              <a:buFont typeface="Wingdings" panose="05000000000000000000" pitchFamily="2" charset="2"/>
              <a:buChar char="Ø"/>
            </a:pPr>
            <a:r>
              <a:rPr lang="en-US" altLang="zh-CN" sz="2400" b="1" dirty="0">
                <a:latin typeface="Times New Roman" panose="02020603050405020304" pitchFamily="18" charset="0"/>
                <a:cs typeface="Times New Roman" panose="02020603050405020304" pitchFamily="18" charset="0"/>
              </a:rPr>
              <a:t>section.txt</a:t>
            </a:r>
          </a:p>
          <a:p>
            <a:pPr marL="2286000" lvl="4" indent="-457200">
              <a:buFont typeface="Wingdings" panose="05000000000000000000" pitchFamily="2" charset="2"/>
              <a:buChar char="Ø"/>
            </a:pPr>
            <a:r>
              <a:rPr lang="en-US" altLang="zh-CN" sz="2400" b="1" dirty="0">
                <a:latin typeface="Times New Roman" panose="02020603050405020304" pitchFamily="18" charset="0"/>
                <a:cs typeface="Times New Roman" panose="02020603050405020304" pitchFamily="18" charset="0"/>
              </a:rPr>
              <a:t>student.txt</a:t>
            </a:r>
          </a:p>
        </p:txBody>
      </p:sp>
      <p:sp>
        <p:nvSpPr>
          <p:cNvPr id="9" name="矩形 8">
            <a:extLst>
              <a:ext uri="{FF2B5EF4-FFF2-40B4-BE49-F238E27FC236}">
                <a16:creationId xmlns:a16="http://schemas.microsoft.com/office/drawing/2014/main" id="{BD060C8E-2B3E-4C9F-8366-D5F59321788A}"/>
              </a:ext>
            </a:extLst>
          </p:cNvPr>
          <p:cNvSpPr/>
          <p:nvPr/>
        </p:nvSpPr>
        <p:spPr>
          <a:xfrm>
            <a:off x="486172" y="2024360"/>
            <a:ext cx="11434505" cy="523220"/>
          </a:xfrm>
          <a:prstGeom prst="rect">
            <a:avLst/>
          </a:prstGeom>
        </p:spPr>
        <p:txBody>
          <a:bodyPr wrap="square">
            <a:spAutoFit/>
          </a:bodyPr>
          <a:lstStyle/>
          <a:p>
            <a:pPr marL="742950" indent="-742950" algn="just">
              <a:buFont typeface="+mj-lt"/>
              <a:buAutoNum type="arabicPeriod" startAt="5"/>
            </a:pPr>
            <a:r>
              <a:rPr lang="en-US" sz="2800" dirty="0">
                <a:latin typeface="Times New Roman" panose="02020603050405020304" pitchFamily="18" charset="0"/>
                <a:cs typeface="Times New Roman" panose="02020603050405020304" pitchFamily="18" charset="0"/>
              </a:rPr>
              <a:t>Data Files</a:t>
            </a:r>
          </a:p>
        </p:txBody>
      </p:sp>
      <p:sp>
        <p:nvSpPr>
          <p:cNvPr id="2" name="文本框 1">
            <a:extLst>
              <a:ext uri="{FF2B5EF4-FFF2-40B4-BE49-F238E27FC236}">
                <a16:creationId xmlns:a16="http://schemas.microsoft.com/office/drawing/2014/main" id="{D444C0B4-06A9-427A-809A-66F7F7BD8C83}"/>
              </a:ext>
            </a:extLst>
          </p:cNvPr>
          <p:cNvSpPr txBox="1"/>
          <p:nvPr/>
        </p:nvSpPr>
        <p:spPr>
          <a:xfrm>
            <a:off x="6171282" y="4873761"/>
            <a:ext cx="4720616" cy="923330"/>
          </a:xfrm>
          <a:prstGeom prst="rect">
            <a:avLst/>
          </a:prstGeom>
          <a:noFill/>
          <a:ln>
            <a:solidFill>
              <a:srgbClr val="C00000"/>
            </a:solidFill>
          </a:ln>
        </p:spPr>
        <p:txBody>
          <a:bodyPr wrap="square" rtlCol="0">
            <a:spAutoFit/>
          </a:bodyPr>
          <a:lstStyle/>
          <a:p>
            <a:pPr algn="just"/>
            <a:r>
              <a:rPr lang="en-US" altLang="zh-CN" dirty="0">
                <a:latin typeface="Times New Roman" panose="02020603050405020304" pitchFamily="18" charset="0"/>
                <a:cs typeface="Times New Roman" panose="02020603050405020304" pitchFamily="18" charset="0"/>
              </a:rPr>
              <a:t>It is recommended to use the original </a:t>
            </a:r>
            <a:r>
              <a:rPr lang="en-US" altLang="zh-CN" dirty="0">
                <a:solidFill>
                  <a:srgbClr val="C00000"/>
                </a:solidFill>
                <a:latin typeface="Times New Roman" panose="02020603050405020304" pitchFamily="18" charset="0"/>
                <a:cs typeface="Times New Roman" panose="02020603050405020304" pitchFamily="18" charset="0"/>
              </a:rPr>
              <a:t>student.txt </a:t>
            </a:r>
            <a:r>
              <a:rPr lang="en-US" altLang="zh-CN" dirty="0">
                <a:latin typeface="Times New Roman" panose="02020603050405020304" pitchFamily="18" charset="0"/>
                <a:cs typeface="Times New Roman" panose="02020603050405020304" pitchFamily="18" charset="0"/>
              </a:rPr>
              <a:t>for better communication and comparison of correctness among classmates.</a:t>
            </a:r>
            <a:endParaRPr lang="zh-CN" alt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94759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a:extLst>
              <a:ext uri="{FF2B5EF4-FFF2-40B4-BE49-F238E27FC236}">
                <a16:creationId xmlns:a16="http://schemas.microsoft.com/office/drawing/2014/main" id="{6C75D155-25C3-19C1-F1AA-AAC226DE76FB}"/>
              </a:ext>
            </a:extLst>
          </p:cNvPr>
          <p:cNvSpPr/>
          <p:nvPr/>
        </p:nvSpPr>
        <p:spPr>
          <a:xfrm>
            <a:off x="486173" y="205503"/>
            <a:ext cx="7839680"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Assignment</a:t>
            </a:r>
          </a:p>
        </p:txBody>
      </p:sp>
      <p:sp>
        <p:nvSpPr>
          <p:cNvPr id="6" name="矩形 5">
            <a:extLst>
              <a:ext uri="{FF2B5EF4-FFF2-40B4-BE49-F238E27FC236}">
                <a16:creationId xmlns:a16="http://schemas.microsoft.com/office/drawing/2014/main" id="{C0D5B375-295B-41AB-90D3-56F5A18CEF36}"/>
              </a:ext>
            </a:extLst>
          </p:cNvPr>
          <p:cNvSpPr/>
          <p:nvPr/>
        </p:nvSpPr>
        <p:spPr>
          <a:xfrm>
            <a:off x="183771" y="2133331"/>
            <a:ext cx="11434505" cy="3416320"/>
          </a:xfrm>
          <a:prstGeom prst="rect">
            <a:avLst/>
          </a:prstGeom>
        </p:spPr>
        <p:txBody>
          <a:bodyPr wrap="square">
            <a:spAutoFit/>
          </a:bodyPr>
          <a:lstStyle/>
          <a:p>
            <a:pPr marL="514350" indent="-514350" algn="just">
              <a:buFont typeface="Arial" panose="020B0604020202020204" pitchFamily="34" charset="0"/>
              <a:buChar char="•"/>
            </a:pPr>
            <a:r>
              <a:rPr lang="en-US" altLang="zh-CN" sz="2400" dirty="0">
                <a:latin typeface="Times New Roman" panose="02020603050405020304" pitchFamily="18" charset="0"/>
                <a:cs typeface="Times New Roman" panose="02020603050405020304" pitchFamily="18" charset="0"/>
              </a:rPr>
              <a:t>The query answers must not contain duplicates, and the SQL keyword </a:t>
            </a:r>
            <a:r>
              <a:rPr lang="en-US" altLang="zh-CN" sz="2400" b="1" dirty="0">
                <a:solidFill>
                  <a:srgbClr val="FF0000"/>
                </a:solidFill>
                <a:latin typeface="Times New Roman" panose="02020603050405020304" pitchFamily="18" charset="0"/>
                <a:cs typeface="Times New Roman" panose="02020603050405020304" pitchFamily="18" charset="0"/>
              </a:rPr>
              <a:t>distinct</a:t>
            </a:r>
            <a:r>
              <a:rPr lang="en-US" altLang="zh-CN" sz="2400" dirty="0">
                <a:latin typeface="Times New Roman" panose="02020603050405020304" pitchFamily="18" charset="0"/>
                <a:cs typeface="Times New Roman" panose="02020603050405020304" pitchFamily="18" charset="0"/>
              </a:rPr>
              <a:t> should only be used when necessary. </a:t>
            </a:r>
          </a:p>
          <a:p>
            <a:pPr marL="514350" indent="-514350" algn="just">
              <a:buFont typeface="Arial" panose="020B0604020202020204" pitchFamily="34" charset="0"/>
              <a:buChar char="•"/>
            </a:pPr>
            <a:endParaRPr lang="en-US" altLang="zh-CN" sz="2400" dirty="0">
              <a:latin typeface="Times New Roman" panose="02020603050405020304" pitchFamily="18" charset="0"/>
              <a:cs typeface="Times New Roman" panose="02020603050405020304" pitchFamily="18" charset="0"/>
            </a:endParaRPr>
          </a:p>
          <a:p>
            <a:pPr marL="514350" indent="-514350" algn="just">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The SQL interpreter in ACCESS is not quite the same as the one described in the textbook. If the query you write is not accepted by ACCESS (usually it gives you some strange errors), </a:t>
            </a:r>
            <a:r>
              <a:rPr lang="en-US" sz="2400" dirty="0">
                <a:solidFill>
                  <a:srgbClr val="C00000"/>
                </a:solidFill>
                <a:latin typeface="Times New Roman" panose="02020603050405020304" pitchFamily="18" charset="0"/>
                <a:cs typeface="Times New Roman" panose="02020603050405020304" pitchFamily="18" charset="0"/>
              </a:rPr>
              <a:t>try different ways </a:t>
            </a:r>
            <a:r>
              <a:rPr lang="en-US" sz="2400" dirty="0">
                <a:latin typeface="Times New Roman" panose="02020603050405020304" pitchFamily="18" charset="0"/>
                <a:cs typeface="Times New Roman" panose="02020603050405020304" pitchFamily="18" charset="0"/>
              </a:rPr>
              <a:t>until you get one that works with ACCESS. </a:t>
            </a:r>
          </a:p>
          <a:p>
            <a:pPr marL="514350" indent="-514350" algn="just">
              <a:buFont typeface="Arial" panose="020B0604020202020204" pitchFamily="34" charset="0"/>
              <a:buChar char="•"/>
            </a:pPr>
            <a:endParaRPr lang="en-US" sz="2400" dirty="0">
              <a:latin typeface="Times New Roman" panose="02020603050405020304" pitchFamily="18" charset="0"/>
              <a:cs typeface="Times New Roman" panose="02020603050405020304" pitchFamily="18" charset="0"/>
            </a:endParaRPr>
          </a:p>
          <a:p>
            <a:pPr marL="514350" indent="-514350" algn="just">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For this assignment, creation of </a:t>
            </a:r>
            <a:r>
              <a:rPr lang="en-US" sz="2400" dirty="0">
                <a:solidFill>
                  <a:srgbClr val="C00000"/>
                </a:solidFill>
                <a:latin typeface="Times New Roman" panose="02020603050405020304" pitchFamily="18" charset="0"/>
                <a:cs typeface="Times New Roman" panose="02020603050405020304" pitchFamily="18" charset="0"/>
              </a:rPr>
              <a:t>temporary tables is not allowed</a:t>
            </a:r>
            <a:r>
              <a:rPr lang="en-US" sz="2400" dirty="0">
                <a:latin typeface="Times New Roman" panose="02020603050405020304" pitchFamily="18" charset="0"/>
                <a:cs typeface="Times New Roman" panose="02020603050405020304" pitchFamily="18" charset="0"/>
              </a:rPr>
              <a:t>, i.e., for each question you have to write exactly one SQL statement.</a:t>
            </a:r>
          </a:p>
        </p:txBody>
      </p:sp>
      <p:sp>
        <p:nvSpPr>
          <p:cNvPr id="7" name="Rectangle 6">
            <a:extLst>
              <a:ext uri="{FF2B5EF4-FFF2-40B4-BE49-F238E27FC236}">
                <a16:creationId xmlns:a16="http://schemas.microsoft.com/office/drawing/2014/main" id="{71429D8A-2720-AA1F-2B65-FF347C87B1B4}"/>
              </a:ext>
            </a:extLst>
          </p:cNvPr>
          <p:cNvSpPr/>
          <p:nvPr/>
        </p:nvSpPr>
        <p:spPr>
          <a:xfrm>
            <a:off x="486173" y="1221166"/>
            <a:ext cx="5257721" cy="707886"/>
          </a:xfrm>
          <a:prstGeom prst="rect">
            <a:avLst/>
          </a:prstGeom>
        </p:spPr>
        <p:txBody>
          <a:bodyPr wrap="none">
            <a:spAutoFit/>
          </a:bodyPr>
          <a:lstStyle/>
          <a:p>
            <a:r>
              <a:rPr lang="en-US" sz="4000" b="1" dirty="0">
                <a:solidFill>
                  <a:srgbClr val="33339B"/>
                </a:solidFill>
                <a:latin typeface="Times New Roman" panose="02020603050405020304" pitchFamily="18" charset="0"/>
                <a:cs typeface="Times New Roman" panose="02020603050405020304" pitchFamily="18" charset="0"/>
              </a:rPr>
              <a:t>2. </a:t>
            </a:r>
            <a:r>
              <a:rPr lang="en-US" altLang="zh-CN" sz="4000" b="1" dirty="0">
                <a:solidFill>
                  <a:srgbClr val="33339B"/>
                </a:solidFill>
                <a:latin typeface="Times New Roman" panose="02020603050405020304" pitchFamily="18" charset="0"/>
                <a:cs typeface="Times New Roman" panose="02020603050405020304" pitchFamily="18" charset="0"/>
              </a:rPr>
              <a:t>A Few Points to Note</a:t>
            </a:r>
            <a:endParaRPr lang="en-US" sz="4000" b="1" dirty="0">
              <a:solidFill>
                <a:srgbClr val="33339B"/>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637390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a:extLst>
              <a:ext uri="{FF2B5EF4-FFF2-40B4-BE49-F238E27FC236}">
                <a16:creationId xmlns:a16="http://schemas.microsoft.com/office/drawing/2014/main" id="{6C75D155-25C3-19C1-F1AA-AAC226DE76FB}"/>
              </a:ext>
            </a:extLst>
          </p:cNvPr>
          <p:cNvSpPr/>
          <p:nvPr/>
        </p:nvSpPr>
        <p:spPr>
          <a:xfrm>
            <a:off x="486173" y="205503"/>
            <a:ext cx="7839680"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Assignment</a:t>
            </a:r>
          </a:p>
        </p:txBody>
      </p:sp>
      <p:sp>
        <p:nvSpPr>
          <p:cNvPr id="6" name="矩形 5">
            <a:extLst>
              <a:ext uri="{FF2B5EF4-FFF2-40B4-BE49-F238E27FC236}">
                <a16:creationId xmlns:a16="http://schemas.microsoft.com/office/drawing/2014/main" id="{C0D5B375-295B-41AB-90D3-56F5A18CEF36}"/>
              </a:ext>
            </a:extLst>
          </p:cNvPr>
          <p:cNvSpPr/>
          <p:nvPr/>
        </p:nvSpPr>
        <p:spPr>
          <a:xfrm>
            <a:off x="186394" y="1929052"/>
            <a:ext cx="11819212" cy="4524315"/>
          </a:xfrm>
          <a:prstGeom prst="rect">
            <a:avLst/>
          </a:prstGeom>
        </p:spPr>
        <p:txBody>
          <a:bodyPr wrap="square">
            <a:spAutoFit/>
          </a:bodyPr>
          <a:lstStyle/>
          <a:p>
            <a:pPr marL="457200" indent="-457200" algn="just">
              <a:buFont typeface="Arial" panose="020B0604020202020204" pitchFamily="34" charset="0"/>
              <a:buChar char="•"/>
            </a:pPr>
            <a:r>
              <a:rPr lang="en-US" altLang="zh-CN" sz="2400" dirty="0">
                <a:latin typeface="Times New Roman" panose="02020603050405020304" pitchFamily="18" charset="0"/>
                <a:cs typeface="Times New Roman" panose="02020603050405020304" pitchFamily="18" charset="0"/>
              </a:rPr>
              <a:t>This is an </a:t>
            </a:r>
            <a:r>
              <a:rPr lang="en-US" altLang="zh-CN" sz="2400" b="1" dirty="0">
                <a:solidFill>
                  <a:srgbClr val="C00000"/>
                </a:solidFill>
                <a:latin typeface="Times New Roman" panose="02020603050405020304" pitchFamily="18" charset="0"/>
                <a:cs typeface="Times New Roman" panose="02020603050405020304" pitchFamily="18" charset="0"/>
              </a:rPr>
              <a:t>individual assignment</a:t>
            </a:r>
            <a:r>
              <a:rPr lang="en-US" altLang="zh-CN" sz="2400" b="1" dirty="0">
                <a:latin typeface="Times New Roman" panose="02020603050405020304" pitchFamily="18" charset="0"/>
                <a:cs typeface="Times New Roman" panose="02020603050405020304" pitchFamily="18" charset="0"/>
              </a:rPr>
              <a:t> </a:t>
            </a:r>
            <a:r>
              <a:rPr lang="en-US" altLang="zh-CN" sz="2400" dirty="0">
                <a:latin typeface="Times New Roman" panose="02020603050405020304" pitchFamily="18" charset="0"/>
                <a:cs typeface="Times New Roman" panose="02020603050405020304" pitchFamily="18" charset="0"/>
              </a:rPr>
              <a:t>– no group submissions are allowed. </a:t>
            </a:r>
          </a:p>
          <a:p>
            <a:pPr marL="457200" indent="-457200" algn="just">
              <a:buFont typeface="Arial" panose="020B0604020202020204" pitchFamily="34" charset="0"/>
              <a:buChar char="•"/>
            </a:pPr>
            <a:endParaRPr lang="en-US" altLang="zh-CN" sz="2400" dirty="0">
              <a:latin typeface="Times New Roman" panose="02020603050405020304" pitchFamily="18" charset="0"/>
              <a:cs typeface="Times New Roman" panose="02020603050405020304" pitchFamily="18" charset="0"/>
            </a:endParaRPr>
          </a:p>
          <a:p>
            <a:pPr marL="457200" indent="-457200" algn="just">
              <a:buFont typeface="Arial" panose="020B0604020202020204" pitchFamily="34" charset="0"/>
              <a:buChar char="•"/>
            </a:pPr>
            <a:r>
              <a:rPr lang="en-US" altLang="zh-CN" sz="2400" dirty="0">
                <a:latin typeface="Times New Roman" panose="02020603050405020304" pitchFamily="18" charset="0"/>
                <a:cs typeface="Times New Roman" panose="02020603050405020304" pitchFamily="18" charset="0"/>
              </a:rPr>
              <a:t>Hand in </a:t>
            </a:r>
            <a:r>
              <a:rPr lang="en-US" altLang="zh-CN" sz="2400" b="1" dirty="0">
                <a:solidFill>
                  <a:srgbClr val="C00000"/>
                </a:solidFill>
                <a:latin typeface="Times New Roman" panose="02020603050405020304" pitchFamily="18" charset="0"/>
                <a:cs typeface="Times New Roman" panose="02020603050405020304" pitchFamily="18" charset="0"/>
              </a:rPr>
              <a:t>an ACCESS database </a:t>
            </a:r>
            <a:r>
              <a:rPr lang="en-US" altLang="zh-CN" sz="2400" dirty="0">
                <a:latin typeface="Times New Roman" panose="02020603050405020304" pitchFamily="18" charset="0"/>
                <a:cs typeface="Times New Roman" panose="02020603050405020304" pitchFamily="18" charset="0"/>
              </a:rPr>
              <a:t>that contains the answers to the 12 questions. The database should </a:t>
            </a:r>
            <a:r>
              <a:rPr lang="en-US" altLang="zh-CN" sz="2400" b="1" dirty="0">
                <a:solidFill>
                  <a:srgbClr val="C00000"/>
                </a:solidFill>
                <a:latin typeface="Times New Roman" panose="02020603050405020304" pitchFamily="18" charset="0"/>
                <a:cs typeface="Times New Roman" panose="02020603050405020304" pitchFamily="18" charset="0"/>
              </a:rPr>
              <a:t>contain 12 queries</a:t>
            </a:r>
            <a:r>
              <a:rPr lang="en-US" altLang="zh-CN" sz="2400" dirty="0">
                <a:latin typeface="Times New Roman" panose="02020603050405020304" pitchFamily="18" charset="0"/>
                <a:cs typeface="Times New Roman" panose="02020603050405020304" pitchFamily="18" charset="0"/>
              </a:rPr>
              <a:t>, named as follows: </a:t>
            </a:r>
          </a:p>
          <a:p>
            <a:pPr lvl="1"/>
            <a:r>
              <a:rPr lang="en-US" altLang="zh-CN" sz="2400" dirty="0">
                <a:latin typeface="Times New Roman" panose="02020603050405020304" pitchFamily="18" charset="0"/>
                <a:cs typeface="Times New Roman" panose="02020603050405020304" pitchFamily="18" charset="0"/>
              </a:rPr>
              <a:t>	</a:t>
            </a:r>
            <a:r>
              <a:rPr lang="en-US" altLang="zh-CN" sz="2400" dirty="0">
                <a:solidFill>
                  <a:srgbClr val="33339B"/>
                </a:solidFill>
                <a:latin typeface="Times New Roman" panose="02020603050405020304" pitchFamily="18" charset="0"/>
                <a:cs typeface="Times New Roman" panose="02020603050405020304" pitchFamily="18" charset="0"/>
              </a:rPr>
              <a:t>Query1 </a:t>
            </a:r>
            <a:r>
              <a:rPr lang="zh-CN" altLang="en-US" sz="2400" dirty="0">
                <a:solidFill>
                  <a:srgbClr val="33339B"/>
                </a:solidFill>
                <a:latin typeface="Times New Roman" panose="02020603050405020304" pitchFamily="18" charset="0"/>
                <a:cs typeface="Times New Roman" panose="02020603050405020304" pitchFamily="18" charset="0"/>
              </a:rPr>
              <a:t>：</a:t>
            </a:r>
            <a:endParaRPr lang="en-US" altLang="zh-CN" sz="2400" dirty="0">
              <a:solidFill>
                <a:srgbClr val="33339B"/>
              </a:solidFill>
              <a:latin typeface="Times New Roman" panose="02020603050405020304" pitchFamily="18" charset="0"/>
              <a:cs typeface="Times New Roman" panose="02020603050405020304" pitchFamily="18" charset="0"/>
            </a:endParaRPr>
          </a:p>
          <a:p>
            <a:pPr lvl="1"/>
            <a:r>
              <a:rPr lang="en-US" altLang="zh-CN" sz="2400" dirty="0">
                <a:solidFill>
                  <a:srgbClr val="33339B"/>
                </a:solidFill>
                <a:latin typeface="Times New Roman" panose="02020603050405020304" pitchFamily="18" charset="0"/>
                <a:cs typeface="Times New Roman" panose="02020603050405020304" pitchFamily="18" charset="0"/>
              </a:rPr>
              <a:t>	Query2 </a:t>
            </a:r>
            <a:r>
              <a:rPr lang="zh-CN" altLang="en-US" sz="2400" dirty="0">
                <a:solidFill>
                  <a:srgbClr val="33339B"/>
                </a:solidFill>
                <a:latin typeface="Times New Roman" panose="02020603050405020304" pitchFamily="18" charset="0"/>
                <a:cs typeface="Times New Roman" panose="02020603050405020304" pitchFamily="18" charset="0"/>
              </a:rPr>
              <a:t>：</a:t>
            </a:r>
            <a:endParaRPr lang="en-US" altLang="zh-CN" sz="2400" dirty="0">
              <a:solidFill>
                <a:srgbClr val="33339B"/>
              </a:solidFill>
              <a:latin typeface="Times New Roman" panose="02020603050405020304" pitchFamily="18" charset="0"/>
              <a:cs typeface="Times New Roman" panose="02020603050405020304" pitchFamily="18" charset="0"/>
            </a:endParaRPr>
          </a:p>
          <a:p>
            <a:pPr lvl="1"/>
            <a:r>
              <a:rPr lang="en-US" altLang="zh-CN" sz="2400" dirty="0">
                <a:solidFill>
                  <a:srgbClr val="33339B"/>
                </a:solidFill>
                <a:latin typeface="Times New Roman" panose="02020603050405020304" pitchFamily="18" charset="0"/>
                <a:cs typeface="Times New Roman" panose="02020603050405020304" pitchFamily="18" charset="0"/>
              </a:rPr>
              <a:t>	… </a:t>
            </a:r>
          </a:p>
          <a:p>
            <a:pPr lvl="1"/>
            <a:r>
              <a:rPr lang="en-US" altLang="zh-CN" sz="2400" dirty="0">
                <a:solidFill>
                  <a:srgbClr val="33339B"/>
                </a:solidFill>
                <a:latin typeface="Times New Roman" panose="02020603050405020304" pitchFamily="18" charset="0"/>
                <a:cs typeface="Times New Roman" panose="02020603050405020304" pitchFamily="18" charset="0"/>
              </a:rPr>
              <a:t>	Query12</a:t>
            </a:r>
            <a:r>
              <a:rPr lang="zh-CN" altLang="en-US" sz="2400" dirty="0">
                <a:solidFill>
                  <a:srgbClr val="33339B"/>
                </a:solidFill>
                <a:latin typeface="Times New Roman" panose="02020603050405020304" pitchFamily="18" charset="0"/>
                <a:cs typeface="Times New Roman" panose="02020603050405020304" pitchFamily="18" charset="0"/>
              </a:rPr>
              <a:t>：</a:t>
            </a:r>
            <a:endParaRPr lang="en-US" altLang="zh-CN" sz="2400" dirty="0">
              <a:solidFill>
                <a:srgbClr val="33339B"/>
              </a:solidFill>
              <a:latin typeface="Times New Roman" panose="02020603050405020304" pitchFamily="18" charset="0"/>
              <a:cs typeface="Times New Roman" panose="02020603050405020304" pitchFamily="18" charset="0"/>
            </a:endParaRPr>
          </a:p>
          <a:p>
            <a:pPr marL="342892" indent="-342892">
              <a:buFont typeface="Wingdings" panose="05000000000000000000" pitchFamily="2" charset="2"/>
              <a:buChar char="§"/>
            </a:pPr>
            <a:endParaRPr lang="en-US" altLang="zh-CN" sz="2400" dirty="0">
              <a:latin typeface="Times New Roman" panose="02020603050405020304" pitchFamily="18" charset="0"/>
              <a:cs typeface="Times New Roman" panose="02020603050405020304" pitchFamily="18" charset="0"/>
            </a:endParaRPr>
          </a:p>
          <a:p>
            <a:pPr marL="457200" indent="-457200" algn="just">
              <a:buFont typeface="Arial" panose="020B0604020202020204" pitchFamily="34" charset="0"/>
              <a:buChar char="•"/>
            </a:pPr>
            <a:r>
              <a:rPr lang="en-US" altLang="zh-CN" sz="2400" dirty="0">
                <a:latin typeface="Times New Roman" panose="02020603050405020304" pitchFamily="18" charset="0"/>
                <a:cs typeface="Times New Roman" panose="02020603050405020304" pitchFamily="18" charset="0"/>
              </a:rPr>
              <a:t>Test the function of index with query related with student table.</a:t>
            </a:r>
          </a:p>
          <a:p>
            <a:pPr marL="342892" indent="-342892" algn="just">
              <a:buFont typeface="Wingdings" panose="05000000000000000000" pitchFamily="2" charset="2"/>
              <a:buChar char="§"/>
            </a:pPr>
            <a:endParaRPr lang="en-US" altLang="zh-CN" sz="2400" dirty="0">
              <a:latin typeface="Times New Roman" panose="02020603050405020304" pitchFamily="18" charset="0"/>
              <a:cs typeface="Times New Roman" panose="02020603050405020304" pitchFamily="18" charset="0"/>
            </a:endParaRPr>
          </a:p>
          <a:p>
            <a:pPr marL="457200" indent="-457200" algn="just">
              <a:buFont typeface="Arial" panose="020B0604020202020204" pitchFamily="34" charset="0"/>
              <a:buChar char="•"/>
            </a:pPr>
            <a:r>
              <a:rPr lang="en-US" altLang="zh-CN" sz="2400" dirty="0">
                <a:latin typeface="Times New Roman" panose="02020603050405020304" pitchFamily="18" charset="0"/>
                <a:cs typeface="Times New Roman" panose="02020603050405020304" pitchFamily="18" charset="0"/>
              </a:rPr>
              <a:t>Hand in </a:t>
            </a:r>
            <a:r>
              <a:rPr lang="en-US" altLang="zh-CN" sz="2400" dirty="0">
                <a:solidFill>
                  <a:srgbClr val="C00000"/>
                </a:solidFill>
                <a:latin typeface="Times New Roman" panose="02020603050405020304" pitchFamily="18" charset="0"/>
                <a:cs typeface="Times New Roman" panose="02020603050405020304" pitchFamily="18" charset="0"/>
              </a:rPr>
              <a:t>a report </a:t>
            </a:r>
            <a:r>
              <a:rPr lang="en-US" altLang="zh-CN" sz="2400" dirty="0">
                <a:latin typeface="Times New Roman" panose="02020603050405020304" pitchFamily="18" charset="0"/>
                <a:cs typeface="Times New Roman" panose="02020603050405020304" pitchFamily="18" charset="0"/>
              </a:rPr>
              <a:t>which outlines your answers and the process by which you arrived at them.</a:t>
            </a:r>
          </a:p>
        </p:txBody>
      </p:sp>
      <p:sp>
        <p:nvSpPr>
          <p:cNvPr id="7" name="Rectangle 6">
            <a:extLst>
              <a:ext uri="{FF2B5EF4-FFF2-40B4-BE49-F238E27FC236}">
                <a16:creationId xmlns:a16="http://schemas.microsoft.com/office/drawing/2014/main" id="{71429D8A-2720-AA1F-2B65-FF347C87B1B4}"/>
              </a:ext>
            </a:extLst>
          </p:cNvPr>
          <p:cNvSpPr/>
          <p:nvPr/>
        </p:nvSpPr>
        <p:spPr>
          <a:xfrm>
            <a:off x="486173" y="1221166"/>
            <a:ext cx="5257721" cy="707886"/>
          </a:xfrm>
          <a:prstGeom prst="rect">
            <a:avLst/>
          </a:prstGeom>
        </p:spPr>
        <p:txBody>
          <a:bodyPr wrap="none">
            <a:spAutoFit/>
          </a:bodyPr>
          <a:lstStyle/>
          <a:p>
            <a:r>
              <a:rPr lang="en-US" sz="4000" b="1" dirty="0">
                <a:solidFill>
                  <a:srgbClr val="33339B"/>
                </a:solidFill>
                <a:latin typeface="Times New Roman" panose="02020603050405020304" pitchFamily="18" charset="0"/>
                <a:cs typeface="Times New Roman" panose="02020603050405020304" pitchFamily="18" charset="0"/>
              </a:rPr>
              <a:t>2. </a:t>
            </a:r>
            <a:r>
              <a:rPr lang="en-US" altLang="zh-CN" sz="4000" b="1" dirty="0">
                <a:solidFill>
                  <a:srgbClr val="33339B"/>
                </a:solidFill>
                <a:latin typeface="Times New Roman" panose="02020603050405020304" pitchFamily="18" charset="0"/>
                <a:cs typeface="Times New Roman" panose="02020603050405020304" pitchFamily="18" charset="0"/>
              </a:rPr>
              <a:t>A Few Points to Note</a:t>
            </a:r>
            <a:endParaRPr lang="en-US" sz="4000" b="1" dirty="0">
              <a:solidFill>
                <a:srgbClr val="33339B"/>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070055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357240D-CD8E-9B76-09DC-277985C5C2D8}"/>
              </a:ext>
            </a:extLst>
          </p:cNvPr>
          <p:cNvSpPr/>
          <p:nvPr/>
        </p:nvSpPr>
        <p:spPr>
          <a:xfrm>
            <a:off x="814963" y="1560092"/>
            <a:ext cx="11112294" cy="4104200"/>
          </a:xfrm>
          <a:prstGeom prst="rect">
            <a:avLst/>
          </a:prstGeom>
        </p:spPr>
        <p:txBody>
          <a:bodyPr wrap="square">
            <a:spAutoFit/>
          </a:bodyPr>
          <a:lstStyle/>
          <a:p>
            <a:pPr marL="1028700" indent="-1028700">
              <a:lnSpc>
                <a:spcPct val="150000"/>
              </a:lnSpc>
              <a:buFont typeface="+mj-lt"/>
              <a:buAutoNum type="romanUcPeriod"/>
            </a:pPr>
            <a:endParaRPr lang="en-US" altLang="zh-CN" sz="6000" b="1" dirty="0">
              <a:solidFill>
                <a:schemeClr val="bg1">
                  <a:lumMod val="50000"/>
                </a:schemeClr>
              </a:solidFill>
              <a:latin typeface="+mj-lt"/>
              <a:cs typeface="Times New Roman" panose="02020603050405020304" pitchFamily="18" charset="0"/>
            </a:endParaRPr>
          </a:p>
          <a:p>
            <a:pPr marL="1028700" indent="-1028700">
              <a:lnSpc>
                <a:spcPct val="150000"/>
              </a:lnSpc>
              <a:buFont typeface="+mj-lt"/>
              <a:buAutoNum type="romanUcPeriod"/>
            </a:pPr>
            <a:r>
              <a:rPr lang="en-US" altLang="zh-CN" sz="6000" b="1" dirty="0" err="1">
                <a:solidFill>
                  <a:schemeClr val="bg1">
                    <a:lumMod val="50000"/>
                  </a:schemeClr>
                </a:solidFill>
                <a:latin typeface="+mj-lt"/>
                <a:cs typeface="Times New Roman" panose="02020603050405020304" pitchFamily="18" charset="0"/>
                <a:hlinkClick r:id="rId3"/>
              </a:rPr>
              <a:t>nowcoder</a:t>
            </a:r>
            <a:endParaRPr lang="en-US" altLang="zh-CN" sz="6000" b="1" dirty="0">
              <a:solidFill>
                <a:schemeClr val="bg1">
                  <a:lumMod val="50000"/>
                </a:schemeClr>
              </a:solidFill>
              <a:latin typeface="+mj-lt"/>
              <a:cs typeface="Times New Roman" panose="02020603050405020304" pitchFamily="18" charset="0"/>
            </a:endParaRPr>
          </a:p>
          <a:p>
            <a:pPr marL="1028700" indent="-1028700">
              <a:lnSpc>
                <a:spcPct val="150000"/>
              </a:lnSpc>
              <a:buFont typeface="+mj-lt"/>
              <a:buAutoNum type="romanUcPeriod"/>
            </a:pPr>
            <a:r>
              <a:rPr lang="en-US" altLang="zh-CN" sz="6000" dirty="0" err="1">
                <a:hlinkClick r:id="rId4"/>
              </a:rPr>
              <a:t>LeetCode</a:t>
            </a:r>
            <a:endParaRPr lang="en-US" altLang="zh-CN" sz="6000" b="1" u="sng" dirty="0">
              <a:effectLst>
                <a:outerShdw blurRad="38100" dist="38100" dir="2700000" algn="tl">
                  <a:srgbClr val="000000">
                    <a:alpha val="43137"/>
                  </a:srgbClr>
                </a:outerShdw>
              </a:effectLst>
              <a:latin typeface="+mj-lt"/>
              <a:cs typeface="Times New Roman" panose="02020603050405020304" pitchFamily="18" charset="0"/>
            </a:endParaRPr>
          </a:p>
        </p:txBody>
      </p:sp>
      <p:sp>
        <p:nvSpPr>
          <p:cNvPr id="3" name="Rectangle 9">
            <a:extLst>
              <a:ext uri="{FF2B5EF4-FFF2-40B4-BE49-F238E27FC236}">
                <a16:creationId xmlns:a16="http://schemas.microsoft.com/office/drawing/2014/main" id="{D2F0A02F-50C8-DFB8-46B3-67D040FCF552}"/>
              </a:ext>
            </a:extLst>
          </p:cNvPr>
          <p:cNvSpPr/>
          <p:nvPr/>
        </p:nvSpPr>
        <p:spPr>
          <a:xfrm>
            <a:off x="814963" y="452096"/>
            <a:ext cx="10562074" cy="2123658"/>
          </a:xfrm>
          <a:prstGeom prst="rect">
            <a:avLst/>
          </a:prstGeom>
        </p:spPr>
        <p:txBody>
          <a:bodyPr wrap="square">
            <a:spAutoFit/>
          </a:bodyPr>
          <a:lstStyle/>
          <a:p>
            <a:pPr algn="ctr"/>
            <a:r>
              <a:rPr lang="en-US" altLang="zh-CN" sz="6600" b="1" dirty="0">
                <a:solidFill>
                  <a:srgbClr val="C00000"/>
                </a:solidFill>
                <a:latin typeface="Times New Roman" panose="02020603050405020304" pitchFamily="18" charset="0"/>
                <a:cs typeface="Times New Roman" panose="02020603050405020304" pitchFamily="18" charset="0"/>
              </a:rPr>
              <a:t>How to improve your </a:t>
            </a:r>
          </a:p>
          <a:p>
            <a:pPr algn="ctr"/>
            <a:r>
              <a:rPr lang="en-US" altLang="zh-CN" sz="6600" b="1" dirty="0">
                <a:solidFill>
                  <a:srgbClr val="C00000"/>
                </a:solidFill>
                <a:latin typeface="Times New Roman" panose="02020603050405020304" pitchFamily="18" charset="0"/>
                <a:cs typeface="Times New Roman" panose="02020603050405020304" pitchFamily="18" charset="0"/>
              </a:rPr>
              <a:t>SQL capability</a:t>
            </a:r>
            <a:r>
              <a:rPr lang="zh-CN" altLang="en-US" sz="6600" b="1" dirty="0">
                <a:solidFill>
                  <a:srgbClr val="C00000"/>
                </a:solidFill>
                <a:latin typeface="Times New Roman" panose="02020603050405020304" pitchFamily="18" charset="0"/>
                <a:cs typeface="Times New Roman" panose="02020603050405020304" pitchFamily="18" charset="0"/>
              </a:rPr>
              <a:t>？</a:t>
            </a:r>
            <a:endParaRPr lang="en-US" altLang="zh-CN" sz="6600" b="1" dirty="0">
              <a:solidFill>
                <a:srgbClr val="C0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461019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theme/theme1.xml><?xml version="1.0" encoding="utf-8"?>
<a:theme xmlns:a="http://schemas.openxmlformats.org/drawingml/2006/main" name="Office 主题​​">
  <a:themeElements>
    <a:clrScheme name="Office 主题​​">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主题​​">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5639</TotalTime>
  <Words>1050</Words>
  <Application>Microsoft Office PowerPoint</Application>
  <PresentationFormat>宽屏</PresentationFormat>
  <Paragraphs>147</Paragraphs>
  <Slides>20</Slides>
  <Notes>13</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20</vt:i4>
      </vt:variant>
    </vt:vector>
  </HeadingPairs>
  <TitlesOfParts>
    <vt:vector size="28" baseType="lpstr">
      <vt:lpstr>等线</vt:lpstr>
      <vt:lpstr>微软雅黑</vt:lpstr>
      <vt:lpstr>Arial</vt:lpstr>
      <vt:lpstr>Calibri</vt:lpstr>
      <vt:lpstr>Calibri Light</vt:lpstr>
      <vt:lpstr>Times New Roman</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Assignment1</dc:title>
  <dc:creator>Wang Hai</dc:creator>
  <cp:lastModifiedBy>佳伟 刘</cp:lastModifiedBy>
  <cp:revision>151</cp:revision>
  <dcterms:created xsi:type="dcterms:W3CDTF">2019-09-23T01:09:19Z</dcterms:created>
  <dcterms:modified xsi:type="dcterms:W3CDTF">2025-10-22T03:30:07Z</dcterms:modified>
</cp:coreProperties>
</file>