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等线"/>
      </a:defRPr>
    </a:lvl1pPr>
    <a:lvl2pPr indent="228600" latinLnBrk="0">
      <a:defRPr sz="1200">
        <a:latin typeface="+mn-lt"/>
        <a:ea typeface="+mn-ea"/>
        <a:cs typeface="+mn-cs"/>
        <a:sym typeface="等线"/>
      </a:defRPr>
    </a:lvl2pPr>
    <a:lvl3pPr indent="457200" latinLnBrk="0">
      <a:defRPr sz="1200">
        <a:latin typeface="+mn-lt"/>
        <a:ea typeface="+mn-ea"/>
        <a:cs typeface="+mn-cs"/>
        <a:sym typeface="等线"/>
      </a:defRPr>
    </a:lvl3pPr>
    <a:lvl4pPr indent="685800" latinLnBrk="0">
      <a:defRPr sz="1200">
        <a:latin typeface="+mn-lt"/>
        <a:ea typeface="+mn-ea"/>
        <a:cs typeface="+mn-cs"/>
        <a:sym typeface="等线"/>
      </a:defRPr>
    </a:lvl4pPr>
    <a:lvl5pPr indent="914400" latinLnBrk="0">
      <a:defRPr sz="1200">
        <a:latin typeface="+mn-lt"/>
        <a:ea typeface="+mn-ea"/>
        <a:cs typeface="+mn-cs"/>
        <a:sym typeface="等线"/>
      </a:defRPr>
    </a:lvl5pPr>
    <a:lvl6pPr indent="1143000" latinLnBrk="0">
      <a:defRPr sz="1200">
        <a:latin typeface="+mn-lt"/>
        <a:ea typeface="+mn-ea"/>
        <a:cs typeface="+mn-cs"/>
        <a:sym typeface="等线"/>
      </a:defRPr>
    </a:lvl6pPr>
    <a:lvl7pPr indent="1371600" latinLnBrk="0">
      <a:defRPr sz="1200">
        <a:latin typeface="+mn-lt"/>
        <a:ea typeface="+mn-ea"/>
        <a:cs typeface="+mn-cs"/>
        <a:sym typeface="等线"/>
      </a:defRPr>
    </a:lvl7pPr>
    <a:lvl8pPr indent="1600200" latinLnBrk="0">
      <a:defRPr sz="1200">
        <a:latin typeface="+mn-lt"/>
        <a:ea typeface="+mn-ea"/>
        <a:cs typeface="+mn-cs"/>
        <a:sym typeface="等线"/>
      </a:defRPr>
    </a:lvl8pPr>
    <a:lvl9pPr indent="1828800" latinLnBrk="0">
      <a:defRPr sz="1200">
        <a:latin typeface="+mn-lt"/>
        <a:ea typeface="+mn-ea"/>
        <a:cs typeface="+mn-cs"/>
        <a:sym typeface="等线"/>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p>
            <a:pPr/>
            <a:r>
              <a:t>distinct不像mysql那样方便，所以</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幻灯片">
    <p:spTree>
      <p:nvGrpSpPr>
        <p:cNvPr id="1" name=""/>
        <p:cNvGrpSpPr/>
        <p:nvPr/>
      </p:nvGrpSpPr>
      <p:grpSpPr>
        <a:xfrm>
          <a:off x="0" y="0"/>
          <a:ext cx="0" cy="0"/>
          <a:chOff x="0" y="0"/>
          <a:chExt cx="0" cy="0"/>
        </a:xfrm>
      </p:grpSpPr>
      <p:sp>
        <p:nvSpPr>
          <p:cNvPr id="11" name="标题文本"/>
          <p:cNvSpPr txBox="1"/>
          <p:nvPr>
            <p:ph type="title"/>
          </p:nvPr>
        </p:nvSpPr>
        <p:spPr>
          <a:xfrm>
            <a:off x="914400" y="1122362"/>
            <a:ext cx="10363200" cy="2387601"/>
          </a:xfrm>
          <a:prstGeom prst="rect">
            <a:avLst/>
          </a:prstGeom>
        </p:spPr>
        <p:txBody>
          <a:bodyPr anchor="b"/>
          <a:lstStyle>
            <a:lvl1pPr algn="ctr">
              <a:defRPr sz="6000"/>
            </a:lvl1pPr>
          </a:lstStyle>
          <a:p>
            <a:pPr/>
            <a:r>
              <a:t>标题文本</a:t>
            </a:r>
          </a:p>
        </p:txBody>
      </p:sp>
      <p:sp>
        <p:nvSpPr>
          <p:cNvPr id="12" name="正文级别 1…"/>
          <p:cNvSpPr txBox="1"/>
          <p:nvPr>
            <p:ph type="body" sz="quarter" idx="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1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spTree>
      <p:nvGrpSpPr>
        <p:cNvPr id="1" name=""/>
        <p:cNvGrpSpPr/>
        <p:nvPr/>
      </p:nvGrpSpPr>
      <p:grpSpPr>
        <a:xfrm>
          <a:off x="0" y="0"/>
          <a:ext cx="0" cy="0"/>
          <a:chOff x="0" y="0"/>
          <a:chExt cx="0" cy="0"/>
        </a:xfrm>
      </p:grpSpPr>
      <p:sp>
        <p:nvSpPr>
          <p:cNvPr id="20" name="标题文本"/>
          <p:cNvSpPr txBox="1"/>
          <p:nvPr>
            <p:ph type="title"/>
          </p:nvPr>
        </p:nvSpPr>
        <p:spPr>
          <a:prstGeom prst="rect">
            <a:avLst/>
          </a:prstGeom>
        </p:spPr>
        <p:txBody>
          <a:bodyPr/>
          <a:lstStyle/>
          <a:p>
            <a:pPr/>
            <a:r>
              <a:t>标题文本</a:t>
            </a:r>
          </a:p>
        </p:txBody>
      </p:sp>
      <p:sp>
        <p:nvSpPr>
          <p:cNvPr id="21" name="正文级别 1…"/>
          <p:cNvSpPr txBox="1"/>
          <p:nvPr>
            <p:ph type="body" idx="1"/>
          </p:nvPr>
        </p:nvSpPr>
        <p:spPr>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节标题">
    <p:spTree>
      <p:nvGrpSpPr>
        <p:cNvPr id="1" name=""/>
        <p:cNvGrpSpPr/>
        <p:nvPr/>
      </p:nvGrpSpPr>
      <p:grpSpPr>
        <a:xfrm>
          <a:off x="0" y="0"/>
          <a:ext cx="0" cy="0"/>
          <a:chOff x="0" y="0"/>
          <a:chExt cx="0" cy="0"/>
        </a:xfrm>
      </p:grpSpPr>
      <p:sp>
        <p:nvSpPr>
          <p:cNvPr id="29" name="标题文本"/>
          <p:cNvSpPr txBox="1"/>
          <p:nvPr>
            <p:ph type="title"/>
          </p:nvPr>
        </p:nvSpPr>
        <p:spPr>
          <a:xfrm>
            <a:off x="831850" y="1709740"/>
            <a:ext cx="10515601" cy="2852737"/>
          </a:xfrm>
          <a:prstGeom prst="rect">
            <a:avLst/>
          </a:prstGeom>
        </p:spPr>
        <p:txBody>
          <a:bodyPr anchor="b"/>
          <a:lstStyle>
            <a:lvl1pPr>
              <a:defRPr sz="6000"/>
            </a:lvl1pPr>
          </a:lstStyle>
          <a:p>
            <a:pPr/>
            <a:r>
              <a:t>标题文本</a:t>
            </a:r>
          </a:p>
        </p:txBody>
      </p:sp>
      <p:sp>
        <p:nvSpPr>
          <p:cNvPr id="30" name="正文级别 1…"/>
          <p:cNvSpPr txBox="1"/>
          <p:nvPr>
            <p:ph type="body" sz="quarter" idx="1"/>
          </p:nvPr>
        </p:nvSpPr>
        <p:spPr>
          <a:xfrm>
            <a:off x="831850" y="4589464"/>
            <a:ext cx="10515601" cy="1500189"/>
          </a:xfrm>
          <a:prstGeom prst="rect">
            <a:avLst/>
          </a:prstGeom>
        </p:spPr>
        <p:txBody>
          <a:bodyPr/>
          <a:lstStyle>
            <a:lvl1pPr marL="0" indent="0">
              <a:buSzTx/>
              <a:buFontTx/>
              <a:buNone/>
              <a:defRPr sz="2400"/>
            </a:lvl1pPr>
            <a:lvl2pPr marL="0" indent="0">
              <a:buSzTx/>
              <a:buFontTx/>
              <a:buNone/>
              <a:defRPr sz="2400"/>
            </a:lvl2pPr>
            <a:lvl3pPr marL="0" indent="0">
              <a:buSzTx/>
              <a:buFontTx/>
              <a:buNone/>
              <a:defRPr sz="2400"/>
            </a:lvl3pPr>
            <a:lvl4pPr marL="0" indent="0">
              <a:buSzTx/>
              <a:buFontTx/>
              <a:buNone/>
              <a:defRPr sz="2400"/>
            </a:lvl4pPr>
            <a:lvl5pPr marL="0" indent="0">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3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两栏内容">
    <p:spTree>
      <p:nvGrpSpPr>
        <p:cNvPr id="1" name=""/>
        <p:cNvGrpSpPr/>
        <p:nvPr/>
      </p:nvGrpSpPr>
      <p:grpSpPr>
        <a:xfrm>
          <a:off x="0" y="0"/>
          <a:ext cx="0" cy="0"/>
          <a:chOff x="0" y="0"/>
          <a:chExt cx="0" cy="0"/>
        </a:xfrm>
      </p:grpSpPr>
      <p:sp>
        <p:nvSpPr>
          <p:cNvPr id="38" name="标题文本"/>
          <p:cNvSpPr txBox="1"/>
          <p:nvPr>
            <p:ph type="title"/>
          </p:nvPr>
        </p:nvSpPr>
        <p:spPr>
          <a:prstGeom prst="rect">
            <a:avLst/>
          </a:prstGeom>
        </p:spPr>
        <p:txBody>
          <a:bodyPr/>
          <a:lstStyle/>
          <a:p>
            <a:pPr/>
            <a:r>
              <a:t>标题文本</a:t>
            </a:r>
          </a:p>
        </p:txBody>
      </p:sp>
      <p:sp>
        <p:nvSpPr>
          <p:cNvPr id="39" name="正文级别 1…"/>
          <p:cNvSpPr txBox="1"/>
          <p:nvPr>
            <p:ph type="body" sz="half" idx="1"/>
          </p:nvPr>
        </p:nvSpPr>
        <p:spPr>
          <a:xfrm>
            <a:off x="838200" y="1825625"/>
            <a:ext cx="5181600" cy="4351338"/>
          </a:xfrm>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4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比较">
    <p:spTree>
      <p:nvGrpSpPr>
        <p:cNvPr id="1" name=""/>
        <p:cNvGrpSpPr/>
        <p:nvPr/>
      </p:nvGrpSpPr>
      <p:grpSpPr>
        <a:xfrm>
          <a:off x="0" y="0"/>
          <a:ext cx="0" cy="0"/>
          <a:chOff x="0" y="0"/>
          <a:chExt cx="0" cy="0"/>
        </a:xfrm>
      </p:grpSpPr>
      <p:sp>
        <p:nvSpPr>
          <p:cNvPr id="47" name="标题文本"/>
          <p:cNvSpPr txBox="1"/>
          <p:nvPr>
            <p:ph type="title"/>
          </p:nvPr>
        </p:nvSpPr>
        <p:spPr>
          <a:xfrm>
            <a:off x="839787" y="365127"/>
            <a:ext cx="10515601" cy="1325563"/>
          </a:xfrm>
          <a:prstGeom prst="rect">
            <a:avLst/>
          </a:prstGeom>
        </p:spPr>
        <p:txBody>
          <a:bodyPr/>
          <a:lstStyle/>
          <a:p>
            <a:pPr/>
            <a:r>
              <a:t>标题文本</a:t>
            </a:r>
          </a:p>
        </p:txBody>
      </p:sp>
      <p:sp>
        <p:nvSpPr>
          <p:cNvPr id="48" name="正文级别 1…"/>
          <p:cNvSpPr txBox="1"/>
          <p:nvPr>
            <p:ph type="body" sz="quarter" idx="1"/>
          </p:nvPr>
        </p:nvSpPr>
        <p:spPr>
          <a:xfrm>
            <a:off x="839787" y="1681163"/>
            <a:ext cx="5157791" cy="823914"/>
          </a:xfrm>
          <a:prstGeom prst="rect">
            <a:avLst/>
          </a:prstGeom>
        </p:spPr>
        <p:txBody>
          <a:bodyPr anchor="b"/>
          <a:lstStyle>
            <a:lvl1pPr marL="0" indent="0">
              <a:buSzTx/>
              <a:buFontTx/>
              <a:buNone/>
              <a:defRPr b="1" sz="2400"/>
            </a:lvl1pPr>
            <a:lvl2pPr marL="0" indent="0">
              <a:buSzTx/>
              <a:buFontTx/>
              <a:buNone/>
              <a:defRPr b="1" sz="2400"/>
            </a:lvl2pPr>
            <a:lvl3pPr marL="0" indent="0">
              <a:buSzTx/>
              <a:buFontTx/>
              <a:buNone/>
              <a:defRPr b="1" sz="2400"/>
            </a:lvl3pPr>
            <a:lvl4pPr marL="0" indent="0">
              <a:buSzTx/>
              <a:buFontTx/>
              <a:buNone/>
              <a:defRPr b="1" sz="2400"/>
            </a:lvl4pPr>
            <a:lvl5pPr marL="0" indent="0">
              <a:buSzTx/>
              <a:buFontTx/>
              <a:buNone/>
              <a:defRPr b="1" sz="2400"/>
            </a:lvl5pPr>
          </a:lstStyle>
          <a:p>
            <a:pPr/>
            <a:r>
              <a:t>正文级别 1</a:t>
            </a:r>
          </a:p>
          <a:p>
            <a:pPr lvl="1"/>
            <a:r>
              <a:t>正文级别 2</a:t>
            </a:r>
          </a:p>
          <a:p>
            <a:pPr lvl="2"/>
            <a:r>
              <a:t>正文级别 3</a:t>
            </a:r>
          </a:p>
          <a:p>
            <a:pPr lvl="3"/>
            <a:r>
              <a:t>正文级别 4</a:t>
            </a:r>
          </a:p>
          <a:p>
            <a:pPr lvl="4"/>
            <a:r>
              <a:t>正文级别 5</a:t>
            </a:r>
          </a:p>
        </p:txBody>
      </p:sp>
      <p:sp>
        <p:nvSpPr>
          <p:cNvPr id="49" name="Text Placeholder 4"/>
          <p:cNvSpPr/>
          <p:nvPr>
            <p:ph type="body" sz="quarter" idx="21"/>
          </p:nvPr>
        </p:nvSpPr>
        <p:spPr>
          <a:xfrm>
            <a:off x="6172201" y="1681163"/>
            <a:ext cx="5183190" cy="823914"/>
          </a:xfrm>
          <a:prstGeom prst="rect">
            <a:avLst/>
          </a:prstGeom>
        </p:spPr>
        <p:txBody>
          <a:bodyPr anchor="b"/>
          <a:lstStyle/>
          <a:p>
            <a:pPr/>
          </a:p>
        </p:txBody>
      </p:sp>
      <p:sp>
        <p:nvSpPr>
          <p:cNvPr id="5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57" name="标题文本"/>
          <p:cNvSpPr txBox="1"/>
          <p:nvPr>
            <p:ph type="title"/>
          </p:nvPr>
        </p:nvSpPr>
        <p:spPr>
          <a:prstGeom prst="rect">
            <a:avLst/>
          </a:prstGeom>
        </p:spPr>
        <p:txBody>
          <a:bodyPr/>
          <a:lstStyle/>
          <a:p>
            <a:pPr/>
            <a:r>
              <a:t>标题文本</a:t>
            </a:r>
          </a:p>
        </p:txBody>
      </p:sp>
      <p:sp>
        <p:nvSpPr>
          <p:cNvPr id="5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6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内容与标题">
    <p:spTree>
      <p:nvGrpSpPr>
        <p:cNvPr id="1" name=""/>
        <p:cNvGrpSpPr/>
        <p:nvPr/>
      </p:nvGrpSpPr>
      <p:grpSpPr>
        <a:xfrm>
          <a:off x="0" y="0"/>
          <a:ext cx="0" cy="0"/>
          <a:chOff x="0" y="0"/>
          <a:chExt cx="0" cy="0"/>
        </a:xfrm>
      </p:grpSpPr>
      <p:sp>
        <p:nvSpPr>
          <p:cNvPr id="72" name="标题文本"/>
          <p:cNvSpPr txBox="1"/>
          <p:nvPr>
            <p:ph type="title"/>
          </p:nvPr>
        </p:nvSpPr>
        <p:spPr>
          <a:xfrm>
            <a:off x="839787" y="457200"/>
            <a:ext cx="3932240" cy="1600200"/>
          </a:xfrm>
          <a:prstGeom prst="rect">
            <a:avLst/>
          </a:prstGeom>
        </p:spPr>
        <p:txBody>
          <a:bodyPr anchor="b"/>
          <a:lstStyle>
            <a:lvl1pPr>
              <a:defRPr sz="3200"/>
            </a:lvl1pPr>
          </a:lstStyle>
          <a:p>
            <a:pPr/>
            <a:r>
              <a:t>标题文本</a:t>
            </a:r>
          </a:p>
        </p:txBody>
      </p:sp>
      <p:sp>
        <p:nvSpPr>
          <p:cNvPr id="73" name="正文级别 1…"/>
          <p:cNvSpPr txBox="1"/>
          <p:nvPr>
            <p:ph type="body" sz="half" idx="1"/>
          </p:nvPr>
        </p:nvSpPr>
        <p:spPr>
          <a:xfrm>
            <a:off x="5183187" y="987427"/>
            <a:ext cx="6172202" cy="4873627"/>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正文级别 1</a:t>
            </a:r>
          </a:p>
          <a:p>
            <a:pPr lvl="1"/>
            <a:r>
              <a:t>正文级别 2</a:t>
            </a:r>
          </a:p>
          <a:p>
            <a:pPr lvl="2"/>
            <a:r>
              <a:t>正文级别 3</a:t>
            </a:r>
          </a:p>
          <a:p>
            <a:pPr lvl="3"/>
            <a:r>
              <a:t>正文级别 4</a:t>
            </a:r>
          </a:p>
          <a:p>
            <a:pPr lvl="4"/>
            <a:r>
              <a:t>正文级别 5</a:t>
            </a:r>
          </a:p>
        </p:txBody>
      </p:sp>
      <p:sp>
        <p:nvSpPr>
          <p:cNvPr id="74" name="Text Placeholder 3"/>
          <p:cNvSpPr/>
          <p:nvPr>
            <p:ph type="body" sz="quarter" idx="21"/>
          </p:nvPr>
        </p:nvSpPr>
        <p:spPr>
          <a:xfrm>
            <a:off x="839786" y="2057400"/>
            <a:ext cx="3932241" cy="3811588"/>
          </a:xfrm>
          <a:prstGeom prst="rect">
            <a:avLst/>
          </a:prstGeom>
        </p:spPr>
        <p:txBody>
          <a:bodyPr/>
          <a:lstStyle/>
          <a:p>
            <a:pPr/>
          </a:p>
        </p:txBody>
      </p:sp>
      <p:sp>
        <p:nvSpPr>
          <p:cNvPr id="7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图片与标题">
    <p:spTree>
      <p:nvGrpSpPr>
        <p:cNvPr id="1" name=""/>
        <p:cNvGrpSpPr/>
        <p:nvPr/>
      </p:nvGrpSpPr>
      <p:grpSpPr>
        <a:xfrm>
          <a:off x="0" y="0"/>
          <a:ext cx="0" cy="0"/>
          <a:chOff x="0" y="0"/>
          <a:chExt cx="0" cy="0"/>
        </a:xfrm>
      </p:grpSpPr>
      <p:sp>
        <p:nvSpPr>
          <p:cNvPr id="82" name="标题文本"/>
          <p:cNvSpPr txBox="1"/>
          <p:nvPr>
            <p:ph type="title"/>
          </p:nvPr>
        </p:nvSpPr>
        <p:spPr>
          <a:xfrm>
            <a:off x="839787" y="457200"/>
            <a:ext cx="3932240" cy="1600200"/>
          </a:xfrm>
          <a:prstGeom prst="rect">
            <a:avLst/>
          </a:prstGeom>
        </p:spPr>
        <p:txBody>
          <a:bodyPr anchor="b"/>
          <a:lstStyle>
            <a:lvl1pPr>
              <a:defRPr sz="3200"/>
            </a:lvl1pPr>
          </a:lstStyle>
          <a:p>
            <a:pPr/>
            <a:r>
              <a:t>标题文本</a:t>
            </a:r>
          </a:p>
        </p:txBody>
      </p:sp>
      <p:sp>
        <p:nvSpPr>
          <p:cNvPr id="83" name="Picture Placeholder 2"/>
          <p:cNvSpPr/>
          <p:nvPr>
            <p:ph type="pic" sz="half" idx="21"/>
          </p:nvPr>
        </p:nvSpPr>
        <p:spPr>
          <a:xfrm>
            <a:off x="5183187" y="987427"/>
            <a:ext cx="6172202" cy="4873627"/>
          </a:xfrm>
          <a:prstGeom prst="rect">
            <a:avLst/>
          </a:prstGeom>
        </p:spPr>
        <p:txBody>
          <a:bodyPr lIns="91439" tIns="45719" rIns="91439" bIns="45719">
            <a:noAutofit/>
          </a:bodyPr>
          <a:lstStyle/>
          <a:p>
            <a:pPr/>
          </a:p>
        </p:txBody>
      </p:sp>
      <p:sp>
        <p:nvSpPr>
          <p:cNvPr id="84" name="正文级别 1…"/>
          <p:cNvSpPr txBox="1"/>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pPr/>
            <a:r>
              <a:t>正文级别 1</a:t>
            </a:r>
          </a:p>
          <a:p>
            <a:pPr lvl="1"/>
            <a:r>
              <a:t>正文级别 2</a:t>
            </a:r>
          </a:p>
          <a:p>
            <a:pPr lvl="2"/>
            <a:r>
              <a:t>正文级别 3</a:t>
            </a:r>
          </a:p>
          <a:p>
            <a:pPr lvl="3"/>
            <a:r>
              <a:t>正文级别 4</a:t>
            </a:r>
          </a:p>
          <a:p>
            <a:pPr lvl="4"/>
            <a:r>
              <a:t>正文级别 5</a:t>
            </a:r>
          </a:p>
        </p:txBody>
      </p:sp>
      <p:sp>
        <p:nvSpPr>
          <p:cNvPr id="8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838200" y="365127"/>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标题文本</a:t>
            </a:r>
          </a:p>
        </p:txBody>
      </p:sp>
      <p:sp>
        <p:nvSpPr>
          <p:cNvPr id="3" name="正文级别 1…"/>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11095178" y="6414763"/>
            <a:ext cx="258623" cy="248303"/>
          </a:xfrm>
          <a:prstGeom prst="rect">
            <a:avLst/>
          </a:prstGeom>
          <a:ln w="12700">
            <a:miter lim="400000"/>
          </a:ln>
        </p:spPr>
        <p:txBody>
          <a:bodyPr wrap="none" lIns="45718" tIns="45718" rIns="45718" bIns="45718"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seudatabaseqa@gmail.com"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nowcoder.com/" TargetMode="External"/><Relationship Id="rId3" Type="http://schemas.openxmlformats.org/officeDocument/2006/relationships/hyperlink" Target="https://leetcode.c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9"/>
          <p:cNvSpPr txBox="1"/>
          <p:nvPr/>
        </p:nvSpPr>
        <p:spPr>
          <a:xfrm>
            <a:off x="1394459" y="2111999"/>
            <a:ext cx="9403082" cy="9353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000">
                <a:solidFill>
                  <a:srgbClr val="33339B"/>
                </a:solidFill>
                <a:latin typeface="Times New Roman"/>
                <a:ea typeface="Times New Roman"/>
                <a:cs typeface="Times New Roman"/>
                <a:sym typeface="Times New Roman"/>
              </a:defRPr>
            </a:lvl1pPr>
          </a:lstStyle>
          <a:p>
            <a:pPr/>
            <a:r>
              <a:t>Project 2</a:t>
            </a:r>
          </a:p>
        </p:txBody>
      </p:sp>
      <p:sp>
        <p:nvSpPr>
          <p:cNvPr id="95" name="文本框 10"/>
          <p:cNvSpPr txBox="1"/>
          <p:nvPr/>
        </p:nvSpPr>
        <p:spPr>
          <a:xfrm>
            <a:off x="4176450" y="4571382"/>
            <a:ext cx="3537759"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latin typeface="Times New Roman"/>
                <a:ea typeface="Times New Roman"/>
                <a:cs typeface="Times New Roman"/>
                <a:sym typeface="Times New Roman"/>
              </a:defRPr>
            </a:lvl1pPr>
          </a:lstStyle>
          <a:p>
            <a:pPr/>
            <a:r>
              <a:t>TA: Hao Gong</a:t>
            </a:r>
          </a:p>
        </p:txBody>
      </p:sp>
      <p:sp>
        <p:nvSpPr>
          <p:cNvPr id="96" name="文本框 3"/>
          <p:cNvSpPr txBox="1"/>
          <p:nvPr/>
        </p:nvSpPr>
        <p:spPr>
          <a:xfrm>
            <a:off x="3440081" y="3495579"/>
            <a:ext cx="5263346" cy="66675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latin typeface="Times New Roman"/>
                <a:ea typeface="Times New Roman"/>
                <a:cs typeface="Times New Roman"/>
                <a:sym typeface="Times New Roman"/>
              </a:defRPr>
            </a:lvl1pPr>
          </a:lstStyle>
          <a:p>
            <a:pPr/>
            <a:r>
              <a:t>Lecturer: Shuai Wang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Rectangle 9"/>
          <p:cNvSpPr txBox="1"/>
          <p:nvPr/>
        </p:nvSpPr>
        <p:spPr>
          <a:xfrm>
            <a:off x="592131" y="378537"/>
            <a:ext cx="10371471"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Requirements for submitting the assignment</a:t>
            </a:r>
          </a:p>
        </p:txBody>
      </p:sp>
      <p:sp>
        <p:nvSpPr>
          <p:cNvPr id="99" name="Rectangle 1"/>
          <p:cNvSpPr/>
          <p:nvPr/>
        </p:nvSpPr>
        <p:spPr>
          <a:xfrm>
            <a:off x="1268926" y="6088557"/>
            <a:ext cx="9286387" cy="724926"/>
          </a:xfrm>
          <a:prstGeom prst="rect">
            <a:avLst/>
          </a:prstGeom>
          <a:ln>
            <a:solidFill>
              <a:srgbClr val="C00000"/>
            </a:solidFill>
          </a:ln>
          <a:extLst>
            <a:ext uri="{C572A759-6A51-4108-AA02-DFA0A04FC94B}">
              <ma14:wrappingTextBoxFlag xmlns:ma14="http://schemas.microsoft.com/office/mac/drawingml/2011/main" val="1"/>
            </a:ext>
          </a:extLst>
        </p:spPr>
        <p:txBody>
          <a:bodyPr wrap="none" lIns="45718" tIns="45718" rIns="45718" bIns="45718">
            <a:spAutoFit/>
          </a:bodyPr>
          <a:lstStyle>
            <a:lvl1pPr>
              <a:defRPr b="1" sz="4400">
                <a:solidFill>
                  <a:srgbClr val="C00000"/>
                </a:solidFill>
                <a:latin typeface="Times New Roman"/>
                <a:ea typeface="Times New Roman"/>
                <a:cs typeface="Times New Roman"/>
                <a:sym typeface="Times New Roman"/>
              </a:defRPr>
            </a:lvl1pPr>
          </a:lstStyle>
          <a:p>
            <a:pPr/>
            <a:r>
              <a:t>Deadline: Beijing time, 11.01, 23:59:59</a:t>
            </a:r>
          </a:p>
        </p:txBody>
      </p:sp>
      <p:sp>
        <p:nvSpPr>
          <p:cNvPr id="100" name="灯片编号占位符 2"/>
          <p:cNvSpPr txBox="1"/>
          <p:nvPr>
            <p:ph type="sldNum" sz="quarter" idx="4294967295"/>
          </p:nvPr>
        </p:nvSpPr>
        <p:spPr>
          <a:xfrm>
            <a:off x="11172418" y="6414761"/>
            <a:ext cx="181380" cy="24830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1" name="文本框 6"/>
          <p:cNvSpPr txBox="1"/>
          <p:nvPr/>
        </p:nvSpPr>
        <p:spPr>
          <a:xfrm>
            <a:off x="592129" y="1082975"/>
            <a:ext cx="10371474" cy="49577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457200" indent="-457200">
              <a:lnSpc>
                <a:spcPct val="150000"/>
              </a:lnSpc>
              <a:buSzPct val="100000"/>
              <a:buFont typeface="Arial"/>
              <a:buChar char="•"/>
              <a:defRPr b="1" sz="3200">
                <a:latin typeface="微软雅黑"/>
                <a:ea typeface="微软雅黑"/>
                <a:cs typeface="微软雅黑"/>
                <a:sym typeface="微软雅黑"/>
              </a:defRPr>
            </a:pPr>
            <a:r>
              <a:t>Email address : </a:t>
            </a:r>
            <a:r>
              <a:rPr u="sng">
                <a:solidFill>
                  <a:srgbClr val="0000FF"/>
                </a:solidFill>
                <a:uFill>
                  <a:solidFill>
                    <a:srgbClr val="0000FF"/>
                  </a:solidFill>
                </a:uFill>
                <a:hlinkClick r:id="rId2" invalidUrl="" action="" tgtFrame="" tooltip="" history="1" highlightClick="0" endSnd="0"/>
              </a:rPr>
              <a:t>seudatabaseqa@gmail.com</a:t>
            </a:r>
            <a:endParaRPr i="1" u="sng">
              <a:solidFill>
                <a:srgbClr val="33339B"/>
              </a:solidFill>
              <a:latin typeface="Carlito"/>
              <a:ea typeface="Carlito"/>
              <a:cs typeface="Carlito"/>
              <a:sym typeface="Carlito"/>
            </a:endParaRPr>
          </a:p>
          <a:p>
            <a:pPr marL="457200" indent="-457200">
              <a:lnSpc>
                <a:spcPct val="150000"/>
              </a:lnSpc>
              <a:buSzPct val="100000"/>
              <a:buFont typeface="Arial"/>
              <a:buChar char="•"/>
              <a:defRPr b="1" sz="3200">
                <a:latin typeface="微软雅黑"/>
                <a:ea typeface="微软雅黑"/>
                <a:cs typeface="微软雅黑"/>
                <a:sym typeface="微软雅黑"/>
              </a:defRPr>
            </a:pPr>
            <a:r>
              <a:t>Format of Email subject and File name: </a:t>
            </a:r>
            <a:r>
              <a:rPr>
                <a:solidFill>
                  <a:srgbClr val="33339B"/>
                </a:solidFill>
                <a:latin typeface="Times New Roman"/>
                <a:ea typeface="Times New Roman"/>
                <a:cs typeface="Times New Roman"/>
                <a:sym typeface="Times New Roman"/>
              </a:rPr>
              <a:t>StudentNumber-Name-Project-X</a:t>
            </a:r>
            <a:endParaRPr>
              <a:solidFill>
                <a:srgbClr val="33339B"/>
              </a:solidFill>
              <a:latin typeface="Carlito"/>
              <a:ea typeface="Carlito"/>
              <a:cs typeface="Carlito"/>
              <a:sym typeface="Carlito"/>
            </a:endParaRPr>
          </a:p>
          <a:p>
            <a:pPr lvl="1" indent="457200">
              <a:lnSpc>
                <a:spcPct val="150000"/>
              </a:lnSpc>
              <a:defRPr sz="3200">
                <a:latin typeface="Calibri Light"/>
                <a:ea typeface="Calibri Light"/>
                <a:cs typeface="Calibri Light"/>
                <a:sym typeface="Calibri Light"/>
              </a:defRPr>
            </a:pPr>
            <a:r>
              <a:t>	</a:t>
            </a:r>
            <a:r>
              <a:rPr>
                <a:latin typeface="微软雅黑"/>
                <a:ea typeface="微软雅黑"/>
                <a:cs typeface="微软雅黑"/>
                <a:sym typeface="微软雅黑"/>
              </a:rPr>
              <a:t>example </a:t>
            </a:r>
            <a:r>
              <a:t>: </a:t>
            </a:r>
            <a:r>
              <a:rPr i="1">
                <a:solidFill>
                  <a:srgbClr val="33339B"/>
                </a:solidFill>
                <a:latin typeface="微软雅黑"/>
                <a:ea typeface="微软雅黑"/>
                <a:cs typeface="微软雅黑"/>
                <a:sym typeface="微软雅黑"/>
              </a:rPr>
              <a:t>71121000-张三-Project-1.zip</a:t>
            </a:r>
            <a:endParaRPr i="1">
              <a:solidFill>
                <a:srgbClr val="33339B"/>
              </a:solidFill>
              <a:latin typeface="微软雅黑"/>
              <a:ea typeface="微软雅黑"/>
              <a:cs typeface="微软雅黑"/>
              <a:sym typeface="微软雅黑"/>
            </a:endParaRPr>
          </a:p>
          <a:p>
            <a:pPr marL="457200" indent="-457200">
              <a:lnSpc>
                <a:spcPct val="150000"/>
              </a:lnSpc>
              <a:buSzPct val="100000"/>
              <a:buFont typeface="Arial"/>
              <a:buChar char="•"/>
              <a:defRPr b="1" sz="3200">
                <a:latin typeface="微软雅黑"/>
                <a:ea typeface="微软雅黑"/>
                <a:cs typeface="微软雅黑"/>
                <a:sym typeface="微软雅黑"/>
              </a:defRPr>
            </a:pPr>
            <a:r>
              <a:t>Including :</a:t>
            </a:r>
          </a:p>
          <a:p>
            <a:pPr>
              <a:lnSpc>
                <a:spcPct val="150000"/>
              </a:lnSpc>
              <a:defRPr sz="3200">
                <a:solidFill>
                  <a:srgbClr val="00B0F0"/>
                </a:solidFill>
                <a:latin typeface="Calibri Light"/>
                <a:ea typeface="Calibri Light"/>
                <a:cs typeface="Calibri Light"/>
                <a:sym typeface="Calibri Light"/>
              </a:defRPr>
            </a:pPr>
            <a:r>
              <a:t>		</a:t>
            </a:r>
            <a:r>
              <a:rPr i="1">
                <a:solidFill>
                  <a:srgbClr val="33339B"/>
                </a:solidFill>
              </a:rPr>
              <a:t> </a:t>
            </a:r>
            <a:r>
              <a:rPr sz="2800">
                <a:solidFill>
                  <a:srgbClr val="C00000"/>
                </a:solidFill>
              </a:rPr>
              <a:t>①</a:t>
            </a:r>
            <a:r>
              <a:rPr i="1" sz="2800">
                <a:solidFill>
                  <a:srgbClr val="33339B"/>
                </a:solidFill>
              </a:rPr>
              <a:t>report_A2.doc / report_A2.docx / report_A2.pdf</a:t>
            </a:r>
            <a:endParaRPr i="1" sz="2800">
              <a:solidFill>
                <a:srgbClr val="33339B"/>
              </a:solidFill>
            </a:endParaRPr>
          </a:p>
          <a:p>
            <a:pPr>
              <a:lnSpc>
                <a:spcPct val="150000"/>
              </a:lnSpc>
              <a:defRPr sz="2800">
                <a:solidFill>
                  <a:srgbClr val="00B0F0"/>
                </a:solidFill>
                <a:latin typeface="Calibri Light"/>
                <a:ea typeface="Calibri Light"/>
                <a:cs typeface="Calibri Light"/>
                <a:sym typeface="Calibri Light"/>
              </a:defRPr>
            </a:pPr>
            <a:r>
              <a:t>	      </a:t>
            </a:r>
            <a:r>
              <a:rPr>
                <a:solidFill>
                  <a:srgbClr val="C00000"/>
                </a:solidFill>
              </a:rPr>
              <a:t>②</a:t>
            </a:r>
            <a:r>
              <a:rPr i="1">
                <a:solidFill>
                  <a:srgbClr val="33339B"/>
                </a:solidFill>
              </a:rPr>
              <a:t>university_A2.mdb / university_A2.accdb</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Rectangle 9"/>
          <p:cNvSpPr txBox="1"/>
          <p:nvPr/>
        </p:nvSpPr>
        <p:spPr>
          <a:xfrm>
            <a:off x="592131" y="147705"/>
            <a:ext cx="10371471"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Requirements for submitting the assignment</a:t>
            </a:r>
          </a:p>
        </p:txBody>
      </p:sp>
      <p:sp>
        <p:nvSpPr>
          <p:cNvPr id="104" name="文本框 6"/>
          <p:cNvSpPr txBox="1"/>
          <p:nvPr/>
        </p:nvSpPr>
        <p:spPr>
          <a:xfrm>
            <a:off x="185334" y="1261991"/>
            <a:ext cx="11821332" cy="3774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nSpc>
                <a:spcPct val="150000"/>
              </a:lnSpc>
              <a:defRPr b="1" sz="2400">
                <a:solidFill>
                  <a:srgbClr val="C00000"/>
                </a:solidFill>
                <a:latin typeface="微软雅黑"/>
                <a:ea typeface="微软雅黑"/>
                <a:cs typeface="微软雅黑"/>
                <a:sym typeface="微软雅黑"/>
              </a:defRPr>
            </a:pPr>
            <a:r>
              <a:t>Note: </a:t>
            </a:r>
          </a:p>
          <a:p>
            <a:pPr marL="457200" indent="-457200">
              <a:lnSpc>
                <a:spcPct val="150000"/>
              </a:lnSpc>
              <a:buSzPct val="100000"/>
              <a:buFont typeface="Arial"/>
              <a:buChar char="•"/>
              <a:defRPr b="1" sz="2400">
                <a:latin typeface="微软雅黑"/>
                <a:ea typeface="微软雅黑"/>
                <a:cs typeface="微软雅黑"/>
                <a:sym typeface="微软雅黑"/>
              </a:defRPr>
            </a:pPr>
            <a:r>
              <a:t>Name and submit the files according to the </a:t>
            </a:r>
            <a:r>
              <a:rPr>
                <a:solidFill>
                  <a:srgbClr val="C00000"/>
                </a:solidFill>
              </a:rPr>
              <a:t>prescribed format</a:t>
            </a:r>
            <a:r>
              <a:t>!</a:t>
            </a:r>
          </a:p>
          <a:p>
            <a:pPr marL="457200" indent="-457200">
              <a:lnSpc>
                <a:spcPct val="150000"/>
              </a:lnSpc>
              <a:buSzPct val="100000"/>
              <a:buFont typeface="Arial"/>
              <a:buChar char="•"/>
              <a:defRPr b="1" sz="2400">
                <a:latin typeface="微软雅黑"/>
                <a:ea typeface="微软雅黑"/>
                <a:cs typeface="微软雅黑"/>
                <a:sym typeface="微软雅黑"/>
              </a:defRPr>
            </a:pPr>
            <a:r>
              <a:t>Include the </a:t>
            </a:r>
            <a:r>
              <a:rPr>
                <a:solidFill>
                  <a:srgbClr val="C00000"/>
                </a:solidFill>
              </a:rPr>
              <a:t>required files (docx, accdb, pdf..)</a:t>
            </a:r>
            <a:r>
              <a:t>. Each one is indispensable!</a:t>
            </a:r>
          </a:p>
          <a:p>
            <a:pPr marL="457200" indent="-457200">
              <a:lnSpc>
                <a:spcPct val="150000"/>
              </a:lnSpc>
              <a:buSzPct val="100000"/>
              <a:buFont typeface="Arial"/>
              <a:buChar char="•"/>
              <a:defRPr b="1" sz="2400">
                <a:latin typeface="微软雅黑"/>
                <a:ea typeface="微软雅黑"/>
                <a:cs typeface="微软雅黑"/>
                <a:sym typeface="微软雅黑"/>
              </a:defRPr>
            </a:pPr>
            <a:r>
              <a:t>Submit all the files in a </a:t>
            </a:r>
            <a:r>
              <a:rPr>
                <a:solidFill>
                  <a:srgbClr val="C00000"/>
                </a:solidFill>
              </a:rPr>
              <a:t>compressed format (zip, rar…)</a:t>
            </a:r>
            <a:r>
              <a:t>!</a:t>
            </a:r>
          </a:p>
          <a:p>
            <a:pPr marL="457200" indent="-457200">
              <a:lnSpc>
                <a:spcPct val="150000"/>
              </a:lnSpc>
              <a:buSzPct val="100000"/>
              <a:buFont typeface="Arial"/>
              <a:buChar char="•"/>
              <a:defRPr b="1" sz="2400">
                <a:latin typeface="微软雅黑"/>
                <a:ea typeface="微软雅黑"/>
                <a:cs typeface="微软雅黑"/>
                <a:sym typeface="微软雅黑"/>
              </a:defRPr>
            </a:pPr>
            <a:r>
              <a:t>Ensure the accuracy of your </a:t>
            </a:r>
            <a:r>
              <a:rPr>
                <a:solidFill>
                  <a:srgbClr val="C00000"/>
                </a:solidFill>
              </a:rPr>
              <a:t>name</a:t>
            </a:r>
            <a:r>
              <a:t>, </a:t>
            </a:r>
            <a:r>
              <a:rPr>
                <a:solidFill>
                  <a:srgbClr val="C00000"/>
                </a:solidFill>
              </a:rPr>
              <a:t>student ID</a:t>
            </a:r>
            <a:r>
              <a:t>, and even the </a:t>
            </a:r>
            <a:r>
              <a:rPr>
                <a:solidFill>
                  <a:srgbClr val="C00000"/>
                </a:solidFill>
              </a:rPr>
              <a:t>subject</a:t>
            </a:r>
            <a:r>
              <a:t> you are submitting for!!!</a:t>
            </a:r>
          </a:p>
          <a:p>
            <a:pPr marL="457200" indent="-457200">
              <a:lnSpc>
                <a:spcPct val="150000"/>
              </a:lnSpc>
              <a:buSzPct val="100000"/>
              <a:buFont typeface="Arial"/>
              <a:buChar char="•"/>
              <a:defRPr b="1" sz="2400">
                <a:latin typeface="微软雅黑"/>
                <a:ea typeface="微软雅黑"/>
                <a:cs typeface="微软雅黑"/>
                <a:sym typeface="微软雅黑"/>
              </a:defRPr>
            </a:pPr>
            <a:r>
              <a:t>Submit your report on time!! Late submissions will </a:t>
            </a:r>
            <a:r>
              <a:rPr>
                <a:solidFill>
                  <a:srgbClr val="C00000"/>
                </a:solidFill>
              </a:rPr>
              <a:t>not be accepted </a:t>
            </a:r>
            <a:r>
              <a:t>now!</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Rectangle 9"/>
          <p:cNvSpPr txBox="1"/>
          <p:nvPr/>
        </p:nvSpPr>
        <p:spPr>
          <a:xfrm>
            <a:off x="860682" y="1560091"/>
            <a:ext cx="11020856" cy="21569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028700" indent="-1028700">
              <a:lnSpc>
                <a:spcPct val="150000"/>
              </a:lnSpc>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Tutorial with Project Examples</a:t>
            </a:r>
          </a:p>
          <a:p>
            <a:pPr marL="1028700" indent="-1028700">
              <a:lnSpc>
                <a:spcPct val="150000"/>
              </a:lnSpc>
              <a:buSzPct val="100000"/>
              <a:buAutoNum type="romanUcPeriod" startAt="1"/>
              <a:defRPr sz="6000">
                <a:solidFill>
                  <a:srgbClr val="808080"/>
                </a:solidFill>
                <a:latin typeface="Calibri Light"/>
                <a:ea typeface="Calibri Light"/>
                <a:cs typeface="Calibri Light"/>
                <a:sym typeface="Calibri Light"/>
              </a:defRPr>
            </a:pPr>
            <a:r>
              <a:t>Assignment</a:t>
            </a:r>
          </a:p>
        </p:txBody>
      </p:sp>
      <p:sp>
        <p:nvSpPr>
          <p:cNvPr id="107" name="Rectangle 9"/>
          <p:cNvSpPr txBox="1"/>
          <p:nvPr/>
        </p:nvSpPr>
        <p:spPr>
          <a:xfrm>
            <a:off x="860682" y="452095"/>
            <a:ext cx="10470637" cy="102103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solidFill>
                  <a:srgbClr val="C00000"/>
                </a:solidFill>
                <a:latin typeface="Times New Roman"/>
                <a:ea typeface="Times New Roman"/>
                <a:cs typeface="Times New Roman"/>
                <a:sym typeface="Times New Roman"/>
              </a:defRPr>
            </a:lvl1pPr>
          </a:lstStyle>
          <a:p>
            <a:pPr/>
            <a:r>
              <a:t>Project 2</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10" name="Rectangle 6"/>
          <p:cNvSpPr txBox="1"/>
          <p:nvPr/>
        </p:nvSpPr>
        <p:spPr>
          <a:xfrm>
            <a:off x="222478" y="1141164"/>
            <a:ext cx="4585905"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Preparation Work </a:t>
            </a:r>
          </a:p>
        </p:txBody>
      </p:sp>
      <p:sp>
        <p:nvSpPr>
          <p:cNvPr id="111" name="Rectangle 8"/>
          <p:cNvSpPr txBox="1"/>
          <p:nvPr/>
        </p:nvSpPr>
        <p:spPr>
          <a:xfrm>
            <a:off x="531890" y="1856173"/>
            <a:ext cx="6290825" cy="6629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3200">
                <a:latin typeface="Times New Roman"/>
                <a:ea typeface="Times New Roman"/>
                <a:cs typeface="Times New Roman"/>
                <a:sym typeface="Times New Roman"/>
              </a:defRPr>
            </a:lvl1pPr>
          </a:lstStyle>
          <a:p>
            <a:pPr/>
            <a:r>
              <a:t>①Download the following data files</a:t>
            </a:r>
          </a:p>
        </p:txBody>
      </p:sp>
      <p:pic>
        <p:nvPicPr>
          <p:cNvPr id="112" name="图片 22" descr="图片 22"/>
          <p:cNvPicPr>
            <a:picLocks noChangeAspect="1"/>
          </p:cNvPicPr>
          <p:nvPr/>
        </p:nvPicPr>
        <p:blipFill>
          <a:blip r:embed="rId2">
            <a:extLst/>
          </a:blip>
          <a:srcRect l="0" t="27923" r="0" b="0"/>
          <a:stretch>
            <a:fillRect/>
          </a:stretch>
        </p:blipFill>
        <p:spPr>
          <a:xfrm>
            <a:off x="2446016" y="2549350"/>
            <a:ext cx="3649985" cy="760634"/>
          </a:xfrm>
          <a:prstGeom prst="rect">
            <a:avLst/>
          </a:prstGeom>
          <a:ln>
            <a:solidFill>
              <a:srgbClr val="000000"/>
            </a:solidFill>
          </a:ln>
        </p:spPr>
      </p:pic>
      <p:sp>
        <p:nvSpPr>
          <p:cNvPr id="113" name="Rectangle 8"/>
          <p:cNvSpPr txBox="1"/>
          <p:nvPr/>
        </p:nvSpPr>
        <p:spPr>
          <a:xfrm>
            <a:off x="531891" y="3309983"/>
            <a:ext cx="10383399" cy="6629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3200">
                <a:latin typeface="Times New Roman"/>
                <a:ea typeface="Times New Roman"/>
                <a:cs typeface="Times New Roman"/>
                <a:sym typeface="Times New Roman"/>
              </a:defRPr>
            </a:lvl1pPr>
          </a:lstStyle>
          <a:p>
            <a:pPr/>
            <a:r>
              <a:t>②Import the txt into the lab2.accdb and create three tables</a:t>
            </a:r>
          </a:p>
        </p:txBody>
      </p:sp>
      <p:pic>
        <p:nvPicPr>
          <p:cNvPr id="114" name="Picture 1" descr="Picture 1"/>
          <p:cNvPicPr>
            <a:picLocks noChangeAspect="1"/>
          </p:cNvPicPr>
          <p:nvPr/>
        </p:nvPicPr>
        <p:blipFill>
          <a:blip r:embed="rId3">
            <a:extLst/>
          </a:blip>
          <a:srcRect l="4814" t="0" r="349" b="51729"/>
          <a:stretch>
            <a:fillRect/>
          </a:stretch>
        </p:blipFill>
        <p:spPr>
          <a:xfrm>
            <a:off x="837071" y="4486654"/>
            <a:ext cx="3644252" cy="1832083"/>
          </a:xfrm>
          <a:prstGeom prst="rect">
            <a:avLst/>
          </a:prstGeom>
          <a:ln>
            <a:solidFill>
              <a:srgbClr val="000000"/>
            </a:solidFill>
          </a:ln>
        </p:spPr>
      </p:pic>
      <p:sp>
        <p:nvSpPr>
          <p:cNvPr id="115" name="文本框 25"/>
          <p:cNvSpPr txBox="1"/>
          <p:nvPr/>
        </p:nvSpPr>
        <p:spPr>
          <a:xfrm>
            <a:off x="2182260" y="4040657"/>
            <a:ext cx="871111" cy="34842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a:lnSpc>
                <a:spcPct val="107000"/>
              </a:lnSpc>
              <a:spcBef>
                <a:spcPts val="800"/>
              </a:spcBef>
              <a:defRPr b="1">
                <a:latin typeface="Times New Roman"/>
                <a:ea typeface="Times New Roman"/>
                <a:cs typeface="Times New Roman"/>
                <a:sym typeface="Times New Roman"/>
              </a:defRPr>
            </a:lvl1pPr>
          </a:lstStyle>
          <a:p>
            <a:pPr/>
            <a:r>
              <a:t>Sailor</a:t>
            </a:r>
          </a:p>
        </p:txBody>
      </p:sp>
      <p:pic>
        <p:nvPicPr>
          <p:cNvPr id="116" name="Picture 1" descr="Picture 1"/>
          <p:cNvPicPr>
            <a:picLocks noChangeAspect="1"/>
          </p:cNvPicPr>
          <p:nvPr/>
        </p:nvPicPr>
        <p:blipFill>
          <a:blip r:embed="rId4">
            <a:extLst/>
          </a:blip>
          <a:srcRect l="9055" t="0" r="0" b="0"/>
          <a:stretch>
            <a:fillRect/>
          </a:stretch>
        </p:blipFill>
        <p:spPr>
          <a:xfrm>
            <a:off x="5096633" y="4486654"/>
            <a:ext cx="2636860" cy="1832083"/>
          </a:xfrm>
          <a:prstGeom prst="rect">
            <a:avLst/>
          </a:prstGeom>
          <a:ln>
            <a:solidFill>
              <a:srgbClr val="000000"/>
            </a:solidFill>
          </a:ln>
        </p:spPr>
      </p:pic>
      <p:sp>
        <p:nvSpPr>
          <p:cNvPr id="117" name="Rectangle 8"/>
          <p:cNvSpPr txBox="1"/>
          <p:nvPr/>
        </p:nvSpPr>
        <p:spPr>
          <a:xfrm>
            <a:off x="6102870" y="4040657"/>
            <a:ext cx="871111" cy="34842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a:lnSpc>
                <a:spcPct val="107000"/>
              </a:lnSpc>
              <a:spcBef>
                <a:spcPts val="800"/>
              </a:spcBef>
              <a:defRPr b="1">
                <a:latin typeface="Times New Roman"/>
                <a:ea typeface="Times New Roman"/>
                <a:cs typeface="Times New Roman"/>
                <a:sym typeface="Times New Roman"/>
              </a:defRPr>
            </a:lvl1pPr>
          </a:lstStyle>
          <a:p>
            <a:pPr/>
            <a:r>
              <a:t>Boats</a:t>
            </a:r>
          </a:p>
        </p:txBody>
      </p:sp>
      <p:sp>
        <p:nvSpPr>
          <p:cNvPr id="118" name="Rectangle 8"/>
          <p:cNvSpPr txBox="1"/>
          <p:nvPr/>
        </p:nvSpPr>
        <p:spPr>
          <a:xfrm>
            <a:off x="9462823" y="4040657"/>
            <a:ext cx="1226977" cy="34842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a:lnSpc>
                <a:spcPct val="107000"/>
              </a:lnSpc>
              <a:spcBef>
                <a:spcPts val="800"/>
              </a:spcBef>
              <a:defRPr b="1">
                <a:latin typeface="Times New Roman"/>
                <a:ea typeface="Times New Roman"/>
                <a:cs typeface="Times New Roman"/>
                <a:sym typeface="Times New Roman"/>
              </a:defRPr>
            </a:lvl1pPr>
          </a:lstStyle>
          <a:p>
            <a:pPr/>
            <a:r>
              <a:t>Reserves</a:t>
            </a:r>
          </a:p>
        </p:txBody>
      </p:sp>
      <p:pic>
        <p:nvPicPr>
          <p:cNvPr id="119" name="图片 29" descr="图片 29"/>
          <p:cNvPicPr>
            <a:picLocks noChangeAspect="1"/>
          </p:cNvPicPr>
          <p:nvPr/>
        </p:nvPicPr>
        <p:blipFill>
          <a:blip r:embed="rId5">
            <a:extLst/>
          </a:blip>
          <a:stretch>
            <a:fillRect/>
          </a:stretch>
        </p:blipFill>
        <p:spPr>
          <a:xfrm>
            <a:off x="8673917" y="4470465"/>
            <a:ext cx="2566369" cy="1832083"/>
          </a:xfrm>
          <a:prstGeom prst="rect">
            <a:avLst/>
          </a:prstGeom>
          <a:ln>
            <a:solidFill>
              <a:srgbClr val="000000"/>
            </a:solidFill>
          </a:ln>
        </p:spPr>
      </p:pic>
      <p:sp>
        <p:nvSpPr>
          <p:cNvPr id="120" name="文本框 12"/>
          <p:cNvSpPr txBox="1"/>
          <p:nvPr/>
        </p:nvSpPr>
        <p:spPr>
          <a:xfrm>
            <a:off x="6002706" y="1280460"/>
            <a:ext cx="5342423" cy="624653"/>
          </a:xfrm>
          <a:prstGeom prst="rect">
            <a:avLst/>
          </a:prstGeom>
          <a:ln>
            <a:solidFill>
              <a:srgbClr val="C00000"/>
            </a:solidFill>
          </a:ln>
          <a:extLst>
            <a:ext uri="{C572A759-6A51-4108-AA02-DFA0A04FC94B}">
              <ma14:wrappingTextBoxFlag xmlns:ma14="http://schemas.microsoft.com/office/mac/drawingml/2011/main" val="1"/>
            </a:ext>
          </a:extLst>
        </p:spPr>
        <p:txBody>
          <a:bodyPr lIns="45718" tIns="45718" rIns="45718" bIns="45718">
            <a:spAutoFit/>
          </a:bodyPr>
          <a:lstStyle>
            <a:lvl1pPr algn="just">
              <a:defRPr>
                <a:latin typeface="Times New Roman"/>
                <a:ea typeface="Times New Roman"/>
                <a:cs typeface="Times New Roman"/>
                <a:sym typeface="Times New Roman"/>
              </a:defRPr>
            </a:lvl1pPr>
          </a:lstStyle>
          <a:p>
            <a:pPr/>
            <a:r>
              <a:t>It is solely used for demonstrating the operational process and is not part of the experimental requirements.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23"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2. Simple Example of Using SQL</a:t>
            </a:r>
          </a:p>
        </p:txBody>
      </p:sp>
      <p:sp>
        <p:nvSpPr>
          <p:cNvPr id="124" name="Rectangle 8"/>
          <p:cNvSpPr txBox="1"/>
          <p:nvPr/>
        </p:nvSpPr>
        <p:spPr>
          <a:xfrm>
            <a:off x="531890" y="1856172"/>
            <a:ext cx="982678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Print records in Boats Table that Boat’s color is red</a:t>
            </a:r>
          </a:p>
        </p:txBody>
      </p:sp>
      <p:grpSp>
        <p:nvGrpSpPr>
          <p:cNvPr id="129" name="组合 6"/>
          <p:cNvGrpSpPr/>
          <p:nvPr/>
        </p:nvGrpSpPr>
        <p:grpSpPr>
          <a:xfrm>
            <a:off x="486172" y="2751949"/>
            <a:ext cx="11034339" cy="3323813"/>
            <a:chOff x="0" y="0"/>
            <a:chExt cx="11034339" cy="3323811"/>
          </a:xfrm>
        </p:grpSpPr>
        <p:pic>
          <p:nvPicPr>
            <p:cNvPr id="125" name="图片 3" descr="图片 3"/>
            <p:cNvPicPr>
              <a:picLocks noChangeAspect="1"/>
            </p:cNvPicPr>
            <p:nvPr/>
          </p:nvPicPr>
          <p:blipFill>
            <a:blip r:embed="rId2">
              <a:extLst/>
            </a:blip>
            <a:stretch>
              <a:fillRect/>
            </a:stretch>
          </p:blipFill>
          <p:spPr>
            <a:xfrm>
              <a:off x="-1" y="-1"/>
              <a:ext cx="5352384" cy="3323812"/>
            </a:xfrm>
            <a:prstGeom prst="rect">
              <a:avLst/>
            </a:prstGeom>
            <a:ln w="38100" cap="sq">
              <a:solidFill>
                <a:srgbClr val="000000"/>
              </a:solidFill>
              <a:prstDash val="solid"/>
              <a:miter lim="800000"/>
            </a:ln>
            <a:effectLst>
              <a:outerShdw sx="100000" sy="100000" kx="0" ky="0" algn="b" rotWithShape="0" blurRad="50800" dist="38100" dir="2700000">
                <a:srgbClr val="000000">
                  <a:alpha val="43000"/>
                </a:srgbClr>
              </a:outerShdw>
            </a:effectLst>
          </p:spPr>
        </p:pic>
        <p:pic>
          <p:nvPicPr>
            <p:cNvPr id="126" name="图片 5" descr="图片 5"/>
            <p:cNvPicPr>
              <a:picLocks noChangeAspect="1"/>
            </p:cNvPicPr>
            <p:nvPr/>
          </p:nvPicPr>
          <p:blipFill>
            <a:blip r:embed="rId3">
              <a:extLst/>
            </a:blip>
            <a:stretch>
              <a:fillRect/>
            </a:stretch>
          </p:blipFill>
          <p:spPr>
            <a:xfrm>
              <a:off x="7253385" y="1111435"/>
              <a:ext cx="3780955" cy="1123812"/>
            </a:xfrm>
            <a:prstGeom prst="rect">
              <a:avLst/>
            </a:prstGeom>
            <a:ln w="38100" cap="sq">
              <a:solidFill>
                <a:srgbClr val="000000"/>
              </a:solidFill>
              <a:prstDash val="solid"/>
              <a:miter lim="800000"/>
            </a:ln>
            <a:effectLst>
              <a:outerShdw sx="100000" sy="100000" kx="0" ky="0" algn="b" rotWithShape="0" blurRad="50800" dist="38100" dir="2700000">
                <a:srgbClr val="000000">
                  <a:alpha val="43000"/>
                </a:srgbClr>
              </a:outerShdw>
            </a:effectLst>
          </p:spPr>
        </p:pic>
        <p:sp>
          <p:nvSpPr>
            <p:cNvPr id="127" name="直接箭头连接符 7"/>
            <p:cNvSpPr/>
            <p:nvPr/>
          </p:nvSpPr>
          <p:spPr>
            <a:xfrm>
              <a:off x="5352381" y="1661905"/>
              <a:ext cx="1901006" cy="11437"/>
            </a:xfrm>
            <a:prstGeom prst="line">
              <a:avLst/>
            </a:prstGeom>
            <a:noFill/>
            <a:ln w="63500" cap="rnd">
              <a:solidFill>
                <a:schemeClr val="accent1"/>
              </a:solidFill>
              <a:prstDash val="solid"/>
              <a:round/>
              <a:tailEnd type="triangle" w="med" len="med"/>
            </a:ln>
            <a:effectLst/>
          </p:spPr>
          <p:txBody>
            <a:bodyPr wrap="square" lIns="45718" tIns="45718" rIns="45718" bIns="45718" numCol="1" anchor="t">
              <a:noAutofit/>
            </a:bodyPr>
            <a:lstStyle/>
            <a:p>
              <a:pPr/>
            </a:p>
          </p:txBody>
        </p:sp>
        <p:sp>
          <p:nvSpPr>
            <p:cNvPr id="128" name="Rectangle 8"/>
            <p:cNvSpPr txBox="1"/>
            <p:nvPr/>
          </p:nvSpPr>
          <p:spPr>
            <a:xfrm>
              <a:off x="5655548" y="1077130"/>
              <a:ext cx="1422122" cy="54407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b="1" sz="3200">
                  <a:latin typeface="Times New Roman"/>
                  <a:ea typeface="Times New Roman"/>
                  <a:cs typeface="Times New Roman"/>
                  <a:sym typeface="Times New Roman"/>
                </a:defRPr>
              </a:lvl1pPr>
            </a:lstStyle>
            <a:p>
              <a:pPr/>
              <a:r>
                <a:t>Result</a:t>
              </a: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32"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3. Simple tests</a:t>
            </a:r>
          </a:p>
        </p:txBody>
      </p:sp>
      <p:sp>
        <p:nvSpPr>
          <p:cNvPr id="133" name="Rectangle 8"/>
          <p:cNvSpPr txBox="1"/>
          <p:nvPr/>
        </p:nvSpPr>
        <p:spPr>
          <a:xfrm>
            <a:off x="531890" y="1856172"/>
            <a:ext cx="982678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Find all red boats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36"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3. Simple tests</a:t>
            </a:r>
          </a:p>
        </p:txBody>
      </p:sp>
      <p:sp>
        <p:nvSpPr>
          <p:cNvPr id="137" name="Rectangle 8"/>
          <p:cNvSpPr txBox="1"/>
          <p:nvPr/>
        </p:nvSpPr>
        <p:spPr>
          <a:xfrm>
            <a:off x="531890" y="1856172"/>
            <a:ext cx="982678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Find sailors who are older than 40 and have a rating &gt; 7</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40"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3. Simple tests</a:t>
            </a:r>
          </a:p>
        </p:txBody>
      </p:sp>
      <p:sp>
        <p:nvSpPr>
          <p:cNvPr id="141" name="Rectangle 8"/>
          <p:cNvSpPr txBox="1"/>
          <p:nvPr/>
        </p:nvSpPr>
        <p:spPr>
          <a:xfrm>
            <a:off x="531891" y="1856172"/>
            <a:ext cx="1097231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Names of sailors who have booked boats within 2019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44"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3. Simple tests</a:t>
            </a:r>
          </a:p>
        </p:txBody>
      </p:sp>
      <p:sp>
        <p:nvSpPr>
          <p:cNvPr id="145" name="Rectangle 8"/>
          <p:cNvSpPr txBox="1"/>
          <p:nvPr/>
        </p:nvSpPr>
        <p:spPr>
          <a:xfrm>
            <a:off x="531891" y="1856172"/>
            <a:ext cx="1097231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Names of sailors who have booked red boats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Rectangle 9"/>
          <p:cNvSpPr txBox="1"/>
          <p:nvPr/>
        </p:nvSpPr>
        <p:spPr>
          <a:xfrm>
            <a:off x="531891" y="205503"/>
            <a:ext cx="10882869"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Tutorial with Project Examples</a:t>
            </a:r>
          </a:p>
        </p:txBody>
      </p:sp>
      <p:sp>
        <p:nvSpPr>
          <p:cNvPr id="148" name="Rectangle 6"/>
          <p:cNvSpPr txBox="1"/>
          <p:nvPr/>
        </p:nvSpPr>
        <p:spPr>
          <a:xfrm>
            <a:off x="222476" y="1141164"/>
            <a:ext cx="7786307" cy="6667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3. Simple tests</a:t>
            </a:r>
          </a:p>
        </p:txBody>
      </p:sp>
      <p:sp>
        <p:nvSpPr>
          <p:cNvPr id="149" name="Rectangle 8"/>
          <p:cNvSpPr txBox="1"/>
          <p:nvPr/>
        </p:nvSpPr>
        <p:spPr>
          <a:xfrm>
            <a:off x="531890" y="1856172"/>
            <a:ext cx="9826781" cy="54407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Times New Roman"/>
                <a:ea typeface="Times New Roman"/>
                <a:cs typeface="Times New Roman"/>
                <a:sym typeface="Times New Roman"/>
              </a:defRPr>
            </a:lvl1pPr>
          </a:lstStyle>
          <a:p>
            <a:pPr/>
            <a:r>
              <a:t>Boat names booked by at least 2 different sailors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Rectangle 9"/>
          <p:cNvSpPr txBox="1"/>
          <p:nvPr/>
        </p:nvSpPr>
        <p:spPr>
          <a:xfrm>
            <a:off x="860682" y="1560091"/>
            <a:ext cx="11020856" cy="21569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028700" indent="-1028700">
              <a:lnSpc>
                <a:spcPct val="150000"/>
              </a:lnSpc>
              <a:buSzPct val="100000"/>
              <a:buAutoNum type="romanUcPeriod" startAt="1"/>
              <a:defRPr sz="6000">
                <a:solidFill>
                  <a:srgbClr val="808080"/>
                </a:solidFill>
                <a:latin typeface="Calibri Light"/>
                <a:ea typeface="Calibri Light"/>
                <a:cs typeface="Calibri Light"/>
                <a:sym typeface="Calibri Light"/>
              </a:defRPr>
            </a:pPr>
            <a:r>
              <a:t>Tutorial with Project Examples</a:t>
            </a:r>
          </a:p>
          <a:p>
            <a:pPr marL="1028700" indent="-1028700">
              <a:lnSpc>
                <a:spcPct val="150000"/>
              </a:lnSpc>
              <a:buSzPct val="100000"/>
              <a:buAutoNum type="romanUcPeriod" startAt="1"/>
              <a:defRPr sz="6000" u="sng">
                <a:effectLst>
                  <a:outerShdw sx="100000" sy="100000" kx="0" ky="0" algn="b" rotWithShape="0" blurRad="38100" dist="38100" dir="2700000">
                    <a:srgbClr val="000000">
                      <a:alpha val="43137"/>
                    </a:srgbClr>
                  </a:outerShdw>
                </a:effectLst>
                <a:latin typeface="Calibri Light"/>
                <a:ea typeface="Calibri Light"/>
                <a:cs typeface="Calibri Light"/>
                <a:sym typeface="Calibri Light"/>
              </a:defRPr>
            </a:pPr>
            <a:r>
              <a:t>Assignment</a:t>
            </a:r>
          </a:p>
        </p:txBody>
      </p:sp>
      <p:sp>
        <p:nvSpPr>
          <p:cNvPr id="152" name="Rectangle 9"/>
          <p:cNvSpPr txBox="1"/>
          <p:nvPr/>
        </p:nvSpPr>
        <p:spPr>
          <a:xfrm>
            <a:off x="860682" y="452095"/>
            <a:ext cx="10470637" cy="102103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6600">
                <a:solidFill>
                  <a:srgbClr val="C00000"/>
                </a:solidFill>
                <a:latin typeface="Times New Roman"/>
                <a:ea typeface="Times New Roman"/>
                <a:cs typeface="Times New Roman"/>
                <a:sym typeface="Times New Roman"/>
              </a:defRPr>
            </a:lvl1pPr>
          </a:lstStyle>
          <a:p>
            <a:pPr/>
            <a:r>
              <a:t>Project 2</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55" name="矩形 5"/>
          <p:cNvSpPr txBox="1"/>
          <p:nvPr/>
        </p:nvSpPr>
        <p:spPr>
          <a:xfrm>
            <a:off x="531891" y="2236828"/>
            <a:ext cx="11343069" cy="21083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514350" indent="-514350" algn="just">
              <a:buSzPct val="100000"/>
              <a:buAutoNum type="arabicPeriod" startAt="1"/>
              <a:defRPr sz="2800">
                <a:latin typeface="Times New Roman"/>
                <a:ea typeface="Times New Roman"/>
                <a:cs typeface="Times New Roman"/>
                <a:sym typeface="Times New Roman"/>
              </a:defRPr>
            </a:pPr>
            <a:r>
              <a:t>Use </a:t>
            </a:r>
            <a:r>
              <a:rPr b="1"/>
              <a:t>SQL</a:t>
            </a:r>
            <a:r>
              <a:t> queries on university database.</a:t>
            </a:r>
          </a:p>
          <a:p>
            <a:pPr marL="514350" indent="-514350" algn="just">
              <a:buSzPct val="100000"/>
              <a:buAutoNum type="arabicPeriod" startAt="1"/>
              <a:defRPr sz="2800">
                <a:latin typeface="Times New Roman"/>
                <a:ea typeface="Times New Roman"/>
                <a:cs typeface="Times New Roman"/>
                <a:sym typeface="Times New Roman"/>
              </a:defRPr>
            </a:pPr>
          </a:p>
          <a:p>
            <a:pPr marL="514350" indent="-514350" algn="just">
              <a:buSzPct val="100000"/>
              <a:buAutoNum type="arabicPeriod" startAt="2"/>
              <a:defRPr sz="2800">
                <a:latin typeface="Times New Roman"/>
                <a:ea typeface="Times New Roman"/>
                <a:cs typeface="Times New Roman"/>
                <a:sym typeface="Times New Roman"/>
              </a:defRPr>
            </a:pPr>
            <a:r>
              <a:t>Write </a:t>
            </a:r>
            <a:r>
              <a:rPr b="1"/>
              <a:t>SQL</a:t>
            </a:r>
            <a:r>
              <a:t> queries that answer the questions below (one query per question) and run them on the </a:t>
            </a:r>
            <a:r>
              <a:rPr>
                <a:solidFill>
                  <a:srgbClr val="C00000"/>
                </a:solidFill>
              </a:rPr>
              <a:t>Microsoft ACCESS Database System </a:t>
            </a:r>
            <a:r>
              <a:t>using its SQL interpreter. </a:t>
            </a:r>
          </a:p>
        </p:txBody>
      </p:sp>
      <p:sp>
        <p:nvSpPr>
          <p:cNvPr id="156" name="Rectangle 6"/>
          <p:cNvSpPr txBox="1"/>
          <p:nvPr/>
        </p:nvSpPr>
        <p:spPr>
          <a:xfrm>
            <a:off x="531891" y="1221165"/>
            <a:ext cx="5001081"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59" name="Rectangle 6"/>
          <p:cNvSpPr txBox="1"/>
          <p:nvPr/>
        </p:nvSpPr>
        <p:spPr>
          <a:xfrm>
            <a:off x="531891" y="1221165"/>
            <a:ext cx="5001081"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
        <p:nvSpPr>
          <p:cNvPr id="160" name="文本框 7"/>
          <p:cNvSpPr txBox="1"/>
          <p:nvPr/>
        </p:nvSpPr>
        <p:spPr>
          <a:xfrm>
            <a:off x="517079" y="2753668"/>
            <a:ext cx="11157841" cy="3558353"/>
          </a:xfrm>
          <a:prstGeom prst="rect">
            <a:avLst/>
          </a:prstGeom>
          <a:solidFill>
            <a:srgbClr val="DEEBF7"/>
          </a:solidFill>
          <a:ln>
            <a:solidFill>
              <a:schemeClr val="accent1"/>
            </a:solidFill>
          </a:ln>
          <a:extLst>
            <a:ext uri="{C572A759-6A51-4108-AA02-DFA0A04FC94B}">
              <ma14:wrappingTextBoxFlag xmlns:ma14="http://schemas.microsoft.com/office/mac/drawingml/2011/main" val="1"/>
            </a:ext>
          </a:extLst>
        </p:spPr>
        <p:txBody>
          <a:bodyPr lIns="45718" tIns="45718" rIns="45718" bIns="45718">
            <a:spAutoFit/>
          </a:bodyPr>
          <a:lstStyle/>
          <a:p>
            <a:pPr marL="342900" indent="-342900" algn="just">
              <a:buSzPct val="100000"/>
              <a:buAutoNum type="arabicPeriod" startAt="1"/>
              <a:defRPr b="1">
                <a:latin typeface="Times New Roman"/>
                <a:ea typeface="Times New Roman"/>
                <a:cs typeface="Times New Roman"/>
                <a:sym typeface="Times New Roman"/>
              </a:defRPr>
            </a:pPr>
            <a:r>
              <a:t>Print the names of professors who work in departments that have fewer than 50 PhD students. </a:t>
            </a:r>
          </a:p>
          <a:p>
            <a:pPr marL="342900" indent="-342900" algn="just">
              <a:buSzPct val="100000"/>
              <a:buAutoNum type="arabicPeriod" startAt="1"/>
              <a:defRPr b="1">
                <a:latin typeface="Times New Roman"/>
                <a:ea typeface="Times New Roman"/>
                <a:cs typeface="Times New Roman"/>
                <a:sym typeface="Times New Roman"/>
              </a:defRPr>
            </a:pPr>
          </a:p>
          <a:p>
            <a:pPr marL="342900" indent="-342900" algn="just">
              <a:buSzPct val="100000"/>
              <a:buAutoNum type="arabicPeriod" startAt="2"/>
              <a:defRPr b="1">
                <a:latin typeface="Times New Roman"/>
                <a:ea typeface="Times New Roman"/>
                <a:cs typeface="Times New Roman"/>
                <a:sym typeface="Times New Roman"/>
              </a:defRPr>
            </a:pPr>
            <a:r>
              <a:t>Print the name(s) of student(s) with the lowest gpa.</a:t>
            </a:r>
          </a:p>
          <a:p>
            <a:pPr marL="342900" indent="-342900" algn="just">
              <a:buSzPct val="100000"/>
              <a:buAutoNum type="arabicPeriod" startAt="2"/>
              <a:defRPr b="1">
                <a:latin typeface="Times New Roman"/>
                <a:ea typeface="Times New Roman"/>
                <a:cs typeface="Times New Roman"/>
                <a:sym typeface="Times New Roman"/>
              </a:defRPr>
            </a:pPr>
          </a:p>
          <a:p>
            <a:pPr marL="342900" indent="-342900" algn="just">
              <a:buSzPct val="100000"/>
              <a:buAutoNum type="arabicPeriod" startAt="3"/>
              <a:defRPr b="1">
                <a:latin typeface="Times New Roman"/>
                <a:ea typeface="Times New Roman"/>
                <a:cs typeface="Times New Roman"/>
                <a:sym typeface="Times New Roman"/>
              </a:defRPr>
            </a:pPr>
            <a:r>
              <a:t>For each Computer Sciences class, print the cno, sectno, and the average gpa of the students enrolled in the class. </a:t>
            </a:r>
          </a:p>
          <a:p>
            <a:pPr marL="342900" indent="-342900" algn="just">
              <a:buSzPct val="100000"/>
              <a:buAutoNum type="arabicPeriod" startAt="3"/>
              <a:defRPr b="1">
                <a:latin typeface="Times New Roman"/>
                <a:ea typeface="Times New Roman"/>
                <a:cs typeface="Times New Roman"/>
                <a:sym typeface="Times New Roman"/>
              </a:defRPr>
            </a:pPr>
          </a:p>
          <a:p>
            <a:pPr marL="342900" indent="-342900" algn="just">
              <a:buSzPct val="100000"/>
              <a:buAutoNum type="arabicPeriod" startAt="4"/>
              <a:defRPr b="1">
                <a:latin typeface="Times New Roman"/>
                <a:ea typeface="Times New Roman"/>
                <a:cs typeface="Times New Roman"/>
                <a:sym typeface="Times New Roman"/>
              </a:defRPr>
            </a:pPr>
            <a:r>
              <a:t>Print the course names, course numbers and section numbers of all classes with more than six students enrolled in them.</a:t>
            </a:r>
          </a:p>
          <a:p>
            <a:pPr marL="342900" indent="-342900" algn="just">
              <a:buSzPct val="100000"/>
              <a:buAutoNum type="arabicPeriod" startAt="4"/>
              <a:defRPr b="1">
                <a:latin typeface="Times New Roman"/>
                <a:ea typeface="Times New Roman"/>
                <a:cs typeface="Times New Roman"/>
                <a:sym typeface="Times New Roman"/>
              </a:defRPr>
            </a:pPr>
          </a:p>
          <a:p>
            <a:pPr marL="342900" indent="-342900" algn="just">
              <a:buSzPct val="100000"/>
              <a:buAutoNum type="arabicPeriod" startAt="5"/>
              <a:defRPr b="1">
                <a:latin typeface="Times New Roman"/>
                <a:ea typeface="Times New Roman"/>
                <a:cs typeface="Times New Roman"/>
                <a:sym typeface="Times New Roman"/>
              </a:defRPr>
            </a:pPr>
            <a:r>
              <a:t>Print the name(s) and sid(s) of the student(s) enrolled in the most classes.</a:t>
            </a:r>
          </a:p>
          <a:p>
            <a:pPr marL="342900" indent="-342900" algn="just">
              <a:buSzPct val="100000"/>
              <a:buAutoNum type="arabicPeriod" startAt="5"/>
              <a:defRPr b="1">
                <a:latin typeface="Times New Roman"/>
                <a:ea typeface="Times New Roman"/>
                <a:cs typeface="Times New Roman"/>
                <a:sym typeface="Times New Roman"/>
              </a:defRPr>
            </a:pPr>
          </a:p>
          <a:p>
            <a:pPr marL="342900" indent="-342900" algn="just">
              <a:buSzPct val="100000"/>
              <a:buAutoNum type="arabicPeriod" startAt="6"/>
              <a:defRPr b="1">
                <a:latin typeface="Times New Roman"/>
                <a:ea typeface="Times New Roman"/>
                <a:cs typeface="Times New Roman"/>
                <a:sym typeface="Times New Roman"/>
              </a:defRPr>
            </a:pPr>
            <a:r>
              <a:t>Print the names of departments that have one or more majors who are under 18 years old. </a:t>
            </a:r>
          </a:p>
        </p:txBody>
      </p:sp>
      <p:sp>
        <p:nvSpPr>
          <p:cNvPr id="161" name="矩形 8"/>
          <p:cNvSpPr txBox="1"/>
          <p:nvPr/>
        </p:nvSpPr>
        <p:spPr>
          <a:xfrm>
            <a:off x="531890" y="2024359"/>
            <a:ext cx="11343069" cy="4827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742948" indent="-742948" algn="just">
              <a:buSzPct val="100000"/>
              <a:buAutoNum type="arabicPeriod" startAt="3"/>
              <a:defRPr sz="2800">
                <a:latin typeface="Times New Roman"/>
                <a:ea typeface="Times New Roman"/>
                <a:cs typeface="Times New Roman"/>
                <a:sym typeface="Times New Roman"/>
              </a:defRPr>
            </a:lvl1pPr>
          </a:lstStyle>
          <a:p>
            <a:pPr/>
            <a:r>
              <a:t>Questions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64" name="Rectangle 6"/>
          <p:cNvSpPr txBox="1"/>
          <p:nvPr/>
        </p:nvSpPr>
        <p:spPr>
          <a:xfrm>
            <a:off x="531891" y="1221165"/>
            <a:ext cx="5001081"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
        <p:nvSpPr>
          <p:cNvPr id="165" name="文本框 7"/>
          <p:cNvSpPr txBox="1"/>
          <p:nvPr/>
        </p:nvSpPr>
        <p:spPr>
          <a:xfrm>
            <a:off x="566245" y="2642886"/>
            <a:ext cx="11274357" cy="3825053"/>
          </a:xfrm>
          <a:prstGeom prst="rect">
            <a:avLst/>
          </a:prstGeom>
          <a:solidFill>
            <a:srgbClr val="DEEBF7"/>
          </a:solidFill>
          <a:ln>
            <a:solidFill>
              <a:schemeClr val="accent1"/>
            </a:solidFill>
          </a:ln>
          <a:extLst>
            <a:ext uri="{C572A759-6A51-4108-AA02-DFA0A04FC94B}">
              <ma14:wrappingTextBoxFlag xmlns:ma14="http://schemas.microsoft.com/office/mac/drawingml/2011/main" val="1"/>
            </a:ext>
          </a:extLst>
        </p:spPr>
        <p:txBody>
          <a:bodyPr lIns="45718" tIns="45718" rIns="45718" bIns="45718">
            <a:spAutoFit/>
          </a:bodyPr>
          <a:lstStyle/>
          <a:p>
            <a:pPr marL="342900" indent="-342900" algn="just">
              <a:buSzPct val="100000"/>
              <a:buAutoNum type="arabicPeriod" startAt="7"/>
              <a:defRPr b="1">
                <a:latin typeface="Times New Roman"/>
                <a:ea typeface="Times New Roman"/>
                <a:cs typeface="Times New Roman"/>
                <a:sym typeface="Times New Roman"/>
              </a:defRPr>
            </a:pPr>
            <a:r>
              <a:t>Print the names and majors of students who are taking one of the College Geometry courses. (Hint: You'll need to use the "like" predicate and the string matching character in your query).</a:t>
            </a:r>
          </a:p>
          <a:p>
            <a:pPr marL="342900" indent="-342900" algn="just">
              <a:buSzPct val="100000"/>
              <a:buAutoNum type="arabicPeriod" startAt="7"/>
              <a:defRPr b="1">
                <a:latin typeface="Times New Roman"/>
                <a:ea typeface="Times New Roman"/>
                <a:cs typeface="Times New Roman"/>
                <a:sym typeface="Times New Roman"/>
              </a:defRPr>
            </a:pPr>
          </a:p>
          <a:p>
            <a:pPr marL="342900" indent="-342900" algn="just">
              <a:buSzPct val="100000"/>
              <a:buAutoNum type="arabicPeriod" startAt="8"/>
              <a:defRPr b="1">
                <a:latin typeface="Times New Roman"/>
                <a:ea typeface="Times New Roman"/>
                <a:cs typeface="Times New Roman"/>
                <a:sym typeface="Times New Roman"/>
              </a:defRPr>
            </a:pPr>
            <a:r>
              <a:t>For those departments that have no majors taking a College Geometry course, print the department name and the number of PhD students in the department. </a:t>
            </a:r>
          </a:p>
          <a:p>
            <a:pPr marL="342900" indent="-342900" algn="just">
              <a:buSzPct val="100000"/>
              <a:buAutoNum type="arabicPeriod" startAt="8"/>
              <a:defRPr b="1">
                <a:latin typeface="Times New Roman"/>
                <a:ea typeface="Times New Roman"/>
                <a:cs typeface="Times New Roman"/>
                <a:sym typeface="Times New Roman"/>
              </a:defRPr>
            </a:pPr>
          </a:p>
          <a:p>
            <a:pPr marL="342900" indent="-342900" algn="just">
              <a:buSzPct val="100000"/>
              <a:buAutoNum type="arabicPeriod" startAt="9"/>
              <a:defRPr b="1">
                <a:latin typeface="Times New Roman"/>
                <a:ea typeface="Times New Roman"/>
                <a:cs typeface="Times New Roman"/>
                <a:sym typeface="Times New Roman"/>
              </a:defRPr>
            </a:pPr>
            <a:r>
              <a:t>Print the names of students who are taking both a Computer Sciences course and a Mathematics course. </a:t>
            </a:r>
          </a:p>
          <a:p>
            <a:pPr marL="342900" indent="-342900" algn="just">
              <a:buSzPct val="100000"/>
              <a:buAutoNum type="arabicPeriod" startAt="9"/>
              <a:defRPr b="1">
                <a:latin typeface="Times New Roman"/>
                <a:ea typeface="Times New Roman"/>
                <a:cs typeface="Times New Roman"/>
                <a:sym typeface="Times New Roman"/>
              </a:defRPr>
            </a:pPr>
          </a:p>
          <a:p>
            <a:pPr marL="342900" indent="-342900" algn="just">
              <a:buSzPct val="100000"/>
              <a:buAutoNum type="arabicPeriod" startAt="10"/>
              <a:defRPr b="1">
                <a:latin typeface="Times New Roman"/>
                <a:ea typeface="Times New Roman"/>
                <a:cs typeface="Times New Roman"/>
                <a:sym typeface="Times New Roman"/>
              </a:defRPr>
            </a:pPr>
            <a:r>
              <a:t>Print the age difference between the oldest and youngest Computer Sciences major(s). </a:t>
            </a:r>
          </a:p>
          <a:p>
            <a:pPr marL="342900" indent="-342900" algn="just">
              <a:buSzPct val="100000"/>
              <a:buAutoNum type="arabicPeriod" startAt="10"/>
              <a:defRPr b="1">
                <a:latin typeface="Times New Roman"/>
                <a:ea typeface="Times New Roman"/>
                <a:cs typeface="Times New Roman"/>
                <a:sym typeface="Times New Roman"/>
              </a:defRPr>
            </a:pPr>
          </a:p>
          <a:p>
            <a:pPr marL="342900" indent="-342900" algn="just">
              <a:buSzPct val="100000"/>
              <a:buAutoNum type="arabicPeriod" startAt="11"/>
              <a:defRPr b="1">
                <a:latin typeface="Times New Roman"/>
                <a:ea typeface="Times New Roman"/>
                <a:cs typeface="Times New Roman"/>
                <a:sym typeface="Times New Roman"/>
              </a:defRPr>
            </a:pPr>
            <a:r>
              <a:t>For each department that has one or more majors with a GPA under 1.0, print the name of the department and the average GPA of its majors. </a:t>
            </a:r>
          </a:p>
          <a:p>
            <a:pPr marL="342900" indent="-342900" algn="just">
              <a:buSzPct val="100000"/>
              <a:buAutoNum type="arabicPeriod" startAt="11"/>
              <a:defRPr b="1">
                <a:latin typeface="Times New Roman"/>
                <a:ea typeface="Times New Roman"/>
                <a:cs typeface="Times New Roman"/>
                <a:sym typeface="Times New Roman"/>
              </a:defRPr>
            </a:pPr>
          </a:p>
          <a:p>
            <a:pPr marL="342900" indent="-342900" algn="just">
              <a:buSzPct val="100000"/>
              <a:buAutoNum type="arabicPeriod" startAt="12"/>
              <a:defRPr b="1">
                <a:latin typeface="Times New Roman"/>
                <a:ea typeface="Times New Roman"/>
                <a:cs typeface="Times New Roman"/>
                <a:sym typeface="Times New Roman"/>
              </a:defRPr>
            </a:pPr>
            <a:r>
              <a:t>Print the ids, names, and GPAs of the students who are currently taking all of the Civil Engineering courses.</a:t>
            </a:r>
          </a:p>
        </p:txBody>
      </p:sp>
      <p:sp>
        <p:nvSpPr>
          <p:cNvPr id="166" name="矩形 8"/>
          <p:cNvSpPr txBox="1"/>
          <p:nvPr/>
        </p:nvSpPr>
        <p:spPr>
          <a:xfrm>
            <a:off x="531890" y="2024359"/>
            <a:ext cx="11343069" cy="4827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742948" indent="-742948" algn="just">
              <a:buSzPct val="100000"/>
              <a:buAutoNum type="arabicPeriod" startAt="3"/>
              <a:defRPr sz="2800">
                <a:latin typeface="Times New Roman"/>
                <a:ea typeface="Times New Roman"/>
                <a:cs typeface="Times New Roman"/>
                <a:sym typeface="Times New Roman"/>
              </a:defRPr>
            </a:lvl1pPr>
          </a:lstStyle>
          <a:p>
            <a:pPr/>
            <a:r>
              <a:t>Questions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69" name="Rectangle 6"/>
          <p:cNvSpPr txBox="1"/>
          <p:nvPr/>
        </p:nvSpPr>
        <p:spPr>
          <a:xfrm>
            <a:off x="531891" y="1221165"/>
            <a:ext cx="5001081"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
        <p:nvSpPr>
          <p:cNvPr id="170" name="文本框 7"/>
          <p:cNvSpPr txBox="1"/>
          <p:nvPr/>
        </p:nvSpPr>
        <p:spPr>
          <a:xfrm>
            <a:off x="294920" y="2642886"/>
            <a:ext cx="11625759" cy="2831216"/>
          </a:xfrm>
          <a:prstGeom prst="rect">
            <a:avLst/>
          </a:prstGeom>
          <a:solidFill>
            <a:srgbClr val="DEEBF7"/>
          </a:solidFill>
          <a:ln>
            <a:solidFill>
              <a:schemeClr val="accent1"/>
            </a:solidFill>
          </a:ln>
          <a:extLst>
            <a:ext uri="{C572A759-6A51-4108-AA02-DFA0A04FC94B}">
              <ma14:wrappingTextBoxFlag xmlns:ma14="http://schemas.microsoft.com/office/mac/drawingml/2011/main" val="1"/>
            </a:ext>
          </a:extLst>
        </p:spPr>
        <p:txBody>
          <a:bodyPr lIns="45718" tIns="45718" rIns="45718" bIns="45718">
            <a:spAutoFit/>
          </a:bodyPr>
          <a:lstStyle/>
          <a:p>
            <a:pPr marL="342900" indent="-342900">
              <a:buSzPct val="100000"/>
              <a:buChar char="▪"/>
              <a:defRPr b="1" sz="2400">
                <a:latin typeface="Times New Roman"/>
                <a:ea typeface="Times New Roman"/>
                <a:cs typeface="Times New Roman"/>
                <a:sym typeface="Times New Roman"/>
              </a:defRPr>
            </a:pPr>
            <a:r>
              <a:t>The schema of the database is provided below (keys are red, field types are omitted):</a:t>
            </a:r>
          </a:p>
          <a:p>
            <a:pPr lvl="2" marL="1371600" indent="-457200">
              <a:buSzPct val="100000"/>
              <a:buFont typeface="Arial"/>
              <a:buChar char="•"/>
              <a:defRPr b="1" sz="2400">
                <a:latin typeface="Times New Roman"/>
                <a:ea typeface="Times New Roman"/>
                <a:cs typeface="Times New Roman"/>
                <a:sym typeface="Times New Roman"/>
              </a:defRPr>
            </a:pPr>
            <a:r>
              <a:t>    student(</a:t>
            </a:r>
            <a:r>
              <a:rPr>
                <a:solidFill>
                  <a:srgbClr val="C00000"/>
                </a:solidFill>
              </a:rPr>
              <a:t>sid</a:t>
            </a:r>
            <a:r>
              <a:t>, sname, sex, age, year, gpa)</a:t>
            </a:r>
          </a:p>
          <a:p>
            <a:pPr lvl="2" marL="1371600" indent="-457200">
              <a:buSzPct val="100000"/>
              <a:buFont typeface="Arial"/>
              <a:buChar char="•"/>
              <a:defRPr b="1" sz="2400">
                <a:latin typeface="Times New Roman"/>
                <a:ea typeface="Times New Roman"/>
                <a:cs typeface="Times New Roman"/>
                <a:sym typeface="Times New Roman"/>
              </a:defRPr>
            </a:pPr>
            <a:r>
              <a:t>    dept(</a:t>
            </a:r>
            <a:r>
              <a:rPr>
                <a:solidFill>
                  <a:srgbClr val="C00000"/>
                </a:solidFill>
              </a:rPr>
              <a:t>dname</a:t>
            </a:r>
            <a:r>
              <a:t>, numphds)</a:t>
            </a:r>
          </a:p>
          <a:p>
            <a:pPr lvl="2" marL="1371600" indent="-457200">
              <a:buSzPct val="100000"/>
              <a:buFont typeface="Arial"/>
              <a:buChar char="•"/>
              <a:defRPr b="1" sz="2400">
                <a:latin typeface="Times New Roman"/>
                <a:ea typeface="Times New Roman"/>
                <a:cs typeface="Times New Roman"/>
                <a:sym typeface="Times New Roman"/>
              </a:defRPr>
            </a:pPr>
            <a:r>
              <a:t>    prof(</a:t>
            </a:r>
            <a:r>
              <a:rPr>
                <a:solidFill>
                  <a:srgbClr val="C00000"/>
                </a:solidFill>
              </a:rPr>
              <a:t>pname</a:t>
            </a:r>
            <a:r>
              <a:t>, dname)</a:t>
            </a:r>
          </a:p>
          <a:p>
            <a:pPr lvl="2" marL="1371600" indent="-457200">
              <a:buSzPct val="100000"/>
              <a:buFont typeface="Arial"/>
              <a:buChar char="•"/>
              <a:defRPr b="1" sz="2400">
                <a:latin typeface="Times New Roman"/>
                <a:ea typeface="Times New Roman"/>
                <a:cs typeface="Times New Roman"/>
                <a:sym typeface="Times New Roman"/>
              </a:defRPr>
            </a:pPr>
            <a:r>
              <a:t>    course(</a:t>
            </a:r>
            <a:r>
              <a:rPr>
                <a:solidFill>
                  <a:srgbClr val="C00000"/>
                </a:solidFill>
              </a:rPr>
              <a:t>cno</a:t>
            </a:r>
            <a:r>
              <a:t>, cname, </a:t>
            </a:r>
            <a:r>
              <a:rPr>
                <a:solidFill>
                  <a:srgbClr val="C00000"/>
                </a:solidFill>
              </a:rPr>
              <a:t>dname</a:t>
            </a:r>
            <a:r>
              <a:t>)</a:t>
            </a:r>
          </a:p>
          <a:p>
            <a:pPr lvl="2" marL="1371600" indent="-457200">
              <a:buSzPct val="100000"/>
              <a:buFont typeface="Arial"/>
              <a:buChar char="•"/>
              <a:defRPr b="1" sz="2400">
                <a:latin typeface="Times New Roman"/>
                <a:ea typeface="Times New Roman"/>
                <a:cs typeface="Times New Roman"/>
                <a:sym typeface="Times New Roman"/>
              </a:defRPr>
            </a:pPr>
            <a:r>
              <a:t>    major(</a:t>
            </a:r>
            <a:r>
              <a:rPr>
                <a:solidFill>
                  <a:srgbClr val="C00000"/>
                </a:solidFill>
              </a:rPr>
              <a:t>dname</a:t>
            </a:r>
            <a:r>
              <a:t>, </a:t>
            </a:r>
            <a:r>
              <a:rPr>
                <a:solidFill>
                  <a:srgbClr val="C00000"/>
                </a:solidFill>
              </a:rPr>
              <a:t>sid</a:t>
            </a:r>
            <a:r>
              <a:t>)</a:t>
            </a:r>
          </a:p>
          <a:p>
            <a:pPr lvl="2" marL="1371600" indent="-457200">
              <a:buSzPct val="100000"/>
              <a:buFont typeface="Arial"/>
              <a:buChar char="•"/>
              <a:defRPr b="1" sz="2400">
                <a:latin typeface="Times New Roman"/>
                <a:ea typeface="Times New Roman"/>
                <a:cs typeface="Times New Roman"/>
                <a:sym typeface="Times New Roman"/>
              </a:defRPr>
            </a:pPr>
            <a:r>
              <a:t>    section(</a:t>
            </a:r>
            <a:r>
              <a:rPr>
                <a:solidFill>
                  <a:srgbClr val="C00000"/>
                </a:solidFill>
              </a:rPr>
              <a:t>dname</a:t>
            </a:r>
            <a:r>
              <a:t>, </a:t>
            </a:r>
            <a:r>
              <a:rPr>
                <a:solidFill>
                  <a:srgbClr val="C00000"/>
                </a:solidFill>
              </a:rPr>
              <a:t>cno</a:t>
            </a:r>
            <a:r>
              <a:t>, </a:t>
            </a:r>
            <a:r>
              <a:rPr>
                <a:solidFill>
                  <a:srgbClr val="C00000"/>
                </a:solidFill>
              </a:rPr>
              <a:t>sectno</a:t>
            </a:r>
            <a:r>
              <a:t>, pname)</a:t>
            </a:r>
          </a:p>
          <a:p>
            <a:pPr lvl="2" marL="1371600" indent="-457200">
              <a:buSzPct val="100000"/>
              <a:buFont typeface="Arial"/>
              <a:buChar char="•"/>
              <a:defRPr b="1" sz="2400">
                <a:latin typeface="Times New Roman"/>
                <a:ea typeface="Times New Roman"/>
                <a:cs typeface="Times New Roman"/>
                <a:sym typeface="Times New Roman"/>
              </a:defRPr>
            </a:pPr>
            <a:r>
              <a:t>    enroll(</a:t>
            </a:r>
            <a:r>
              <a:rPr>
                <a:solidFill>
                  <a:srgbClr val="C00000"/>
                </a:solidFill>
              </a:rPr>
              <a:t>sid</a:t>
            </a:r>
            <a:r>
              <a:t>, grade, </a:t>
            </a:r>
            <a:r>
              <a:rPr>
                <a:solidFill>
                  <a:srgbClr val="C00000"/>
                </a:solidFill>
              </a:rPr>
              <a:t>dname</a:t>
            </a:r>
            <a:r>
              <a:t>, </a:t>
            </a:r>
            <a:r>
              <a:rPr>
                <a:solidFill>
                  <a:srgbClr val="C00000"/>
                </a:solidFill>
              </a:rPr>
              <a:t>cno</a:t>
            </a:r>
            <a:r>
              <a:t>, </a:t>
            </a:r>
            <a:r>
              <a:rPr>
                <a:solidFill>
                  <a:srgbClr val="C00000"/>
                </a:solidFill>
              </a:rPr>
              <a:t>sectno</a:t>
            </a:r>
            <a:r>
              <a:t>)</a:t>
            </a:r>
          </a:p>
        </p:txBody>
      </p:sp>
      <p:sp>
        <p:nvSpPr>
          <p:cNvPr id="171" name="矩形 8"/>
          <p:cNvSpPr txBox="1"/>
          <p:nvPr/>
        </p:nvSpPr>
        <p:spPr>
          <a:xfrm>
            <a:off x="531890" y="2024359"/>
            <a:ext cx="11343069" cy="4827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742948" indent="-742948" algn="just">
              <a:buSzPct val="100000"/>
              <a:buAutoNum type="arabicPeriod" startAt="4"/>
              <a:defRPr sz="2800">
                <a:latin typeface="Times New Roman"/>
                <a:ea typeface="Times New Roman"/>
                <a:cs typeface="Times New Roman"/>
                <a:sym typeface="Times New Roman"/>
              </a:defRPr>
            </a:lvl1pPr>
          </a:lstStyle>
          <a:p>
            <a:pPr/>
            <a:r>
              <a:t>Schema and Sample Data</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74" name="Rectangle 6"/>
          <p:cNvSpPr txBox="1"/>
          <p:nvPr/>
        </p:nvSpPr>
        <p:spPr>
          <a:xfrm>
            <a:off x="531891" y="1221165"/>
            <a:ext cx="5001081"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1. Assignment Content</a:t>
            </a:r>
          </a:p>
        </p:txBody>
      </p:sp>
      <p:sp>
        <p:nvSpPr>
          <p:cNvPr id="175" name="文本框 7"/>
          <p:cNvSpPr txBox="1"/>
          <p:nvPr/>
        </p:nvSpPr>
        <p:spPr>
          <a:xfrm>
            <a:off x="690039" y="2620622"/>
            <a:ext cx="11230640" cy="3148716"/>
          </a:xfrm>
          <a:prstGeom prst="rect">
            <a:avLst/>
          </a:prstGeom>
          <a:solidFill>
            <a:srgbClr val="DEEBF7"/>
          </a:solidFill>
          <a:ln>
            <a:solidFill>
              <a:schemeClr val="accent1"/>
            </a:solidFill>
          </a:ln>
          <a:extLst>
            <a:ext uri="{C572A759-6A51-4108-AA02-DFA0A04FC94B}">
              <ma14:wrappingTextBoxFlag xmlns:ma14="http://schemas.microsoft.com/office/mac/drawingml/2011/main" val="1"/>
            </a:ext>
          </a:extLst>
        </p:spPr>
        <p:txBody>
          <a:bodyPr lIns="45718" tIns="45718" rIns="45718" bIns="45718">
            <a:spAutoFit/>
          </a:bodyPr>
          <a:lstStyle/>
          <a:p>
            <a:pPr marL="571500" indent="-571500">
              <a:buSzPct val="100000"/>
              <a:buChar char="▪"/>
              <a:defRPr b="1" sz="2200">
                <a:latin typeface="Times New Roman"/>
                <a:ea typeface="Times New Roman"/>
                <a:cs typeface="Times New Roman"/>
                <a:sym typeface="Times New Roman"/>
              </a:defRPr>
            </a:pPr>
            <a:r>
              <a:t>Download the following data files from </a:t>
            </a:r>
            <a:r>
              <a:rPr u="sng">
                <a:solidFill>
                  <a:srgbClr val="C00000"/>
                </a:solidFill>
              </a:rPr>
              <a:t>WeChat Group</a:t>
            </a:r>
            <a:r>
              <a:t>(The imports you made in Project 1). </a:t>
            </a:r>
          </a:p>
          <a:p>
            <a:pPr lvl="4" marL="2286000" indent="-457200">
              <a:buSzPct val="100000"/>
              <a:buFont typeface="Times New Roman"/>
              <a:buChar char="➢"/>
              <a:defRPr b="1" sz="2400">
                <a:latin typeface="Times New Roman"/>
                <a:ea typeface="Times New Roman"/>
                <a:cs typeface="Times New Roman"/>
                <a:sym typeface="Times New Roman"/>
              </a:defRPr>
            </a:pPr>
            <a:r>
              <a:t>course.txt</a:t>
            </a:r>
          </a:p>
          <a:p>
            <a:pPr lvl="4" marL="2286000" indent="-457200">
              <a:buSzPct val="100000"/>
              <a:buFont typeface="Times New Roman"/>
              <a:buChar char="➢"/>
              <a:defRPr b="1" sz="2400">
                <a:latin typeface="Times New Roman"/>
                <a:ea typeface="Times New Roman"/>
                <a:cs typeface="Times New Roman"/>
                <a:sym typeface="Times New Roman"/>
              </a:defRPr>
            </a:pPr>
            <a:r>
              <a:t>dept.txt</a:t>
            </a:r>
          </a:p>
          <a:p>
            <a:pPr lvl="4" marL="2286000" indent="-457200">
              <a:buSzPct val="100000"/>
              <a:buFont typeface="Times New Roman"/>
              <a:buChar char="➢"/>
              <a:defRPr b="1" sz="2400">
                <a:latin typeface="Times New Roman"/>
                <a:ea typeface="Times New Roman"/>
                <a:cs typeface="Times New Roman"/>
                <a:sym typeface="Times New Roman"/>
              </a:defRPr>
            </a:pPr>
            <a:r>
              <a:t>enroll.txt</a:t>
            </a:r>
          </a:p>
          <a:p>
            <a:pPr lvl="4" marL="2286000" indent="-457200">
              <a:buSzPct val="100000"/>
              <a:buFont typeface="Times New Roman"/>
              <a:buChar char="➢"/>
              <a:defRPr b="1" sz="2400">
                <a:latin typeface="Times New Roman"/>
                <a:ea typeface="Times New Roman"/>
                <a:cs typeface="Times New Roman"/>
                <a:sym typeface="Times New Roman"/>
              </a:defRPr>
            </a:pPr>
            <a:r>
              <a:t>major.txt</a:t>
            </a:r>
          </a:p>
          <a:p>
            <a:pPr lvl="4" marL="2286000" indent="-457200">
              <a:buSzPct val="100000"/>
              <a:buFont typeface="Times New Roman"/>
              <a:buChar char="➢"/>
              <a:defRPr b="1" sz="2400">
                <a:latin typeface="Times New Roman"/>
                <a:ea typeface="Times New Roman"/>
                <a:cs typeface="Times New Roman"/>
                <a:sym typeface="Times New Roman"/>
              </a:defRPr>
            </a:pPr>
            <a:r>
              <a:t>prof.txt</a:t>
            </a:r>
          </a:p>
          <a:p>
            <a:pPr lvl="4" marL="2286000" indent="-457200">
              <a:buSzPct val="100000"/>
              <a:buFont typeface="Times New Roman"/>
              <a:buChar char="➢"/>
              <a:defRPr b="1" sz="2400">
                <a:latin typeface="Times New Roman"/>
                <a:ea typeface="Times New Roman"/>
                <a:cs typeface="Times New Roman"/>
                <a:sym typeface="Times New Roman"/>
              </a:defRPr>
            </a:pPr>
            <a:r>
              <a:t>section.txt</a:t>
            </a:r>
          </a:p>
          <a:p>
            <a:pPr lvl="4" marL="2286000" indent="-457200">
              <a:buSzPct val="100000"/>
              <a:buFont typeface="Times New Roman"/>
              <a:buChar char="➢"/>
              <a:defRPr b="1" sz="2400">
                <a:latin typeface="Times New Roman"/>
                <a:ea typeface="Times New Roman"/>
                <a:cs typeface="Times New Roman"/>
                <a:sym typeface="Times New Roman"/>
              </a:defRPr>
            </a:pPr>
            <a:r>
              <a:t>student.txt</a:t>
            </a:r>
          </a:p>
        </p:txBody>
      </p:sp>
      <p:sp>
        <p:nvSpPr>
          <p:cNvPr id="176" name="矩形 8"/>
          <p:cNvSpPr txBox="1"/>
          <p:nvPr/>
        </p:nvSpPr>
        <p:spPr>
          <a:xfrm>
            <a:off x="531890" y="2024359"/>
            <a:ext cx="11343069" cy="4827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742948" indent="-742948" algn="just">
              <a:buSzPct val="100000"/>
              <a:buAutoNum type="arabicPeriod" startAt="5"/>
              <a:defRPr sz="2800">
                <a:latin typeface="Times New Roman"/>
                <a:ea typeface="Times New Roman"/>
                <a:cs typeface="Times New Roman"/>
                <a:sym typeface="Times New Roman"/>
              </a:defRPr>
            </a:lvl1pPr>
          </a:lstStyle>
          <a:p>
            <a:pPr/>
            <a:r>
              <a:t>Data Files</a:t>
            </a:r>
          </a:p>
        </p:txBody>
      </p:sp>
      <p:sp>
        <p:nvSpPr>
          <p:cNvPr id="177" name="文本框 1"/>
          <p:cNvSpPr txBox="1"/>
          <p:nvPr/>
        </p:nvSpPr>
        <p:spPr>
          <a:xfrm>
            <a:off x="6171281" y="4873761"/>
            <a:ext cx="4720618" cy="891353"/>
          </a:xfrm>
          <a:prstGeom prst="rect">
            <a:avLst/>
          </a:prstGeom>
          <a:ln>
            <a:solidFill>
              <a:srgbClr val="C00000"/>
            </a:solidFill>
          </a:ln>
          <a:extLst>
            <a:ext uri="{C572A759-6A51-4108-AA02-DFA0A04FC94B}">
              <ma14:wrappingTextBoxFlag xmlns:ma14="http://schemas.microsoft.com/office/mac/drawingml/2011/main" val="1"/>
            </a:ext>
          </a:extLst>
        </p:spPr>
        <p:txBody>
          <a:bodyPr lIns="45718" tIns="45718" rIns="45718" bIns="45718">
            <a:spAutoFit/>
          </a:bodyPr>
          <a:lstStyle/>
          <a:p>
            <a:pPr algn="just">
              <a:defRPr>
                <a:latin typeface="Times New Roman"/>
                <a:ea typeface="Times New Roman"/>
                <a:cs typeface="Times New Roman"/>
                <a:sym typeface="Times New Roman"/>
              </a:defRPr>
            </a:pPr>
            <a:r>
              <a:t>It is recommended to use the original </a:t>
            </a:r>
            <a:r>
              <a:rPr>
                <a:solidFill>
                  <a:srgbClr val="C00000"/>
                </a:solidFill>
              </a:rPr>
              <a:t>student.txt </a:t>
            </a:r>
            <a:r>
              <a:t>for better communication and comparison of correctness among classmates.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80" name="矩形 5"/>
          <p:cNvSpPr txBox="1"/>
          <p:nvPr/>
        </p:nvSpPr>
        <p:spPr>
          <a:xfrm>
            <a:off x="229489" y="2133331"/>
            <a:ext cx="11343069" cy="31645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514350" indent="-514350" algn="just">
              <a:buSzPct val="100000"/>
              <a:buFont typeface="Arial"/>
              <a:buChar char="•"/>
              <a:defRPr sz="2400">
                <a:latin typeface="Times New Roman"/>
                <a:ea typeface="Times New Roman"/>
                <a:cs typeface="Times New Roman"/>
                <a:sym typeface="Times New Roman"/>
              </a:defRPr>
            </a:pPr>
            <a:r>
              <a:t>The query answers must not contain duplicates, and the SQL keyword </a:t>
            </a:r>
            <a:r>
              <a:rPr b="1">
                <a:solidFill>
                  <a:srgbClr val="FF0000"/>
                </a:solidFill>
              </a:rPr>
              <a:t>distinct</a:t>
            </a:r>
            <a:r>
              <a:t> should only be used when necessary. </a:t>
            </a:r>
          </a:p>
          <a:p>
            <a:pPr marL="514350" indent="-514350" algn="just">
              <a:buSzPct val="100000"/>
              <a:buFont typeface="Arial"/>
              <a:buChar char="•"/>
              <a:defRPr sz="2400">
                <a:latin typeface="Times New Roman"/>
                <a:ea typeface="Times New Roman"/>
                <a:cs typeface="Times New Roman"/>
                <a:sym typeface="Times New Roman"/>
              </a:defRPr>
            </a:pPr>
          </a:p>
          <a:p>
            <a:pPr marL="514350" indent="-514350" algn="just">
              <a:buSzPct val="100000"/>
              <a:buFont typeface="Arial"/>
              <a:buChar char="•"/>
              <a:defRPr sz="2400">
                <a:latin typeface="Times New Roman"/>
                <a:ea typeface="Times New Roman"/>
                <a:cs typeface="Times New Roman"/>
                <a:sym typeface="Times New Roman"/>
              </a:defRPr>
            </a:pPr>
            <a:r>
              <a:t>The SQL interpreter in ACCESS is not quite the same as the one described in the textbook. If the query you write is not accepted by ACCESS (usually it gives you some strange errors), </a:t>
            </a:r>
            <a:r>
              <a:rPr>
                <a:solidFill>
                  <a:srgbClr val="C00000"/>
                </a:solidFill>
              </a:rPr>
              <a:t>try different ways </a:t>
            </a:r>
            <a:r>
              <a:t>until you get one that works with ACCESS. </a:t>
            </a:r>
          </a:p>
          <a:p>
            <a:pPr marL="514350" indent="-514350" algn="just">
              <a:buSzPct val="100000"/>
              <a:buFont typeface="Arial"/>
              <a:buChar char="•"/>
              <a:defRPr sz="2400">
                <a:latin typeface="Times New Roman"/>
                <a:ea typeface="Times New Roman"/>
                <a:cs typeface="Times New Roman"/>
                <a:sym typeface="Times New Roman"/>
              </a:defRPr>
            </a:pPr>
          </a:p>
          <a:p>
            <a:pPr marL="514350" indent="-514350" algn="just">
              <a:buSzPct val="100000"/>
              <a:buFont typeface="Arial"/>
              <a:buChar char="•"/>
              <a:defRPr sz="2400">
                <a:latin typeface="Times New Roman"/>
                <a:ea typeface="Times New Roman"/>
                <a:cs typeface="Times New Roman"/>
                <a:sym typeface="Times New Roman"/>
              </a:defRPr>
            </a:pPr>
            <a:r>
              <a:t>For this assignment, creation of </a:t>
            </a:r>
            <a:r>
              <a:rPr>
                <a:solidFill>
                  <a:srgbClr val="C00000"/>
                </a:solidFill>
              </a:rPr>
              <a:t>temporary tables is not allowed</a:t>
            </a:r>
            <a:r>
              <a:t>, i.e., for each question you have to write exactly one SQL statement.</a:t>
            </a:r>
          </a:p>
        </p:txBody>
      </p:sp>
      <p:sp>
        <p:nvSpPr>
          <p:cNvPr id="181" name="Rectangle 6"/>
          <p:cNvSpPr txBox="1"/>
          <p:nvPr/>
        </p:nvSpPr>
        <p:spPr>
          <a:xfrm>
            <a:off x="531892" y="1221165"/>
            <a:ext cx="5127089"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2. A Few Points to Note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Rectangle 9"/>
          <p:cNvSpPr txBox="1"/>
          <p:nvPr/>
        </p:nvSpPr>
        <p:spPr>
          <a:xfrm>
            <a:off x="531893" y="205503"/>
            <a:ext cx="7748238" cy="9353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6000">
                <a:solidFill>
                  <a:srgbClr val="33339B"/>
                </a:solidFill>
                <a:latin typeface="Times New Roman"/>
                <a:ea typeface="Times New Roman"/>
                <a:cs typeface="Times New Roman"/>
                <a:sym typeface="Times New Roman"/>
              </a:defRPr>
            </a:lvl1pPr>
          </a:lstStyle>
          <a:p>
            <a:pPr/>
            <a:r>
              <a:t>Assignment</a:t>
            </a:r>
          </a:p>
        </p:txBody>
      </p:sp>
      <p:sp>
        <p:nvSpPr>
          <p:cNvPr id="186" name="矩形 5"/>
          <p:cNvSpPr txBox="1"/>
          <p:nvPr/>
        </p:nvSpPr>
        <p:spPr>
          <a:xfrm>
            <a:off x="232113" y="1929053"/>
            <a:ext cx="11727774" cy="480363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457200" indent="-457200" algn="just">
              <a:buSzPct val="100000"/>
              <a:buFont typeface="Arial"/>
              <a:buChar char="•"/>
              <a:defRPr sz="2400">
                <a:latin typeface="Times New Roman"/>
                <a:ea typeface="Times New Roman"/>
                <a:cs typeface="Times New Roman"/>
                <a:sym typeface="Times New Roman"/>
              </a:defRPr>
            </a:pPr>
            <a:r>
              <a:t>This is an </a:t>
            </a:r>
            <a:r>
              <a:rPr b="1">
                <a:solidFill>
                  <a:srgbClr val="C00000"/>
                </a:solidFill>
              </a:rPr>
              <a:t>individual assignment</a:t>
            </a:r>
            <a:r>
              <a:rPr b="1"/>
              <a:t> </a:t>
            </a:r>
            <a:r>
              <a:t>– no group submissions are allowed. </a:t>
            </a:r>
          </a:p>
          <a:p>
            <a:pPr marL="457200" indent="-457200" algn="just">
              <a:buSzPct val="100000"/>
              <a:buFont typeface="Arial"/>
              <a:buChar char="•"/>
              <a:defRPr sz="2400">
                <a:latin typeface="Times New Roman"/>
                <a:ea typeface="Times New Roman"/>
                <a:cs typeface="Times New Roman"/>
                <a:sym typeface="Times New Roman"/>
              </a:defRPr>
            </a:pPr>
          </a:p>
          <a:p>
            <a:pPr marL="457200" indent="-457200" algn="just">
              <a:buSzPct val="100000"/>
              <a:buFont typeface="Arial"/>
              <a:buChar char="•"/>
              <a:defRPr sz="2400">
                <a:latin typeface="Times New Roman"/>
                <a:ea typeface="Times New Roman"/>
                <a:cs typeface="Times New Roman"/>
                <a:sym typeface="Times New Roman"/>
              </a:defRPr>
            </a:pPr>
            <a:r>
              <a:t>Hand in </a:t>
            </a:r>
            <a:r>
              <a:rPr b="1">
                <a:solidFill>
                  <a:srgbClr val="C00000"/>
                </a:solidFill>
              </a:rPr>
              <a:t>an ACCESS database </a:t>
            </a:r>
            <a:r>
              <a:t>that contains the answers to the 12 questions. The database should </a:t>
            </a:r>
            <a:r>
              <a:rPr b="1">
                <a:solidFill>
                  <a:srgbClr val="C00000"/>
                </a:solidFill>
              </a:rPr>
              <a:t>contain 12 queries</a:t>
            </a:r>
            <a:r>
              <a:t>, named as follows: </a:t>
            </a:r>
          </a:p>
          <a:p>
            <a:pPr lvl="1" indent="457200">
              <a:defRPr sz="2400">
                <a:latin typeface="Times New Roman"/>
                <a:ea typeface="Times New Roman"/>
                <a:cs typeface="Times New Roman"/>
                <a:sym typeface="Times New Roman"/>
              </a:defRPr>
            </a:pPr>
            <a:r>
              <a:t>	</a:t>
            </a:r>
            <a:r>
              <a:rPr>
                <a:solidFill>
                  <a:srgbClr val="33339B"/>
                </a:solidFill>
              </a:rPr>
              <a:t>Query1 </a:t>
            </a:r>
            <a:r>
              <a:rPr>
                <a:solidFill>
                  <a:srgbClr val="33339B"/>
                </a:solidFill>
                <a:latin typeface="+mj-lt"/>
                <a:ea typeface="+mj-ea"/>
                <a:cs typeface="+mj-cs"/>
                <a:sym typeface="Helvetica"/>
              </a:rPr>
              <a:t>：</a:t>
            </a:r>
            <a:endParaRPr>
              <a:solidFill>
                <a:srgbClr val="33339B"/>
              </a:solidFill>
            </a:endParaRPr>
          </a:p>
          <a:p>
            <a:pPr lvl="1" indent="457200">
              <a:defRPr sz="2400">
                <a:solidFill>
                  <a:srgbClr val="33339B"/>
                </a:solidFill>
                <a:latin typeface="Times New Roman"/>
                <a:ea typeface="Times New Roman"/>
                <a:cs typeface="Times New Roman"/>
                <a:sym typeface="Times New Roman"/>
              </a:defRPr>
            </a:pPr>
            <a:r>
              <a:t>	Query2 </a:t>
            </a:r>
            <a:r>
              <a:rPr>
                <a:latin typeface="+mj-lt"/>
                <a:ea typeface="+mj-ea"/>
                <a:cs typeface="+mj-cs"/>
                <a:sym typeface="Helvetica"/>
              </a:rPr>
              <a:t>：</a:t>
            </a:r>
          </a:p>
          <a:p>
            <a:pPr lvl="1" indent="457200">
              <a:defRPr sz="2400">
                <a:solidFill>
                  <a:srgbClr val="33339B"/>
                </a:solidFill>
                <a:latin typeface="Times New Roman"/>
                <a:ea typeface="Times New Roman"/>
                <a:cs typeface="Times New Roman"/>
                <a:sym typeface="Times New Roman"/>
              </a:defRPr>
            </a:pPr>
            <a:r>
              <a:t>	… </a:t>
            </a:r>
          </a:p>
          <a:p>
            <a:pPr lvl="1" indent="457200">
              <a:defRPr sz="2400">
                <a:solidFill>
                  <a:srgbClr val="33339B"/>
                </a:solidFill>
                <a:latin typeface="Times New Roman"/>
                <a:ea typeface="Times New Roman"/>
                <a:cs typeface="Times New Roman"/>
                <a:sym typeface="Times New Roman"/>
              </a:defRPr>
            </a:pPr>
            <a:r>
              <a:t>	Query12</a:t>
            </a:r>
            <a:r>
              <a:rPr>
                <a:latin typeface="+mj-lt"/>
                <a:ea typeface="+mj-ea"/>
                <a:cs typeface="+mj-cs"/>
                <a:sym typeface="Helvetica"/>
              </a:rPr>
              <a:t>：</a:t>
            </a:r>
          </a:p>
          <a:p>
            <a:pPr marL="342892" indent="-342892">
              <a:buSzPct val="100000"/>
              <a:buChar char="▪"/>
              <a:defRPr sz="2400">
                <a:latin typeface="Times New Roman"/>
                <a:ea typeface="Times New Roman"/>
                <a:cs typeface="Times New Roman"/>
                <a:sym typeface="Times New Roman"/>
              </a:defRPr>
            </a:pPr>
          </a:p>
          <a:p>
            <a:pPr marL="457200" indent="-457200" algn="just">
              <a:buSzPct val="100000"/>
              <a:buFont typeface="Arial"/>
              <a:buChar char="•"/>
              <a:defRPr sz="2400">
                <a:latin typeface="Times New Roman"/>
                <a:ea typeface="Times New Roman"/>
                <a:cs typeface="Times New Roman"/>
                <a:sym typeface="Times New Roman"/>
              </a:defRPr>
            </a:pPr>
            <a:r>
              <a:t>Test the function of index with query related with student table.</a:t>
            </a:r>
          </a:p>
          <a:p>
            <a:pPr marL="342892" indent="-342892" algn="just">
              <a:buSzPct val="100000"/>
              <a:buChar char="▪"/>
              <a:defRPr sz="2400">
                <a:latin typeface="Times New Roman"/>
                <a:ea typeface="Times New Roman"/>
                <a:cs typeface="Times New Roman"/>
                <a:sym typeface="Times New Roman"/>
              </a:defRPr>
            </a:pPr>
          </a:p>
          <a:p>
            <a:pPr marL="457200" indent="-457200" algn="just">
              <a:buSzPct val="100000"/>
              <a:buFont typeface="Arial"/>
              <a:buChar char="•"/>
              <a:defRPr sz="2400">
                <a:latin typeface="Times New Roman"/>
                <a:ea typeface="Times New Roman"/>
                <a:cs typeface="Times New Roman"/>
                <a:sym typeface="Times New Roman"/>
              </a:defRPr>
            </a:pPr>
            <a:r>
              <a:t>Hand in </a:t>
            </a:r>
            <a:r>
              <a:rPr>
                <a:solidFill>
                  <a:srgbClr val="C00000"/>
                </a:solidFill>
              </a:rPr>
              <a:t>a report </a:t>
            </a:r>
            <a:r>
              <a:t>which outlines your answers and the process by which you arrived at them.</a:t>
            </a:r>
          </a:p>
        </p:txBody>
      </p:sp>
      <p:sp>
        <p:nvSpPr>
          <p:cNvPr id="187" name="Rectangle 6"/>
          <p:cNvSpPr txBox="1"/>
          <p:nvPr/>
        </p:nvSpPr>
        <p:spPr>
          <a:xfrm>
            <a:off x="531892" y="1221165"/>
            <a:ext cx="5127089" cy="66675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000">
                <a:solidFill>
                  <a:srgbClr val="33339B"/>
                </a:solidFill>
                <a:latin typeface="Times New Roman"/>
                <a:ea typeface="Times New Roman"/>
                <a:cs typeface="Times New Roman"/>
                <a:sym typeface="Times New Roman"/>
              </a:defRPr>
            </a:lvl1pPr>
          </a:lstStyle>
          <a:p>
            <a:pPr/>
            <a:r>
              <a:t>2. A Few Points to Note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Rectangle 9"/>
          <p:cNvSpPr txBox="1"/>
          <p:nvPr/>
        </p:nvSpPr>
        <p:spPr>
          <a:xfrm>
            <a:off x="860682" y="1560091"/>
            <a:ext cx="11020856" cy="477005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028700" indent="-1028700">
              <a:lnSpc>
                <a:spcPct val="150000"/>
              </a:lnSpc>
              <a:buSzPct val="100000"/>
              <a:buAutoNum type="romanUcPeriod" startAt="1"/>
              <a:defRPr sz="6000">
                <a:solidFill>
                  <a:srgbClr val="808080"/>
                </a:solidFill>
                <a:latin typeface="Calibri Light"/>
                <a:ea typeface="Calibri Light"/>
                <a:cs typeface="Calibri Light"/>
                <a:sym typeface="Calibri Light"/>
              </a:defRPr>
            </a:pPr>
          </a:p>
          <a:p>
            <a:pPr marL="1028700" indent="-1028700">
              <a:lnSpc>
                <a:spcPct val="150000"/>
              </a:lnSpc>
              <a:buSzPct val="100000"/>
              <a:buAutoNum type="romanUcPeriod" startAt="1"/>
              <a:defRPr sz="6000" u="sng">
                <a:solidFill>
                  <a:srgbClr val="0563C1"/>
                </a:solidFill>
                <a:uFill>
                  <a:solidFill>
                    <a:srgbClr val="0563C1"/>
                  </a:solidFill>
                </a:uFill>
                <a:latin typeface="Calibri Light"/>
                <a:ea typeface="Calibri Light"/>
                <a:cs typeface="Calibri Light"/>
                <a:sym typeface="Calibri Light"/>
              </a:defRPr>
            </a:pPr>
            <a:r>
              <a:rPr>
                <a:solidFill>
                  <a:srgbClr val="0000FF"/>
                </a:solidFill>
                <a:uFill>
                  <a:solidFill>
                    <a:srgbClr val="0000FF"/>
                  </a:solidFill>
                </a:uFill>
                <a:hlinkClick r:id="rId2" invalidUrl="" action="" tgtFrame="" tooltip="" history="1" highlightClick="0" endSnd="0"/>
              </a:rPr>
              <a:t>nowcoder</a:t>
            </a:r>
            <a:endParaRPr>
              <a:solidFill>
                <a:srgbClr val="808080"/>
              </a:solidFill>
            </a:endParaRPr>
          </a:p>
          <a:p>
            <a:pPr marL="1028700" indent="-1028700">
              <a:lnSpc>
                <a:spcPct val="150000"/>
              </a:lnSpc>
              <a:buSzPct val="100000"/>
              <a:buAutoNum type="romanUcPeriod" startAt="1"/>
              <a:defRPr sz="6000" u="sng">
                <a:solidFill>
                  <a:srgbClr val="0563C1"/>
                </a:solidFill>
                <a:uFill>
                  <a:solidFill>
                    <a:srgbClr val="0563C1"/>
                  </a:solidFill>
                </a:uFill>
                <a:latin typeface="Calibri"/>
                <a:ea typeface="Calibri"/>
                <a:cs typeface="Calibri"/>
                <a:sym typeface="Calibri"/>
              </a:defRPr>
            </a:pPr>
            <a:r>
              <a:rPr>
                <a:solidFill>
                  <a:srgbClr val="0000FF"/>
                </a:solidFill>
                <a:uFill>
                  <a:solidFill>
                    <a:srgbClr val="0000FF"/>
                  </a:solidFill>
                </a:uFill>
                <a:hlinkClick r:id="rId3" invalidUrl="" action="" tgtFrame="" tooltip="" history="1" highlightClick="0" endSnd="0"/>
              </a:rPr>
              <a:t>LeetCode</a:t>
            </a:r>
          </a:p>
          <a:p>
            <a:pPr marL="1028700" indent="-1028700">
              <a:lnSpc>
                <a:spcPct val="150000"/>
              </a:lnSpc>
              <a:buSzPct val="100000"/>
              <a:buAutoNum type="romanUcPeriod" startAt="1"/>
              <a:defRPr sz="6000">
                <a:latin typeface="Calibri"/>
                <a:ea typeface="Calibri"/>
                <a:cs typeface="Calibri"/>
                <a:sym typeface="Calibri"/>
              </a:defRPr>
            </a:pPr>
            <a:r>
              <a:t>AI</a:t>
            </a:r>
          </a:p>
        </p:txBody>
      </p:sp>
      <p:sp>
        <p:nvSpPr>
          <p:cNvPr id="190" name="Rectangle 9"/>
          <p:cNvSpPr txBox="1"/>
          <p:nvPr/>
        </p:nvSpPr>
        <p:spPr>
          <a:xfrm>
            <a:off x="860682" y="452096"/>
            <a:ext cx="10470637" cy="2225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6600">
                <a:solidFill>
                  <a:srgbClr val="C00000"/>
                </a:solidFill>
                <a:latin typeface="Times New Roman"/>
                <a:ea typeface="Times New Roman"/>
                <a:cs typeface="Times New Roman"/>
                <a:sym typeface="Times New Roman"/>
              </a:defRPr>
            </a:pPr>
            <a:r>
              <a:t>How to improve your </a:t>
            </a:r>
          </a:p>
          <a:p>
            <a:pPr algn="ctr">
              <a:defRPr b="1" sz="6600">
                <a:solidFill>
                  <a:srgbClr val="C00000"/>
                </a:solidFill>
                <a:latin typeface="Times New Roman"/>
                <a:ea typeface="Times New Roman"/>
                <a:cs typeface="Times New Roman"/>
                <a:sym typeface="Times New Roman"/>
              </a:defRPr>
            </a:pPr>
            <a:r>
              <a:t>SQL capability</a:t>
            </a:r>
            <a:r>
              <a:rPr>
                <a:latin typeface="+mj-lt"/>
                <a:ea typeface="+mj-ea"/>
                <a:cs typeface="+mj-cs"/>
                <a:sym typeface="Helvetica"/>
              </a:rPr>
              <a: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